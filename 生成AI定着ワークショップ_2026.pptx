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5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y="5143500" cx="9144000"/>
  <p:notesSz cx="5143500" cy="9144000"/>
  <p:embeddedFontLst>
    <p:embeddedFont>
      <p:font typeface="Raleway"/>
      <p:regular r:id="rId90"/>
      <p:bold r:id="rId91"/>
      <p:italic r:id="rId92"/>
      <p:boldItalic r:id="rId93"/>
    </p:embeddedFont>
    <p:embeddedFont>
      <p:font typeface="Host Grotesk ExtraBold"/>
      <p:bold r:id="rId94"/>
      <p:boldItalic r:id="rId9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96" roundtripDataSignature="AMtx7mhu6vj4ROoYEsQeGG79v/4IiEoy8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株式会社スタイルアーツ"/>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FF9485-15E4-4B45-BF75-814422209F04}">
  <a:tblStyle styleId="{A5FF9485-15E4-4B45-BF75-814422209F0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CF9E1BD5-D0E9-458E-A40D-ABFE00257524}"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EA21E3E7-CB49-40DB-9B02-7D83FE17C7A2}" styleName="Table_2">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84" Type="http://schemas.openxmlformats.org/officeDocument/2006/relationships/slide" Target="slides/slide77.xml"/><Relationship Id="rId83" Type="http://schemas.openxmlformats.org/officeDocument/2006/relationships/slide" Target="slides/slide76.xml"/><Relationship Id="rId42" Type="http://schemas.openxmlformats.org/officeDocument/2006/relationships/slide" Target="slides/slide35.xml"/><Relationship Id="rId86" Type="http://schemas.openxmlformats.org/officeDocument/2006/relationships/slide" Target="slides/slide79.xml"/><Relationship Id="rId41" Type="http://schemas.openxmlformats.org/officeDocument/2006/relationships/slide" Target="slides/slide34.xml"/><Relationship Id="rId85" Type="http://schemas.openxmlformats.org/officeDocument/2006/relationships/slide" Target="slides/slide78.xml"/><Relationship Id="rId44" Type="http://schemas.openxmlformats.org/officeDocument/2006/relationships/slide" Target="slides/slide37.xml"/><Relationship Id="rId88" Type="http://schemas.openxmlformats.org/officeDocument/2006/relationships/slide" Target="slides/slide81.xml"/><Relationship Id="rId43" Type="http://schemas.openxmlformats.org/officeDocument/2006/relationships/slide" Target="slides/slide36.xml"/><Relationship Id="rId87" Type="http://schemas.openxmlformats.org/officeDocument/2006/relationships/slide" Target="slides/slide80.xml"/><Relationship Id="rId46" Type="http://schemas.openxmlformats.org/officeDocument/2006/relationships/slide" Target="slides/slide39.xml"/><Relationship Id="rId45" Type="http://schemas.openxmlformats.org/officeDocument/2006/relationships/slide" Target="slides/slide38.xml"/><Relationship Id="rId89" Type="http://schemas.openxmlformats.org/officeDocument/2006/relationships/slide" Target="slides/slide82.xml"/><Relationship Id="rId80" Type="http://schemas.openxmlformats.org/officeDocument/2006/relationships/slide" Target="slides/slide73.xml"/><Relationship Id="rId82" Type="http://schemas.openxmlformats.org/officeDocument/2006/relationships/slide" Target="slides/slide75.xml"/><Relationship Id="rId81" Type="http://schemas.openxmlformats.org/officeDocument/2006/relationships/slide" Target="slides/slide74.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slide" Target="slides/slide66.xml"/><Relationship Id="rId72" Type="http://schemas.openxmlformats.org/officeDocument/2006/relationships/slide" Target="slides/slide65.xml"/><Relationship Id="rId31" Type="http://schemas.openxmlformats.org/officeDocument/2006/relationships/slide" Target="slides/slide24.xml"/><Relationship Id="rId75" Type="http://schemas.openxmlformats.org/officeDocument/2006/relationships/slide" Target="slides/slide68.xml"/><Relationship Id="rId30" Type="http://schemas.openxmlformats.org/officeDocument/2006/relationships/slide" Target="slides/slide23.xml"/><Relationship Id="rId74" Type="http://schemas.openxmlformats.org/officeDocument/2006/relationships/slide" Target="slides/slide67.xml"/><Relationship Id="rId33" Type="http://schemas.openxmlformats.org/officeDocument/2006/relationships/slide" Target="slides/slide26.xml"/><Relationship Id="rId77" Type="http://schemas.openxmlformats.org/officeDocument/2006/relationships/slide" Target="slides/slide70.xml"/><Relationship Id="rId32" Type="http://schemas.openxmlformats.org/officeDocument/2006/relationships/slide" Target="slides/slide25.xml"/><Relationship Id="rId76" Type="http://schemas.openxmlformats.org/officeDocument/2006/relationships/slide" Target="slides/slide69.xml"/><Relationship Id="rId35" Type="http://schemas.openxmlformats.org/officeDocument/2006/relationships/slide" Target="slides/slide28.xml"/><Relationship Id="rId79" Type="http://schemas.openxmlformats.org/officeDocument/2006/relationships/slide" Target="slides/slide72.xml"/><Relationship Id="rId34" Type="http://schemas.openxmlformats.org/officeDocument/2006/relationships/slide" Target="slides/slide27.xml"/><Relationship Id="rId78" Type="http://schemas.openxmlformats.org/officeDocument/2006/relationships/slide" Target="slides/slide71.xml"/><Relationship Id="rId71" Type="http://schemas.openxmlformats.org/officeDocument/2006/relationships/slide" Target="slides/slide64.xml"/><Relationship Id="rId70" Type="http://schemas.openxmlformats.org/officeDocument/2006/relationships/slide" Target="slides/slide63.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slide" Target="slides/slide55.xml"/><Relationship Id="rId61" Type="http://schemas.openxmlformats.org/officeDocument/2006/relationships/slide" Target="slides/slide54.xml"/><Relationship Id="rId20" Type="http://schemas.openxmlformats.org/officeDocument/2006/relationships/slide" Target="slides/slide13.xml"/><Relationship Id="rId64" Type="http://schemas.openxmlformats.org/officeDocument/2006/relationships/slide" Target="slides/slide57.xml"/><Relationship Id="rId63" Type="http://schemas.openxmlformats.org/officeDocument/2006/relationships/slide" Target="slides/slide56.xml"/><Relationship Id="rId22" Type="http://schemas.openxmlformats.org/officeDocument/2006/relationships/slide" Target="slides/slide15.xml"/><Relationship Id="rId66" Type="http://schemas.openxmlformats.org/officeDocument/2006/relationships/slide" Target="slides/slide59.xml"/><Relationship Id="rId21" Type="http://schemas.openxmlformats.org/officeDocument/2006/relationships/slide" Target="slides/slide14.xml"/><Relationship Id="rId65" Type="http://schemas.openxmlformats.org/officeDocument/2006/relationships/slide" Target="slides/slide58.xml"/><Relationship Id="rId24" Type="http://schemas.openxmlformats.org/officeDocument/2006/relationships/slide" Target="slides/slide17.xml"/><Relationship Id="rId68" Type="http://schemas.openxmlformats.org/officeDocument/2006/relationships/slide" Target="slides/slide61.xml"/><Relationship Id="rId23" Type="http://schemas.openxmlformats.org/officeDocument/2006/relationships/slide" Target="slides/slide16.xml"/><Relationship Id="rId67" Type="http://schemas.openxmlformats.org/officeDocument/2006/relationships/slide" Target="slides/slide60.xml"/><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slide" Target="slides/slide62.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95" Type="http://schemas.openxmlformats.org/officeDocument/2006/relationships/font" Target="fonts/HostGroteskExtraBold-boldItalic.fntdata"/><Relationship Id="rId50" Type="http://schemas.openxmlformats.org/officeDocument/2006/relationships/slide" Target="slides/slide43.xml"/><Relationship Id="rId94" Type="http://schemas.openxmlformats.org/officeDocument/2006/relationships/font" Target="fonts/HostGroteskExtraBold-bold.fntdata"/><Relationship Id="rId53" Type="http://schemas.openxmlformats.org/officeDocument/2006/relationships/slide" Target="slides/slide46.xml"/><Relationship Id="rId52" Type="http://schemas.openxmlformats.org/officeDocument/2006/relationships/slide" Target="slides/slide45.xml"/><Relationship Id="rId96" Type="http://customschemas.google.com/relationships/presentationmetadata" Target="metadata"/><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91" Type="http://schemas.openxmlformats.org/officeDocument/2006/relationships/font" Target="fonts/Raleway-bold.fntdata"/><Relationship Id="rId90" Type="http://schemas.openxmlformats.org/officeDocument/2006/relationships/font" Target="fonts/Raleway-regular.fntdata"/><Relationship Id="rId93" Type="http://schemas.openxmlformats.org/officeDocument/2006/relationships/font" Target="fonts/Raleway-boldItalic.fntdata"/><Relationship Id="rId92" Type="http://schemas.openxmlformats.org/officeDocument/2006/relationships/font" Target="fonts/Raleway-italic.fntdata"/><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2T09:35:48.171">
    <p:pos x="6000" y="0"/>
    <p:text>フリープランだと画像生成5枚で上限来た。by 高司</p:text>
    <p:extLst>
      <p:ext uri="{C676402C-5697-4E1C-873F-D02D1690AC5C}">
        <p15:threadingInfo timeZoneBias="0"/>
      </p:ext>
      <p:ext uri="http://customooxmlschemas.google.com/">
        <go:slidesCustomData xmlns:go="http://customooxmlschemas.google.com/" commentPostId="AAACArZ5UGg"/>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40a0daa3361_0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 name="Google Shape;62;g40a0daa3361_0_3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g40a0daa3361_0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40a0daa3361_0_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40a0daa3361_0_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40a0daa3361_0_164: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40a0daa3361_0_164: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 name="Google Shape;9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59926ce4e4d5a8f_0_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59926ce4e4d5a8f_0_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h259926ce4e4d5a8f_0_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59926ce4e4d5a8f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59926ce4e4d5a8f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 name="Google Shape;140;h259926ce4e4d5a8f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h259926ce4e4d5a8f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h259926ce4e4d5a8f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1" name="Google Shape;161;h259926ce4e4d5a8f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h259926ce4e4d5a8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h259926ce4e4d5a8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h259926ce4e4d5a8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h259926ce4e4d5a8f_0_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h259926ce4e4d5a8f_0_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0" name="Google Shape;190;h259926ce4e4d5a8f_0_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40a0daa3361_0_225: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40a0daa3361_0_225: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h12a068dd872fd278_0_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9" name="Google Shape;209;h12a068dd872fd278_0_25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0" name="Google Shape;210;h12a068dd872fd278_0_25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7" name="Google Shape;21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h259926ce4e4d5a8f_0_298: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h259926ce4e4d5a8f_0_298: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317500" lvl="0" marL="457200" rtl="0" algn="l">
              <a:spcBef>
                <a:spcPts val="0"/>
              </a:spcBef>
              <a:spcAft>
                <a:spcPts val="0"/>
              </a:spcAft>
              <a:buSzPts val="1400"/>
              <a:buChar char="-"/>
            </a:pPr>
            <a:r>
              <a:rPr lang="en-US"/>
              <a:t>昨年などはこのプロンプトのテクニックが特に重要視されていた</a:t>
            </a:r>
            <a:endParaRPr/>
          </a:p>
          <a:p>
            <a:pPr indent="-317500" lvl="1" marL="914400" rtl="0" algn="l">
              <a:spcBef>
                <a:spcPts val="0"/>
              </a:spcBef>
              <a:spcAft>
                <a:spcPts val="0"/>
              </a:spcAft>
              <a:buSzPts val="1400"/>
              <a:buChar char="-"/>
            </a:pPr>
            <a:r>
              <a:rPr lang="en-US"/>
              <a:t>これがないとAIが使えないとまで言われていた</a:t>
            </a:r>
            <a:endParaRPr/>
          </a:p>
          <a:p>
            <a:pPr indent="-317500" lvl="0" marL="457200" rtl="0" algn="l">
              <a:spcBef>
                <a:spcPts val="0"/>
              </a:spcBef>
              <a:spcAft>
                <a:spcPts val="0"/>
              </a:spcAft>
              <a:buSzPts val="1400"/>
              <a:buChar char="-"/>
            </a:pPr>
            <a:r>
              <a:rPr lang="en-US"/>
              <a:t>だが昨今はAIの進化によりそこまで厳密なプロンプトがなくても十分な制度や回答を出してくれるようになった</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259926ce4e4d5a8f_0_40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h259926ce4e4d5a8f_0_40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few-shotプロンプトはAIモデルに対して、タスクを遂行するための例をいくつか提示することで、そのタスクを学習させるプロンプトのテクニックになります</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259926ce4e4d5a8f_0_41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h259926ce4e4d5a8f_0_41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h259926ce4e4d5a8f_0_4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h259926ce4e4d5a8f_0_4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h259926ce4e4d5a8f_0_506: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h259926ce4e4d5a8f_0_506: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h259926ce4e4d5a8f_0_56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h259926ce4e4d5a8f_0_569: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lnSpc>
                <a:spcPct val="115000"/>
              </a:lnSpc>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40a0daa3361_0_3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40a0daa3361_0_3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40a0daa3361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g40a0daa3361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4" name="Google Shape;324;g40a0daa3361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40a0daa3361_0_4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g40a0daa3361_0_4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5" name="Google Shape;355;g40a0daa3361_0_4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0" name="Google Shape;37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7" name="Google Shape;4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9" name="Google Shape;42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3" name="Google Shape;45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2a068dd872fd278_0_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75" name="Google Shape;475;h12a068dd872fd278_0_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40a0daa3361_0_250: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82" name="Google Shape;482;g40a0daa3361_0_250: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h603855749043a6f2_0_135: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93" name="Google Shape;493;h603855749043a6f2_0_135: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h603855749043a6f2_0_14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23" name="Google Shape;523;h603855749043a6f2_0_14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h603855749043a6f2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0" name="Google Shape;530;h603855749043a6f2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1" name="Google Shape;531;h603855749043a6f2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h259926ce4e4d5a8f_0_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h259926ce4e4d5a8f_0_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1" name="Google Shape;551;h259926ce4e4d5a8f_0_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h603855749043a6f2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66" name="Google Shape;566;h603855749043a6f2_0_11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h603855749043a6f2_0_11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h259926ce4e4d5a8f_0_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h259926ce4e4d5a8f_0_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5" name="Google Shape;575;h259926ce4e4d5a8f_0_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h603855749043a6f2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94" name="Google Shape;594;h603855749043a6f2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5" name="Google Shape;595;h603855749043a6f2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AIは自社の商品・価格・店のことを知らないので、渡さない限り絶対に出てこない（昨年度のRAGの考え方）。ただし素材を渡すときは3ルールの「機密情報」を忘れずに。</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6" name="Google Shape;636;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h259926ce4e4d5a8f_0_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h259926ce4e4d5a8f_0_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最初と同じ依頼に、手元のデータとお手本を添付し、前提・制約・出力を足して打ち直す。ポイントは、ゼロから考えさせるのではなく、すでに持っているものを渡すこと。添付は、テキストを貼り付けるだけでも、ファイルをそのまま添付してもよい。価格などの数字はAIの出力をそのまま使わず、必ず自分で確認する（3ルールのファクトチェック）。</a:t>
            </a:r>
            <a:endParaRPr/>
          </a:p>
        </p:txBody>
      </p:sp>
      <p:sp>
        <p:nvSpPr>
          <p:cNvPr id="657" name="Google Shape;657;h259926ce4e4d5a8f_0_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h603855749043a6f2_0_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69" name="Google Shape;669;h603855749043a6f2_0_12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0" name="Google Shape;670;h603855749043a6f2_0_12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h259926ce4e4d5a8f_0_6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h259926ce4e4d5a8f_0_6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違いは「AIの性能」ではなく「渡した情報の量」だけ。afterでも日付や価格は必ず自分の目で確認する。</a:t>
            </a:r>
            <a:endParaRPr/>
          </a:p>
        </p:txBody>
      </p:sp>
      <p:sp>
        <p:nvSpPr>
          <p:cNvPr id="678" name="Google Shape;678;h259926ce4e4d5a8f_0_6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h12a068dd872fd278_0_5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689" name="Google Shape;689;h12a068dd872fd278_0_5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4要素を自分で考えられなくても、AIに質問してもらえば必要な情報がそろう。</a:t>
            </a:r>
            <a:endParaRPr/>
          </a:p>
        </p:txBody>
      </p:sp>
      <p:sp>
        <p:nvSpPr>
          <p:cNvPr id="698" name="Google Shape;69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40a0daa3361_0_237: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40a0daa3361_0_237: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個人で書き出してからグループで共有する。書き出しは質より量。「これはAIに関係なさそう」と思う業務も、まずは書いてもらう。</a:t>
            </a:r>
            <a:endParaRPr/>
          </a:p>
        </p:txBody>
      </p:sp>
      <p:sp>
        <p:nvSpPr>
          <p:cNvPr id="722" name="Google Shape;72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7" name="Google Shape;73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8" name="Google Shape;73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h12a068dd872fd278_0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h12a068dd872fd278_0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1" name="Google Shape;751;h12a068dd872fd278_0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4" name="Shape 764"/>
        <p:cNvGrpSpPr/>
        <p:nvPr/>
      </p:nvGrpSpPr>
      <p:grpSpPr>
        <a:xfrm>
          <a:off x="0" y="0"/>
          <a:ext cx="0" cy="0"/>
          <a:chOff x="0" y="0"/>
          <a:chExt cx="0" cy="0"/>
        </a:xfrm>
      </p:grpSpPr>
      <p:sp>
        <p:nvSpPr>
          <p:cNvPr id="765" name="Google Shape;76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6" name="Google Shape;76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7" name="Google Shape;76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1" name="Google Shape;79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g40a0daa3361_0_26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5" name="Google Shape;805;g40a0daa3361_0_26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6" name="Google Shape;81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最後の3分でグループ内の発表者と発表するプロンプトを決める。</a:t>
            </a:r>
            <a:endParaRPr/>
          </a:p>
        </p:txBody>
      </p:sp>
      <p:sp>
        <p:nvSpPr>
          <p:cNvPr id="817" name="Google Shape;81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7" name="Google Shape;847;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8" name="Google Shape;848;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4" name="Google Shape;86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4" name="Google Shape;87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4" name="Shape 884"/>
        <p:cNvGrpSpPr/>
        <p:nvPr/>
      </p:nvGrpSpPr>
      <p:grpSpPr>
        <a:xfrm>
          <a:off x="0" y="0"/>
          <a:ext cx="0" cy="0"/>
          <a:chOff x="0" y="0"/>
          <a:chExt cx="0" cy="0"/>
        </a:xfrm>
      </p:grpSpPr>
      <p:sp>
        <p:nvSpPr>
          <p:cNvPr id="885" name="Google Shape;885;g40a0daa3361_0_27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86" name="Google Shape;886;g40a0daa3361_0_27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5" name="Shape 895"/>
        <p:cNvGrpSpPr/>
        <p:nvPr/>
      </p:nvGrpSpPr>
      <p:grpSpPr>
        <a:xfrm>
          <a:off x="0" y="0"/>
          <a:ext cx="0" cy="0"/>
          <a:chOff x="0" y="0"/>
          <a:chExt cx="0" cy="0"/>
        </a:xfrm>
      </p:grpSpPr>
      <p:sp>
        <p:nvSpPr>
          <p:cNvPr id="896" name="Google Shape;89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7" name="Google Shape;89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8" name="Google Shape;89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h12a068dd872fd278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13" name="Google Shape;913;h12a068dd872fd278_0_6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4" name="Google Shape;914;h12a068dd872fd278_0_6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h603855749043a6f2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20" name="Google Shape;920;h603855749043a6f2_0_10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21" name="Google Shape;921;h603855749043a6f2_0_10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9" name="Google Shape;92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3" name="Google Shape;95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h12a068dd872fd278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65" name="Google Shape;965;h12a068dd872fd278_0_6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6" name="Google Shape;966;h12a068dd872fd278_0_6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1" name="Shape 971"/>
        <p:cNvGrpSpPr/>
        <p:nvPr/>
      </p:nvGrpSpPr>
      <p:grpSpPr>
        <a:xfrm>
          <a:off x="0" y="0"/>
          <a:ext cx="0" cy="0"/>
          <a:chOff x="0" y="0"/>
          <a:chExt cx="0" cy="0"/>
        </a:xfrm>
      </p:grpSpPr>
      <p:sp>
        <p:nvSpPr>
          <p:cNvPr id="972" name="Google Shape;972;h12a068dd872fd278_0_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3" name="Google Shape;973;h12a068dd872fd278_0_7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4" name="Google Shape;974;h12a068dd872fd278_0_7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違いは「AIの性能」ではなく「渡した情報の量」だけ。afterでも日付や価格は必ず自分の目で確認する。</a:t>
            </a:r>
            <a:endParaRPr/>
          </a:p>
        </p:txBody>
      </p:sp>
      <p:sp>
        <p:nvSpPr>
          <p:cNvPr id="984" name="Google Shape;984;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h259926ce4e4d5a8f_0_6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95" name="Google Shape;995;h259926ce4e4d5a8f_0_62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6" name="Google Shape;996;h259926ce4e4d5a8f_0_62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h259926ce4e4d5a8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2" name="Google Shape;1002;h259926ce4e4d5a8f_0_6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3" name="Google Shape;1003;h259926ce4e4d5a8f_0_6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12a068dd872fd278_0_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0" name="Google Shape;1010;h12a068dd872fd278_0_1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1" name="Google Shape;1011;h12a068dd872fd278_0_1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7" name="Shape 1017"/>
        <p:cNvGrpSpPr/>
        <p:nvPr/>
      </p:nvGrpSpPr>
      <p:grpSpPr>
        <a:xfrm>
          <a:off x="0" y="0"/>
          <a:ext cx="0" cy="0"/>
          <a:chOff x="0" y="0"/>
          <a:chExt cx="0" cy="0"/>
        </a:xfrm>
      </p:grpSpPr>
      <p:sp>
        <p:nvSpPr>
          <p:cNvPr id="1018" name="Google Shape;1018;h12a068dd872fd278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9" name="Google Shape;1019;h12a068dd872fd278_0_18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0" name="Google Shape;1020;h12a068dd872fd278_0_18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h10b5d30066dd11f8_0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29" name="Google Shape;1029;h10b5d30066dd11f8_0_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0" name="Google Shape;1030;h10b5d30066dd11f8_0_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12a068dd872fd278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6" name="Google Shape;1036;h12a068dd872fd278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7" name="Google Shape;1037;h12a068dd872fd278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7" name="Shape 1057"/>
        <p:cNvGrpSpPr/>
        <p:nvPr/>
      </p:nvGrpSpPr>
      <p:grpSpPr>
        <a:xfrm>
          <a:off x="0" y="0"/>
          <a:ext cx="0" cy="0"/>
          <a:chOff x="0" y="0"/>
          <a:chExt cx="0" cy="0"/>
        </a:xfrm>
      </p:grpSpPr>
      <p:sp>
        <p:nvSpPr>
          <p:cNvPr id="1058" name="Google Shape;1058;h12a068dd872fd278_0_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9" name="Google Shape;1059;h12a068dd872fd278_0_18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0" name="Google Shape;1060;h12a068dd872fd278_0_18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1" name="Google Shape;1081;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3ルールのうち「権利侵害」と「ファクトチェック」を販促物に当てはめたもの。店頭に出すものは社外に出るものなので、掲示前に必ず人が確認する。</a:t>
            </a:r>
            <a:endParaRPr/>
          </a:p>
        </p:txBody>
      </p:sp>
      <p:sp>
        <p:nvSpPr>
          <p:cNvPr id="1082" name="Google Shape;1082;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40a0daa3361_0_28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40a0daa3361_0_28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POP・チラシ・SNS画像のどれか1点を完成させる。時間配分は目安。画像の作り込みに時間をかけすぎないよう、15:55ごろに一度声かけをする。</a:t>
            </a:r>
            <a:endParaRPr/>
          </a:p>
        </p:txBody>
      </p:sp>
      <p:sp>
        <p:nvSpPr>
          <p:cNvPr id="1117" name="Google Shape;1117;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0" name="Shape 1140"/>
        <p:cNvGrpSpPr/>
        <p:nvPr/>
      </p:nvGrpSpPr>
      <p:grpSpPr>
        <a:xfrm>
          <a:off x="0" y="0"/>
          <a:ext cx="0" cy="0"/>
          <a:chOff x="0" y="0"/>
          <a:chExt cx="0" cy="0"/>
        </a:xfrm>
      </p:grpSpPr>
      <p:sp>
        <p:nvSpPr>
          <p:cNvPr id="1141" name="Google Shape;1141;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2" name="Google Shape;1142;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できるだけ実際の売場・業務で使う予定のあるものを題材にしてもらう。今日つくったものを、そのまま店頭やSNSで使える状態がゴール。</a:t>
            </a:r>
            <a:endParaRPr/>
          </a:p>
        </p:txBody>
      </p:sp>
      <p:sp>
        <p:nvSpPr>
          <p:cNvPr id="1143" name="Google Shape;1143;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h603855749043a6f2_0_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h603855749043a6f2_0_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8" name="Google Shape;1178;h603855749043a6f2_0_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h603855749043a6f2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h603855749043a6f2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99" name="Google Shape;1199;h603855749043a6f2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8" name="Shape 1208"/>
        <p:cNvGrpSpPr/>
        <p:nvPr/>
      </p:nvGrpSpPr>
      <p:grpSpPr>
        <a:xfrm>
          <a:off x="0" y="0"/>
          <a:ext cx="0" cy="0"/>
          <a:chOff x="0" y="0"/>
          <a:chExt cx="0" cy="0"/>
        </a:xfrm>
      </p:grpSpPr>
      <p:sp>
        <p:nvSpPr>
          <p:cNvPr id="1209" name="Google Shape;1209;h603855749043a6f2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0" name="Google Shape;1210;h603855749043a6f2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1" name="Google Shape;1211;h603855749043a6f2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1" name="Google Shape;1221;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グループ発表か個人発表かは当日の進み具合で決める。作品を見せながら、どんな指示を出したかを話してもらう。一番効いた修正のひと言は、他の人がそのまま真似できる。</a:t>
            </a:r>
            <a:endParaRPr/>
          </a:p>
        </p:txBody>
      </p:sp>
      <p:sp>
        <p:nvSpPr>
          <p:cNvPr id="1222" name="Google Shape;1222;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1" name="Google Shape;1231;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2" name="Google Shape;1232;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h259926ce4e4d5a8f_0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h259926ce4e4d5a8f_0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6" name="Google Shape;1256;h259926ce4e4d5a8f_0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3" name="Shape 1273"/>
        <p:cNvGrpSpPr/>
        <p:nvPr/>
      </p:nvGrpSpPr>
      <p:grpSpPr>
        <a:xfrm>
          <a:off x="0" y="0"/>
          <a:ext cx="0" cy="0"/>
          <a:chOff x="0" y="0"/>
          <a:chExt cx="0" cy="0"/>
        </a:xfrm>
      </p:grpSpPr>
      <p:sp>
        <p:nvSpPr>
          <p:cNvPr id="1274" name="Google Shape;1274;h259926ce4e4d5a8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5" name="Google Shape;1275;h259926ce4e4d5a8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76" name="Google Shape;1276;h259926ce4e4d5a8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6" name="Shape 1296"/>
        <p:cNvGrpSpPr/>
        <p:nvPr/>
      </p:nvGrpSpPr>
      <p:grpSpPr>
        <a:xfrm>
          <a:off x="0" y="0"/>
          <a:ext cx="0" cy="0"/>
          <a:chOff x="0" y="0"/>
          <a:chExt cx="0" cy="0"/>
        </a:xfrm>
      </p:grpSpPr>
      <p:sp>
        <p:nvSpPr>
          <p:cNvPr id="1297" name="Google Shape;1297;g40a0daa3361_0_29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298" name="Google Shape;1298;g40a0daa3361_0_29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4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g40a0daa3361_0_6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15" name="Google Shape;15;g40a0daa3361_0_6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g40a0daa3361_0_6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g40a0daa3361_0_21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19" name="Google Shape;19;g40a0daa3361_0_21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g40a0daa3361_0_212"/>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h259926ce4e4d5a8f_0_42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24" name="Google Shape;24;h259926ce4e4d5a8f_0_423"/>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5" name="Google Shape;25;h259926ce4e4d5a8f_0_423"/>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6" name="Shape 26"/>
        <p:cNvGrpSpPr/>
        <p:nvPr/>
      </p:nvGrpSpPr>
      <p:grpSpPr>
        <a:xfrm>
          <a:off x="0" y="0"/>
          <a:ext cx="0" cy="0"/>
          <a:chOff x="0" y="0"/>
          <a:chExt cx="0" cy="0"/>
        </a:xfrm>
      </p:grpSpPr>
      <p:sp>
        <p:nvSpPr>
          <p:cNvPr id="27" name="Google Shape;27;h259926ce4e4d5a8f_0_42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SzPts val="3600"/>
              <a:buChar char="●"/>
              <a:defRPr sz="3600"/>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 name="Google Shape;28;h259926ce4e4d5a8f_0_427"/>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h259926ce4e4d5a8f_0_430"/>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1" name="Google Shape;31;h259926ce4e4d5a8f_0_430"/>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2" name="Google Shape;32;h259926ce4e4d5a8f_0_430"/>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3" name="Shape 33"/>
        <p:cNvGrpSpPr/>
        <p:nvPr/>
      </p:nvGrpSpPr>
      <p:grpSpPr>
        <a:xfrm>
          <a:off x="0" y="0"/>
          <a:ext cx="0" cy="0"/>
          <a:chOff x="0" y="0"/>
          <a:chExt cx="0" cy="0"/>
        </a:xfrm>
      </p:grpSpPr>
      <p:sp>
        <p:nvSpPr>
          <p:cNvPr id="34" name="Google Shape;34;h259926ce4e4d5a8f_0_43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5" name="Google Shape;35;h259926ce4e4d5a8f_0_434"/>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6" name="Google Shape;36;h259926ce4e4d5a8f_0_434"/>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7" name="Google Shape;37;h259926ce4e4d5a8f_0_434"/>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8" name="Shape 38"/>
        <p:cNvGrpSpPr/>
        <p:nvPr/>
      </p:nvGrpSpPr>
      <p:grpSpPr>
        <a:xfrm>
          <a:off x="0" y="0"/>
          <a:ext cx="0" cy="0"/>
          <a:chOff x="0" y="0"/>
          <a:chExt cx="0" cy="0"/>
        </a:xfrm>
      </p:grpSpPr>
      <p:sp>
        <p:nvSpPr>
          <p:cNvPr id="39" name="Google Shape;39;h259926ce4e4d5a8f_0_439"/>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 name="Google Shape;40;h259926ce4e4d5a8f_0_43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1" name="Shape 41"/>
        <p:cNvGrpSpPr/>
        <p:nvPr/>
      </p:nvGrpSpPr>
      <p:grpSpPr>
        <a:xfrm>
          <a:off x="0" y="0"/>
          <a:ext cx="0" cy="0"/>
          <a:chOff x="0" y="0"/>
          <a:chExt cx="0" cy="0"/>
        </a:xfrm>
      </p:grpSpPr>
      <p:sp>
        <p:nvSpPr>
          <p:cNvPr id="42" name="Google Shape;42;h259926ce4e4d5a8f_0_442"/>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SzPts val="2400"/>
              <a:buChar char="●"/>
              <a:defRPr sz="2400"/>
            </a:lvl1pPr>
            <a:lvl2pPr lvl="1">
              <a:spcBef>
                <a:spcPts val="0"/>
              </a:spcBef>
              <a:spcAft>
                <a:spcPts val="0"/>
              </a:spcAft>
              <a:buSzPts val="2400"/>
              <a:buChar char="○"/>
              <a:defRPr sz="2400"/>
            </a:lvl2pPr>
            <a:lvl3pPr lvl="2">
              <a:spcBef>
                <a:spcPts val="0"/>
              </a:spcBef>
              <a:spcAft>
                <a:spcPts val="0"/>
              </a:spcAft>
              <a:buSzPts val="2400"/>
              <a:buChar char="■"/>
              <a:defRPr sz="2400"/>
            </a:lvl3pPr>
            <a:lvl4pPr lvl="3">
              <a:spcBef>
                <a:spcPts val="0"/>
              </a:spcBef>
              <a:spcAft>
                <a:spcPts val="0"/>
              </a:spcAft>
              <a:buSzPts val="2400"/>
              <a:buChar char="●"/>
              <a:defRPr sz="2400"/>
            </a:lvl4pPr>
            <a:lvl5pPr lvl="4">
              <a:spcBef>
                <a:spcPts val="0"/>
              </a:spcBef>
              <a:spcAft>
                <a:spcPts val="0"/>
              </a:spcAft>
              <a:buSzPts val="2400"/>
              <a:buChar char="○"/>
              <a:defRPr sz="2400"/>
            </a:lvl5pPr>
            <a:lvl6pPr lvl="5">
              <a:spcBef>
                <a:spcPts val="0"/>
              </a:spcBef>
              <a:spcAft>
                <a:spcPts val="0"/>
              </a:spcAft>
              <a:buSzPts val="2400"/>
              <a:buChar char="■"/>
              <a:defRPr sz="2400"/>
            </a:lvl6pPr>
            <a:lvl7pPr lvl="6">
              <a:spcBef>
                <a:spcPts val="0"/>
              </a:spcBef>
              <a:spcAft>
                <a:spcPts val="0"/>
              </a:spcAft>
              <a:buSzPts val="2400"/>
              <a:buChar char="●"/>
              <a:defRPr sz="2400"/>
            </a:lvl7pPr>
            <a:lvl8pPr lvl="7">
              <a:spcBef>
                <a:spcPts val="0"/>
              </a:spcBef>
              <a:spcAft>
                <a:spcPts val="0"/>
              </a:spcAft>
              <a:buSzPts val="2400"/>
              <a:buChar char="○"/>
              <a:defRPr sz="2400"/>
            </a:lvl8pPr>
            <a:lvl9pPr lvl="8">
              <a:spcBef>
                <a:spcPts val="0"/>
              </a:spcBef>
              <a:spcAft>
                <a:spcPts val="0"/>
              </a:spcAft>
              <a:buSzPts val="2400"/>
              <a:buChar char="■"/>
              <a:defRPr sz="2400"/>
            </a:lvl9pPr>
          </a:lstStyle>
          <a:p/>
        </p:txBody>
      </p:sp>
      <p:sp>
        <p:nvSpPr>
          <p:cNvPr id="43" name="Google Shape;43;h259926ce4e4d5a8f_0_442"/>
          <p:cNvSpPr txBox="1"/>
          <p:nvPr>
            <p:ph idx="1" type="body"/>
          </p:nvPr>
        </p:nvSpPr>
        <p:spPr>
          <a:xfrm>
            <a:off x="311700" y="1389600"/>
            <a:ext cx="2808000" cy="31794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4" name="Google Shape;44;h259926ce4e4d5a8f_0_442"/>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5" name="Shape 45"/>
        <p:cNvGrpSpPr/>
        <p:nvPr/>
      </p:nvGrpSpPr>
      <p:grpSpPr>
        <a:xfrm>
          <a:off x="0" y="0"/>
          <a:ext cx="0" cy="0"/>
          <a:chOff x="0" y="0"/>
          <a:chExt cx="0" cy="0"/>
        </a:xfrm>
      </p:grpSpPr>
      <p:sp>
        <p:nvSpPr>
          <p:cNvPr id="46" name="Google Shape;46;h259926ce4e4d5a8f_0_44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4800"/>
              <a:buChar char="●"/>
              <a:defRPr sz="4800"/>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47" name="Google Shape;47;h259926ce4e4d5a8f_0_446"/>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8" name="Shape 48"/>
        <p:cNvGrpSpPr/>
        <p:nvPr/>
      </p:nvGrpSpPr>
      <p:grpSpPr>
        <a:xfrm>
          <a:off x="0" y="0"/>
          <a:ext cx="0" cy="0"/>
          <a:chOff x="0" y="0"/>
          <a:chExt cx="0" cy="0"/>
        </a:xfrm>
      </p:grpSpPr>
      <p:sp>
        <p:nvSpPr>
          <p:cNvPr id="49" name="Google Shape;49;h259926ce4e4d5a8f_0_44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h259926ce4e4d5a8f_0_44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p:txBody>
      </p:sp>
      <p:sp>
        <p:nvSpPr>
          <p:cNvPr id="51" name="Google Shape;51;h259926ce4e4d5a8f_0_449"/>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2" name="Google Shape;52;h259926ce4e4d5a8f_0_44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53" name="Google Shape;53;h259926ce4e4d5a8f_0_44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4" name="Shape 54"/>
        <p:cNvGrpSpPr/>
        <p:nvPr/>
      </p:nvGrpSpPr>
      <p:grpSpPr>
        <a:xfrm>
          <a:off x="0" y="0"/>
          <a:ext cx="0" cy="0"/>
          <a:chOff x="0" y="0"/>
          <a:chExt cx="0" cy="0"/>
        </a:xfrm>
      </p:grpSpPr>
      <p:sp>
        <p:nvSpPr>
          <p:cNvPr id="55" name="Google Shape;55;h259926ce4e4d5a8f_0_45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56" name="Google Shape;56;h259926ce4e4d5a8f_0_455"/>
          <p:cNvSpPr txBox="1"/>
          <p:nvPr>
            <p:ph idx="1" type="body"/>
          </p:nvPr>
        </p:nvSpPr>
        <p:spPr>
          <a:xfrm>
            <a:off x="311700" y="3152225"/>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SzPts val="14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7" name="Google Shape;57;h259926ce4e4d5a8f_0_455"/>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8" name="Shape 58"/>
        <p:cNvGrpSpPr/>
        <p:nvPr/>
      </p:nvGrpSpPr>
      <p:grpSpPr>
        <a:xfrm>
          <a:off x="0" y="0"/>
          <a:ext cx="0" cy="0"/>
          <a:chOff x="0" y="0"/>
          <a:chExt cx="0" cy="0"/>
        </a:xfrm>
      </p:grpSpPr>
      <p:sp>
        <p:nvSpPr>
          <p:cNvPr id="59" name="Google Shape;59;h259926ce4e4d5a8f_0_45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11" Type="http://schemas.openxmlformats.org/officeDocument/2006/relationships/theme" Target="../theme/theme3.xml"/><Relationship Id="rId10" Type="http://schemas.openxmlformats.org/officeDocument/2006/relationships/slideLayout" Target="../slideLayouts/slideLayout13.xml"/><Relationship Id="rId9" Type="http://schemas.openxmlformats.org/officeDocument/2006/relationships/slideLayout" Target="../slideLayouts/slideLayout12.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Relationship Id="rId8"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4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21" name="Shape 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8.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21.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49.png"/><Relationship Id="rId5" Type="http://schemas.openxmlformats.org/officeDocument/2006/relationships/image" Target="../media/image24.jpg"/><Relationship Id="rId6"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hyperlink" Target="https://uravation.com/media/40pct-enterprise-apps-ai-agents-2026/" TargetMode="Externa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www.soumu.go.jp/johotsusintokei/whitepaper/ja/r08/html/nd121110.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png"/><Relationship Id="rId4"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png"/><Relationship Id="rId4" Type="http://schemas.openxmlformats.org/officeDocument/2006/relationships/image" Target="../media/image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comments" Target="../comments/comment1.xml"/><Relationship Id="rId4"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5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51.png"/><Relationship Id="rId4" Type="http://schemas.openxmlformats.org/officeDocument/2006/relationships/image" Target="../media/image61.png"/><Relationship Id="rId5" Type="http://schemas.openxmlformats.org/officeDocument/2006/relationships/image" Target="../media/image5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6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hyperlink" Target="http://drive.google.com/file/d/1hhHP5wrnkvjk_L-vb_r2-96i9_-Vp5W0/view" TargetMode="External"/><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hyperlink" Target="http://drive.google.com/file/d/1Nf5b2GRxv8LSCMyAg2X3aEJoqzkSl6n-/view" TargetMode="External"/><Relationship Id="rId4"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55.png"/><Relationship Id="rId4" Type="http://schemas.openxmlformats.org/officeDocument/2006/relationships/image" Target="../media/image43.png"/><Relationship Id="rId5" Type="http://schemas.openxmlformats.org/officeDocument/2006/relationships/image" Target="../media/image58.png"/><Relationship Id="rId6"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1.png"/><Relationship Id="rId4" Type="http://schemas.openxmlformats.org/officeDocument/2006/relationships/image" Target="../media/image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59.png"/><Relationship Id="rId4" Type="http://schemas.openxmlformats.org/officeDocument/2006/relationships/image" Target="../media/image62.png"/><Relationship Id="rId5" Type="http://schemas.openxmlformats.org/officeDocument/2006/relationships/image" Target="../media/image60.png"/><Relationship Id="rId6" Type="http://schemas.openxmlformats.org/officeDocument/2006/relationships/image" Target="../media/image54.png"/><Relationship Id="rId7" Type="http://schemas.openxmlformats.org/officeDocument/2006/relationships/image" Target="../media/image56.png"/><Relationship Id="rId8" Type="http://schemas.openxmlformats.org/officeDocument/2006/relationships/image" Target="../media/image3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5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75.png"/><Relationship Id="rId4" Type="http://schemas.openxmlformats.org/officeDocument/2006/relationships/image" Target="../media/image7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76.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71.png"/><Relationship Id="rId4" Type="http://schemas.openxmlformats.org/officeDocument/2006/relationships/image" Target="../media/image7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69.png"/><Relationship Id="rId4" Type="http://schemas.openxmlformats.org/officeDocument/2006/relationships/image" Target="../media/image74.png"/><Relationship Id="rId5" Type="http://schemas.openxmlformats.org/officeDocument/2006/relationships/image" Target="../media/image7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1.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g40a0daa3361_0_315"/>
          <p:cNvSpPr txBox="1"/>
          <p:nvPr/>
        </p:nvSpPr>
        <p:spPr>
          <a:xfrm>
            <a:off x="299900" y="468550"/>
            <a:ext cx="5971200" cy="572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本日使用するWi-Fiについて</a:t>
            </a:r>
            <a:endParaRPr b="1" sz="3600"/>
          </a:p>
        </p:txBody>
      </p:sp>
      <p:sp>
        <p:nvSpPr>
          <p:cNvPr id="66" name="Google Shape;66;g40a0daa3361_0_315"/>
          <p:cNvSpPr txBox="1"/>
          <p:nvPr/>
        </p:nvSpPr>
        <p:spPr>
          <a:xfrm>
            <a:off x="1426950" y="2299050"/>
            <a:ext cx="6290100" cy="54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3000"/>
              <a:t>こちらから案内します。</a:t>
            </a:r>
            <a:endParaRPr sz="3000"/>
          </a:p>
        </p:txBody>
      </p:sp>
      <p:sp>
        <p:nvSpPr>
          <p:cNvPr id="67" name="Google Shape;67;g40a0daa3361_0_31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g40a0daa3361_0_1"/>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sp>
        <p:nvSpPr>
          <p:cNvPr id="73" name="Google Shape;73;g40a0daa3361_0_1"/>
          <p:cNvSpPr txBox="1"/>
          <p:nvPr/>
        </p:nvSpPr>
        <p:spPr>
          <a:xfrm>
            <a:off x="213000" y="2241900"/>
            <a:ext cx="8931000" cy="510900"/>
          </a:xfrm>
          <a:prstGeom prst="rect">
            <a:avLst/>
          </a:prstGeom>
          <a:noFill/>
          <a:ln>
            <a:noFill/>
          </a:ln>
        </p:spPr>
        <p:txBody>
          <a:bodyPr anchorCtr="0" anchor="t" bIns="34275" lIns="68575" spcFirstLastPara="1" rIns="68575" wrap="square" tIns="34275">
            <a:spAutoFit/>
          </a:bodyPr>
          <a:lstStyle/>
          <a:p>
            <a:pPr indent="0" lvl="0" marL="0" marR="0" rtl="0" algn="l">
              <a:lnSpc>
                <a:spcPct val="70000"/>
              </a:lnSpc>
              <a:spcBef>
                <a:spcPts val="0"/>
              </a:spcBef>
              <a:spcAft>
                <a:spcPts val="0"/>
              </a:spcAft>
              <a:buClr>
                <a:srgbClr val="000000"/>
              </a:buClr>
              <a:buSzPts val="9500"/>
              <a:buFont typeface="Arial"/>
              <a:buNone/>
            </a:pPr>
            <a:r>
              <a:rPr lang="en-US" sz="4100">
                <a:solidFill>
                  <a:srgbClr val="FFFFFF"/>
                </a:solidFill>
                <a:latin typeface="Host Grotesk ExtraBold"/>
                <a:ea typeface="Host Grotesk ExtraBold"/>
                <a:cs typeface="Host Grotesk ExtraBold"/>
                <a:sym typeface="Host Grotesk ExtraBold"/>
              </a:rPr>
              <a:t>生成A</a:t>
            </a:r>
            <a:r>
              <a:rPr lang="en-US" sz="4100">
                <a:solidFill>
                  <a:srgbClr val="FFFFFF"/>
                </a:solidFill>
                <a:latin typeface="Host Grotesk ExtraBold"/>
                <a:ea typeface="Host Grotesk ExtraBold"/>
                <a:cs typeface="Host Grotesk ExtraBold"/>
                <a:sym typeface="Host Grotesk ExtraBold"/>
              </a:rPr>
              <a:t>I定着ワークショップ</a:t>
            </a:r>
            <a:endParaRPr sz="4100">
              <a:solidFill>
                <a:srgbClr val="FFFFFF"/>
              </a:solidFill>
              <a:latin typeface="Host Grotesk ExtraBold"/>
              <a:ea typeface="Host Grotesk ExtraBold"/>
              <a:cs typeface="Host Grotesk ExtraBold"/>
              <a:sym typeface="Host Grotesk ExtraBold"/>
            </a:endParaRPr>
          </a:p>
        </p:txBody>
      </p:sp>
      <p:pic>
        <p:nvPicPr>
          <p:cNvPr id="74" name="Google Shape;74;g40a0daa3361_0_1"/>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sp>
        <p:nvSpPr>
          <p:cNvPr id="75" name="Google Shape;75;g40a0daa3361_0_1"/>
          <p:cNvSpPr txBox="1"/>
          <p:nvPr/>
        </p:nvSpPr>
        <p:spPr>
          <a:xfrm>
            <a:off x="430561" y="4645115"/>
            <a:ext cx="2517300" cy="253800"/>
          </a:xfrm>
          <a:prstGeom prst="rect">
            <a:avLst/>
          </a:prstGeom>
          <a:noFill/>
          <a:ln>
            <a:noFill/>
          </a:ln>
        </p:spPr>
        <p:txBody>
          <a:bodyPr anchorCtr="0" anchor="t" bIns="34275" lIns="68575" spcFirstLastPara="1" rIns="68575" wrap="square" tIns="34275">
            <a:spAutoFit/>
          </a:bodyPr>
          <a:lstStyle/>
          <a:p>
            <a:pPr indent="0" lvl="0" marL="0" marR="0" rtl="0" algn="l">
              <a:lnSpc>
                <a:spcPct val="130000"/>
              </a:lnSpc>
              <a:spcBef>
                <a:spcPts val="0"/>
              </a:spcBef>
              <a:spcAft>
                <a:spcPts val="0"/>
              </a:spcAft>
              <a:buClr>
                <a:srgbClr val="FFFFFF"/>
              </a:buClr>
              <a:buSzPts val="1200"/>
              <a:buFont typeface="Raleway"/>
              <a:buNone/>
            </a:pPr>
            <a:r>
              <a:rPr lang="en-US" sz="1200">
                <a:solidFill>
                  <a:srgbClr val="FFFFFF"/>
                </a:solidFill>
                <a:latin typeface="Raleway"/>
                <a:ea typeface="Raleway"/>
                <a:cs typeface="Raleway"/>
                <a:sym typeface="Raleway"/>
              </a:rPr>
              <a:t>2026.09.29</a:t>
            </a:r>
            <a:endParaRPr b="0" i="0" sz="1100" u="none" cap="none" strike="noStrike">
              <a:solidFill>
                <a:srgbClr val="000000"/>
              </a:solidFill>
              <a:latin typeface="Arial"/>
              <a:ea typeface="Arial"/>
              <a:cs typeface="Arial"/>
              <a:sym typeface="Arial"/>
            </a:endParaRPr>
          </a:p>
        </p:txBody>
      </p:sp>
      <p:pic>
        <p:nvPicPr>
          <p:cNvPr id="76" name="Google Shape;76;g40a0daa3361_0_1"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7" name="Google Shape;77;g40a0daa3361_0_1"/>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g40a0daa3361_0_164"/>
          <p:cNvSpPr txBox="1"/>
          <p:nvPr>
            <p:ph type="title"/>
          </p:nvPr>
        </p:nvSpPr>
        <p:spPr>
          <a:xfrm>
            <a:off x="564800" y="349150"/>
            <a:ext cx="42699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b="1" lang="en-US" sz="2620"/>
              <a:t>講師紹介</a:t>
            </a:r>
            <a:endParaRPr b="1" sz="2620"/>
          </a:p>
        </p:txBody>
      </p:sp>
      <p:sp>
        <p:nvSpPr>
          <p:cNvPr id="83" name="Google Shape;83;g40a0daa3361_0_164"/>
          <p:cNvSpPr txBox="1"/>
          <p:nvPr>
            <p:ph idx="1" type="body"/>
          </p:nvPr>
        </p:nvSpPr>
        <p:spPr>
          <a:xfrm>
            <a:off x="862600" y="2637825"/>
            <a:ext cx="3558600" cy="1506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400">
                <a:solidFill>
                  <a:schemeClr val="dk1"/>
                </a:solidFill>
              </a:rPr>
              <a:t>樋口 剛琉（Higuchi Takeru）</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新潟版未踏的人材育成事業 ETSUZAN 一期生</a:t>
            </a:r>
            <a:endParaRPr sz="1200">
              <a:solidFill>
                <a:schemeClr val="dk1"/>
              </a:solidFill>
            </a:endParaRPr>
          </a:p>
          <a:p>
            <a:pPr indent="0" lvl="0" marL="0" rtl="0" algn="l">
              <a:spcBef>
                <a:spcPts val="0"/>
              </a:spcBef>
              <a:spcAft>
                <a:spcPts val="0"/>
              </a:spcAft>
              <a:buNone/>
            </a:pPr>
            <a:r>
              <a:rPr lang="en-US" sz="1200">
                <a:solidFill>
                  <a:schemeClr val="dk1"/>
                </a:solidFill>
              </a:rPr>
              <a:t>2026 リーンローンチパッド長岡 TA</a:t>
            </a:r>
            <a:endParaRPr sz="1200">
              <a:solidFill>
                <a:schemeClr val="dk1"/>
              </a:solidFill>
            </a:endParaRPr>
          </a:p>
          <a:p>
            <a:pPr indent="0" lvl="0" marL="0" rtl="0" algn="l">
              <a:spcBef>
                <a:spcPts val="0"/>
              </a:spcBef>
              <a:spcAft>
                <a:spcPts val="0"/>
              </a:spcAft>
              <a:buNone/>
            </a:pPr>
            <a:r>
              <a:rPr lang="en-US" sz="1200">
                <a:solidFill>
                  <a:schemeClr val="dk1"/>
                </a:solidFill>
              </a:rPr>
              <a:t>ex- 株式会社nexfare 取締役 CTO</a:t>
            </a:r>
            <a:endParaRPr sz="1200">
              <a:solidFill>
                <a:schemeClr val="dk1"/>
              </a:solidFill>
            </a:endParaRPr>
          </a:p>
          <a:p>
            <a:pPr indent="0" lvl="0" marL="0" rtl="0" algn="l">
              <a:spcBef>
                <a:spcPts val="0"/>
              </a:spcBef>
              <a:spcAft>
                <a:spcPts val="0"/>
              </a:spcAft>
              <a:buNone/>
            </a:pPr>
            <a:r>
              <a:rPr lang="en-US" sz="1200">
                <a:solidFill>
                  <a:schemeClr val="dk1"/>
                </a:solidFill>
              </a:rPr>
              <a:t>株式会社スタイルアーツ 取締役 COO</a:t>
            </a:r>
            <a:endParaRPr sz="1200">
              <a:solidFill>
                <a:schemeClr val="dk1"/>
              </a:solidFill>
            </a:endParaRPr>
          </a:p>
        </p:txBody>
      </p:sp>
      <p:sp>
        <p:nvSpPr>
          <p:cNvPr id="84" name="Google Shape;84;g40a0daa3361_0_164"/>
          <p:cNvSpPr txBox="1"/>
          <p:nvPr>
            <p:ph idx="1" type="body"/>
          </p:nvPr>
        </p:nvSpPr>
        <p:spPr>
          <a:xfrm>
            <a:off x="4834700" y="2637825"/>
            <a:ext cx="3446700" cy="111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a:solidFill>
                  <a:schemeClr val="dk1"/>
                </a:solidFill>
              </a:rPr>
              <a:t>髙司</a:t>
            </a:r>
            <a:r>
              <a:rPr b="1" lang="en-US" sz="1400">
                <a:solidFill>
                  <a:schemeClr val="dk1"/>
                </a:solidFill>
              </a:rPr>
              <a:t> </a:t>
            </a:r>
            <a:r>
              <a:rPr b="1" lang="en-US">
                <a:solidFill>
                  <a:schemeClr val="dk1"/>
                </a:solidFill>
              </a:rPr>
              <a:t>康平</a:t>
            </a:r>
            <a:r>
              <a:rPr b="1" lang="en-US" sz="1400">
                <a:solidFill>
                  <a:schemeClr val="dk1"/>
                </a:solidFill>
              </a:rPr>
              <a:t>（</a:t>
            </a:r>
            <a:r>
              <a:rPr b="1" lang="en-US">
                <a:solidFill>
                  <a:schemeClr val="dk1"/>
                </a:solidFill>
              </a:rPr>
              <a:t>Takashi</a:t>
            </a:r>
            <a:r>
              <a:rPr b="1" lang="en-US" sz="1400">
                <a:solidFill>
                  <a:schemeClr val="dk1"/>
                </a:solidFill>
              </a:rPr>
              <a:t> </a:t>
            </a:r>
            <a:r>
              <a:rPr b="1" lang="en-US">
                <a:solidFill>
                  <a:schemeClr val="dk1"/>
                </a:solidFill>
              </a:rPr>
              <a:t>Kohei</a:t>
            </a:r>
            <a:r>
              <a:rPr b="1" lang="en-US" sz="1400">
                <a:solidFill>
                  <a:schemeClr val="dk1"/>
                </a:solidFill>
              </a:rPr>
              <a:t>）</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長岡技術科学大学 在学</a:t>
            </a:r>
            <a:br>
              <a:rPr lang="en-US" sz="1200">
                <a:solidFill>
                  <a:schemeClr val="dk1"/>
                </a:solidFill>
              </a:rPr>
            </a:br>
            <a:r>
              <a:rPr lang="en-US" sz="1200">
                <a:solidFill>
                  <a:schemeClr val="dk1"/>
                </a:solidFill>
              </a:rPr>
              <a:t>スタイルアーツ AIビジネスデザイン事業部</a:t>
            </a:r>
            <a:endParaRPr sz="1400">
              <a:solidFill>
                <a:schemeClr val="dk1"/>
              </a:solidFill>
            </a:endParaRPr>
          </a:p>
        </p:txBody>
      </p:sp>
      <p:sp>
        <p:nvSpPr>
          <p:cNvPr id="85" name="Google Shape;85;g40a0daa3361_0_164"/>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86" name="Google Shape;86;g40a0daa3361_0_164"/>
          <p:cNvPicPr preferRelativeResize="0"/>
          <p:nvPr/>
        </p:nvPicPr>
        <p:blipFill rotWithShape="1">
          <a:blip r:embed="rId3">
            <a:alphaModFix/>
          </a:blip>
          <a:srcRect b="34666" l="0" r="0" t="0"/>
          <a:stretch/>
        </p:blipFill>
        <p:spPr>
          <a:xfrm>
            <a:off x="5205150" y="965850"/>
            <a:ext cx="1703225" cy="1671977"/>
          </a:xfrm>
          <a:prstGeom prst="rect">
            <a:avLst/>
          </a:prstGeom>
          <a:noFill/>
          <a:ln>
            <a:noFill/>
          </a:ln>
        </p:spPr>
      </p:pic>
      <p:pic>
        <p:nvPicPr>
          <p:cNvPr id="87" name="Google Shape;87;g40a0daa3361_0_164"/>
          <p:cNvPicPr preferRelativeResize="0"/>
          <p:nvPr/>
        </p:nvPicPr>
        <p:blipFill rotWithShape="1">
          <a:blip r:embed="rId4">
            <a:alphaModFix/>
          </a:blip>
          <a:srcRect b="14909" l="25402" r="19734" t="2630"/>
          <a:stretch/>
        </p:blipFill>
        <p:spPr>
          <a:xfrm>
            <a:off x="1343450" y="943850"/>
            <a:ext cx="1664466" cy="1671976"/>
          </a:xfrm>
          <a:prstGeom prst="rect">
            <a:avLst/>
          </a:prstGeom>
          <a:noFill/>
          <a:ln>
            <a:noFill/>
          </a:ln>
        </p:spPr>
      </p:pic>
      <p:sp>
        <p:nvSpPr>
          <p:cNvPr id="88" name="Google Shape;88;g40a0daa3361_0_164"/>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3"/>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本日のスケジュール</a:t>
            </a:r>
            <a:endParaRPr b="0" i="0" sz="2200" u="none" cap="none" strike="noStrike">
              <a:solidFill>
                <a:schemeClr val="dk1"/>
              </a:solidFill>
              <a:latin typeface="Calibri"/>
              <a:ea typeface="Calibri"/>
              <a:cs typeface="Calibri"/>
              <a:sym typeface="Calibri"/>
            </a:endParaRPr>
          </a:p>
        </p:txBody>
      </p:sp>
      <p:sp>
        <p:nvSpPr>
          <p:cNvPr id="95" name="Google Shape;95;p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6" name="Google Shape;96;p3"/>
          <p:cNvSpPr/>
          <p:nvPr/>
        </p:nvSpPr>
        <p:spPr>
          <a:xfrm>
            <a:off x="6492240" y="914400"/>
            <a:ext cx="2240280" cy="128016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3"/>
          <p:cNvSpPr txBox="1"/>
          <p:nvPr/>
        </p:nvSpPr>
        <p:spPr>
          <a:xfrm>
            <a:off x="6675120" y="105156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ワーク</a:t>
            </a:r>
            <a:endParaRPr b="0" i="0" sz="1100" u="none" cap="none" strike="noStrike">
              <a:solidFill>
                <a:schemeClr val="dk1"/>
              </a:solidFill>
              <a:latin typeface="Calibri"/>
              <a:ea typeface="Calibri"/>
              <a:cs typeface="Calibri"/>
              <a:sym typeface="Calibri"/>
            </a:endParaRPr>
          </a:p>
        </p:txBody>
      </p:sp>
      <p:sp>
        <p:nvSpPr>
          <p:cNvPr id="98" name="Google Shape;98;p3"/>
          <p:cNvSpPr txBox="1"/>
          <p:nvPr/>
        </p:nvSpPr>
        <p:spPr>
          <a:xfrm>
            <a:off x="6675120" y="132588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3600"/>
              <a:buFont typeface="Meiryo"/>
              <a:buNone/>
            </a:pPr>
            <a:r>
              <a:rPr b="1" i="0" lang="en-US" sz="3600" u="none" cap="none" strike="noStrike">
                <a:solidFill>
                  <a:srgbClr val="1F3A5F"/>
                </a:solidFill>
                <a:latin typeface="Meiryo"/>
                <a:ea typeface="Meiryo"/>
                <a:cs typeface="Meiryo"/>
                <a:sym typeface="Meiryo"/>
              </a:rPr>
              <a:t>3つ</a:t>
            </a:r>
            <a:endParaRPr b="0" i="0" sz="3600" u="none" cap="none" strike="noStrike">
              <a:solidFill>
                <a:schemeClr val="dk1"/>
              </a:solidFill>
              <a:latin typeface="Calibri"/>
              <a:ea typeface="Calibri"/>
              <a:cs typeface="Calibri"/>
              <a:sym typeface="Calibri"/>
            </a:endParaRPr>
          </a:p>
        </p:txBody>
      </p:sp>
      <p:sp>
        <p:nvSpPr>
          <p:cNvPr id="99" name="Google Shape;99;p3"/>
          <p:cNvSpPr/>
          <p:nvPr/>
        </p:nvSpPr>
        <p:spPr>
          <a:xfrm>
            <a:off x="6492240" y="2377440"/>
            <a:ext cx="2240280" cy="128016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3"/>
          <p:cNvSpPr txBox="1"/>
          <p:nvPr/>
        </p:nvSpPr>
        <p:spPr>
          <a:xfrm>
            <a:off x="6675120" y="251460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手を動かす時間</a:t>
            </a:r>
            <a:endParaRPr b="0" i="0" sz="1100" u="none" cap="none" strike="noStrike">
              <a:solidFill>
                <a:schemeClr val="dk1"/>
              </a:solidFill>
              <a:latin typeface="Calibri"/>
              <a:ea typeface="Calibri"/>
              <a:cs typeface="Calibri"/>
              <a:sym typeface="Calibri"/>
            </a:endParaRPr>
          </a:p>
        </p:txBody>
      </p:sp>
      <p:sp>
        <p:nvSpPr>
          <p:cNvPr id="101" name="Google Shape;101;p3"/>
          <p:cNvSpPr txBox="1"/>
          <p:nvPr/>
        </p:nvSpPr>
        <p:spPr>
          <a:xfrm>
            <a:off x="6675120" y="278892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3000"/>
              <a:buFont typeface="Meiryo"/>
              <a:buNone/>
            </a:pPr>
            <a:r>
              <a:rPr b="1" i="0" lang="en-US" sz="3000" u="none" cap="none" strike="noStrike">
                <a:solidFill>
                  <a:srgbClr val="E8702A"/>
                </a:solidFill>
                <a:latin typeface="Meiryo"/>
                <a:ea typeface="Meiryo"/>
                <a:cs typeface="Meiryo"/>
                <a:sym typeface="Meiryo"/>
              </a:rPr>
              <a:t>約2時間</a:t>
            </a:r>
            <a:endParaRPr b="0" i="0" sz="3000" u="none" cap="none" strike="noStrike">
              <a:solidFill>
                <a:schemeClr val="dk1"/>
              </a:solidFill>
              <a:latin typeface="Calibri"/>
              <a:ea typeface="Calibri"/>
              <a:cs typeface="Calibri"/>
              <a:sym typeface="Calibri"/>
            </a:endParaRPr>
          </a:p>
        </p:txBody>
      </p:sp>
      <p:sp>
        <p:nvSpPr>
          <p:cNvPr id="102" name="Google Shape;102;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103" name="Google Shape;103;p3"/>
          <p:cNvGraphicFramePr/>
          <p:nvPr/>
        </p:nvGraphicFramePr>
        <p:xfrm>
          <a:off x="411480" y="914400"/>
          <a:ext cx="3000000" cy="3000000"/>
        </p:xfrm>
        <a:graphic>
          <a:graphicData uri="http://schemas.openxmlformats.org/drawingml/2006/table">
            <a:tbl>
              <a:tblPr>
                <a:noFill/>
                <a:tableStyleId>{A5FF9485-15E4-4B45-BF75-814422209F04}</a:tableStyleId>
              </a:tblPr>
              <a:tblGrid>
                <a:gridCol w="914400"/>
                <a:gridCol w="4846325"/>
              </a:tblGrid>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オープニング／概要説明</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a:solidFill>
                            <a:srgbClr val="222222"/>
                          </a:solidFill>
                          <a:latin typeface="Meiryo"/>
                          <a:ea typeface="Meiryo"/>
                          <a:cs typeface="Meiryo"/>
                          <a:sym typeface="Meiryo"/>
                        </a:rPr>
                        <a:t>昨年度の振り返り</a:t>
                      </a:r>
                      <a:r>
                        <a:rPr lang="en-US" sz="1100" u="none" cap="none" strike="noStrike">
                          <a:solidFill>
                            <a:srgbClr val="222222"/>
                          </a:solidFill>
                          <a:latin typeface="Meiryo"/>
                          <a:ea typeface="Meiryo"/>
                          <a:cs typeface="Meiryo"/>
                          <a:sym typeface="Meiryo"/>
                        </a:rPr>
                        <a:t>＋この1年のAIアップデート</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AIへのインプット・アウトプットの考え方講座</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13:50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ワーク① 業務課題の棚卸し</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14:</a:t>
                      </a:r>
                      <a:r>
                        <a:rPr lang="en-US" sz="1100">
                          <a:solidFill>
                            <a:srgbClr val="6B7280"/>
                          </a:solidFill>
                          <a:latin typeface="Meiryo"/>
                          <a:ea typeface="Meiryo"/>
                          <a:cs typeface="Meiryo"/>
                          <a:sym typeface="Meiryo"/>
                        </a:rPr>
                        <a:t>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14:</a:t>
                      </a:r>
                      <a:r>
                        <a:rPr b="1" lang="en-US" sz="1100">
                          <a:solidFill>
                            <a:srgbClr val="222222"/>
                          </a:solidFill>
                          <a:latin typeface="Meiryo"/>
                          <a:ea typeface="Meiryo"/>
                          <a:cs typeface="Meiryo"/>
                          <a:sym typeface="Meiryo"/>
                        </a:rPr>
                        <a:t>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ワーク② プロンプト作成・実行・改善</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a:t>
                      </a:r>
                      <a:r>
                        <a:rPr lang="en-US" sz="1100">
                          <a:solidFill>
                            <a:srgbClr val="6B7280"/>
                          </a:solidFill>
                          <a:latin typeface="Meiryo"/>
                          <a:ea typeface="Meiryo"/>
                          <a:cs typeface="Meiryo"/>
                          <a:sym typeface="Meiryo"/>
                        </a:rPr>
                        <a:t>5</a:t>
                      </a:r>
                      <a:r>
                        <a:rPr lang="en-US" sz="1100" u="none" cap="none" strike="noStrike">
                          <a:solidFill>
                            <a:srgbClr val="6B7280"/>
                          </a:solidFill>
                          <a:latin typeface="Meiryo"/>
                          <a:ea typeface="Meiryo"/>
                          <a:cs typeface="Meiryo"/>
                          <a:sym typeface="Meiryo"/>
                        </a:rPr>
                        <a:t>:00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15:</a:t>
                      </a:r>
                      <a:r>
                        <a:rPr lang="en-US" sz="1100">
                          <a:solidFill>
                            <a:srgbClr val="222222"/>
                          </a:solidFill>
                          <a:latin typeface="Meiryo"/>
                          <a:ea typeface="Meiryo"/>
                          <a:cs typeface="Meiryo"/>
                          <a:sym typeface="Meiryo"/>
                        </a:rPr>
                        <a:t>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画像生成AI解説＋デモ</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15:</a:t>
                      </a:r>
                      <a:r>
                        <a:rPr b="1" lang="en-US" sz="1100">
                          <a:solidFill>
                            <a:srgbClr val="222222"/>
                          </a:solidFill>
                          <a:latin typeface="Meiryo"/>
                          <a:ea typeface="Meiryo"/>
                          <a:cs typeface="Meiryo"/>
                          <a:sym typeface="Meiryo"/>
                        </a:rPr>
                        <a:t>25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販促物制作</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16:05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成果共有</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16:30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クロージング</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16:35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自由解散・個別相談</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今日の進め方</a:t>
            </a:r>
            <a:endParaRPr b="0" i="0" sz="2200" u="none" cap="none" strike="noStrike">
              <a:solidFill>
                <a:schemeClr val="dk1"/>
              </a:solidFill>
              <a:latin typeface="Calibri"/>
              <a:ea typeface="Calibri"/>
              <a:cs typeface="Calibri"/>
              <a:sym typeface="Calibri"/>
            </a:endParaRPr>
          </a:p>
        </p:txBody>
      </p:sp>
      <p:sp>
        <p:nvSpPr>
          <p:cNvPr id="110" name="Google Shape;110;p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1" name="Google Shape;111;p5"/>
          <p:cNvSpPr/>
          <p:nvPr/>
        </p:nvSpPr>
        <p:spPr>
          <a:xfrm>
            <a:off x="502920" y="105156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2" name="Google Shape;112;p5"/>
          <p:cNvPicPr preferRelativeResize="0"/>
          <p:nvPr/>
        </p:nvPicPr>
        <p:blipFill rotWithShape="1">
          <a:blip r:embed="rId3">
            <a:alphaModFix/>
          </a:blip>
          <a:srcRect b="0" l="0" r="0" t="0"/>
          <a:stretch/>
        </p:blipFill>
        <p:spPr>
          <a:xfrm>
            <a:off x="627644" y="1176284"/>
            <a:ext cx="317480" cy="317480"/>
          </a:xfrm>
          <a:prstGeom prst="rect">
            <a:avLst/>
          </a:prstGeom>
          <a:noFill/>
          <a:ln>
            <a:noFill/>
          </a:ln>
        </p:spPr>
      </p:pic>
      <p:sp>
        <p:nvSpPr>
          <p:cNvPr id="113" name="Google Shape;113;p5"/>
          <p:cNvSpPr txBox="1"/>
          <p:nvPr/>
        </p:nvSpPr>
        <p:spPr>
          <a:xfrm>
            <a:off x="1280160" y="1033272"/>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手を動かす時間が中心です</a:t>
            </a:r>
            <a:endParaRPr b="0" i="0" sz="1500" u="none" cap="none" strike="noStrike">
              <a:solidFill>
                <a:schemeClr val="dk1"/>
              </a:solidFill>
              <a:latin typeface="Calibri"/>
              <a:ea typeface="Calibri"/>
              <a:cs typeface="Calibri"/>
              <a:sym typeface="Calibri"/>
            </a:endParaRPr>
          </a:p>
        </p:txBody>
      </p:sp>
      <p:sp>
        <p:nvSpPr>
          <p:cNvPr id="114" name="Google Shape;114;p5"/>
          <p:cNvSpPr txBox="1"/>
          <p:nvPr/>
        </p:nvSpPr>
        <p:spPr>
          <a:xfrm>
            <a:off x="1280160" y="1371600"/>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講義は短く区切り、すぐに自分の業務で試します</a:t>
            </a:r>
            <a:endParaRPr b="0" i="0" sz="1200" u="none" cap="none" strike="noStrike">
              <a:solidFill>
                <a:schemeClr val="dk1"/>
              </a:solidFill>
              <a:latin typeface="Calibri"/>
              <a:ea typeface="Calibri"/>
              <a:cs typeface="Calibri"/>
              <a:sym typeface="Calibri"/>
            </a:endParaRPr>
          </a:p>
        </p:txBody>
      </p:sp>
      <p:sp>
        <p:nvSpPr>
          <p:cNvPr id="115" name="Google Shape;115;p5"/>
          <p:cNvSpPr/>
          <p:nvPr/>
        </p:nvSpPr>
        <p:spPr>
          <a:xfrm>
            <a:off x="502920" y="190195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 name="Google Shape;116;p5"/>
          <p:cNvPicPr preferRelativeResize="0"/>
          <p:nvPr/>
        </p:nvPicPr>
        <p:blipFill rotWithShape="1">
          <a:blip r:embed="rId4">
            <a:alphaModFix/>
          </a:blip>
          <a:srcRect b="0" l="0" r="0" t="0"/>
          <a:stretch/>
        </p:blipFill>
        <p:spPr>
          <a:xfrm>
            <a:off x="627644" y="2026676"/>
            <a:ext cx="317480" cy="317480"/>
          </a:xfrm>
          <a:prstGeom prst="rect">
            <a:avLst/>
          </a:prstGeom>
          <a:noFill/>
          <a:ln>
            <a:noFill/>
          </a:ln>
        </p:spPr>
      </p:pic>
      <p:sp>
        <p:nvSpPr>
          <p:cNvPr id="117" name="Google Shape;117;p5"/>
          <p:cNvSpPr txBox="1"/>
          <p:nvPr/>
        </p:nvSpPr>
        <p:spPr>
          <a:xfrm>
            <a:off x="1280160" y="1883664"/>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困ったらすぐに聞いてください</a:t>
            </a:r>
            <a:endParaRPr b="0" i="0" sz="1500" u="none" cap="none" strike="noStrike">
              <a:solidFill>
                <a:schemeClr val="dk1"/>
              </a:solidFill>
              <a:latin typeface="Calibri"/>
              <a:ea typeface="Calibri"/>
              <a:cs typeface="Calibri"/>
              <a:sym typeface="Calibri"/>
            </a:endParaRPr>
          </a:p>
        </p:txBody>
      </p:sp>
      <p:sp>
        <p:nvSpPr>
          <p:cNvPr id="118" name="Google Shape;118;p5"/>
          <p:cNvSpPr txBox="1"/>
          <p:nvPr/>
        </p:nvSpPr>
        <p:spPr>
          <a:xfrm>
            <a:off x="1280160" y="2221992"/>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グループのメンバー、技術メンターが近くにいます</a:t>
            </a:r>
            <a:endParaRPr b="0" i="0" sz="1200" u="none" cap="none" strike="noStrike">
              <a:solidFill>
                <a:schemeClr val="dk1"/>
              </a:solidFill>
              <a:latin typeface="Calibri"/>
              <a:ea typeface="Calibri"/>
              <a:cs typeface="Calibri"/>
              <a:sym typeface="Calibri"/>
            </a:endParaRPr>
          </a:p>
        </p:txBody>
      </p:sp>
      <p:sp>
        <p:nvSpPr>
          <p:cNvPr id="119" name="Google Shape;119;p5"/>
          <p:cNvSpPr/>
          <p:nvPr/>
        </p:nvSpPr>
        <p:spPr>
          <a:xfrm>
            <a:off x="502920" y="275234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0" name="Google Shape;120;p5"/>
          <p:cNvPicPr preferRelativeResize="0"/>
          <p:nvPr/>
        </p:nvPicPr>
        <p:blipFill rotWithShape="1">
          <a:blip r:embed="rId5">
            <a:alphaModFix/>
          </a:blip>
          <a:srcRect b="0" l="0" r="0" t="0"/>
          <a:stretch/>
        </p:blipFill>
        <p:spPr>
          <a:xfrm>
            <a:off x="627644" y="2877068"/>
            <a:ext cx="317480" cy="317480"/>
          </a:xfrm>
          <a:prstGeom prst="rect">
            <a:avLst/>
          </a:prstGeom>
          <a:noFill/>
          <a:ln>
            <a:noFill/>
          </a:ln>
        </p:spPr>
      </p:pic>
      <p:sp>
        <p:nvSpPr>
          <p:cNvPr id="121" name="Google Shape;121;p5"/>
          <p:cNvSpPr txBox="1"/>
          <p:nvPr/>
        </p:nvSpPr>
        <p:spPr>
          <a:xfrm>
            <a:off x="1280160" y="2734056"/>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完璧を目指さなくて大丈夫です</a:t>
            </a:r>
            <a:endParaRPr b="0" i="0" sz="1500" u="none" cap="none" strike="noStrike">
              <a:solidFill>
                <a:schemeClr val="dk1"/>
              </a:solidFill>
              <a:latin typeface="Calibri"/>
              <a:ea typeface="Calibri"/>
              <a:cs typeface="Calibri"/>
              <a:sym typeface="Calibri"/>
            </a:endParaRPr>
          </a:p>
        </p:txBody>
      </p:sp>
      <p:sp>
        <p:nvSpPr>
          <p:cNvPr id="122" name="Google Shape;122;p5"/>
          <p:cNvSpPr txBox="1"/>
          <p:nvPr/>
        </p:nvSpPr>
        <p:spPr>
          <a:xfrm>
            <a:off x="1280160" y="3072384"/>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AIは0→1が得意。たたき台を出して、対話で直していきます</a:t>
            </a:r>
            <a:endParaRPr b="0" i="0" sz="1200" u="none" cap="none" strike="noStrike">
              <a:solidFill>
                <a:schemeClr val="dk1"/>
              </a:solidFill>
              <a:latin typeface="Calibri"/>
              <a:ea typeface="Calibri"/>
              <a:cs typeface="Calibri"/>
              <a:sym typeface="Calibri"/>
            </a:endParaRPr>
          </a:p>
        </p:txBody>
      </p:sp>
      <p:sp>
        <p:nvSpPr>
          <p:cNvPr id="123" name="Google Shape;123;p5"/>
          <p:cNvSpPr/>
          <p:nvPr/>
        </p:nvSpPr>
        <p:spPr>
          <a:xfrm>
            <a:off x="502920" y="360273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 name="Google Shape;124;p5"/>
          <p:cNvPicPr preferRelativeResize="0"/>
          <p:nvPr/>
        </p:nvPicPr>
        <p:blipFill rotWithShape="1">
          <a:blip r:embed="rId6">
            <a:alphaModFix/>
          </a:blip>
          <a:srcRect b="0" l="0" r="0" t="0"/>
          <a:stretch/>
        </p:blipFill>
        <p:spPr>
          <a:xfrm>
            <a:off x="627644" y="3727460"/>
            <a:ext cx="317480" cy="317480"/>
          </a:xfrm>
          <a:prstGeom prst="rect">
            <a:avLst/>
          </a:prstGeom>
          <a:noFill/>
          <a:ln>
            <a:noFill/>
          </a:ln>
        </p:spPr>
      </p:pic>
      <p:sp>
        <p:nvSpPr>
          <p:cNvPr id="125" name="Google Shape;125;p5"/>
          <p:cNvSpPr txBox="1"/>
          <p:nvPr/>
        </p:nvSpPr>
        <p:spPr>
          <a:xfrm>
            <a:off x="1280160" y="3584448"/>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業務情報の扱いは次のパートで確認します</a:t>
            </a:r>
            <a:endParaRPr b="0" i="0" sz="1500" u="none" cap="none" strike="noStrike">
              <a:solidFill>
                <a:schemeClr val="dk1"/>
              </a:solidFill>
              <a:latin typeface="Calibri"/>
              <a:ea typeface="Calibri"/>
              <a:cs typeface="Calibri"/>
              <a:sym typeface="Calibri"/>
            </a:endParaRPr>
          </a:p>
        </p:txBody>
      </p:sp>
      <p:sp>
        <p:nvSpPr>
          <p:cNvPr id="126" name="Google Shape;126;p5"/>
          <p:cNvSpPr txBox="1"/>
          <p:nvPr/>
        </p:nvSpPr>
        <p:spPr>
          <a:xfrm>
            <a:off x="1280160" y="3922776"/>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入力してよい情報・いけない情報を最初に揃えます</a:t>
            </a:r>
            <a:endParaRPr b="0" i="0" sz="1200" u="none" cap="none" strike="noStrike">
              <a:solidFill>
                <a:schemeClr val="dk1"/>
              </a:solidFill>
              <a:latin typeface="Calibri"/>
              <a:ea typeface="Calibri"/>
              <a:cs typeface="Calibri"/>
              <a:sym typeface="Calibri"/>
            </a:endParaRPr>
          </a:p>
        </p:txBody>
      </p:sp>
      <p:sp>
        <p:nvSpPr>
          <p:cNvPr id="127" name="Google Shape;12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h259926ce4e4d5a8f_0_13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34" name="Google Shape;134;h259926ce4e4d5a8f_0_13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35" name="Google Shape;135;h259926ce4e4d5a8f_0_13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36" name="Google Shape;136;h259926ce4e4d5a8f_0_136"/>
          <p:cNvPicPr preferRelativeResize="0"/>
          <p:nvPr/>
        </p:nvPicPr>
        <p:blipFill>
          <a:blip r:embed="rId3">
            <a:alphaModFix/>
          </a:blip>
          <a:stretch>
            <a:fillRect/>
          </a:stretch>
        </p:blipFill>
        <p:spPr>
          <a:xfrm>
            <a:off x="152400" y="929520"/>
            <a:ext cx="8517751" cy="366793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h259926ce4e4d5a8f_0_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43" name="Google Shape;143;h259926ce4e4d5a8f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44" name="Google Shape;144;h259926ce4e4d5a8f_0_3"/>
          <p:cNvSpPr/>
          <p:nvPr/>
        </p:nvSpPr>
        <p:spPr>
          <a:xfrm>
            <a:off x="411480" y="914400"/>
            <a:ext cx="8321100" cy="731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h259926ce4e4d5a8f_0_3"/>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600"/>
              <a:buFont typeface="Meiryo"/>
              <a:buNone/>
            </a:pPr>
            <a:r>
              <a:rPr b="1" lang="en-US" sz="2200">
                <a:solidFill>
                  <a:srgbClr val="222222"/>
                </a:solidFill>
                <a:latin typeface="Meiryo"/>
                <a:ea typeface="Meiryo"/>
                <a:cs typeface="Meiryo"/>
                <a:sym typeface="Meiryo"/>
              </a:rPr>
              <a:t>GPT-6 Astra が登場（2026年9月3日）</a:t>
            </a:r>
            <a:endParaRPr b="1" sz="2200">
              <a:solidFill>
                <a:srgbClr val="1F3A5F"/>
              </a:solidFill>
              <a:latin typeface="Meiryo"/>
              <a:ea typeface="Meiryo"/>
              <a:cs typeface="Meiryo"/>
              <a:sym typeface="Meiryo"/>
            </a:endParaRPr>
          </a:p>
        </p:txBody>
      </p:sp>
      <p:sp>
        <p:nvSpPr>
          <p:cNvPr id="146" name="Google Shape;146;h259926ce4e4d5a8f_0_3"/>
          <p:cNvSpPr/>
          <p:nvPr/>
        </p:nvSpPr>
        <p:spPr>
          <a:xfrm>
            <a:off x="502920" y="1828800"/>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7" name="Google Shape;147;h259926ce4e4d5a8f_0_3"/>
          <p:cNvPicPr preferRelativeResize="0"/>
          <p:nvPr/>
        </p:nvPicPr>
        <p:blipFill rotWithShape="1">
          <a:blip r:embed="rId3">
            <a:alphaModFix/>
          </a:blip>
          <a:srcRect b="0" l="0" r="0" t="0"/>
          <a:stretch/>
        </p:blipFill>
        <p:spPr>
          <a:xfrm>
            <a:off x="603504" y="1929384"/>
            <a:ext cx="256032" cy="256032"/>
          </a:xfrm>
          <a:prstGeom prst="rect">
            <a:avLst/>
          </a:prstGeom>
          <a:noFill/>
          <a:ln>
            <a:noFill/>
          </a:ln>
        </p:spPr>
      </p:pic>
      <p:sp>
        <p:nvSpPr>
          <p:cNvPr id="148" name="Google Shape;148;h259926ce4e4d5a8f_0_3"/>
          <p:cNvSpPr txBox="1"/>
          <p:nvPr/>
        </p:nvSpPr>
        <p:spPr>
          <a:xfrm>
            <a:off x="1143000" y="1920312"/>
            <a:ext cx="7498200" cy="274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F3A5F"/>
              </a:buClr>
              <a:buSzPts val="1600"/>
              <a:buFont typeface="Meiryo"/>
              <a:buNone/>
            </a:pPr>
            <a:r>
              <a:rPr b="1" lang="en-US" sz="1600">
                <a:solidFill>
                  <a:srgbClr val="1F3A5F"/>
                </a:solidFill>
                <a:latin typeface="Meiryo"/>
                <a:ea typeface="Meiryo"/>
                <a:cs typeface="Meiryo"/>
                <a:sym typeface="Meiryo"/>
              </a:rPr>
              <a:t>「質問に答えるAI」から「パソコンを操作して仕事を終わらせるAI」へ</a:t>
            </a:r>
            <a:endParaRPr b="0" i="0" sz="1800" u="none" cap="none" strike="noStrike">
              <a:solidFill>
                <a:schemeClr val="dk1"/>
              </a:solidFill>
              <a:latin typeface="Calibri"/>
              <a:ea typeface="Calibri"/>
              <a:cs typeface="Calibri"/>
              <a:sym typeface="Calibri"/>
            </a:endParaRPr>
          </a:p>
        </p:txBody>
      </p:sp>
      <p:sp>
        <p:nvSpPr>
          <p:cNvPr id="149" name="Google Shape;149;h259926ce4e4d5a8f_0_3"/>
          <p:cNvSpPr/>
          <p:nvPr/>
        </p:nvSpPr>
        <p:spPr>
          <a:xfrm>
            <a:off x="502907" y="2617829"/>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0" name="Google Shape;150;h259926ce4e4d5a8f_0_3"/>
          <p:cNvPicPr preferRelativeResize="0"/>
          <p:nvPr/>
        </p:nvPicPr>
        <p:blipFill rotWithShape="1">
          <a:blip r:embed="rId4">
            <a:alphaModFix/>
          </a:blip>
          <a:srcRect b="0" l="0" r="0" t="0"/>
          <a:stretch/>
        </p:blipFill>
        <p:spPr>
          <a:xfrm>
            <a:off x="603491" y="2718413"/>
            <a:ext cx="256032" cy="256032"/>
          </a:xfrm>
          <a:prstGeom prst="rect">
            <a:avLst/>
          </a:prstGeom>
          <a:noFill/>
          <a:ln>
            <a:noFill/>
          </a:ln>
        </p:spPr>
      </p:pic>
      <p:sp>
        <p:nvSpPr>
          <p:cNvPr id="151" name="Google Shape;151;h259926ce4e4d5a8f_0_3"/>
          <p:cNvSpPr txBox="1"/>
          <p:nvPr/>
        </p:nvSpPr>
        <p:spPr>
          <a:xfrm>
            <a:off x="1142988" y="2599541"/>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できること：画面を見て操作する</a:t>
            </a:r>
            <a:endParaRPr b="0" i="0" sz="1300" u="none" cap="none" strike="noStrike">
              <a:solidFill>
                <a:schemeClr val="dk1"/>
              </a:solidFill>
              <a:latin typeface="Calibri"/>
              <a:ea typeface="Calibri"/>
              <a:cs typeface="Calibri"/>
              <a:sym typeface="Calibri"/>
            </a:endParaRPr>
          </a:p>
        </p:txBody>
      </p:sp>
      <p:sp>
        <p:nvSpPr>
          <p:cNvPr id="152" name="Google Shape;152;h259926ce4e4d5a8f_0_3"/>
          <p:cNvSpPr txBox="1"/>
          <p:nvPr/>
        </p:nvSpPr>
        <p:spPr>
          <a:xfrm>
            <a:off x="1142988" y="2873861"/>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Webフォームの入力、社内システムへの登録、調べもの、資料づくりまで</a:t>
            </a:r>
            <a:endParaRPr b="0" i="0" sz="1050" u="none" cap="none" strike="noStrike">
              <a:solidFill>
                <a:schemeClr val="dk1"/>
              </a:solidFill>
              <a:latin typeface="Calibri"/>
              <a:ea typeface="Calibri"/>
              <a:cs typeface="Calibri"/>
              <a:sym typeface="Calibri"/>
            </a:endParaRPr>
          </a:p>
        </p:txBody>
      </p:sp>
      <p:sp>
        <p:nvSpPr>
          <p:cNvPr id="153" name="Google Shape;153;h259926ce4e4d5a8f_0_3"/>
          <p:cNvSpPr/>
          <p:nvPr/>
        </p:nvSpPr>
        <p:spPr>
          <a:xfrm>
            <a:off x="502907" y="3443308"/>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4" name="Google Shape;154;h259926ce4e4d5a8f_0_3"/>
          <p:cNvPicPr preferRelativeResize="0"/>
          <p:nvPr/>
        </p:nvPicPr>
        <p:blipFill rotWithShape="1">
          <a:blip r:embed="rId5">
            <a:alphaModFix/>
          </a:blip>
          <a:srcRect b="0" l="0" r="0" t="0"/>
          <a:stretch/>
        </p:blipFill>
        <p:spPr>
          <a:xfrm>
            <a:off x="603491" y="3543892"/>
            <a:ext cx="256032" cy="256032"/>
          </a:xfrm>
          <a:prstGeom prst="rect">
            <a:avLst/>
          </a:prstGeom>
          <a:noFill/>
          <a:ln>
            <a:noFill/>
          </a:ln>
        </p:spPr>
      </p:pic>
      <p:sp>
        <p:nvSpPr>
          <p:cNvPr id="155" name="Google Shape;155;h259926ce4e4d5a8f_0_3"/>
          <p:cNvSpPr txBox="1"/>
          <p:nvPr/>
        </p:nvSpPr>
        <p:spPr>
          <a:xfrm>
            <a:off x="1142988" y="342502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古いシステムにも使える</a:t>
            </a:r>
            <a:endParaRPr b="0" i="0" sz="1300" u="none" cap="none" strike="noStrike">
              <a:solidFill>
                <a:schemeClr val="dk1"/>
              </a:solidFill>
              <a:latin typeface="Calibri"/>
              <a:ea typeface="Calibri"/>
              <a:cs typeface="Calibri"/>
              <a:sym typeface="Calibri"/>
            </a:endParaRPr>
          </a:p>
        </p:txBody>
      </p:sp>
      <p:sp>
        <p:nvSpPr>
          <p:cNvPr id="156" name="Google Shape;156;h259926ce4e4d5a8f_0_3"/>
          <p:cNvSpPr txBox="1"/>
          <p:nvPr/>
        </p:nvSpPr>
        <p:spPr>
          <a:xfrm>
            <a:off x="1142988" y="3699340"/>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連携のしくみ（API）がないソフトでも、画面から操作できるのが実務での違い</a:t>
            </a:r>
            <a:endParaRPr b="0" i="0" sz="1050" u="none" cap="none" strike="noStrike">
              <a:solidFill>
                <a:schemeClr val="dk1"/>
              </a:solidFill>
              <a:latin typeface="Calibri"/>
              <a:ea typeface="Calibri"/>
              <a:cs typeface="Calibri"/>
              <a:sym typeface="Calibri"/>
            </a:endParaRPr>
          </a:p>
        </p:txBody>
      </p:sp>
      <p:sp>
        <p:nvSpPr>
          <p:cNvPr id="157" name="Google Shape;157;h259926ce4e4d5a8f_0_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h259926ce4e4d5a8f_0_11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64" name="Google Shape;164;h259926ce4e4d5a8f_0_11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65" name="Google Shape;165;h259926ce4e4d5a8f_0_1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66" name="Google Shape;166;h259926ce4e4d5a8f_0_112"/>
          <p:cNvPicPr preferRelativeResize="0"/>
          <p:nvPr/>
        </p:nvPicPr>
        <p:blipFill>
          <a:blip r:embed="rId3">
            <a:alphaModFix/>
          </a:blip>
          <a:stretch>
            <a:fillRect/>
          </a:stretch>
        </p:blipFill>
        <p:spPr>
          <a:xfrm>
            <a:off x="1915625" y="957150"/>
            <a:ext cx="5312799" cy="3536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h259926ce4e4d5a8f_0_2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73" name="Google Shape;173;h259926ce4e4d5a8f_0_2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74" name="Google Shape;174;h259926ce4e4d5a8f_0_28"/>
          <p:cNvSpPr/>
          <p:nvPr/>
        </p:nvSpPr>
        <p:spPr>
          <a:xfrm>
            <a:off x="411480" y="914400"/>
            <a:ext cx="8321100" cy="731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h259926ce4e4d5a8f_0_28"/>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600"/>
              <a:buFont typeface="Meiryo"/>
              <a:buNone/>
            </a:pPr>
            <a:r>
              <a:rPr b="1" lang="en-US" sz="1800">
                <a:solidFill>
                  <a:srgbClr val="222222"/>
                </a:solidFill>
                <a:latin typeface="Meiryo"/>
                <a:ea typeface="Meiryo"/>
                <a:cs typeface="Meiryo"/>
                <a:sym typeface="Meiryo"/>
              </a:rPr>
              <a:t>著作権法違反（複製権侵害）の疑いで書類送検</a:t>
            </a:r>
            <a:endParaRPr b="0" i="0" sz="1800" u="none" cap="none" strike="noStrike">
              <a:solidFill>
                <a:schemeClr val="dk1"/>
              </a:solidFill>
              <a:latin typeface="Calibri"/>
              <a:ea typeface="Calibri"/>
              <a:cs typeface="Calibri"/>
              <a:sym typeface="Calibri"/>
            </a:endParaRPr>
          </a:p>
        </p:txBody>
      </p:sp>
      <p:sp>
        <p:nvSpPr>
          <p:cNvPr id="176" name="Google Shape;176;h259926ce4e4d5a8f_0_28"/>
          <p:cNvSpPr/>
          <p:nvPr/>
        </p:nvSpPr>
        <p:spPr>
          <a:xfrm>
            <a:off x="502920" y="187452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7" name="Google Shape;177;h259926ce4e4d5a8f_0_28"/>
          <p:cNvPicPr preferRelativeResize="0"/>
          <p:nvPr/>
        </p:nvPicPr>
        <p:blipFill rotWithShape="1">
          <a:blip r:embed="rId3">
            <a:alphaModFix/>
          </a:blip>
          <a:srcRect b="0" l="0" r="0" t="0"/>
          <a:stretch/>
        </p:blipFill>
        <p:spPr>
          <a:xfrm>
            <a:off x="613562" y="1985162"/>
            <a:ext cx="281635" cy="281635"/>
          </a:xfrm>
          <a:prstGeom prst="rect">
            <a:avLst/>
          </a:prstGeom>
          <a:noFill/>
          <a:ln>
            <a:noFill/>
          </a:ln>
        </p:spPr>
      </p:pic>
      <p:sp>
        <p:nvSpPr>
          <p:cNvPr id="178" name="Google Shape;178;h259926ce4e4d5a8f_0_28"/>
          <p:cNvSpPr txBox="1"/>
          <p:nvPr/>
        </p:nvSpPr>
        <p:spPr>
          <a:xfrm>
            <a:off x="1188720" y="1856232"/>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生成AIで制作し、SNSに投稿した画像を無断で複製　→　販売した電子書籍の表紙に使用</a:t>
            </a:r>
            <a:endParaRPr b="0" i="0" sz="1350" u="none" cap="none" strike="noStrike">
              <a:solidFill>
                <a:schemeClr val="dk1"/>
              </a:solidFill>
              <a:latin typeface="Calibri"/>
              <a:ea typeface="Calibri"/>
              <a:cs typeface="Calibri"/>
              <a:sym typeface="Calibri"/>
            </a:endParaRPr>
          </a:p>
        </p:txBody>
      </p:sp>
      <p:sp>
        <p:nvSpPr>
          <p:cNvPr id="179" name="Google Shape;179;h259926ce4e4d5a8f_0_28"/>
          <p:cNvSpPr txBox="1"/>
          <p:nvPr/>
        </p:nvSpPr>
        <p:spPr>
          <a:xfrm>
            <a:off x="1188720" y="21488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lang="en-US" sz="1050">
                <a:solidFill>
                  <a:srgbClr val="6B7280"/>
                </a:solidFill>
                <a:latin typeface="Meiryo"/>
                <a:ea typeface="Meiryo"/>
                <a:cs typeface="Meiryo"/>
                <a:sym typeface="Meiryo"/>
              </a:rPr>
              <a:t>生成AIで具体的な指示や入力を繰り返し、作成した生成物が「著作物」と判断された</a:t>
            </a:r>
            <a:endParaRPr b="0" i="0" sz="1050" u="none" cap="none" strike="noStrike">
              <a:solidFill>
                <a:schemeClr val="dk1"/>
              </a:solidFill>
              <a:latin typeface="Calibri"/>
              <a:ea typeface="Calibri"/>
              <a:cs typeface="Calibri"/>
              <a:sym typeface="Calibri"/>
            </a:endParaRPr>
          </a:p>
        </p:txBody>
      </p:sp>
      <p:sp>
        <p:nvSpPr>
          <p:cNvPr id="180" name="Google Shape;180;h259926ce4e4d5a8f_0_28"/>
          <p:cNvSpPr/>
          <p:nvPr/>
        </p:nvSpPr>
        <p:spPr>
          <a:xfrm>
            <a:off x="479995" y="2901428"/>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1" name="Google Shape;181;h259926ce4e4d5a8f_0_28"/>
          <p:cNvPicPr preferRelativeResize="0"/>
          <p:nvPr/>
        </p:nvPicPr>
        <p:blipFill rotWithShape="1">
          <a:blip r:embed="rId4">
            <a:alphaModFix/>
          </a:blip>
          <a:srcRect b="0" l="0" r="0" t="0"/>
          <a:stretch/>
        </p:blipFill>
        <p:spPr>
          <a:xfrm>
            <a:off x="590637" y="3012070"/>
            <a:ext cx="281635" cy="281635"/>
          </a:xfrm>
          <a:prstGeom prst="rect">
            <a:avLst/>
          </a:prstGeom>
          <a:noFill/>
          <a:ln>
            <a:noFill/>
          </a:ln>
        </p:spPr>
      </p:pic>
      <p:sp>
        <p:nvSpPr>
          <p:cNvPr id="182" name="Google Shape;182;h259926ce4e4d5a8f_0_28"/>
          <p:cNvSpPr txBox="1"/>
          <p:nvPr/>
        </p:nvSpPr>
        <p:spPr>
          <a:xfrm>
            <a:off x="1165795" y="28831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AI画像で日本初の書類送検（2025年11月）</a:t>
            </a:r>
            <a:endParaRPr b="0" i="0" sz="1350" u="none" cap="none" strike="noStrike">
              <a:solidFill>
                <a:schemeClr val="dk1"/>
              </a:solidFill>
              <a:latin typeface="Calibri"/>
              <a:ea typeface="Calibri"/>
              <a:cs typeface="Calibri"/>
              <a:sym typeface="Calibri"/>
            </a:endParaRPr>
          </a:p>
        </p:txBody>
      </p:sp>
      <p:sp>
        <p:nvSpPr>
          <p:cNvPr id="183" name="Google Shape;183;h259926ce4e4d5a8f_0_28"/>
          <p:cNvSpPr txBox="1"/>
          <p:nvPr/>
        </p:nvSpPr>
        <p:spPr>
          <a:xfrm>
            <a:off x="1165795" y="3175748"/>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生成AI画像の著作権侵害で、千葉県警が書類送検。AIでつくった画像にも権利が認められた事例</a:t>
            </a:r>
            <a:endParaRPr b="0" i="0" sz="1050" u="none" cap="none" strike="noStrike">
              <a:solidFill>
                <a:schemeClr val="dk1"/>
              </a:solidFill>
              <a:latin typeface="Calibri"/>
              <a:ea typeface="Calibri"/>
              <a:cs typeface="Calibri"/>
              <a:sym typeface="Calibri"/>
            </a:endParaRPr>
          </a:p>
        </p:txBody>
      </p:sp>
      <p:sp>
        <p:nvSpPr>
          <p:cNvPr id="184" name="Google Shape;184;h259926ce4e4d5a8f_0_28"/>
          <p:cNvSpPr/>
          <p:nvPr/>
        </p:nvSpPr>
        <p:spPr>
          <a:xfrm>
            <a:off x="411480" y="4114800"/>
            <a:ext cx="8321100" cy="502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h259926ce4e4d5a8f_0_28"/>
          <p:cNvSpPr txBox="1"/>
          <p:nvPr/>
        </p:nvSpPr>
        <p:spPr>
          <a:xfrm>
            <a:off x="594360" y="4114800"/>
            <a:ext cx="7955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250"/>
              <a:buFont typeface="Meiryo"/>
              <a:buNone/>
            </a:pPr>
            <a:r>
              <a:rPr b="1" i="0" lang="en-US" sz="1250" u="none" cap="none" strike="noStrike">
                <a:solidFill>
                  <a:srgbClr val="1F3A5F"/>
                </a:solidFill>
                <a:latin typeface="Meiryo"/>
                <a:ea typeface="Meiryo"/>
                <a:cs typeface="Meiryo"/>
                <a:sym typeface="Meiryo"/>
              </a:rPr>
              <a:t>こわがる必要はありません。気をつけるところは、このあと3つのルールとしてお伝えします。</a:t>
            </a:r>
            <a:endParaRPr b="0" i="0" sz="1250" u="none" cap="none" strike="noStrike">
              <a:solidFill>
                <a:schemeClr val="dk1"/>
              </a:solidFill>
              <a:latin typeface="Calibri"/>
              <a:ea typeface="Calibri"/>
              <a:cs typeface="Calibri"/>
              <a:sym typeface="Calibri"/>
            </a:endParaRPr>
          </a:p>
        </p:txBody>
      </p:sp>
      <p:sp>
        <p:nvSpPr>
          <p:cNvPr id="186" name="Google Shape;186;h259926ce4e4d5a8f_0_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h259926ce4e4d5a8f_0_16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93" name="Google Shape;193;h259926ce4e4d5a8f_0_165"/>
          <p:cNvSpPr txBox="1"/>
          <p:nvPr/>
        </p:nvSpPr>
        <p:spPr>
          <a:xfrm>
            <a:off x="411475" y="1056900"/>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a:t>
            </a:r>
            <a:r>
              <a:rPr lang="en-US" sz="2000"/>
              <a:t>無料版は途中で制限がかかります</a:t>
            </a:r>
            <a:endParaRPr sz="2000"/>
          </a:p>
          <a:p>
            <a:pPr indent="0" lvl="0" marL="0" rtl="0" algn="l">
              <a:lnSpc>
                <a:spcPct val="150000"/>
              </a:lnSpc>
              <a:spcBef>
                <a:spcPts val="0"/>
              </a:spcBef>
              <a:spcAft>
                <a:spcPts val="0"/>
              </a:spcAft>
              <a:buNone/>
            </a:pPr>
            <a:r>
              <a:rPr lang="en-US" sz="1200"/>
              <a:t>(ChatGPTの無料版は特に画像生成の回数が限られます。制限は来るものと考えてください)</a:t>
            </a:r>
            <a:endParaRPr sz="12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a:t>
            </a:r>
            <a:r>
              <a:rPr lang="en-US" sz="2000"/>
              <a:t>止まったら、別のツールに移りましょう</a:t>
            </a:r>
            <a:endParaRPr sz="2000"/>
          </a:p>
          <a:p>
            <a:pPr indent="0" lvl="0" marL="0" rtl="0" algn="l">
              <a:lnSpc>
                <a:spcPct val="150000"/>
              </a:lnSpc>
              <a:spcBef>
                <a:spcPts val="0"/>
              </a:spcBef>
              <a:spcAft>
                <a:spcPts val="0"/>
              </a:spcAft>
              <a:buNone/>
            </a:pPr>
            <a:r>
              <a:rPr lang="en-US" sz="1200"/>
              <a:t>(CopilotやGeminiの画像生成（Nano Banana）でも同じことができます。手順や仕上がりに多少の差は出ます)</a:t>
            </a:r>
            <a:endParaRPr sz="2000"/>
          </a:p>
        </p:txBody>
      </p:sp>
      <p:sp>
        <p:nvSpPr>
          <p:cNvPr id="194" name="Google Shape;194;h259926ce4e4d5a8f_0_16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95" name="Google Shape;195;h259926ce4e4d5a8f_0_16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今日使うツールについて</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g40a0daa3361_0_225"/>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201" name="Google Shape;201;g40a0daa3361_0_225"/>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202" name="Google Shape;202;g40a0daa3361_0_225"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203" name="Google Shape;203;g40a0daa3361_0_22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204" name="Google Shape;204;g40a0daa3361_0_225"/>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01</a:t>
            </a:r>
            <a:endParaRPr b="0" i="0" sz="2800" u="none" cap="none" strike="noStrike">
              <a:solidFill>
                <a:schemeClr val="dk1"/>
              </a:solidFill>
              <a:latin typeface="Calibri"/>
              <a:ea typeface="Calibri"/>
              <a:cs typeface="Calibri"/>
              <a:sym typeface="Calibri"/>
            </a:endParaRPr>
          </a:p>
        </p:txBody>
      </p:sp>
      <p:sp>
        <p:nvSpPr>
          <p:cNvPr id="205" name="Google Shape;205;g40a0daa3361_0_225"/>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lang="en-US" sz="3000">
                <a:solidFill>
                  <a:srgbClr val="FFFFFF"/>
                </a:solidFill>
                <a:latin typeface="Meiryo"/>
                <a:ea typeface="Meiryo"/>
                <a:cs typeface="Meiryo"/>
                <a:sym typeface="Meiryo"/>
              </a:rPr>
              <a:t>昨年度の振り返り</a:t>
            </a:r>
            <a:endParaRPr b="1" sz="3000">
              <a:solidFill>
                <a:srgbClr val="FFFFFF"/>
              </a:solidFill>
              <a:latin typeface="Meiryo"/>
              <a:ea typeface="Meiryo"/>
              <a:cs typeface="Meiryo"/>
              <a:sym typeface="Meiryo"/>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＋この1年のAIアップデート</a:t>
            </a:r>
            <a:endParaRPr b="0" i="0" sz="3000" u="none" cap="none" strike="noStrike">
              <a:solidFill>
                <a:schemeClr val="dk1"/>
              </a:solidFill>
              <a:latin typeface="Calibri"/>
              <a:ea typeface="Calibri"/>
              <a:cs typeface="Calibri"/>
              <a:sym typeface="Calibri"/>
            </a:endParaRPr>
          </a:p>
        </p:txBody>
      </p:sp>
      <p:sp>
        <p:nvSpPr>
          <p:cNvPr id="206" name="Google Shape;206;g40a0daa3361_0_225"/>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13:20 – 13:35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h12a068dd872fd278_0_259"/>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13" name="Google Shape;213;h12a068dd872fd278_0_259" title="20251204_132257.jpg"/>
          <p:cNvPicPr preferRelativeResize="0"/>
          <p:nvPr/>
        </p:nvPicPr>
        <p:blipFill>
          <a:blip r:embed="rId3">
            <a:alphaModFix/>
          </a:blip>
          <a:stretch>
            <a:fillRect/>
          </a:stretch>
        </p:blipFill>
        <p:spPr>
          <a:xfrm>
            <a:off x="152400" y="584225"/>
            <a:ext cx="8839204" cy="397505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昨年度の振り返り</a:t>
            </a:r>
            <a:endParaRPr b="0" i="0" sz="2200" u="none" cap="none" strike="noStrike">
              <a:solidFill>
                <a:schemeClr val="dk1"/>
              </a:solidFill>
              <a:latin typeface="Calibri"/>
              <a:ea typeface="Calibri"/>
              <a:cs typeface="Calibri"/>
              <a:sym typeface="Calibri"/>
            </a:endParaRPr>
          </a:p>
        </p:txBody>
      </p:sp>
      <p:sp>
        <p:nvSpPr>
          <p:cNvPr id="220" name="Google Shape;220;p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221" name="Google Shape;221;p7"/>
          <p:cNvSpPr txBox="1"/>
          <p:nvPr/>
        </p:nvSpPr>
        <p:spPr>
          <a:xfrm>
            <a:off x="411480" y="8686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昨年度の研修では、生成AIを「知る」ところから、業務で使う入口までを扱いました。</a:t>
            </a:r>
            <a:endParaRPr b="0" i="0" sz="1200" u="none" cap="none" strike="noStrike">
              <a:solidFill>
                <a:schemeClr val="dk1"/>
              </a:solidFill>
              <a:latin typeface="Calibri"/>
              <a:ea typeface="Calibri"/>
              <a:cs typeface="Calibri"/>
              <a:sym typeface="Calibri"/>
            </a:endParaRPr>
          </a:p>
        </p:txBody>
      </p:sp>
      <p:sp>
        <p:nvSpPr>
          <p:cNvPr id="222" name="Google Shape;222;p7"/>
          <p:cNvSpPr/>
          <p:nvPr/>
        </p:nvSpPr>
        <p:spPr>
          <a:xfrm>
            <a:off x="41148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7"/>
          <p:cNvSpPr/>
          <p:nvPr/>
        </p:nvSpPr>
        <p:spPr>
          <a:xfrm>
            <a:off x="59436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4" name="Google Shape;224;p7"/>
          <p:cNvPicPr preferRelativeResize="0"/>
          <p:nvPr/>
        </p:nvPicPr>
        <p:blipFill rotWithShape="1">
          <a:blip r:embed="rId3">
            <a:alphaModFix/>
          </a:blip>
          <a:srcRect b="0" l="0" r="0" t="0"/>
          <a:stretch/>
        </p:blipFill>
        <p:spPr>
          <a:xfrm>
            <a:off x="705002" y="1619402"/>
            <a:ext cx="281635" cy="281635"/>
          </a:xfrm>
          <a:prstGeom prst="rect">
            <a:avLst/>
          </a:prstGeom>
          <a:noFill/>
          <a:ln>
            <a:noFill/>
          </a:ln>
        </p:spPr>
      </p:pic>
      <p:sp>
        <p:nvSpPr>
          <p:cNvPr id="225" name="Google Shape;225;p7"/>
          <p:cNvSpPr txBox="1"/>
          <p:nvPr/>
        </p:nvSpPr>
        <p:spPr>
          <a:xfrm>
            <a:off x="128016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仕事で使う3つのポイント</a:t>
            </a:r>
            <a:endParaRPr b="0" i="0" sz="1300" u="none" cap="none" strike="noStrike">
              <a:solidFill>
                <a:schemeClr val="dk1"/>
              </a:solidFill>
              <a:latin typeface="Calibri"/>
              <a:ea typeface="Calibri"/>
              <a:cs typeface="Calibri"/>
              <a:sym typeface="Calibri"/>
            </a:endParaRPr>
          </a:p>
        </p:txBody>
      </p:sp>
      <p:sp>
        <p:nvSpPr>
          <p:cNvPr id="226" name="Google Shape;226;p7"/>
          <p:cNvSpPr txBox="1"/>
          <p:nvPr/>
        </p:nvSpPr>
        <p:spPr>
          <a:xfrm>
            <a:off x="128016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①学習（例を見せる）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②変換（文章・形式を変える）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③抽出（必要な情報を抜き出す）</a:t>
            </a:r>
            <a:endParaRPr b="0" i="0" sz="1050" u="none" cap="none" strike="noStrike">
              <a:solidFill>
                <a:schemeClr val="dk1"/>
              </a:solidFill>
              <a:latin typeface="Calibri"/>
              <a:ea typeface="Calibri"/>
              <a:cs typeface="Calibri"/>
              <a:sym typeface="Calibri"/>
            </a:endParaRPr>
          </a:p>
        </p:txBody>
      </p:sp>
      <p:sp>
        <p:nvSpPr>
          <p:cNvPr id="227" name="Google Shape;227;p7"/>
          <p:cNvSpPr/>
          <p:nvPr/>
        </p:nvSpPr>
        <p:spPr>
          <a:xfrm>
            <a:off x="461772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7"/>
          <p:cNvSpPr/>
          <p:nvPr/>
        </p:nvSpPr>
        <p:spPr>
          <a:xfrm>
            <a:off x="480060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9" name="Google Shape;229;p7"/>
          <p:cNvPicPr preferRelativeResize="0"/>
          <p:nvPr/>
        </p:nvPicPr>
        <p:blipFill rotWithShape="1">
          <a:blip r:embed="rId4">
            <a:alphaModFix/>
          </a:blip>
          <a:srcRect b="0" l="0" r="0" t="0"/>
          <a:stretch/>
        </p:blipFill>
        <p:spPr>
          <a:xfrm>
            <a:off x="4911242" y="1619402"/>
            <a:ext cx="281635" cy="281635"/>
          </a:xfrm>
          <a:prstGeom prst="rect">
            <a:avLst/>
          </a:prstGeom>
          <a:noFill/>
          <a:ln>
            <a:noFill/>
          </a:ln>
        </p:spPr>
      </p:pic>
      <p:sp>
        <p:nvSpPr>
          <p:cNvPr id="230" name="Google Shape;230;p7"/>
          <p:cNvSpPr txBox="1"/>
          <p:nvPr/>
        </p:nvSpPr>
        <p:spPr>
          <a:xfrm>
            <a:off x="548640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複雑なタスクへの対応</a:t>
            </a:r>
            <a:endParaRPr b="0" i="0" sz="1300" u="none" cap="none" strike="noStrike">
              <a:solidFill>
                <a:schemeClr val="dk1"/>
              </a:solidFill>
              <a:latin typeface="Calibri"/>
              <a:ea typeface="Calibri"/>
              <a:cs typeface="Calibri"/>
              <a:sym typeface="Calibri"/>
            </a:endParaRPr>
          </a:p>
        </p:txBody>
      </p:sp>
      <p:sp>
        <p:nvSpPr>
          <p:cNvPr id="231" name="Google Shape;231;p7"/>
          <p:cNvSpPr txBox="1"/>
          <p:nvPr/>
        </p:nvSpPr>
        <p:spPr>
          <a:xfrm>
            <a:off x="548640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役割を与える／進め方を指定する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出力のフォーマットを指定する</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411480" y="26974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7"/>
          <p:cNvSpPr/>
          <p:nvPr/>
        </p:nvSpPr>
        <p:spPr>
          <a:xfrm>
            <a:off x="594360" y="28803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4" name="Google Shape;234;p7"/>
          <p:cNvPicPr preferRelativeResize="0"/>
          <p:nvPr/>
        </p:nvPicPr>
        <p:blipFill rotWithShape="1">
          <a:blip r:embed="rId5">
            <a:alphaModFix/>
          </a:blip>
          <a:srcRect b="0" l="0" r="0" t="0"/>
          <a:stretch/>
        </p:blipFill>
        <p:spPr>
          <a:xfrm>
            <a:off x="705002" y="2991002"/>
            <a:ext cx="281635" cy="281635"/>
          </a:xfrm>
          <a:prstGeom prst="rect">
            <a:avLst/>
          </a:prstGeom>
          <a:noFill/>
          <a:ln>
            <a:noFill/>
          </a:ln>
        </p:spPr>
      </p:pic>
      <p:sp>
        <p:nvSpPr>
          <p:cNvPr id="235" name="Google Shape;235;p7"/>
          <p:cNvSpPr txBox="1"/>
          <p:nvPr/>
        </p:nvSpPr>
        <p:spPr>
          <a:xfrm>
            <a:off x="128016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RAG・AIエージェント</a:t>
            </a:r>
            <a:endParaRPr b="0" i="0" sz="1300" u="none" cap="none" strike="noStrike">
              <a:solidFill>
                <a:schemeClr val="dk1"/>
              </a:solidFill>
              <a:latin typeface="Calibri"/>
              <a:ea typeface="Calibri"/>
              <a:cs typeface="Calibri"/>
              <a:sym typeface="Calibri"/>
            </a:endParaRPr>
          </a:p>
        </p:txBody>
      </p:sp>
      <p:sp>
        <p:nvSpPr>
          <p:cNvPr id="236" name="Google Shape;236;p7"/>
          <p:cNvSpPr txBox="1"/>
          <p:nvPr/>
        </p:nvSpPr>
        <p:spPr>
          <a:xfrm>
            <a:off x="128016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資料を渡して答えさせる（RAG）</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自分で調べて動くAI（エージェント）</a:t>
            </a:r>
            <a:endParaRPr b="0" i="0" sz="1050" u="none" cap="none" strike="noStrike">
              <a:solidFill>
                <a:schemeClr val="dk1"/>
              </a:solidFill>
              <a:latin typeface="Calibri"/>
              <a:ea typeface="Calibri"/>
              <a:cs typeface="Calibri"/>
              <a:sym typeface="Calibri"/>
            </a:endParaRPr>
          </a:p>
        </p:txBody>
      </p:sp>
      <p:sp>
        <p:nvSpPr>
          <p:cNvPr id="237" name="Google Shape;237;p7"/>
          <p:cNvSpPr/>
          <p:nvPr/>
        </p:nvSpPr>
        <p:spPr>
          <a:xfrm>
            <a:off x="4617720" y="2697480"/>
            <a:ext cx="4069080" cy="12344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7"/>
          <p:cNvSpPr/>
          <p:nvPr/>
        </p:nvSpPr>
        <p:spPr>
          <a:xfrm>
            <a:off x="4800600" y="2880360"/>
            <a:ext cx="502920" cy="50292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9" name="Google Shape;239;p7"/>
          <p:cNvPicPr preferRelativeResize="0"/>
          <p:nvPr/>
        </p:nvPicPr>
        <p:blipFill rotWithShape="1">
          <a:blip r:embed="rId6">
            <a:alphaModFix/>
          </a:blip>
          <a:srcRect b="0" l="0" r="0" t="0"/>
          <a:stretch/>
        </p:blipFill>
        <p:spPr>
          <a:xfrm>
            <a:off x="4911242" y="2991002"/>
            <a:ext cx="281635" cy="281635"/>
          </a:xfrm>
          <a:prstGeom prst="rect">
            <a:avLst/>
          </a:prstGeom>
          <a:noFill/>
          <a:ln>
            <a:noFill/>
          </a:ln>
        </p:spPr>
      </p:pic>
      <p:sp>
        <p:nvSpPr>
          <p:cNvPr id="240" name="Google Shape;240;p7"/>
          <p:cNvSpPr txBox="1"/>
          <p:nvPr/>
        </p:nvSpPr>
        <p:spPr>
          <a:xfrm>
            <a:off x="548640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1日の業務の洗い出し</a:t>
            </a:r>
            <a:endParaRPr b="0" i="0" sz="1300" u="none" cap="none" strike="noStrike">
              <a:solidFill>
                <a:schemeClr val="dk1"/>
              </a:solidFill>
              <a:latin typeface="Calibri"/>
              <a:ea typeface="Calibri"/>
              <a:cs typeface="Calibri"/>
              <a:sym typeface="Calibri"/>
            </a:endParaRPr>
          </a:p>
        </p:txBody>
      </p:sp>
      <p:sp>
        <p:nvSpPr>
          <p:cNvPr id="241" name="Google Shape;241;p7"/>
          <p:cNvSpPr txBox="1"/>
          <p:nvPr/>
        </p:nvSpPr>
        <p:spPr>
          <a:xfrm>
            <a:off x="548640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業務ごとのインプットと</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アウトプットを書き出す</a:t>
            </a:r>
            <a:endParaRPr b="0" i="0" sz="1050" u="none" cap="none" strike="noStrike">
              <a:solidFill>
                <a:schemeClr val="dk1"/>
              </a:solidFill>
              <a:latin typeface="Calibri"/>
              <a:ea typeface="Calibri"/>
              <a:cs typeface="Calibri"/>
              <a:sym typeface="Calibri"/>
            </a:endParaRPr>
          </a:p>
        </p:txBody>
      </p:sp>
      <p:sp>
        <p:nvSpPr>
          <p:cNvPr id="242" name="Google Shape;242;p7"/>
          <p:cNvSpPr txBox="1"/>
          <p:nvPr/>
        </p:nvSpPr>
        <p:spPr>
          <a:xfrm>
            <a:off x="411480" y="420624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今日は「業務の洗い出し」の続きから、自分の業務で実際に使うところまで進めます。</a:t>
            </a:r>
            <a:endParaRPr b="0" i="0" sz="1300" u="none" cap="none" strike="noStrike">
              <a:solidFill>
                <a:schemeClr val="dk1"/>
              </a:solidFill>
              <a:latin typeface="Calibri"/>
              <a:ea typeface="Calibri"/>
              <a:cs typeface="Calibri"/>
              <a:sym typeface="Calibri"/>
            </a:endParaRPr>
          </a:p>
        </p:txBody>
      </p:sp>
      <p:sp>
        <p:nvSpPr>
          <p:cNvPr id="243" name="Google Shape;243;p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h259926ce4e4d5a8f_0_298"/>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©️2024 | STYLE ARTS Inc, All Rights Reserved. | CONFIDENTIAL</a:t>
            </a:r>
            <a:endParaRPr sz="900">
              <a:solidFill>
                <a:schemeClr val="dk2"/>
              </a:solidFill>
            </a:endParaRPr>
          </a:p>
        </p:txBody>
      </p:sp>
      <p:sp>
        <p:nvSpPr>
          <p:cNvPr id="249" name="Google Shape;249;h259926ce4e4d5a8f_0_298"/>
          <p:cNvSpPr txBox="1"/>
          <p:nvPr>
            <p:ph idx="1" type="body"/>
          </p:nvPr>
        </p:nvSpPr>
        <p:spPr>
          <a:xfrm>
            <a:off x="562075" y="2483525"/>
            <a:ext cx="8370600" cy="1907700"/>
          </a:xfrm>
          <a:prstGeom prst="rect">
            <a:avLst/>
          </a:prstGeom>
        </p:spPr>
        <p:txBody>
          <a:bodyPr anchorCtr="0" anchor="ctr" bIns="91425" lIns="91425" spcFirstLastPara="1" rIns="91425" wrap="square" tIns="91425">
            <a:noAutofit/>
          </a:bodyPr>
          <a:lstStyle/>
          <a:p>
            <a:pPr indent="-317500" lvl="0" marL="457200" rtl="0" algn="l">
              <a:lnSpc>
                <a:spcPct val="150000"/>
              </a:lnSpc>
              <a:spcBef>
                <a:spcPts val="0"/>
              </a:spcBef>
              <a:spcAft>
                <a:spcPts val="0"/>
              </a:spcAft>
              <a:buClr>
                <a:schemeClr val="dk1"/>
              </a:buClr>
              <a:buSzPts val="1400"/>
              <a:buChar char="●"/>
            </a:pPr>
            <a:r>
              <a:rPr lang="en-US">
                <a:solidFill>
                  <a:schemeClr val="dk1"/>
                </a:solidFill>
              </a:rPr>
              <a:t>昨今の生成AIは非常に賢く、厳密なプロンプトがなくても十分高精度な回答を返してくれます。</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一方で、出力の形式を指定したり、回答の精度をもう一段階高めたりしたい場合には、プロンプトの工夫がまだまだ効果的です。</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まずは「難しく考えず、気軽にAIに話しかける」ことが最も重要です。</a:t>
            </a:r>
            <a:endParaRPr>
              <a:solidFill>
                <a:schemeClr val="dk1"/>
              </a:solidFill>
            </a:endParaRPr>
          </a:p>
        </p:txBody>
      </p:sp>
      <p:sp>
        <p:nvSpPr>
          <p:cNvPr id="250" name="Google Shape;250;h259926ce4e4d5a8f_0_298"/>
          <p:cNvSpPr txBox="1"/>
          <p:nvPr/>
        </p:nvSpPr>
        <p:spPr>
          <a:xfrm>
            <a:off x="1622250" y="1937163"/>
            <a:ext cx="58995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2000">
                <a:solidFill>
                  <a:schemeClr val="dk1"/>
                </a:solidFill>
              </a:rPr>
              <a:t>・・・</a:t>
            </a:r>
            <a:r>
              <a:rPr b="1" lang="en-US" sz="2000" u="sng">
                <a:solidFill>
                  <a:schemeClr val="dk1"/>
                </a:solidFill>
              </a:rPr>
              <a:t>AIに与える指示文</a:t>
            </a:r>
            <a:r>
              <a:rPr b="1" lang="en-US" sz="2000">
                <a:solidFill>
                  <a:schemeClr val="dk1"/>
                </a:solidFill>
              </a:rPr>
              <a:t>のこと</a:t>
            </a:r>
            <a:endParaRPr b="1" sz="2000">
              <a:solidFill>
                <a:schemeClr val="dk1"/>
              </a:solidFill>
            </a:endParaRPr>
          </a:p>
        </p:txBody>
      </p:sp>
      <p:pic>
        <p:nvPicPr>
          <p:cNvPr id="251" name="Google Shape;251;h259926ce4e4d5a8f_0_298" title="nayami_question_42375-300x300.jpg"/>
          <p:cNvPicPr preferRelativeResize="0"/>
          <p:nvPr/>
        </p:nvPicPr>
        <p:blipFill>
          <a:blip r:embed="rId3">
            <a:alphaModFix/>
          </a:blip>
          <a:stretch>
            <a:fillRect/>
          </a:stretch>
        </p:blipFill>
        <p:spPr>
          <a:xfrm>
            <a:off x="902850" y="491800"/>
            <a:ext cx="1686725" cy="1686725"/>
          </a:xfrm>
          <a:prstGeom prst="rect">
            <a:avLst/>
          </a:prstGeom>
          <a:noFill/>
          <a:ln>
            <a:noFill/>
          </a:ln>
        </p:spPr>
      </p:pic>
      <p:sp>
        <p:nvSpPr>
          <p:cNvPr id="252" name="Google Shape;252;h259926ce4e4d5a8f_0_298"/>
          <p:cNvSpPr/>
          <p:nvPr/>
        </p:nvSpPr>
        <p:spPr>
          <a:xfrm>
            <a:off x="2901600" y="491800"/>
            <a:ext cx="3340800" cy="572700"/>
          </a:xfrm>
          <a:prstGeom prst="wedgeRoundRectCallout">
            <a:avLst>
              <a:gd fmla="val -52260" name="adj1"/>
              <a:gd fmla="val 86778" name="adj2"/>
              <a:gd fmla="val 0" name="adj3"/>
            </a:avLst>
          </a:prstGeom>
          <a:solidFill>
            <a:srgbClr val="9FC5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a:t>「</a:t>
            </a:r>
            <a:r>
              <a:rPr b="1" lang="en-US"/>
              <a:t>プロンプト</a:t>
            </a:r>
            <a:r>
              <a:rPr lang="en-US"/>
              <a:t>」ってなに？</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h259926ce4e4d5a8f_0_403"/>
          <p:cNvSpPr txBox="1"/>
          <p:nvPr>
            <p:ph idx="1" type="body"/>
          </p:nvPr>
        </p:nvSpPr>
        <p:spPr>
          <a:xfrm>
            <a:off x="1594000" y="2358038"/>
            <a:ext cx="6256800" cy="1642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新潟県長岡駅から群馬県高崎駅への交通手段と所要時間をまとめて。</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　</a:t>
            </a:r>
            <a:r>
              <a:rPr b="1" lang="en-US" sz="1400">
                <a:solidFill>
                  <a:schemeClr val="dk1"/>
                </a:solidFill>
              </a:rPr>
              <a:t>例） </a:t>
            </a:r>
            <a:endParaRPr b="1" sz="1400">
              <a:solidFill>
                <a:schemeClr val="dk1"/>
              </a:solidFill>
            </a:endParaRPr>
          </a:p>
          <a:p>
            <a:pPr indent="0" lvl="0" marL="0" rtl="0" algn="l">
              <a:spcBef>
                <a:spcPts val="0"/>
              </a:spcBef>
              <a:spcAft>
                <a:spcPts val="0"/>
              </a:spcAft>
              <a:buNone/>
            </a:pPr>
            <a:r>
              <a:rPr b="1" lang="en-US">
                <a:solidFill>
                  <a:schemeClr val="dk1"/>
                </a:solidFill>
              </a:rPr>
              <a:t>　　手段：自動車</a:t>
            </a:r>
            <a:endParaRPr b="1">
              <a:solidFill>
                <a:schemeClr val="dk1"/>
              </a:solidFill>
            </a:endParaRPr>
          </a:p>
          <a:p>
            <a:pPr indent="0" lvl="0" marL="0" rtl="0" algn="l">
              <a:spcBef>
                <a:spcPts val="0"/>
              </a:spcBef>
              <a:spcAft>
                <a:spcPts val="0"/>
              </a:spcAft>
              <a:buNone/>
            </a:pPr>
            <a:r>
              <a:rPr b="1" lang="en-US">
                <a:solidFill>
                  <a:schemeClr val="dk1"/>
                </a:solidFill>
              </a:rPr>
              <a:t>　　所要時間：〇〇分</a:t>
            </a:r>
            <a:endParaRPr b="1">
              <a:solidFill>
                <a:schemeClr val="dk1"/>
              </a:solidFill>
            </a:endParaRPr>
          </a:p>
          <a:p>
            <a:pPr indent="0" lvl="0" marL="0" rtl="0" algn="l">
              <a:spcBef>
                <a:spcPts val="0"/>
              </a:spcBef>
              <a:spcAft>
                <a:spcPts val="0"/>
              </a:spcAft>
              <a:buNone/>
            </a:pPr>
            <a:r>
              <a:rPr b="1" lang="en-US">
                <a:solidFill>
                  <a:schemeClr val="dk1"/>
                </a:solidFill>
              </a:rPr>
              <a:t>　　備考：△△△△△△△△</a:t>
            </a:r>
            <a:endParaRPr b="1">
              <a:solidFill>
                <a:schemeClr val="dk1"/>
              </a:solidFill>
            </a:endParaRPr>
          </a:p>
        </p:txBody>
      </p:sp>
      <p:sp>
        <p:nvSpPr>
          <p:cNvPr id="258" name="Google Shape;258;h259926ce4e4d5a8f_0_40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➀その場で学習させる（Few-shot）</a:t>
            </a:r>
            <a:endParaRPr b="1" sz="2500"/>
          </a:p>
        </p:txBody>
      </p:sp>
      <p:sp>
        <p:nvSpPr>
          <p:cNvPr id="259" name="Google Shape;259;h259926ce4e4d5a8f_0_40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©️2024 | STYLE ARTS Inc, All Rights Reserved. | CONFIDENTIAL</a:t>
            </a:r>
            <a:endParaRPr sz="900">
              <a:solidFill>
                <a:schemeClr val="dk2"/>
              </a:solidFill>
            </a:endParaRPr>
          </a:p>
        </p:txBody>
      </p:sp>
      <p:sp>
        <p:nvSpPr>
          <p:cNvPr id="260"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🖐️手を動かしてみましょう！</a:t>
            </a:r>
            <a:endParaRPr b="1"/>
          </a:p>
        </p:txBody>
      </p:sp>
      <p:sp>
        <p:nvSpPr>
          <p:cNvPr id="261" name="Google Shape;261;h259926ce4e4d5a8f_0_403"/>
          <p:cNvSpPr txBox="1"/>
          <p:nvPr>
            <p:ph idx="1" type="body"/>
          </p:nvPr>
        </p:nvSpPr>
        <p:spPr>
          <a:xfrm>
            <a:off x="1594000" y="1368388"/>
            <a:ext cx="6256800" cy="5727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a:t>
            </a:r>
            <a:r>
              <a:rPr lang="en-US" sz="1400">
                <a:solidFill>
                  <a:schemeClr val="dk1"/>
                </a:solidFill>
              </a:rPr>
              <a:t>長岡駅から</a:t>
            </a:r>
            <a:r>
              <a:rPr lang="en-US">
                <a:solidFill>
                  <a:schemeClr val="dk1"/>
                </a:solidFill>
              </a:rPr>
              <a:t>群馬県高崎</a:t>
            </a:r>
            <a:r>
              <a:rPr lang="en-US" sz="1400">
                <a:solidFill>
                  <a:schemeClr val="dk1"/>
                </a:solidFill>
              </a:rPr>
              <a:t>駅への</a:t>
            </a:r>
            <a:r>
              <a:rPr lang="en-US">
                <a:solidFill>
                  <a:schemeClr val="dk1"/>
                </a:solidFill>
              </a:rPr>
              <a:t>交通手段と</a:t>
            </a:r>
            <a:r>
              <a:rPr lang="en-US" sz="1400">
                <a:solidFill>
                  <a:schemeClr val="dk1"/>
                </a:solidFill>
              </a:rPr>
              <a:t>所要時間をまとめて</a:t>
            </a:r>
            <a:r>
              <a:rPr lang="en-US">
                <a:solidFill>
                  <a:schemeClr val="dk1"/>
                </a:solidFill>
              </a:rPr>
              <a:t>。</a:t>
            </a:r>
            <a:endParaRPr sz="1400">
              <a:solidFill>
                <a:schemeClr val="dk1"/>
              </a:solidFill>
            </a:endParaRPr>
          </a:p>
        </p:txBody>
      </p:sp>
      <p:sp>
        <p:nvSpPr>
          <p:cNvPr id="262" name="Google Shape;262;h259926ce4e4d5a8f_0_403"/>
          <p:cNvSpPr txBox="1"/>
          <p:nvPr/>
        </p:nvSpPr>
        <p:spPr>
          <a:xfrm>
            <a:off x="1093900" y="136840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(1)</a:t>
            </a:r>
            <a:endParaRPr/>
          </a:p>
        </p:txBody>
      </p:sp>
      <p:sp>
        <p:nvSpPr>
          <p:cNvPr id="263" name="Google Shape;263;h259926ce4e4d5a8f_0_403"/>
          <p:cNvSpPr txBox="1"/>
          <p:nvPr/>
        </p:nvSpPr>
        <p:spPr>
          <a:xfrm>
            <a:off x="1093900" y="235805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(2)</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h259926ce4e4d5a8f_0_413"/>
          <p:cNvSpPr txBox="1"/>
          <p:nvPr>
            <p:ph idx="1" type="body"/>
          </p:nvPr>
        </p:nvSpPr>
        <p:spPr>
          <a:xfrm>
            <a:off x="1245300" y="1153013"/>
            <a:ext cx="7153500" cy="1720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a:solidFill>
                  <a:schemeClr val="dk1"/>
                </a:solidFill>
              </a:rPr>
              <a:t>　企業のイベント告知文を作成してください。</a:t>
            </a:r>
            <a:endParaRPr>
              <a:solidFill>
                <a:schemeClr val="dk1"/>
              </a:solidFill>
            </a:endParaRPr>
          </a:p>
          <a:p>
            <a:pPr indent="0" lvl="0" marL="0" rtl="0" algn="l">
              <a:lnSpc>
                <a:spcPct val="115000"/>
              </a:lnSpc>
              <a:spcBef>
                <a:spcPts val="0"/>
              </a:spcBef>
              <a:spcAft>
                <a:spcPts val="0"/>
              </a:spcAft>
              <a:buNone/>
            </a:pPr>
            <a:r>
              <a:rPr lang="en-US">
                <a:solidFill>
                  <a:schemeClr val="dk1"/>
                </a:solidFill>
              </a:rPr>
              <a:t> 　例）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イベント名：業務効率化DXセミナー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日時：2025年12月4日(木) 14:00～15:00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形式：オンライン（Zoom）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ポイント：最新のAI活用事例を紹介、参加費無料 </a:t>
            </a:r>
            <a:endParaRPr sz="1400">
              <a:solidFill>
                <a:schemeClr val="dk1"/>
              </a:solidFill>
            </a:endParaRPr>
          </a:p>
        </p:txBody>
      </p:sp>
      <p:sp>
        <p:nvSpPr>
          <p:cNvPr id="269" name="Google Shape;269;h259926ce4e4d5a8f_0_413"/>
          <p:cNvSpPr txBox="1"/>
          <p:nvPr>
            <p:ph idx="1" type="body"/>
          </p:nvPr>
        </p:nvSpPr>
        <p:spPr>
          <a:xfrm>
            <a:off x="1245300" y="2970536"/>
            <a:ext cx="7153500" cy="15933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顧客からの問い合わせに対する返信メールを作成してください。 </a:t>
            </a:r>
            <a:endParaRPr>
              <a:solidFill>
                <a:schemeClr val="dk1"/>
              </a:solidFill>
            </a:endParaRPr>
          </a:p>
          <a:p>
            <a:pPr indent="0" lvl="0" marL="0" rtl="0" algn="l">
              <a:spcBef>
                <a:spcPts val="0"/>
              </a:spcBef>
              <a:spcAft>
                <a:spcPts val="0"/>
              </a:spcAft>
              <a:buNone/>
            </a:pPr>
            <a:r>
              <a:rPr lang="en-US">
                <a:solidFill>
                  <a:schemeClr val="dk1"/>
                </a:solidFill>
              </a:rPr>
              <a:t>　入力された状況に基づき、謝罪と解決策を含む丁寧な文面にしてください。 </a:t>
            </a:r>
            <a:endParaRPr>
              <a:solidFill>
                <a:schemeClr val="dk1"/>
              </a:solidFill>
            </a:endParaRPr>
          </a:p>
          <a:p>
            <a:pPr indent="0" lvl="0" marL="0" rtl="0" algn="l">
              <a:spcBef>
                <a:spcPts val="0"/>
              </a:spcBef>
              <a:spcAft>
                <a:spcPts val="0"/>
              </a:spcAft>
              <a:buNone/>
            </a:pPr>
            <a:r>
              <a:rPr lang="en-US">
                <a:solidFill>
                  <a:schemeClr val="dk1"/>
                </a:solidFill>
              </a:rPr>
              <a:t>　例） </a:t>
            </a:r>
            <a:endParaRPr>
              <a:solidFill>
                <a:schemeClr val="dk1"/>
              </a:solidFill>
            </a:endParaRPr>
          </a:p>
          <a:p>
            <a:pPr indent="0" lvl="0" marL="0" rtl="0" algn="l">
              <a:spcBef>
                <a:spcPts val="0"/>
              </a:spcBef>
              <a:spcAft>
                <a:spcPts val="0"/>
              </a:spcAft>
              <a:buNone/>
            </a:pPr>
            <a:r>
              <a:rPr lang="en-US">
                <a:solidFill>
                  <a:schemeClr val="dk1"/>
                </a:solidFill>
              </a:rPr>
              <a:t>　状況：注文した商品（型番A-01）が届かない </a:t>
            </a:r>
            <a:endParaRPr>
              <a:solidFill>
                <a:schemeClr val="dk1"/>
              </a:solidFill>
            </a:endParaRPr>
          </a:p>
          <a:p>
            <a:pPr indent="0" lvl="0" marL="0" rtl="0" algn="l">
              <a:spcBef>
                <a:spcPts val="0"/>
              </a:spcBef>
              <a:spcAft>
                <a:spcPts val="0"/>
              </a:spcAft>
              <a:buNone/>
            </a:pPr>
            <a:r>
              <a:rPr lang="en-US">
                <a:solidFill>
                  <a:schemeClr val="dk1"/>
                </a:solidFill>
              </a:rPr>
              <a:t>　原因：配送業者の手配ミス </a:t>
            </a:r>
            <a:endParaRPr>
              <a:solidFill>
                <a:schemeClr val="dk1"/>
              </a:solidFill>
            </a:endParaRPr>
          </a:p>
          <a:p>
            <a:pPr indent="0" lvl="0" marL="0" rtl="0" algn="l">
              <a:spcBef>
                <a:spcPts val="0"/>
              </a:spcBef>
              <a:spcAft>
                <a:spcPts val="0"/>
              </a:spcAft>
              <a:buNone/>
            </a:pPr>
            <a:r>
              <a:rPr lang="en-US">
                <a:solidFill>
                  <a:schemeClr val="dk1"/>
                </a:solidFill>
              </a:rPr>
              <a:t>　対応：本日速達で再送、明日到着予定</a:t>
            </a:r>
            <a:endParaRPr>
              <a:solidFill>
                <a:schemeClr val="dk1"/>
              </a:solidFill>
            </a:endParaRPr>
          </a:p>
        </p:txBody>
      </p:sp>
      <p:sp>
        <p:nvSpPr>
          <p:cNvPr id="270" name="Google Shape;270;h259926ce4e4d5a8f_0_41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©️2024 | STYLE ARTS Inc, All Rights Reserved. | CONFIDENTIAL</a:t>
            </a:r>
            <a:endParaRPr sz="900">
              <a:solidFill>
                <a:schemeClr val="dk2"/>
              </a:solidFill>
            </a:endParaRPr>
          </a:p>
        </p:txBody>
      </p:sp>
      <p:sp>
        <p:nvSpPr>
          <p:cNvPr id="271" name="Google Shape;271;h259926ce4e4d5a8f_0_413"/>
          <p:cNvSpPr txBox="1"/>
          <p:nvPr/>
        </p:nvSpPr>
        <p:spPr>
          <a:xfrm>
            <a:off x="745200" y="11530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2" name="Google Shape;272;h259926ce4e4d5a8f_0_413"/>
          <p:cNvSpPr txBox="1"/>
          <p:nvPr/>
        </p:nvSpPr>
        <p:spPr>
          <a:xfrm>
            <a:off x="745200" y="29808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3" name="Google Shape;273;h259926ce4e4d5a8f_0_41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Few-shotの例</a:t>
            </a:r>
            <a:endParaRPr b="1" sz="2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h259926ce4e4d5a8f_0_461"/>
          <p:cNvSpPr txBox="1"/>
          <p:nvPr>
            <p:ph idx="1" type="body"/>
          </p:nvPr>
        </p:nvSpPr>
        <p:spPr>
          <a:xfrm>
            <a:off x="748475" y="1346700"/>
            <a:ext cx="8520600" cy="283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US" sz="3000">
                <a:solidFill>
                  <a:schemeClr val="dk1"/>
                </a:solidFill>
              </a:rPr>
              <a:t>①役割を与える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②タスクの進め方を指定する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③フォーマットを指定する</a:t>
            </a:r>
            <a:endParaRPr b="1" sz="3000">
              <a:solidFill>
                <a:schemeClr val="dk1"/>
              </a:solidFill>
            </a:endParaRPr>
          </a:p>
        </p:txBody>
      </p:sp>
      <p:sp>
        <p:nvSpPr>
          <p:cNvPr id="279" name="Google Shape;279;h259926ce4e4d5a8f_0_461"/>
          <p:cNvSpPr txBox="1"/>
          <p:nvPr>
            <p:ph type="title"/>
          </p:nvPr>
        </p:nvSpPr>
        <p:spPr>
          <a:xfrm>
            <a:off x="311700" y="41725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US" sz="2600"/>
              <a:t>複雑なタスクへの対応</a:t>
            </a:r>
            <a:endParaRPr b="1" sz="2600"/>
          </a:p>
        </p:txBody>
      </p:sp>
      <p:sp>
        <p:nvSpPr>
          <p:cNvPr id="280" name="Google Shape;280;h259926ce4e4d5a8f_0_461"/>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©️2024 | STYLE ARTS Inc, All Rights Reserved. | CONFIDENTIAL</a:t>
            </a:r>
            <a:endParaRPr sz="900">
              <a:solidFill>
                <a:schemeClr val="dk2"/>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h259926ce4e4d5a8f_0_506"/>
          <p:cNvSpPr txBox="1"/>
          <p:nvPr>
            <p:ph idx="1" type="body"/>
          </p:nvPr>
        </p:nvSpPr>
        <p:spPr>
          <a:xfrm>
            <a:off x="938750" y="1009775"/>
            <a:ext cx="7430100" cy="1293000"/>
          </a:xfrm>
          <a:prstGeom prst="rect">
            <a:avLst/>
          </a:prstGeom>
        </p:spPr>
        <p:txBody>
          <a:bodyPr anchorCtr="0" anchor="ctr"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800">
                <a:solidFill>
                  <a:schemeClr val="dk1"/>
                </a:solidFill>
              </a:rPr>
              <a:t>ユーザーからの質問や指示に対し、</a:t>
            </a:r>
            <a:endParaRPr sz="1800">
              <a:solidFill>
                <a:schemeClr val="dk1"/>
              </a:solidFill>
            </a:endParaRPr>
          </a:p>
          <a:p>
            <a:pPr indent="0" lvl="0" marL="0" rtl="0" algn="l">
              <a:spcBef>
                <a:spcPts val="0"/>
              </a:spcBef>
              <a:spcAft>
                <a:spcPts val="0"/>
              </a:spcAft>
              <a:buClr>
                <a:schemeClr val="dk1"/>
              </a:buClr>
              <a:buSzPts val="1100"/>
              <a:buFont typeface="Arial"/>
              <a:buNone/>
            </a:pPr>
            <a:r>
              <a:rPr lang="en-US" sz="1800">
                <a:solidFill>
                  <a:schemeClr val="dk1"/>
                </a:solidFill>
              </a:rPr>
              <a:t>外部データを検索して回答を生成する技術です。 </a:t>
            </a:r>
            <a:endParaRPr sz="1800">
              <a:solidFill>
                <a:schemeClr val="dk1"/>
              </a:solidFill>
            </a:endParaRPr>
          </a:p>
          <a:p>
            <a:pPr indent="0" lvl="0" marL="0" rtl="0" algn="l">
              <a:spcBef>
                <a:spcPts val="0"/>
              </a:spcBef>
              <a:spcAft>
                <a:spcPts val="0"/>
              </a:spcAft>
              <a:buNone/>
            </a:pPr>
            <a:r>
              <a:rPr lang="en-US" sz="1800">
                <a:solidFill>
                  <a:schemeClr val="dk1"/>
                </a:solidFill>
              </a:rPr>
              <a:t>これにより、AIは自身の学習データにない最新情報や、</a:t>
            </a:r>
            <a:endParaRPr sz="1800">
              <a:solidFill>
                <a:schemeClr val="dk1"/>
              </a:solidFill>
            </a:endParaRPr>
          </a:p>
          <a:p>
            <a:pPr indent="0" lvl="0" marL="0" rtl="0" algn="l">
              <a:spcBef>
                <a:spcPts val="0"/>
              </a:spcBef>
              <a:spcAft>
                <a:spcPts val="0"/>
              </a:spcAft>
              <a:buNone/>
            </a:pPr>
            <a:r>
              <a:rPr lang="en-US" sz="1800">
                <a:solidFill>
                  <a:schemeClr val="dk1"/>
                </a:solidFill>
              </a:rPr>
              <a:t>特定のドメイン知識を取り入れた回答が可能となります。</a:t>
            </a:r>
            <a:endParaRPr sz="1800">
              <a:solidFill>
                <a:schemeClr val="dk1"/>
              </a:solidFill>
            </a:endParaRPr>
          </a:p>
        </p:txBody>
      </p:sp>
      <p:sp>
        <p:nvSpPr>
          <p:cNvPr id="286" name="Google Shape;286;h259926ce4e4d5a8f_0_506"/>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US" sz="2500"/>
              <a:t>RAG</a:t>
            </a:r>
            <a:endParaRPr b="1" sz="2500"/>
          </a:p>
        </p:txBody>
      </p:sp>
      <p:pic>
        <p:nvPicPr>
          <p:cNvPr id="287" name="Google Shape;287;h259926ce4e4d5a8f_0_506"/>
          <p:cNvPicPr preferRelativeResize="0"/>
          <p:nvPr/>
        </p:nvPicPr>
        <p:blipFill>
          <a:blip r:embed="rId3">
            <a:alphaModFix/>
          </a:blip>
          <a:stretch>
            <a:fillRect/>
          </a:stretch>
        </p:blipFill>
        <p:spPr>
          <a:xfrm>
            <a:off x="4489975" y="2953439"/>
            <a:ext cx="1033851" cy="1033851"/>
          </a:xfrm>
          <a:prstGeom prst="rect">
            <a:avLst/>
          </a:prstGeom>
          <a:noFill/>
          <a:ln>
            <a:noFill/>
          </a:ln>
        </p:spPr>
      </p:pic>
      <p:sp>
        <p:nvSpPr>
          <p:cNvPr id="288" name="Google Shape;288;h259926ce4e4d5a8f_0_506"/>
          <p:cNvSpPr/>
          <p:nvPr/>
        </p:nvSpPr>
        <p:spPr>
          <a:xfrm rot="2700000">
            <a:off x="5535104" y="3275423"/>
            <a:ext cx="422991" cy="422991"/>
          </a:xfrm>
          <a:prstGeom prst="plus">
            <a:avLst>
              <a:gd fmla="val 42388" name="adj"/>
            </a:avLst>
          </a:prstGeom>
          <a:solidFill>
            <a:srgbClr val="99999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289" name="Google Shape;289;h259926ce4e4d5a8f_0_506"/>
          <p:cNvGrpSpPr/>
          <p:nvPr/>
        </p:nvGrpSpPr>
        <p:grpSpPr>
          <a:xfrm>
            <a:off x="6225500" y="2938025"/>
            <a:ext cx="1725600" cy="1064700"/>
            <a:chOff x="5640925" y="2874450"/>
            <a:chExt cx="1725600" cy="1064700"/>
          </a:xfrm>
        </p:grpSpPr>
        <p:sp>
          <p:nvSpPr>
            <p:cNvPr id="290" name="Google Shape;290;h259926ce4e4d5a8f_0_506"/>
            <p:cNvSpPr/>
            <p:nvPr/>
          </p:nvSpPr>
          <p:spPr>
            <a:xfrm>
              <a:off x="5640925" y="2874450"/>
              <a:ext cx="1725600" cy="1064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1" name="Google Shape;291;h259926ce4e4d5a8f_0_506"/>
            <p:cNvSpPr/>
            <p:nvPr/>
          </p:nvSpPr>
          <p:spPr>
            <a:xfrm>
              <a:off x="5817975" y="35809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2" name="Google Shape;292;h259926ce4e4d5a8f_0_506"/>
            <p:cNvSpPr/>
            <p:nvPr/>
          </p:nvSpPr>
          <p:spPr>
            <a:xfrm>
              <a:off x="5817975" y="34720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3" name="Google Shape;293;h259926ce4e4d5a8f_0_506"/>
            <p:cNvSpPr/>
            <p:nvPr/>
          </p:nvSpPr>
          <p:spPr>
            <a:xfrm>
              <a:off x="5817975" y="3364450"/>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94" name="Google Shape;294;h259926ce4e4d5a8f_0_506"/>
            <p:cNvPicPr preferRelativeResize="0"/>
            <p:nvPr/>
          </p:nvPicPr>
          <p:blipFill>
            <a:blip r:embed="rId4">
              <a:alphaModFix/>
            </a:blip>
            <a:stretch>
              <a:fillRect/>
            </a:stretch>
          </p:blipFill>
          <p:spPr>
            <a:xfrm>
              <a:off x="6318825" y="3263850"/>
              <a:ext cx="391982" cy="342300"/>
            </a:xfrm>
            <a:prstGeom prst="rect">
              <a:avLst/>
            </a:prstGeom>
            <a:noFill/>
            <a:ln>
              <a:noFill/>
            </a:ln>
          </p:spPr>
        </p:pic>
        <p:pic>
          <p:nvPicPr>
            <p:cNvPr id="295" name="Google Shape;295;h259926ce4e4d5a8f_0_506"/>
            <p:cNvPicPr preferRelativeResize="0"/>
            <p:nvPr/>
          </p:nvPicPr>
          <p:blipFill>
            <a:blip r:embed="rId4">
              <a:alphaModFix/>
            </a:blip>
            <a:stretch>
              <a:fillRect/>
            </a:stretch>
          </p:blipFill>
          <p:spPr>
            <a:xfrm>
              <a:off x="6660893" y="3263850"/>
              <a:ext cx="391982" cy="342300"/>
            </a:xfrm>
            <a:prstGeom prst="rect">
              <a:avLst/>
            </a:prstGeom>
            <a:noFill/>
            <a:ln>
              <a:noFill/>
            </a:ln>
          </p:spPr>
        </p:pic>
        <p:pic>
          <p:nvPicPr>
            <p:cNvPr id="296" name="Google Shape;296;h259926ce4e4d5a8f_0_506"/>
            <p:cNvPicPr preferRelativeResize="0"/>
            <p:nvPr/>
          </p:nvPicPr>
          <p:blipFill>
            <a:blip r:embed="rId4">
              <a:alphaModFix/>
            </a:blip>
            <a:stretch>
              <a:fillRect/>
            </a:stretch>
          </p:blipFill>
          <p:spPr>
            <a:xfrm>
              <a:off x="6489863" y="3459825"/>
              <a:ext cx="391982" cy="342300"/>
            </a:xfrm>
            <a:prstGeom prst="rect">
              <a:avLst/>
            </a:prstGeom>
            <a:noFill/>
            <a:ln>
              <a:noFill/>
            </a:ln>
          </p:spPr>
        </p:pic>
        <p:pic>
          <p:nvPicPr>
            <p:cNvPr id="297" name="Google Shape;297;h259926ce4e4d5a8f_0_506"/>
            <p:cNvPicPr preferRelativeResize="0"/>
            <p:nvPr/>
          </p:nvPicPr>
          <p:blipFill>
            <a:blip r:embed="rId4">
              <a:alphaModFix/>
            </a:blip>
            <a:stretch>
              <a:fillRect/>
            </a:stretch>
          </p:blipFill>
          <p:spPr>
            <a:xfrm>
              <a:off x="6831931" y="3459825"/>
              <a:ext cx="391982" cy="342300"/>
            </a:xfrm>
            <a:prstGeom prst="rect">
              <a:avLst/>
            </a:prstGeom>
            <a:noFill/>
            <a:ln>
              <a:noFill/>
            </a:ln>
          </p:spPr>
        </p:pic>
        <p:sp>
          <p:nvSpPr>
            <p:cNvPr id="298" name="Google Shape;298;h259926ce4e4d5a8f_0_506"/>
            <p:cNvSpPr txBox="1"/>
            <p:nvPr/>
          </p:nvSpPr>
          <p:spPr>
            <a:xfrm>
              <a:off x="5674150" y="2874450"/>
              <a:ext cx="1451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200">
                  <a:solidFill>
                    <a:schemeClr val="dk2"/>
                  </a:solidFill>
                </a:rPr>
                <a:t>参照データ</a:t>
              </a:r>
              <a:endParaRPr b="1" sz="1200">
                <a:solidFill>
                  <a:schemeClr val="dk2"/>
                </a:solidFill>
              </a:endParaRPr>
            </a:p>
          </p:txBody>
        </p:sp>
      </p:grpSp>
      <p:sp>
        <p:nvSpPr>
          <p:cNvPr id="299" name="Google Shape;299;h259926ce4e4d5a8f_0_506"/>
          <p:cNvSpPr/>
          <p:nvPr/>
        </p:nvSpPr>
        <p:spPr>
          <a:xfrm>
            <a:off x="3187350" y="3371425"/>
            <a:ext cx="493500" cy="231000"/>
          </a:xfrm>
          <a:prstGeom prst="lef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0" name="Google Shape;300;h259926ce4e4d5a8f_0_506"/>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©️2024 | STYLE ARTS Inc, All Rights Reserved. | CONFIDENTIAL</a:t>
            </a:r>
            <a:endParaRPr sz="900">
              <a:solidFill>
                <a:schemeClr val="dk2"/>
              </a:solidFill>
            </a:endParaRPr>
          </a:p>
        </p:txBody>
      </p:sp>
      <p:pic>
        <p:nvPicPr>
          <p:cNvPr id="301" name="Google Shape;301;h259926ce4e4d5a8f_0_506"/>
          <p:cNvPicPr preferRelativeResize="0"/>
          <p:nvPr/>
        </p:nvPicPr>
        <p:blipFill>
          <a:blip r:embed="rId5">
            <a:alphaModFix/>
          </a:blip>
          <a:stretch>
            <a:fillRect/>
          </a:stretch>
        </p:blipFill>
        <p:spPr>
          <a:xfrm>
            <a:off x="1109813" y="2814025"/>
            <a:ext cx="1268426" cy="1250508"/>
          </a:xfrm>
          <a:prstGeom prst="rect">
            <a:avLst/>
          </a:prstGeom>
          <a:noFill/>
          <a:ln>
            <a:noFill/>
          </a:ln>
        </p:spPr>
      </p:pic>
      <p:sp>
        <p:nvSpPr>
          <p:cNvPr id="302" name="Google Shape;302;h259926ce4e4d5a8f_0_506"/>
          <p:cNvSpPr txBox="1"/>
          <p:nvPr/>
        </p:nvSpPr>
        <p:spPr>
          <a:xfrm>
            <a:off x="1180775" y="4174125"/>
            <a:ext cx="1126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solidFill>
                  <a:schemeClr val="dk1"/>
                </a:solidFill>
              </a:rPr>
              <a:t>ユーザー</a:t>
            </a:r>
            <a:endParaRPr sz="1800">
              <a:solidFill>
                <a:schemeClr val="dk1"/>
              </a:solidFill>
            </a:endParaRPr>
          </a:p>
        </p:txBody>
      </p:sp>
      <p:sp>
        <p:nvSpPr>
          <p:cNvPr id="303" name="Google Shape;303;h259926ce4e4d5a8f_0_506"/>
          <p:cNvSpPr txBox="1"/>
          <p:nvPr/>
        </p:nvSpPr>
        <p:spPr>
          <a:xfrm>
            <a:off x="5730313" y="4174125"/>
            <a:ext cx="1126500" cy="4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1800">
                <a:solidFill>
                  <a:schemeClr val="dk1"/>
                </a:solidFill>
              </a:rPr>
              <a:t>RAG</a:t>
            </a:r>
            <a:endParaRPr sz="1800">
              <a:solidFill>
                <a:schemeClr val="dk1"/>
              </a:solidFill>
            </a:endParaRPr>
          </a:p>
        </p:txBody>
      </p:sp>
      <p:sp>
        <p:nvSpPr>
          <p:cNvPr id="304" name="Google Shape;304;h259926ce4e4d5a8f_0_506"/>
          <p:cNvSpPr/>
          <p:nvPr/>
        </p:nvSpPr>
        <p:spPr>
          <a:xfrm>
            <a:off x="965688" y="2821225"/>
            <a:ext cx="15567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5" name="Google Shape;305;h259926ce4e4d5a8f_0_506"/>
          <p:cNvSpPr/>
          <p:nvPr/>
        </p:nvSpPr>
        <p:spPr>
          <a:xfrm>
            <a:off x="4218321" y="2821225"/>
            <a:ext cx="41505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h259926ce4e4d5a8f_0_569"/>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en-US" sz="2500"/>
              <a:t>1日の業務を洗い出し</a:t>
            </a:r>
            <a:endParaRPr b="1" sz="2500"/>
          </a:p>
        </p:txBody>
      </p:sp>
      <p:graphicFrame>
        <p:nvGraphicFramePr>
          <p:cNvPr id="311" name="Google Shape;311;h259926ce4e4d5a8f_0_569"/>
          <p:cNvGraphicFramePr/>
          <p:nvPr/>
        </p:nvGraphicFramePr>
        <p:xfrm>
          <a:off x="346750" y="1398500"/>
          <a:ext cx="3000000" cy="3000000"/>
        </p:xfrm>
        <a:graphic>
          <a:graphicData uri="http://schemas.openxmlformats.org/drawingml/2006/table">
            <a:tbl>
              <a:tblPr>
                <a:noFill/>
                <a:tableStyleId>{CF9E1BD5-D0E9-458E-A40D-ABFE00257524}</a:tableStyleId>
              </a:tblPr>
              <a:tblGrid>
                <a:gridCol w="1128275"/>
                <a:gridCol w="1461450"/>
                <a:gridCol w="1654500"/>
                <a:gridCol w="1498575"/>
                <a:gridCol w="1557725"/>
                <a:gridCol w="1149975"/>
              </a:tblGrid>
              <a:tr h="381000">
                <a:tc>
                  <a:txBody>
                    <a:bodyPr/>
                    <a:lstStyle/>
                    <a:p>
                      <a:pPr indent="0" lvl="0" marL="0" rtl="0" algn="l">
                        <a:spcBef>
                          <a:spcPts val="0"/>
                        </a:spcBef>
                        <a:spcAft>
                          <a:spcPts val="0"/>
                        </a:spcAft>
                        <a:buNone/>
                      </a:pPr>
                      <a:r>
                        <a:rPr b="1" lang="en-US"/>
                        <a:t>時間帯</a:t>
                      </a:r>
                      <a:endParaRPr b="1"/>
                    </a:p>
                  </a:txBody>
                  <a:tcPr marT="91425" marB="91425" marR="91425" marL="91425"/>
                </a:tc>
                <a:tc>
                  <a:txBody>
                    <a:bodyPr/>
                    <a:lstStyle/>
                    <a:p>
                      <a:pPr indent="0" lvl="0" marL="0" rtl="0" algn="l">
                        <a:spcBef>
                          <a:spcPts val="0"/>
                        </a:spcBef>
                        <a:spcAft>
                          <a:spcPts val="0"/>
                        </a:spcAft>
                        <a:buNone/>
                      </a:pPr>
                      <a:r>
                        <a:rPr b="1" lang="en-US"/>
                        <a:t>業務</a:t>
                      </a:r>
                      <a:endParaRPr b="1"/>
                    </a:p>
                  </a:txBody>
                  <a:tcPr marT="91425" marB="91425" marR="91425" marL="91425"/>
                </a:tc>
                <a:tc>
                  <a:txBody>
                    <a:bodyPr/>
                    <a:lstStyle/>
                    <a:p>
                      <a:pPr indent="0" lvl="0" marL="0" rtl="0" algn="l">
                        <a:spcBef>
                          <a:spcPts val="0"/>
                        </a:spcBef>
                        <a:spcAft>
                          <a:spcPts val="0"/>
                        </a:spcAft>
                        <a:buNone/>
                      </a:pPr>
                      <a:r>
                        <a:rPr b="1" lang="en-US"/>
                        <a:t>インプット</a:t>
                      </a:r>
                      <a:endParaRPr b="1"/>
                    </a:p>
                  </a:txBody>
                  <a:tcPr marT="91425" marB="91425" marR="91425" marL="91425"/>
                </a:tc>
                <a:tc>
                  <a:txBody>
                    <a:bodyPr/>
                    <a:lstStyle/>
                    <a:p>
                      <a:pPr indent="0" lvl="0" marL="0" rtl="0" algn="l">
                        <a:spcBef>
                          <a:spcPts val="0"/>
                        </a:spcBef>
                        <a:spcAft>
                          <a:spcPts val="0"/>
                        </a:spcAft>
                        <a:buNone/>
                      </a:pPr>
                      <a:r>
                        <a:rPr b="1" lang="en-US"/>
                        <a:t>アウトプット</a:t>
                      </a:r>
                      <a:endParaRPr b="1"/>
                    </a:p>
                  </a:txBody>
                  <a:tcPr marT="91425" marB="91425" marR="91425" marL="91425"/>
                </a:tc>
                <a:tc>
                  <a:txBody>
                    <a:bodyPr/>
                    <a:lstStyle/>
                    <a:p>
                      <a:pPr indent="0" lvl="0" marL="0" rtl="0" algn="l">
                        <a:spcBef>
                          <a:spcPts val="0"/>
                        </a:spcBef>
                        <a:spcAft>
                          <a:spcPts val="0"/>
                        </a:spcAft>
                        <a:buNone/>
                      </a:pPr>
                      <a:r>
                        <a:rPr b="1" lang="en-US"/>
                        <a:t>備考</a:t>
                      </a:r>
                      <a:endParaRPr b="1"/>
                    </a:p>
                  </a:txBody>
                  <a:tcPr marT="91425" marB="91425" marR="91425" marL="91425"/>
                </a:tc>
                <a:tc>
                  <a:txBody>
                    <a:bodyPr/>
                    <a:lstStyle/>
                    <a:p>
                      <a:pPr indent="0" lvl="0" marL="0" rtl="0" algn="l">
                        <a:spcBef>
                          <a:spcPts val="0"/>
                        </a:spcBef>
                        <a:spcAft>
                          <a:spcPts val="0"/>
                        </a:spcAft>
                        <a:buNone/>
                      </a:pPr>
                      <a:r>
                        <a:rPr b="1" lang="en-US"/>
                        <a:t>生成AI Flag</a:t>
                      </a:r>
                      <a:endParaRPr b="1"/>
                    </a:p>
                  </a:txBody>
                  <a:tcPr marT="91425" marB="91425" marR="91425" marL="91425"/>
                </a:tc>
              </a:tr>
              <a:tr h="381000">
                <a:tc>
                  <a:txBody>
                    <a:bodyPr/>
                    <a:lstStyle/>
                    <a:p>
                      <a:pPr indent="0" lvl="0" marL="0" rtl="0" algn="l">
                        <a:spcBef>
                          <a:spcPts val="0"/>
                        </a:spcBef>
                        <a:spcAft>
                          <a:spcPts val="0"/>
                        </a:spcAft>
                        <a:buNone/>
                      </a:pPr>
                      <a:r>
                        <a:rPr lang="en-US"/>
                        <a:t>8:00-9:00</a:t>
                      </a:r>
                      <a:endParaRPr/>
                    </a:p>
                  </a:txBody>
                  <a:tcPr marT="91425" marB="91425" marR="91425" marL="91425" anchor="ctr"/>
                </a:tc>
                <a:tc>
                  <a:txBody>
                    <a:bodyPr/>
                    <a:lstStyle/>
                    <a:p>
                      <a:pPr indent="0" lvl="0" marL="0" rtl="0" algn="l">
                        <a:spcBef>
                          <a:spcPts val="0"/>
                        </a:spcBef>
                        <a:spcAft>
                          <a:spcPts val="0"/>
                        </a:spcAft>
                        <a:buNone/>
                      </a:pPr>
                      <a:r>
                        <a:rPr lang="en-US"/>
                        <a:t>メールチェック</a:t>
                      </a:r>
                      <a:endParaRPr/>
                    </a:p>
                  </a:txBody>
                  <a:tcPr marT="91425" marB="91425" marR="91425" marL="91425"/>
                </a:tc>
                <a:tc>
                  <a:txBody>
                    <a:bodyPr/>
                    <a:lstStyle/>
                    <a:p>
                      <a:pPr indent="0" lvl="0" marL="0" rtl="0" algn="l">
                        <a:spcBef>
                          <a:spcPts val="0"/>
                        </a:spcBef>
                        <a:spcAft>
                          <a:spcPts val="0"/>
                        </a:spcAft>
                        <a:buNone/>
                      </a:pPr>
                      <a:r>
                        <a:rPr lang="en-US"/>
                        <a:t>メールボックス</a:t>
                      </a:r>
                      <a:endParaRPr/>
                    </a:p>
                  </a:txBody>
                  <a:tcPr marT="91425" marB="91425" marR="91425" marL="91425"/>
                </a:tc>
                <a:tc>
                  <a:txBody>
                    <a:bodyPr/>
                    <a:lstStyle/>
                    <a:p>
                      <a:pPr indent="0" lvl="0" marL="0" rtl="0" algn="l">
                        <a:spcBef>
                          <a:spcPts val="0"/>
                        </a:spcBef>
                        <a:spcAft>
                          <a:spcPts val="0"/>
                        </a:spcAft>
                        <a:buNone/>
                      </a:pPr>
                      <a:r>
                        <a:rPr lang="en-US"/>
                        <a:t>返信が必要なメールに返信</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9:00-10:00</a:t>
                      </a:r>
                      <a:endParaRPr/>
                    </a:p>
                  </a:txBody>
                  <a:tcPr marT="91425" marB="91425" marR="91425" marL="91425" anchor="ctr"/>
                </a:tc>
                <a:tc>
                  <a:txBody>
                    <a:bodyPr/>
                    <a:lstStyle/>
                    <a:p>
                      <a:pPr indent="0" lvl="0" marL="0" rtl="0" algn="l">
                        <a:spcBef>
                          <a:spcPts val="0"/>
                        </a:spcBef>
                        <a:spcAft>
                          <a:spcPts val="0"/>
                        </a:spcAft>
                        <a:buNone/>
                      </a:pPr>
                      <a:r>
                        <a:rPr lang="en-US"/>
                        <a:t>資料作成</a:t>
                      </a:r>
                      <a:endParaRPr/>
                    </a:p>
                  </a:txBody>
                  <a:tcPr marT="91425" marB="91425" marR="91425" marL="91425"/>
                </a:tc>
                <a:tc>
                  <a:txBody>
                    <a:bodyPr/>
                    <a:lstStyle/>
                    <a:p>
                      <a:pPr indent="0" lvl="0" marL="0" rtl="0" algn="l">
                        <a:spcBef>
                          <a:spcPts val="0"/>
                        </a:spcBef>
                        <a:spcAft>
                          <a:spcPts val="0"/>
                        </a:spcAft>
                        <a:buNone/>
                      </a:pPr>
                      <a:r>
                        <a:rPr lang="en-US"/>
                        <a:t>昨日ヒアリングした情報</a:t>
                      </a:r>
                      <a:endParaRPr/>
                    </a:p>
                  </a:txBody>
                  <a:tcPr marT="91425" marB="91425" marR="91425" marL="91425"/>
                </a:tc>
                <a:tc>
                  <a:txBody>
                    <a:bodyPr/>
                    <a:lstStyle/>
                    <a:p>
                      <a:pPr indent="0" lvl="0" marL="0" rtl="0" algn="l">
                        <a:spcBef>
                          <a:spcPts val="0"/>
                        </a:spcBef>
                        <a:spcAft>
                          <a:spcPts val="0"/>
                        </a:spcAft>
                        <a:buNone/>
                      </a:pPr>
                      <a:r>
                        <a:rPr lang="en-US"/>
                        <a:t>企画書</a:t>
                      </a:r>
                      <a:endParaRPr/>
                    </a:p>
                  </a:txBody>
                  <a:tcPr marT="91425" marB="91425" marR="91425" marL="91425"/>
                </a:tc>
                <a:tc>
                  <a:txBody>
                    <a:bodyPr/>
                    <a:lstStyle/>
                    <a:p>
                      <a:pPr indent="0" lvl="0" marL="0" rtl="0" algn="l">
                        <a:spcBef>
                          <a:spcPts val="0"/>
                        </a:spcBef>
                        <a:spcAft>
                          <a:spcPts val="0"/>
                        </a:spcAft>
                        <a:buNone/>
                      </a:pPr>
                      <a:r>
                        <a:rPr lang="en-US"/>
                        <a:t>ヒアリングした情報はWordに殴り書きしてある</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10:00-</a:t>
                      </a:r>
                      <a:endParaRPr/>
                    </a:p>
                  </a:txBody>
                  <a:tcPr marT="91425" marB="91425" marR="91425" marL="91425" anchor="ctr"/>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bl>
          </a:graphicData>
        </a:graphic>
      </p:graphicFrame>
      <p:sp>
        <p:nvSpPr>
          <p:cNvPr id="312" name="Google Shape;312;h259926ce4e4d5a8f_0_569"/>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©️2024 | STYLE ARTS Inc, All Rights Reserved. | CONFIDENTIAL</a:t>
            </a:r>
            <a:endParaRPr sz="900">
              <a:solidFill>
                <a:schemeClr val="dk2"/>
              </a:solidFill>
            </a:endParaRPr>
          </a:p>
        </p:txBody>
      </p:sp>
      <p:sp>
        <p:nvSpPr>
          <p:cNvPr id="313" name="Google Shape;313;h259926ce4e4d5a8f_0_569"/>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🖐️手を動かしてみましょう！</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g40a0daa3361_0_361"/>
          <p:cNvSpPr txBox="1"/>
          <p:nvPr>
            <p:ph type="title"/>
          </p:nvPr>
        </p:nvSpPr>
        <p:spPr>
          <a:xfrm>
            <a:off x="-50" y="2285400"/>
            <a:ext cx="9144000" cy="572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それでは現在、AI活用で困っている事は</a:t>
            </a:r>
            <a:r>
              <a:rPr b="1" lang="en-US" sz="3600"/>
              <a:t>？</a:t>
            </a:r>
            <a:endParaRPr b="1" sz="3600"/>
          </a:p>
        </p:txBody>
      </p:sp>
      <p:sp>
        <p:nvSpPr>
          <p:cNvPr id="319" name="Google Shape;319;g40a0daa3361_0_36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0" name="Google Shape;320;g40a0daa3361_0_36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g40a0daa3361_0_34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27" name="Google Shape;327;g40a0daa3361_0_34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8" name="Google Shape;328;g40a0daa3361_0_342"/>
          <p:cNvSpPr txBox="1"/>
          <p:nvPr/>
        </p:nvSpPr>
        <p:spPr>
          <a:xfrm>
            <a:off x="411475" y="100842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欲しい答えが返ってこない</a:t>
            </a:r>
            <a:endParaRPr b="0" i="0" sz="1162" u="none" cap="none" strike="noStrike">
              <a:solidFill>
                <a:srgbClr val="000000"/>
              </a:solidFill>
              <a:latin typeface="Calibri"/>
              <a:ea typeface="Calibri"/>
              <a:cs typeface="Calibri"/>
              <a:sym typeface="Calibri"/>
            </a:endParaRPr>
          </a:p>
        </p:txBody>
      </p:sp>
      <p:sp>
        <p:nvSpPr>
          <p:cNvPr id="329" name="Google Shape;329;g40a0daa3361_0_342"/>
          <p:cNvSpPr/>
          <p:nvPr/>
        </p:nvSpPr>
        <p:spPr>
          <a:xfrm>
            <a:off x="3261000" y="1037403"/>
            <a:ext cx="3347700" cy="289800"/>
          </a:xfrm>
          <a:prstGeom prst="rect">
            <a:avLst/>
          </a:prstGeom>
          <a:solidFill>
            <a:srgbClr val="E8702A"/>
          </a:solidFill>
          <a:ln cap="flat" cmpd="sng" w="13425">
            <a:solidFill>
              <a:srgbClr val="E8702A"/>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0" name="Google Shape;330;g40a0daa3361_0_342"/>
          <p:cNvSpPr txBox="1"/>
          <p:nvPr/>
        </p:nvSpPr>
        <p:spPr>
          <a:xfrm>
            <a:off x="6736063" y="100842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7名</a:t>
            </a:r>
            <a:endParaRPr b="0" i="0" sz="1268" u="none" cap="none" strike="noStrike">
              <a:solidFill>
                <a:srgbClr val="000000"/>
              </a:solidFill>
              <a:latin typeface="Calibri"/>
              <a:ea typeface="Calibri"/>
              <a:cs typeface="Calibri"/>
              <a:sym typeface="Calibri"/>
            </a:endParaRPr>
          </a:p>
        </p:txBody>
      </p:sp>
      <p:sp>
        <p:nvSpPr>
          <p:cNvPr id="331" name="Google Shape;331;g40a0daa3361_0_342"/>
          <p:cNvSpPr txBox="1"/>
          <p:nvPr/>
        </p:nvSpPr>
        <p:spPr>
          <a:xfrm>
            <a:off x="411475" y="148173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出力内容の正確性が不安</a:t>
            </a:r>
            <a:endParaRPr b="0" i="0" sz="1162" u="none" cap="none" strike="noStrike">
              <a:solidFill>
                <a:srgbClr val="000000"/>
              </a:solidFill>
              <a:latin typeface="Calibri"/>
              <a:ea typeface="Calibri"/>
              <a:cs typeface="Calibri"/>
              <a:sym typeface="Calibri"/>
            </a:endParaRPr>
          </a:p>
        </p:txBody>
      </p:sp>
      <p:sp>
        <p:nvSpPr>
          <p:cNvPr id="332" name="Google Shape;332;g40a0daa3361_0_342"/>
          <p:cNvSpPr/>
          <p:nvPr/>
        </p:nvSpPr>
        <p:spPr>
          <a:xfrm>
            <a:off x="3261000" y="1510711"/>
            <a:ext cx="23913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3" name="Google Shape;333;g40a0daa3361_0_342"/>
          <p:cNvSpPr txBox="1"/>
          <p:nvPr/>
        </p:nvSpPr>
        <p:spPr>
          <a:xfrm>
            <a:off x="5779624" y="1481733"/>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5名</a:t>
            </a:r>
            <a:endParaRPr b="0" i="0" sz="1268" u="none" cap="none" strike="noStrike">
              <a:solidFill>
                <a:srgbClr val="000000"/>
              </a:solidFill>
              <a:latin typeface="Calibri"/>
              <a:ea typeface="Calibri"/>
              <a:cs typeface="Calibri"/>
              <a:sym typeface="Calibri"/>
            </a:endParaRPr>
          </a:p>
        </p:txBody>
      </p:sp>
      <p:sp>
        <p:nvSpPr>
          <p:cNvPr id="334" name="Google Shape;334;g40a0daa3361_0_342"/>
          <p:cNvSpPr txBox="1"/>
          <p:nvPr/>
        </p:nvSpPr>
        <p:spPr>
          <a:xfrm>
            <a:off x="411475" y="195504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機密情報の扱いが不安</a:t>
            </a:r>
            <a:endParaRPr b="0" i="0" sz="1162" u="none" cap="none" strike="noStrike">
              <a:solidFill>
                <a:srgbClr val="000000"/>
              </a:solidFill>
              <a:latin typeface="Calibri"/>
              <a:ea typeface="Calibri"/>
              <a:cs typeface="Calibri"/>
              <a:sym typeface="Calibri"/>
            </a:endParaRPr>
          </a:p>
        </p:txBody>
      </p:sp>
      <p:sp>
        <p:nvSpPr>
          <p:cNvPr id="335" name="Google Shape;335;g40a0daa3361_0_342"/>
          <p:cNvSpPr/>
          <p:nvPr/>
        </p:nvSpPr>
        <p:spPr>
          <a:xfrm>
            <a:off x="3261000" y="1984020"/>
            <a:ext cx="19131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6" name="Google Shape;336;g40a0daa3361_0_342"/>
          <p:cNvSpPr txBox="1"/>
          <p:nvPr/>
        </p:nvSpPr>
        <p:spPr>
          <a:xfrm>
            <a:off x="5301404" y="1955042"/>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4名</a:t>
            </a:r>
            <a:endParaRPr b="0" i="0" sz="1268" u="none" cap="none" strike="noStrike">
              <a:solidFill>
                <a:srgbClr val="000000"/>
              </a:solidFill>
              <a:latin typeface="Calibri"/>
              <a:ea typeface="Calibri"/>
              <a:cs typeface="Calibri"/>
              <a:sym typeface="Calibri"/>
            </a:endParaRPr>
          </a:p>
        </p:txBody>
      </p:sp>
      <p:sp>
        <p:nvSpPr>
          <p:cNvPr id="337" name="Google Shape;337;g40a0daa3361_0_342"/>
          <p:cNvSpPr txBox="1"/>
          <p:nvPr/>
        </p:nvSpPr>
        <p:spPr>
          <a:xfrm>
            <a:off x="411475" y="242835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プロンプトの書き方がわからない</a:t>
            </a:r>
            <a:endParaRPr b="0" i="0" sz="1162" u="none" cap="none" strike="noStrike">
              <a:solidFill>
                <a:srgbClr val="000000"/>
              </a:solidFill>
              <a:latin typeface="Calibri"/>
              <a:ea typeface="Calibri"/>
              <a:cs typeface="Calibri"/>
              <a:sym typeface="Calibri"/>
            </a:endParaRPr>
          </a:p>
        </p:txBody>
      </p:sp>
      <p:sp>
        <p:nvSpPr>
          <p:cNvPr id="338" name="Google Shape;338;g40a0daa3361_0_342"/>
          <p:cNvSpPr/>
          <p:nvPr/>
        </p:nvSpPr>
        <p:spPr>
          <a:xfrm>
            <a:off x="3261000" y="2457328"/>
            <a:ext cx="9564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9" name="Google Shape;339;g40a0daa3361_0_342"/>
          <p:cNvSpPr txBox="1"/>
          <p:nvPr/>
        </p:nvSpPr>
        <p:spPr>
          <a:xfrm>
            <a:off x="4344964" y="2428350"/>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2名</a:t>
            </a:r>
            <a:endParaRPr b="0" i="0" sz="1268" u="none" cap="none" strike="noStrike">
              <a:solidFill>
                <a:srgbClr val="000000"/>
              </a:solidFill>
              <a:latin typeface="Calibri"/>
              <a:ea typeface="Calibri"/>
              <a:cs typeface="Calibri"/>
              <a:sym typeface="Calibri"/>
            </a:endParaRPr>
          </a:p>
        </p:txBody>
      </p:sp>
      <p:sp>
        <p:nvSpPr>
          <p:cNvPr id="340" name="Google Shape;340;g40a0daa3361_0_342"/>
          <p:cNvSpPr txBox="1"/>
          <p:nvPr/>
        </p:nvSpPr>
        <p:spPr>
          <a:xfrm>
            <a:off x="411475" y="290166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社内で使える人が限られている</a:t>
            </a:r>
            <a:endParaRPr b="0" i="0" sz="1162" u="none" cap="none" strike="noStrike">
              <a:solidFill>
                <a:srgbClr val="000000"/>
              </a:solidFill>
              <a:latin typeface="Calibri"/>
              <a:ea typeface="Calibri"/>
              <a:cs typeface="Calibri"/>
              <a:sym typeface="Calibri"/>
            </a:endParaRPr>
          </a:p>
        </p:txBody>
      </p:sp>
      <p:sp>
        <p:nvSpPr>
          <p:cNvPr id="341" name="Google Shape;341;g40a0daa3361_0_342"/>
          <p:cNvSpPr/>
          <p:nvPr/>
        </p:nvSpPr>
        <p:spPr>
          <a:xfrm>
            <a:off x="3261000" y="2930636"/>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2" name="Google Shape;342;g40a0daa3361_0_342"/>
          <p:cNvSpPr txBox="1"/>
          <p:nvPr/>
        </p:nvSpPr>
        <p:spPr>
          <a:xfrm>
            <a:off x="3866745" y="2901658"/>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3" name="Google Shape;343;g40a0daa3361_0_342"/>
          <p:cNvSpPr txBox="1"/>
          <p:nvPr/>
        </p:nvSpPr>
        <p:spPr>
          <a:xfrm>
            <a:off x="411475" y="337497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AIで仕事が減ることへの懸念</a:t>
            </a:r>
            <a:endParaRPr b="0" i="0" sz="1162" u="none" cap="none" strike="noStrike">
              <a:solidFill>
                <a:srgbClr val="000000"/>
              </a:solidFill>
              <a:latin typeface="Calibri"/>
              <a:ea typeface="Calibri"/>
              <a:cs typeface="Calibri"/>
              <a:sym typeface="Calibri"/>
            </a:endParaRPr>
          </a:p>
        </p:txBody>
      </p:sp>
      <p:sp>
        <p:nvSpPr>
          <p:cNvPr id="344" name="Google Shape;344;g40a0daa3361_0_342"/>
          <p:cNvSpPr/>
          <p:nvPr/>
        </p:nvSpPr>
        <p:spPr>
          <a:xfrm>
            <a:off x="3261000" y="3403945"/>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5" name="Google Shape;345;g40a0daa3361_0_342"/>
          <p:cNvSpPr txBox="1"/>
          <p:nvPr/>
        </p:nvSpPr>
        <p:spPr>
          <a:xfrm>
            <a:off x="3866745" y="3374967"/>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6" name="Google Shape;346;g40a0daa3361_0_342"/>
          <p:cNvSpPr txBox="1"/>
          <p:nvPr/>
        </p:nvSpPr>
        <p:spPr>
          <a:xfrm>
            <a:off x="411475" y="384828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特に困っていない</a:t>
            </a:r>
            <a:endParaRPr b="0" i="0" sz="1162" u="none" cap="none" strike="noStrike">
              <a:solidFill>
                <a:srgbClr val="000000"/>
              </a:solidFill>
              <a:latin typeface="Calibri"/>
              <a:ea typeface="Calibri"/>
              <a:cs typeface="Calibri"/>
              <a:sym typeface="Calibri"/>
            </a:endParaRPr>
          </a:p>
        </p:txBody>
      </p:sp>
      <p:sp>
        <p:nvSpPr>
          <p:cNvPr id="347" name="Google Shape;347;g40a0daa3361_0_342"/>
          <p:cNvSpPr/>
          <p:nvPr/>
        </p:nvSpPr>
        <p:spPr>
          <a:xfrm>
            <a:off x="3261000" y="3877253"/>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8" name="Google Shape;348;g40a0daa3361_0_342"/>
          <p:cNvSpPr txBox="1"/>
          <p:nvPr/>
        </p:nvSpPr>
        <p:spPr>
          <a:xfrm>
            <a:off x="3866745" y="384827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cxnSp>
        <p:nvCxnSpPr>
          <p:cNvPr id="349" name="Google Shape;349;g40a0daa3361_0_342"/>
          <p:cNvCxnSpPr/>
          <p:nvPr/>
        </p:nvCxnSpPr>
        <p:spPr>
          <a:xfrm>
            <a:off x="3260991" y="960125"/>
            <a:ext cx="0" cy="3332700"/>
          </a:xfrm>
          <a:prstGeom prst="straightConnector1">
            <a:avLst/>
          </a:prstGeom>
          <a:noFill/>
          <a:ln cap="flat" cmpd="sng" w="13425">
            <a:solidFill>
              <a:srgbClr val="B8C2CF"/>
            </a:solidFill>
            <a:prstDash val="solid"/>
            <a:round/>
            <a:headEnd len="sm" w="sm" type="none"/>
            <a:tailEnd len="sm" w="sm" type="none"/>
          </a:ln>
        </p:spPr>
      </p:cxnSp>
      <p:sp>
        <p:nvSpPr>
          <p:cNvPr id="350" name="Google Shape;350;g40a0daa3361_0_342"/>
          <p:cNvSpPr txBox="1"/>
          <p:nvPr/>
        </p:nvSpPr>
        <p:spPr>
          <a:xfrm>
            <a:off x="841500" y="4400407"/>
            <a:ext cx="2897700" cy="24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51"/>
              <a:buFont typeface="Meiryo"/>
              <a:buNone/>
            </a:pPr>
            <a:r>
              <a:rPr b="0" i="0" lang="en-US" sz="951" u="none" cap="none" strike="noStrike">
                <a:solidFill>
                  <a:srgbClr val="6B7280"/>
                </a:solidFill>
                <a:latin typeface="Meiryo"/>
                <a:ea typeface="Meiryo"/>
                <a:cs typeface="Meiryo"/>
                <a:sym typeface="Meiryo"/>
              </a:rPr>
              <a:t>複数回答／n=14</a:t>
            </a:r>
            <a:endParaRPr b="0" i="0" sz="951" u="none" cap="none" strike="noStrike">
              <a:solidFill>
                <a:srgbClr val="000000"/>
              </a:solidFill>
              <a:latin typeface="Calibri"/>
              <a:ea typeface="Calibri"/>
              <a:cs typeface="Calibri"/>
              <a:sym typeface="Calibri"/>
            </a:endParaRPr>
          </a:p>
        </p:txBody>
      </p:sp>
      <p:sp>
        <p:nvSpPr>
          <p:cNvPr id="351" name="Google Shape;351;g40a0daa3361_0_34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g40a0daa3361_0_406"/>
          <p:cNvSpPr/>
          <p:nvPr/>
        </p:nvSpPr>
        <p:spPr>
          <a:xfrm>
            <a:off x="238873" y="1685863"/>
            <a:ext cx="4260300" cy="1653000"/>
          </a:xfrm>
          <a:prstGeom prst="rect">
            <a:avLst/>
          </a:prstGeom>
          <a:solidFill>
            <a:srgbClr val="FDEBDD"/>
          </a:solidFill>
          <a:ln cap="flat" cmpd="sng" w="17675">
            <a:solidFill>
              <a:srgbClr val="FDEBDD"/>
            </a:solidFill>
            <a:prstDash val="solid"/>
            <a:round/>
            <a:headEnd len="sm" w="sm" type="none"/>
            <a:tailEnd len="sm" w="sm" type="none"/>
          </a:ln>
        </p:spPr>
        <p:txBody>
          <a:bodyPr anchorCtr="0" anchor="ctr" bIns="127150" lIns="127150" spcFirstLastPara="1" rIns="127150" wrap="square" tIns="127150">
            <a:noAutofit/>
          </a:bodyPr>
          <a:lstStyle/>
          <a:p>
            <a:pPr indent="0" lvl="0" marL="0" marR="0" rtl="0" algn="l">
              <a:lnSpc>
                <a:spcPct val="100000"/>
              </a:lnSpc>
              <a:spcBef>
                <a:spcPts val="0"/>
              </a:spcBef>
              <a:spcAft>
                <a:spcPts val="0"/>
              </a:spcAft>
              <a:buClr>
                <a:srgbClr val="000000"/>
              </a:buClr>
              <a:buSzPts val="1947"/>
              <a:buFont typeface="Arial"/>
              <a:buNone/>
            </a:pPr>
            <a:r>
              <a:t/>
            </a:r>
            <a:endParaRPr b="0" i="0" sz="1947" u="none" cap="none" strike="noStrike">
              <a:solidFill>
                <a:srgbClr val="000000"/>
              </a:solidFill>
              <a:latin typeface="Arial"/>
              <a:ea typeface="Arial"/>
              <a:cs typeface="Arial"/>
              <a:sym typeface="Arial"/>
            </a:endParaRPr>
          </a:p>
        </p:txBody>
      </p:sp>
      <p:sp>
        <p:nvSpPr>
          <p:cNvPr id="358" name="Google Shape;358;g40a0daa3361_0_40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59" name="Google Shape;359;g40a0daa3361_0_40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60" name="Google Shape;360;g40a0daa3361_0_406"/>
          <p:cNvSpPr txBox="1"/>
          <p:nvPr/>
        </p:nvSpPr>
        <p:spPr>
          <a:xfrm>
            <a:off x="692123" y="980103"/>
            <a:ext cx="4307100" cy="50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00"/>
              <a:buFont typeface="Meiryo"/>
              <a:buNone/>
            </a:pPr>
            <a:r>
              <a:rPr b="1" lang="en-US" sz="1800">
                <a:solidFill>
                  <a:srgbClr val="1F3A5F"/>
                </a:solidFill>
                <a:latin typeface="Meiryo"/>
                <a:ea typeface="Meiryo"/>
                <a:cs typeface="Meiryo"/>
                <a:sym typeface="Meiryo"/>
              </a:rPr>
              <a:t>本日</a:t>
            </a:r>
            <a:r>
              <a:rPr b="1" i="0" lang="en-US" sz="1800" u="none" cap="none" strike="noStrike">
                <a:solidFill>
                  <a:srgbClr val="1F3A5F"/>
                </a:solidFill>
                <a:latin typeface="Meiryo"/>
                <a:ea typeface="Meiryo"/>
                <a:cs typeface="Meiryo"/>
                <a:sym typeface="Meiryo"/>
              </a:rPr>
              <a:t>のプログラムで解消します</a:t>
            </a:r>
            <a:endParaRPr b="0" i="0" sz="1800" u="none" cap="none" strike="noStrike">
              <a:solidFill>
                <a:schemeClr val="dk1"/>
              </a:solidFill>
              <a:latin typeface="Calibri"/>
              <a:ea typeface="Calibri"/>
              <a:cs typeface="Calibri"/>
              <a:sym typeface="Calibri"/>
            </a:endParaRPr>
          </a:p>
        </p:txBody>
      </p:sp>
      <p:sp>
        <p:nvSpPr>
          <p:cNvPr id="361" name="Google Shape;361;g40a0daa3361_0_406"/>
          <p:cNvSpPr/>
          <p:nvPr/>
        </p:nvSpPr>
        <p:spPr>
          <a:xfrm>
            <a:off x="4785748" y="1736100"/>
            <a:ext cx="4307100" cy="1671300"/>
          </a:xfrm>
          <a:prstGeom prst="rect">
            <a:avLst/>
          </a:prstGeom>
          <a:solidFill>
            <a:srgbClr val="EEF3F8"/>
          </a:solidFill>
          <a:ln cap="flat" cmpd="sng" w="17850">
            <a:solidFill>
              <a:srgbClr val="EEF3F8"/>
            </a:solidFill>
            <a:prstDash val="solid"/>
            <a:round/>
            <a:headEnd len="sm" w="sm" type="none"/>
            <a:tailEnd len="sm" w="sm" type="none"/>
          </a:ln>
        </p:spPr>
        <p:txBody>
          <a:bodyPr anchorCtr="0" anchor="ctr" bIns="128550" lIns="128550" spcFirstLastPara="1" rIns="128550" wrap="square" tIns="128550">
            <a:noAutofit/>
          </a:bodyPr>
          <a:lstStyle/>
          <a:p>
            <a:pPr indent="0" lvl="0" marL="0" marR="0" rtl="0" algn="l">
              <a:lnSpc>
                <a:spcPct val="100000"/>
              </a:lnSpc>
              <a:spcBef>
                <a:spcPts val="0"/>
              </a:spcBef>
              <a:spcAft>
                <a:spcPts val="0"/>
              </a:spcAft>
              <a:buClr>
                <a:srgbClr val="000000"/>
              </a:buClr>
              <a:buSzPts val="1968"/>
              <a:buFont typeface="Arial"/>
              <a:buNone/>
            </a:pPr>
            <a:r>
              <a:t/>
            </a:r>
            <a:endParaRPr b="0" i="0" sz="1968" u="none" cap="none" strike="noStrike">
              <a:solidFill>
                <a:srgbClr val="000000"/>
              </a:solidFill>
              <a:latin typeface="Arial"/>
              <a:ea typeface="Arial"/>
              <a:cs typeface="Arial"/>
              <a:sym typeface="Arial"/>
            </a:endParaRPr>
          </a:p>
        </p:txBody>
      </p:sp>
      <p:sp>
        <p:nvSpPr>
          <p:cNvPr id="362" name="Google Shape;362;g40a0daa3361_0_406"/>
          <p:cNvSpPr txBox="1"/>
          <p:nvPr/>
        </p:nvSpPr>
        <p:spPr>
          <a:xfrm>
            <a:off x="440482" y="1928950"/>
            <a:ext cx="3857100" cy="835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欲しい答えが返ってこない</a:t>
            </a:r>
            <a:endParaRPr b="0" i="0" sz="1547"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プロンプトの書き方がわからない</a:t>
            </a:r>
            <a:endParaRPr b="0" i="0" sz="1547" u="none" cap="none" strike="noStrike">
              <a:solidFill>
                <a:schemeClr val="dk1"/>
              </a:solidFill>
              <a:latin typeface="Calibri"/>
              <a:ea typeface="Calibri"/>
              <a:cs typeface="Calibri"/>
              <a:sym typeface="Calibri"/>
            </a:endParaRPr>
          </a:p>
        </p:txBody>
      </p:sp>
      <p:sp>
        <p:nvSpPr>
          <p:cNvPr id="363" name="Google Shape;363;g40a0daa3361_0_406"/>
          <p:cNvSpPr txBox="1"/>
          <p:nvPr/>
        </p:nvSpPr>
        <p:spPr>
          <a:xfrm>
            <a:off x="440482" y="2828918"/>
            <a:ext cx="3857100" cy="38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58"/>
              <a:buFont typeface="Meiryo"/>
              <a:buNone/>
            </a:pPr>
            <a:r>
              <a:rPr b="1" i="0" lang="en-US" sz="1758" u="none" cap="none" strike="noStrike">
                <a:solidFill>
                  <a:schemeClr val="accent2"/>
                </a:solidFill>
                <a:latin typeface="Meiryo"/>
                <a:ea typeface="Meiryo"/>
                <a:cs typeface="Meiryo"/>
                <a:sym typeface="Meiryo"/>
              </a:rPr>
              <a:t>→ 考え方講座・ワーク②</a:t>
            </a:r>
            <a:endParaRPr b="0" i="0" sz="1758" u="none" cap="none" strike="noStrike">
              <a:solidFill>
                <a:schemeClr val="accent2"/>
              </a:solidFill>
              <a:latin typeface="Calibri"/>
              <a:ea typeface="Calibri"/>
              <a:cs typeface="Calibri"/>
              <a:sym typeface="Calibri"/>
            </a:endParaRPr>
          </a:p>
        </p:txBody>
      </p:sp>
      <p:sp>
        <p:nvSpPr>
          <p:cNvPr id="364" name="Google Shape;364;g40a0daa3361_0_406"/>
          <p:cNvSpPr txBox="1"/>
          <p:nvPr/>
        </p:nvSpPr>
        <p:spPr>
          <a:xfrm>
            <a:off x="4981768" y="1935996"/>
            <a:ext cx="3815100" cy="826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正確性が不安</a:t>
            </a:r>
            <a:endParaRPr b="0" i="0" sz="153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機密情報の扱いが不安</a:t>
            </a:r>
            <a:endParaRPr b="0" i="0" sz="1530" u="none" cap="none" strike="noStrike">
              <a:solidFill>
                <a:schemeClr val="dk1"/>
              </a:solidFill>
              <a:latin typeface="Calibri"/>
              <a:ea typeface="Calibri"/>
              <a:cs typeface="Calibri"/>
              <a:sym typeface="Calibri"/>
            </a:endParaRPr>
          </a:p>
        </p:txBody>
      </p:sp>
      <p:sp>
        <p:nvSpPr>
          <p:cNvPr id="365" name="Google Shape;365;g40a0daa3361_0_406"/>
          <p:cNvSpPr txBox="1"/>
          <p:nvPr/>
        </p:nvSpPr>
        <p:spPr>
          <a:xfrm>
            <a:off x="4981768" y="2826203"/>
            <a:ext cx="3815100" cy="38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38"/>
              <a:buFont typeface="Meiryo"/>
              <a:buNone/>
            </a:pPr>
            <a:r>
              <a:rPr b="1" i="0" lang="en-US" sz="1738" u="none" cap="none" strike="noStrike">
                <a:solidFill>
                  <a:srgbClr val="1F3A5F"/>
                </a:solidFill>
                <a:latin typeface="Meiryo"/>
                <a:ea typeface="Meiryo"/>
                <a:cs typeface="Meiryo"/>
                <a:sym typeface="Meiryo"/>
              </a:rPr>
              <a:t>→ 後の</a:t>
            </a:r>
            <a:r>
              <a:rPr b="1" lang="en-US" sz="1738">
                <a:solidFill>
                  <a:srgbClr val="1F3A5F"/>
                </a:solidFill>
                <a:latin typeface="Meiryo"/>
                <a:ea typeface="Meiryo"/>
                <a:cs typeface="Meiryo"/>
                <a:sym typeface="Meiryo"/>
              </a:rPr>
              <a:t>スライドでご紹介します</a:t>
            </a:r>
            <a:endParaRPr b="0" i="0" sz="1738" u="none" cap="none" strike="noStrike">
              <a:solidFill>
                <a:srgbClr val="1F3A5F"/>
              </a:solidFill>
              <a:latin typeface="Calibri"/>
              <a:ea typeface="Calibri"/>
              <a:cs typeface="Calibri"/>
              <a:sym typeface="Calibri"/>
            </a:endParaRPr>
          </a:p>
        </p:txBody>
      </p:sp>
      <p:sp>
        <p:nvSpPr>
          <p:cNvPr id="366" name="Google Shape;366;g40a0daa3361_0_40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1" name="Shape 371"/>
        <p:cNvGrpSpPr/>
        <p:nvPr/>
      </p:nvGrpSpPr>
      <p:grpSpPr>
        <a:xfrm>
          <a:off x="0" y="0"/>
          <a:ext cx="0" cy="0"/>
          <a:chOff x="0" y="0"/>
          <a:chExt cx="0" cy="0"/>
        </a:xfrm>
      </p:grpSpPr>
      <p:sp>
        <p:nvSpPr>
          <p:cNvPr id="372" name="Google Shape;372;p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最新動向① AIモデルは数か月ごとに入れ替わる</a:t>
            </a:r>
            <a:endParaRPr b="0" i="0" sz="2200" u="none" cap="none" strike="noStrike">
              <a:solidFill>
                <a:schemeClr val="dk1"/>
              </a:solidFill>
              <a:latin typeface="Calibri"/>
              <a:ea typeface="Calibri"/>
              <a:cs typeface="Calibri"/>
              <a:sym typeface="Calibri"/>
            </a:endParaRPr>
          </a:p>
        </p:txBody>
      </p:sp>
      <p:sp>
        <p:nvSpPr>
          <p:cNvPr id="373" name="Google Shape;373;p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74" name="Google Shape;374;p9"/>
          <p:cNvSpPr txBox="1"/>
          <p:nvPr/>
        </p:nvSpPr>
        <p:spPr>
          <a:xfrm>
            <a:off x="2148840" y="960120"/>
            <a:ext cx="265176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昨年度の資料</a:t>
            </a:r>
            <a:endParaRPr b="0" i="0" sz="1100" u="none" cap="none" strike="noStrike">
              <a:solidFill>
                <a:schemeClr val="dk1"/>
              </a:solidFill>
              <a:latin typeface="Calibri"/>
              <a:ea typeface="Calibri"/>
              <a:cs typeface="Calibri"/>
              <a:sym typeface="Calibri"/>
            </a:endParaRPr>
          </a:p>
        </p:txBody>
      </p:sp>
      <p:sp>
        <p:nvSpPr>
          <p:cNvPr id="375" name="Google Shape;375;p9"/>
          <p:cNvSpPr txBox="1"/>
          <p:nvPr/>
        </p:nvSpPr>
        <p:spPr>
          <a:xfrm>
            <a:off x="5715000" y="960120"/>
            <a:ext cx="30175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2026年9月 現在</a:t>
            </a:r>
            <a:endParaRPr b="0" i="0" sz="1100" u="none" cap="none" strike="noStrike">
              <a:solidFill>
                <a:schemeClr val="dk1"/>
              </a:solidFill>
              <a:latin typeface="Calibri"/>
              <a:ea typeface="Calibri"/>
              <a:cs typeface="Calibri"/>
              <a:sym typeface="Calibri"/>
            </a:endParaRPr>
          </a:p>
        </p:txBody>
      </p:sp>
      <p:sp>
        <p:nvSpPr>
          <p:cNvPr id="376" name="Google Shape;376;p9"/>
          <p:cNvSpPr/>
          <p:nvPr/>
        </p:nvSpPr>
        <p:spPr>
          <a:xfrm>
            <a:off x="2148840" y="132588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9"/>
          <p:cNvSpPr txBox="1"/>
          <p:nvPr/>
        </p:nvSpPr>
        <p:spPr>
          <a:xfrm>
            <a:off x="2240280" y="141732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GPT-5</a:t>
            </a:r>
            <a:endParaRPr b="0" i="0" sz="1400" u="none" cap="none" strike="noStrike">
              <a:solidFill>
                <a:schemeClr val="dk1"/>
              </a:solidFill>
              <a:latin typeface="Calibri"/>
              <a:ea typeface="Calibri"/>
              <a:cs typeface="Calibri"/>
              <a:sym typeface="Calibri"/>
            </a:endParaRPr>
          </a:p>
        </p:txBody>
      </p:sp>
      <p:sp>
        <p:nvSpPr>
          <p:cNvPr id="378" name="Google Shape;378;p9"/>
          <p:cNvSpPr txBox="1"/>
          <p:nvPr/>
        </p:nvSpPr>
        <p:spPr>
          <a:xfrm>
            <a:off x="2240280" y="173736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2025年8月</a:t>
            </a:r>
            <a:endParaRPr b="0" i="0" sz="1000" u="none" cap="none" strike="noStrike">
              <a:solidFill>
                <a:schemeClr val="dk1"/>
              </a:solidFill>
              <a:latin typeface="Calibri"/>
              <a:ea typeface="Calibri"/>
              <a:cs typeface="Calibri"/>
              <a:sym typeface="Calibri"/>
            </a:endParaRPr>
          </a:p>
        </p:txBody>
      </p:sp>
      <p:sp>
        <p:nvSpPr>
          <p:cNvPr id="379" name="Google Shape;379;p9"/>
          <p:cNvSpPr/>
          <p:nvPr/>
        </p:nvSpPr>
        <p:spPr>
          <a:xfrm>
            <a:off x="4983480" y="155448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9"/>
          <p:cNvSpPr/>
          <p:nvPr/>
        </p:nvSpPr>
        <p:spPr>
          <a:xfrm>
            <a:off x="5715000" y="132588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9"/>
          <p:cNvSpPr txBox="1"/>
          <p:nvPr/>
        </p:nvSpPr>
        <p:spPr>
          <a:xfrm>
            <a:off x="5806440" y="141732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GPT-6 Astra</a:t>
            </a:r>
            <a:endParaRPr b="0" i="0" sz="1400" u="none" cap="none" strike="noStrike">
              <a:solidFill>
                <a:schemeClr val="dk1"/>
              </a:solidFill>
              <a:latin typeface="Calibri"/>
              <a:ea typeface="Calibri"/>
              <a:cs typeface="Calibri"/>
              <a:sym typeface="Calibri"/>
            </a:endParaRPr>
          </a:p>
        </p:txBody>
      </p:sp>
      <p:sp>
        <p:nvSpPr>
          <p:cNvPr id="382" name="Google Shape;382;p9"/>
          <p:cNvSpPr txBox="1"/>
          <p:nvPr/>
        </p:nvSpPr>
        <p:spPr>
          <a:xfrm>
            <a:off x="5806440" y="173736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2026年9月</a:t>
            </a:r>
            <a:endParaRPr b="0" i="0" sz="1000" u="none" cap="none" strike="noStrike">
              <a:solidFill>
                <a:schemeClr val="dk1"/>
              </a:solidFill>
              <a:latin typeface="Calibri"/>
              <a:ea typeface="Calibri"/>
              <a:cs typeface="Calibri"/>
              <a:sym typeface="Calibri"/>
            </a:endParaRPr>
          </a:p>
        </p:txBody>
      </p:sp>
      <p:sp>
        <p:nvSpPr>
          <p:cNvPr id="383" name="Google Shape;383;p9"/>
          <p:cNvSpPr/>
          <p:nvPr/>
        </p:nvSpPr>
        <p:spPr>
          <a:xfrm>
            <a:off x="2148840" y="219456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9"/>
          <p:cNvSpPr txBox="1"/>
          <p:nvPr/>
        </p:nvSpPr>
        <p:spPr>
          <a:xfrm>
            <a:off x="2240280" y="228600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Gemini 3</a:t>
            </a:r>
            <a:endParaRPr b="0" i="0" sz="1400" u="none" cap="none" strike="noStrike">
              <a:solidFill>
                <a:schemeClr val="dk1"/>
              </a:solidFill>
              <a:latin typeface="Calibri"/>
              <a:ea typeface="Calibri"/>
              <a:cs typeface="Calibri"/>
              <a:sym typeface="Calibri"/>
            </a:endParaRPr>
          </a:p>
        </p:txBody>
      </p:sp>
      <p:sp>
        <p:nvSpPr>
          <p:cNvPr id="385" name="Google Shape;385;p9"/>
          <p:cNvSpPr txBox="1"/>
          <p:nvPr/>
        </p:nvSpPr>
        <p:spPr>
          <a:xfrm>
            <a:off x="2240280" y="260604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2025年11月</a:t>
            </a:r>
            <a:endParaRPr b="0" i="0" sz="1000" u="none" cap="none" strike="noStrike">
              <a:solidFill>
                <a:schemeClr val="dk1"/>
              </a:solidFill>
              <a:latin typeface="Calibri"/>
              <a:ea typeface="Calibri"/>
              <a:cs typeface="Calibri"/>
              <a:sym typeface="Calibri"/>
            </a:endParaRPr>
          </a:p>
        </p:txBody>
      </p:sp>
      <p:sp>
        <p:nvSpPr>
          <p:cNvPr id="386" name="Google Shape;386;p9"/>
          <p:cNvSpPr/>
          <p:nvPr/>
        </p:nvSpPr>
        <p:spPr>
          <a:xfrm>
            <a:off x="4983480" y="242316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9"/>
          <p:cNvSpPr/>
          <p:nvPr/>
        </p:nvSpPr>
        <p:spPr>
          <a:xfrm>
            <a:off x="5715000" y="219456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9"/>
          <p:cNvSpPr txBox="1"/>
          <p:nvPr/>
        </p:nvSpPr>
        <p:spPr>
          <a:xfrm>
            <a:off x="5806440" y="228600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Gemini 3.</a:t>
            </a:r>
            <a:r>
              <a:rPr b="1" lang="en-US">
                <a:solidFill>
                  <a:srgbClr val="1F3A5F"/>
                </a:solidFill>
                <a:latin typeface="Meiryo"/>
                <a:ea typeface="Meiryo"/>
                <a:cs typeface="Meiryo"/>
                <a:sym typeface="Meiryo"/>
              </a:rPr>
              <a:t>8</a:t>
            </a:r>
            <a:r>
              <a:rPr b="1" i="0" lang="en-US" sz="1400" u="none" cap="none" strike="noStrike">
                <a:solidFill>
                  <a:srgbClr val="1F3A5F"/>
                </a:solidFill>
                <a:latin typeface="Meiryo"/>
                <a:ea typeface="Meiryo"/>
                <a:cs typeface="Meiryo"/>
                <a:sym typeface="Meiryo"/>
              </a:rPr>
              <a:t> Flash など</a:t>
            </a:r>
            <a:endParaRPr b="0" i="0" sz="1400" u="none" cap="none" strike="noStrike">
              <a:solidFill>
                <a:schemeClr val="dk1"/>
              </a:solidFill>
              <a:latin typeface="Calibri"/>
              <a:ea typeface="Calibri"/>
              <a:cs typeface="Calibri"/>
              <a:sym typeface="Calibri"/>
            </a:endParaRPr>
          </a:p>
        </p:txBody>
      </p:sp>
      <p:sp>
        <p:nvSpPr>
          <p:cNvPr id="389" name="Google Shape;389;p9"/>
          <p:cNvSpPr txBox="1"/>
          <p:nvPr/>
        </p:nvSpPr>
        <p:spPr>
          <a:xfrm>
            <a:off x="5806440" y="260604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0" name="Google Shape;390;p9"/>
          <p:cNvSpPr/>
          <p:nvPr/>
        </p:nvSpPr>
        <p:spPr>
          <a:xfrm>
            <a:off x="2148840" y="306324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9"/>
          <p:cNvSpPr txBox="1"/>
          <p:nvPr/>
        </p:nvSpPr>
        <p:spPr>
          <a:xfrm>
            <a:off x="2240280" y="315468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Claude Sonnet 4.5</a:t>
            </a:r>
            <a:endParaRPr b="0" i="0" sz="1400" u="none" cap="none" strike="noStrike">
              <a:solidFill>
                <a:schemeClr val="dk1"/>
              </a:solidFill>
              <a:latin typeface="Calibri"/>
              <a:ea typeface="Calibri"/>
              <a:cs typeface="Calibri"/>
              <a:sym typeface="Calibri"/>
            </a:endParaRPr>
          </a:p>
        </p:txBody>
      </p:sp>
      <p:sp>
        <p:nvSpPr>
          <p:cNvPr id="392" name="Google Shape;392;p9"/>
          <p:cNvSpPr txBox="1"/>
          <p:nvPr/>
        </p:nvSpPr>
        <p:spPr>
          <a:xfrm>
            <a:off x="2240280" y="347472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2025年9月</a:t>
            </a:r>
            <a:endParaRPr b="0" i="0" sz="1000" u="none" cap="none" strike="noStrike">
              <a:solidFill>
                <a:schemeClr val="dk1"/>
              </a:solidFill>
              <a:latin typeface="Calibri"/>
              <a:ea typeface="Calibri"/>
              <a:cs typeface="Calibri"/>
              <a:sym typeface="Calibri"/>
            </a:endParaRPr>
          </a:p>
        </p:txBody>
      </p:sp>
      <p:sp>
        <p:nvSpPr>
          <p:cNvPr id="393" name="Google Shape;393;p9"/>
          <p:cNvSpPr/>
          <p:nvPr/>
        </p:nvSpPr>
        <p:spPr>
          <a:xfrm>
            <a:off x="4983480" y="329184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9"/>
          <p:cNvSpPr/>
          <p:nvPr/>
        </p:nvSpPr>
        <p:spPr>
          <a:xfrm>
            <a:off x="5715000" y="306324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9"/>
          <p:cNvSpPr txBox="1"/>
          <p:nvPr/>
        </p:nvSpPr>
        <p:spPr>
          <a:xfrm>
            <a:off x="5806440" y="315468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Claude Opus 5.5</a:t>
            </a:r>
            <a:endParaRPr b="0" i="0" sz="1400" u="none" cap="none" strike="noStrike">
              <a:solidFill>
                <a:schemeClr val="dk1"/>
              </a:solidFill>
              <a:latin typeface="Calibri"/>
              <a:ea typeface="Calibri"/>
              <a:cs typeface="Calibri"/>
              <a:sym typeface="Calibri"/>
            </a:endParaRPr>
          </a:p>
        </p:txBody>
      </p:sp>
      <p:sp>
        <p:nvSpPr>
          <p:cNvPr id="396" name="Google Shape;396;p9"/>
          <p:cNvSpPr txBox="1"/>
          <p:nvPr/>
        </p:nvSpPr>
        <p:spPr>
          <a:xfrm>
            <a:off x="5806440" y="347472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7" name="Google Shape;397;p9"/>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バージョン名を追う必要はありません。変わらないのは「何を渡すか」で結果が決まること。</a:t>
            </a:r>
            <a:endParaRPr b="0" i="0" sz="1300" u="none" cap="none" strike="noStrike">
              <a:solidFill>
                <a:schemeClr val="dk1"/>
              </a:solidFill>
              <a:latin typeface="Calibri"/>
              <a:ea typeface="Calibri"/>
              <a:cs typeface="Calibri"/>
              <a:sym typeface="Calibri"/>
            </a:endParaRPr>
          </a:p>
        </p:txBody>
      </p:sp>
      <p:grpSp>
        <p:nvGrpSpPr>
          <p:cNvPr id="398" name="Google Shape;398;p9"/>
          <p:cNvGrpSpPr/>
          <p:nvPr/>
        </p:nvGrpSpPr>
        <p:grpSpPr>
          <a:xfrm>
            <a:off x="127508" y="1554473"/>
            <a:ext cx="1645873" cy="361154"/>
            <a:chOff x="676600" y="1458575"/>
            <a:chExt cx="1941574" cy="425990"/>
          </a:xfrm>
        </p:grpSpPr>
        <p:pic>
          <p:nvPicPr>
            <p:cNvPr id="399" name="Google Shape;399;p9" title="cgpt.png"/>
            <p:cNvPicPr preferRelativeResize="0"/>
            <p:nvPr/>
          </p:nvPicPr>
          <p:blipFill>
            <a:blip r:embed="rId3">
              <a:alphaModFix/>
            </a:blip>
            <a:stretch>
              <a:fillRect/>
            </a:stretch>
          </p:blipFill>
          <p:spPr>
            <a:xfrm>
              <a:off x="676600" y="1458575"/>
              <a:ext cx="397350" cy="397350"/>
            </a:xfrm>
            <a:prstGeom prst="rect">
              <a:avLst/>
            </a:prstGeom>
            <a:noFill/>
            <a:ln>
              <a:noFill/>
            </a:ln>
          </p:spPr>
        </p:pic>
        <p:pic>
          <p:nvPicPr>
            <p:cNvPr id="400" name="Google Shape;400;p9" title="65a762d88d34c9b08de34039_659f1e3a57ce506fbcc81b42_who20chatgpt_logo.png"/>
            <p:cNvPicPr preferRelativeResize="0"/>
            <p:nvPr/>
          </p:nvPicPr>
          <p:blipFill rotWithShape="1">
            <a:blip r:embed="rId4">
              <a:alphaModFix/>
            </a:blip>
            <a:srcRect b="33308" l="33395" r="0" t="32797"/>
            <a:stretch/>
          </p:blipFill>
          <p:spPr>
            <a:xfrm>
              <a:off x="1111450" y="1458575"/>
              <a:ext cx="1506724" cy="425990"/>
            </a:xfrm>
            <a:prstGeom prst="rect">
              <a:avLst/>
            </a:prstGeom>
            <a:noFill/>
            <a:ln>
              <a:noFill/>
            </a:ln>
          </p:spPr>
        </p:pic>
      </p:grpSp>
      <p:pic>
        <p:nvPicPr>
          <p:cNvPr id="401" name="Google Shape;401;p9" title="25Apr11_gemini_000.jpg"/>
          <p:cNvPicPr preferRelativeResize="0"/>
          <p:nvPr/>
        </p:nvPicPr>
        <p:blipFill rotWithShape="1">
          <a:blip r:embed="rId5">
            <a:alphaModFix/>
          </a:blip>
          <a:srcRect b="30760" l="0" r="0" t="27469"/>
          <a:stretch/>
        </p:blipFill>
        <p:spPr>
          <a:xfrm>
            <a:off x="147775" y="2320287"/>
            <a:ext cx="1605315" cy="502925"/>
          </a:xfrm>
          <a:prstGeom prst="rect">
            <a:avLst/>
          </a:prstGeom>
          <a:noFill/>
          <a:ln>
            <a:noFill/>
          </a:ln>
        </p:spPr>
      </p:pic>
      <p:pic>
        <p:nvPicPr>
          <p:cNvPr id="402" name="Google Shape;402;p9" title="スクリーンショット 2025-07-03 113128.png"/>
          <p:cNvPicPr preferRelativeResize="0"/>
          <p:nvPr/>
        </p:nvPicPr>
        <p:blipFill>
          <a:blip r:embed="rId6">
            <a:alphaModFix/>
          </a:blip>
          <a:stretch>
            <a:fillRect/>
          </a:stretch>
        </p:blipFill>
        <p:spPr>
          <a:xfrm>
            <a:off x="127500" y="3241090"/>
            <a:ext cx="1645876" cy="410104"/>
          </a:xfrm>
          <a:prstGeom prst="rect">
            <a:avLst/>
          </a:prstGeom>
          <a:noFill/>
          <a:ln>
            <a:noFill/>
          </a:ln>
        </p:spPr>
      </p:pic>
      <p:sp>
        <p:nvSpPr>
          <p:cNvPr id="403" name="Google Shape;403;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8" name="Shape 408"/>
        <p:cNvGrpSpPr/>
        <p:nvPr/>
      </p:nvGrpSpPr>
      <p:grpSpPr>
        <a:xfrm>
          <a:off x="0" y="0"/>
          <a:ext cx="0" cy="0"/>
          <a:chOff x="0" y="0"/>
          <a:chExt cx="0" cy="0"/>
        </a:xfrm>
      </p:grpSpPr>
      <p:sp>
        <p:nvSpPr>
          <p:cNvPr id="409" name="Google Shape;409;p1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最新動向② </a:t>
            </a:r>
            <a:r>
              <a:rPr b="1" lang="en-US" sz="2200">
                <a:solidFill>
                  <a:srgbClr val="222222"/>
                </a:solidFill>
                <a:latin typeface="Meiryo"/>
                <a:ea typeface="Meiryo"/>
                <a:cs typeface="Meiryo"/>
                <a:sym typeface="Meiryo"/>
              </a:rPr>
              <a:t>AIエージェントは「元年」から「普及」へ</a:t>
            </a:r>
            <a:endParaRPr b="0" i="0" sz="2200" u="none" cap="none" strike="noStrike">
              <a:solidFill>
                <a:schemeClr val="dk1"/>
              </a:solidFill>
              <a:latin typeface="Calibri"/>
              <a:ea typeface="Calibri"/>
              <a:cs typeface="Calibri"/>
              <a:sym typeface="Calibri"/>
            </a:endParaRPr>
          </a:p>
        </p:txBody>
      </p:sp>
      <p:sp>
        <p:nvSpPr>
          <p:cNvPr id="410" name="Google Shape;410;p1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11" name="Google Shape;411;p10"/>
          <p:cNvSpPr/>
          <p:nvPr/>
        </p:nvSpPr>
        <p:spPr>
          <a:xfrm>
            <a:off x="411480" y="1005840"/>
            <a:ext cx="3931920" cy="214884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0"/>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2025年</a:t>
            </a:r>
            <a:endParaRPr b="0" i="0" sz="1100" u="none" cap="none" strike="noStrike">
              <a:solidFill>
                <a:schemeClr val="dk1"/>
              </a:solidFill>
              <a:latin typeface="Calibri"/>
              <a:ea typeface="Calibri"/>
              <a:cs typeface="Calibri"/>
              <a:sym typeface="Calibri"/>
            </a:endParaRPr>
          </a:p>
        </p:txBody>
      </p:sp>
      <p:sp>
        <p:nvSpPr>
          <p:cNvPr id="413" name="Google Shape;413;p10"/>
          <p:cNvSpPr/>
          <p:nvPr/>
        </p:nvSpPr>
        <p:spPr>
          <a:xfrm>
            <a:off x="640080" y="1508760"/>
            <a:ext cx="548640" cy="54864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10"/>
          <p:cNvSpPr txBox="1"/>
          <p:nvPr/>
        </p:nvSpPr>
        <p:spPr>
          <a:xfrm>
            <a:off x="137160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55555"/>
              </a:buClr>
              <a:buSzPts val="2000"/>
              <a:buFont typeface="Meiryo"/>
              <a:buNone/>
            </a:pPr>
            <a:r>
              <a:rPr b="1" lang="en-US" sz="2000">
                <a:solidFill>
                  <a:srgbClr val="555555"/>
                </a:solidFill>
                <a:latin typeface="Meiryo"/>
                <a:ea typeface="Meiryo"/>
                <a:cs typeface="Meiryo"/>
                <a:sym typeface="Meiryo"/>
              </a:rPr>
              <a:t>エージェント元年</a:t>
            </a:r>
            <a:endParaRPr b="0" i="0" sz="2000" u="none" cap="none" strike="noStrike">
              <a:solidFill>
                <a:schemeClr val="dk1"/>
              </a:solidFill>
              <a:latin typeface="Calibri"/>
              <a:ea typeface="Calibri"/>
              <a:cs typeface="Calibri"/>
              <a:sym typeface="Calibri"/>
            </a:endParaRPr>
          </a:p>
        </p:txBody>
      </p:sp>
      <p:sp>
        <p:nvSpPr>
          <p:cNvPr id="415" name="Google Shape;415;p10"/>
          <p:cNvSpPr txBox="1"/>
          <p:nvPr/>
        </p:nvSpPr>
        <p:spPr>
          <a:xfrm>
            <a:off x="640080" y="2240280"/>
            <a:ext cx="3474600" cy="731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調べもの・開発など一部の業務から登場</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AIと外部ツールをつなぐ標準化（MCPなど）</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t/>
            </a:r>
            <a:endParaRPr sz="1200">
              <a:solidFill>
                <a:srgbClr val="444444"/>
              </a:solidFill>
              <a:latin typeface="Meiryo"/>
              <a:ea typeface="Meiryo"/>
              <a:cs typeface="Meiryo"/>
              <a:sym typeface="Meiryo"/>
            </a:endParaRPr>
          </a:p>
        </p:txBody>
      </p:sp>
      <p:sp>
        <p:nvSpPr>
          <p:cNvPr id="416" name="Google Shape;416;p10"/>
          <p:cNvSpPr/>
          <p:nvPr/>
        </p:nvSpPr>
        <p:spPr>
          <a:xfrm>
            <a:off x="4434840" y="187452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10"/>
          <p:cNvSpPr/>
          <p:nvPr/>
        </p:nvSpPr>
        <p:spPr>
          <a:xfrm>
            <a:off x="4846320" y="1005840"/>
            <a:ext cx="3886200" cy="2148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 name="Google Shape;418;p10"/>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a:t>
            </a:r>
            <a:endParaRPr b="0" i="0" sz="1100" u="none" cap="none" strike="noStrike">
              <a:solidFill>
                <a:schemeClr val="dk1"/>
              </a:solidFill>
              <a:latin typeface="Calibri"/>
              <a:ea typeface="Calibri"/>
              <a:cs typeface="Calibri"/>
              <a:sym typeface="Calibri"/>
            </a:endParaRPr>
          </a:p>
        </p:txBody>
      </p:sp>
      <p:sp>
        <p:nvSpPr>
          <p:cNvPr id="419" name="Google Shape;419;p10"/>
          <p:cNvSpPr/>
          <p:nvPr/>
        </p:nvSpPr>
        <p:spPr>
          <a:xfrm>
            <a:off x="5074920" y="15087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20" name="Google Shape;420;p10"/>
          <p:cNvPicPr preferRelativeResize="0"/>
          <p:nvPr/>
        </p:nvPicPr>
        <p:blipFill rotWithShape="1">
          <a:blip r:embed="rId3">
            <a:alphaModFix/>
          </a:blip>
          <a:srcRect b="0" l="0" r="0" t="0"/>
          <a:stretch/>
        </p:blipFill>
        <p:spPr>
          <a:xfrm>
            <a:off x="5195621" y="1629461"/>
            <a:ext cx="307238" cy="307238"/>
          </a:xfrm>
          <a:prstGeom prst="rect">
            <a:avLst/>
          </a:prstGeom>
          <a:noFill/>
          <a:ln>
            <a:noFill/>
          </a:ln>
        </p:spPr>
      </p:pic>
      <p:sp>
        <p:nvSpPr>
          <p:cNvPr id="421" name="Google Shape;421;p10"/>
          <p:cNvSpPr txBox="1"/>
          <p:nvPr/>
        </p:nvSpPr>
        <p:spPr>
          <a:xfrm>
            <a:off x="580644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2000"/>
              <a:buFont typeface="Meiryo"/>
              <a:buNone/>
            </a:pPr>
            <a:r>
              <a:rPr b="1" lang="en-US" sz="2000">
                <a:solidFill>
                  <a:srgbClr val="1F3A5F"/>
                </a:solidFill>
                <a:latin typeface="Meiryo"/>
                <a:ea typeface="Meiryo"/>
                <a:cs typeface="Meiryo"/>
                <a:sym typeface="Meiryo"/>
              </a:rPr>
              <a:t>業務での普及</a:t>
            </a:r>
            <a:endParaRPr b="0" i="0" sz="2000" u="none" cap="none" strike="noStrike">
              <a:solidFill>
                <a:schemeClr val="dk1"/>
              </a:solidFill>
              <a:latin typeface="Calibri"/>
              <a:ea typeface="Calibri"/>
              <a:cs typeface="Calibri"/>
              <a:sym typeface="Calibri"/>
            </a:endParaRPr>
          </a:p>
        </p:txBody>
      </p:sp>
      <p:sp>
        <p:nvSpPr>
          <p:cNvPr id="422" name="Google Shape;422;p10"/>
          <p:cNvSpPr txBox="1"/>
          <p:nvPr/>
        </p:nvSpPr>
        <p:spPr>
          <a:xfrm>
            <a:off x="5074920" y="2240280"/>
            <a:ext cx="3474720" cy="7315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ブラウザや業務ソフトを操作して</a:t>
            </a:r>
            <a:endParaRPr b="0" i="0" sz="12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複数の工程を最後まで進める</a:t>
            </a:r>
            <a:endParaRPr b="0" i="0" sz="1200" u="none" cap="none" strike="noStrike">
              <a:solidFill>
                <a:schemeClr val="dk1"/>
              </a:solidFill>
              <a:latin typeface="Calibri"/>
              <a:ea typeface="Calibri"/>
              <a:cs typeface="Calibri"/>
              <a:sym typeface="Calibri"/>
            </a:endParaRPr>
          </a:p>
        </p:txBody>
      </p:sp>
      <p:sp>
        <p:nvSpPr>
          <p:cNvPr id="423" name="Google Shape;423;p10"/>
          <p:cNvSpPr txBox="1"/>
          <p:nvPr/>
        </p:nvSpPr>
        <p:spPr>
          <a:xfrm>
            <a:off x="411480" y="3383280"/>
            <a:ext cx="8321040" cy="10972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OpenAIの最新モデル「GPT-6 Astra」（2026年9月）は、PC操作の精度と速度を強化</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Gartnerは、2026年に企業アプリの40%へAIエージェントが組み込まれると予測</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任せる範囲が広がるほど、「何を渡すか」と「人が確認すること」が重要に</a:t>
            </a:r>
            <a:br>
              <a:rPr b="0" i="0" lang="en-US" sz="1200" u="none" cap="none" strike="noStrike">
                <a:solidFill>
                  <a:srgbClr val="222222"/>
                </a:solidFill>
                <a:latin typeface="Meiryo"/>
                <a:ea typeface="Meiryo"/>
                <a:cs typeface="Meiryo"/>
                <a:sym typeface="Meiryo"/>
              </a:rPr>
            </a:br>
            <a:br>
              <a:rPr b="0" i="0" lang="en-US" sz="1200" u="none" cap="none" strike="noStrike">
                <a:solidFill>
                  <a:srgbClr val="222222"/>
                </a:solidFill>
                <a:latin typeface="Meiryo"/>
                <a:ea typeface="Meiryo"/>
                <a:cs typeface="Meiryo"/>
                <a:sym typeface="Meiryo"/>
              </a:rPr>
            </a:br>
            <a:r>
              <a:rPr b="0" i="0" lang="en-US" sz="1200" u="sng" cap="none" strike="noStrike">
                <a:solidFill>
                  <a:schemeClr val="hlink"/>
                </a:solidFill>
                <a:latin typeface="Meiryo"/>
                <a:ea typeface="Meiryo"/>
                <a:cs typeface="Meiryo"/>
                <a:sym typeface="Meiryo"/>
                <a:hlinkClick r:id="rId4"/>
              </a:rPr>
              <a:t>https://uravation.com/media/40pct-enterprise-apps-ai-agents-2026/</a:t>
            </a:r>
            <a:r>
              <a:rPr b="0" i="0" lang="en-US" sz="1200" u="none" cap="none" strike="noStrike">
                <a:solidFill>
                  <a:srgbClr val="222222"/>
                </a:solidFill>
                <a:latin typeface="Meiryo"/>
                <a:ea typeface="Meiryo"/>
                <a:cs typeface="Meiryo"/>
                <a:sym typeface="Meiryo"/>
              </a:rPr>
              <a:t> </a:t>
            </a:r>
            <a:endParaRPr b="0" i="0" sz="1200" u="none" cap="none" strike="noStrike">
              <a:solidFill>
                <a:schemeClr val="dk1"/>
              </a:solidFill>
              <a:latin typeface="Calibri"/>
              <a:ea typeface="Calibri"/>
              <a:cs typeface="Calibri"/>
              <a:sym typeface="Calibri"/>
            </a:endParaRPr>
          </a:p>
        </p:txBody>
      </p:sp>
      <p:pic>
        <p:nvPicPr>
          <p:cNvPr id="424" name="Google Shape;424;p10"/>
          <p:cNvPicPr preferRelativeResize="0"/>
          <p:nvPr/>
        </p:nvPicPr>
        <p:blipFill>
          <a:blip r:embed="rId5">
            <a:alphaModFix/>
          </a:blip>
          <a:stretch>
            <a:fillRect/>
          </a:stretch>
        </p:blipFill>
        <p:spPr>
          <a:xfrm>
            <a:off x="724790" y="1604010"/>
            <a:ext cx="379207" cy="358140"/>
          </a:xfrm>
          <a:prstGeom prst="rect">
            <a:avLst/>
          </a:prstGeom>
          <a:noFill/>
          <a:ln>
            <a:noFill/>
          </a:ln>
        </p:spPr>
      </p:pic>
      <p:sp>
        <p:nvSpPr>
          <p:cNvPr id="425" name="Google Shape;425;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0" name="Shape 430"/>
        <p:cNvGrpSpPr/>
        <p:nvPr/>
      </p:nvGrpSpPr>
      <p:grpSpPr>
        <a:xfrm>
          <a:off x="0" y="0"/>
          <a:ext cx="0" cy="0"/>
          <a:chOff x="0" y="0"/>
          <a:chExt cx="0" cy="0"/>
        </a:xfrm>
      </p:grpSpPr>
      <p:sp>
        <p:nvSpPr>
          <p:cNvPr id="431" name="Google Shape;431;p1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最新動向③ 画像生成で日本語の文字が崩れ</a:t>
            </a:r>
            <a:r>
              <a:rPr b="1" lang="en-US" sz="2200">
                <a:solidFill>
                  <a:srgbClr val="222222"/>
                </a:solidFill>
                <a:latin typeface="Meiryo"/>
                <a:ea typeface="Meiryo"/>
                <a:cs typeface="Meiryo"/>
                <a:sym typeface="Meiryo"/>
              </a:rPr>
              <a:t>にくく</a:t>
            </a:r>
            <a:r>
              <a:rPr b="1" i="0" lang="en-US" sz="2200" u="none" cap="none" strike="noStrike">
                <a:solidFill>
                  <a:srgbClr val="222222"/>
                </a:solidFill>
                <a:latin typeface="Meiryo"/>
                <a:ea typeface="Meiryo"/>
                <a:cs typeface="Meiryo"/>
                <a:sym typeface="Meiryo"/>
              </a:rPr>
              <a:t>なった</a:t>
            </a:r>
            <a:endParaRPr b="0" i="0" sz="2200" u="none" cap="none" strike="noStrike">
              <a:solidFill>
                <a:schemeClr val="dk1"/>
              </a:solidFill>
              <a:latin typeface="Calibri"/>
              <a:ea typeface="Calibri"/>
              <a:cs typeface="Calibri"/>
              <a:sym typeface="Calibri"/>
            </a:endParaRPr>
          </a:p>
        </p:txBody>
      </p:sp>
      <p:sp>
        <p:nvSpPr>
          <p:cNvPr id="432" name="Google Shape;432;p1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33" name="Google Shape;433;p11"/>
          <p:cNvSpPr/>
          <p:nvPr/>
        </p:nvSpPr>
        <p:spPr>
          <a:xfrm>
            <a:off x="411480" y="1005840"/>
            <a:ext cx="3931920" cy="16002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11"/>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これまで</a:t>
            </a:r>
            <a:endParaRPr b="0" i="0" sz="1100" u="none" cap="none" strike="noStrike">
              <a:solidFill>
                <a:schemeClr val="dk1"/>
              </a:solidFill>
              <a:latin typeface="Calibri"/>
              <a:ea typeface="Calibri"/>
              <a:cs typeface="Calibri"/>
              <a:sym typeface="Calibri"/>
            </a:endParaRPr>
          </a:p>
        </p:txBody>
      </p:sp>
      <p:sp>
        <p:nvSpPr>
          <p:cNvPr id="435" name="Google Shape;435;p11"/>
          <p:cNvSpPr txBox="1"/>
          <p:nvPr/>
        </p:nvSpPr>
        <p:spPr>
          <a:xfrm>
            <a:off x="64008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日本語の文字は崩れやすく</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文字は後から別ツールで入れるのが定番</a:t>
            </a:r>
            <a:endParaRPr b="0" i="0" sz="1400" u="none" cap="none" strike="noStrike">
              <a:solidFill>
                <a:schemeClr val="dk1"/>
              </a:solidFill>
              <a:latin typeface="Calibri"/>
              <a:ea typeface="Calibri"/>
              <a:cs typeface="Calibri"/>
              <a:sym typeface="Calibri"/>
            </a:endParaRPr>
          </a:p>
        </p:txBody>
      </p:sp>
      <p:sp>
        <p:nvSpPr>
          <p:cNvPr id="436" name="Google Shape;436;p11"/>
          <p:cNvSpPr/>
          <p:nvPr/>
        </p:nvSpPr>
        <p:spPr>
          <a:xfrm>
            <a:off x="4434840" y="160020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11"/>
          <p:cNvSpPr/>
          <p:nvPr/>
        </p:nvSpPr>
        <p:spPr>
          <a:xfrm>
            <a:off x="4846320" y="1005840"/>
            <a:ext cx="3886200" cy="16002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11"/>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いま</a:t>
            </a:r>
            <a:endParaRPr b="0" i="0" sz="1100" u="none" cap="none" strike="noStrike">
              <a:solidFill>
                <a:schemeClr val="dk1"/>
              </a:solidFill>
              <a:latin typeface="Calibri"/>
              <a:ea typeface="Calibri"/>
              <a:cs typeface="Calibri"/>
              <a:sym typeface="Calibri"/>
            </a:endParaRPr>
          </a:p>
        </p:txBody>
      </p:sp>
      <p:sp>
        <p:nvSpPr>
          <p:cNvPr id="439" name="Google Shape;439;p11"/>
          <p:cNvSpPr txBox="1"/>
          <p:nvPr/>
        </p:nvSpPr>
        <p:spPr>
          <a:xfrm>
            <a:off x="507492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POPや看板の文字も</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そのまま画像の中に生成できる水準に</a:t>
            </a:r>
            <a:endParaRPr b="0" i="0" sz="1400" u="none" cap="none" strike="noStrike">
              <a:solidFill>
                <a:schemeClr val="dk1"/>
              </a:solidFill>
              <a:latin typeface="Calibri"/>
              <a:ea typeface="Calibri"/>
              <a:cs typeface="Calibri"/>
              <a:sym typeface="Calibri"/>
            </a:endParaRPr>
          </a:p>
        </p:txBody>
      </p:sp>
      <p:sp>
        <p:nvSpPr>
          <p:cNvPr id="440" name="Google Shape;440;p11"/>
          <p:cNvSpPr/>
          <p:nvPr/>
        </p:nvSpPr>
        <p:spPr>
          <a:xfrm>
            <a:off x="502920" y="283464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1" name="Google Shape;441;p11"/>
          <p:cNvPicPr preferRelativeResize="0"/>
          <p:nvPr/>
        </p:nvPicPr>
        <p:blipFill rotWithShape="1">
          <a:blip r:embed="rId3">
            <a:alphaModFix/>
          </a:blip>
          <a:srcRect b="0" l="0" r="0" t="0"/>
          <a:stretch/>
        </p:blipFill>
        <p:spPr>
          <a:xfrm>
            <a:off x="613562" y="2945282"/>
            <a:ext cx="281635" cy="281635"/>
          </a:xfrm>
          <a:prstGeom prst="rect">
            <a:avLst/>
          </a:prstGeom>
          <a:noFill/>
          <a:ln>
            <a:noFill/>
          </a:ln>
        </p:spPr>
      </p:pic>
      <p:sp>
        <p:nvSpPr>
          <p:cNvPr id="442" name="Google Shape;442;p11"/>
          <p:cNvSpPr txBox="1"/>
          <p:nvPr/>
        </p:nvSpPr>
        <p:spPr>
          <a:xfrm>
            <a:off x="1188720" y="281635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Nano Banana Pro（Google／2025年11月）</a:t>
            </a:r>
            <a:endParaRPr b="0" i="0" sz="1300" u="none" cap="none" strike="noStrike">
              <a:solidFill>
                <a:schemeClr val="dk1"/>
              </a:solidFill>
              <a:latin typeface="Calibri"/>
              <a:ea typeface="Calibri"/>
              <a:cs typeface="Calibri"/>
              <a:sym typeface="Calibri"/>
            </a:endParaRPr>
          </a:p>
        </p:txBody>
      </p:sp>
      <p:sp>
        <p:nvSpPr>
          <p:cNvPr id="443" name="Google Shape;443;p11"/>
          <p:cNvSpPr txBox="1"/>
          <p:nvPr/>
        </p:nvSpPr>
        <p:spPr>
          <a:xfrm>
            <a:off x="1188720" y="310896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日本語の文字入れ精度が大きく向上。情報量の多い資料風の画像も作成可能に</a:t>
            </a:r>
            <a:endParaRPr b="0" i="0" sz="1100" u="none" cap="none" strike="noStrike">
              <a:solidFill>
                <a:schemeClr val="dk1"/>
              </a:solidFill>
              <a:latin typeface="Calibri"/>
              <a:ea typeface="Calibri"/>
              <a:cs typeface="Calibri"/>
              <a:sym typeface="Calibri"/>
            </a:endParaRPr>
          </a:p>
        </p:txBody>
      </p:sp>
      <p:sp>
        <p:nvSpPr>
          <p:cNvPr id="444" name="Google Shape;444;p11"/>
          <p:cNvSpPr/>
          <p:nvPr/>
        </p:nvSpPr>
        <p:spPr>
          <a:xfrm>
            <a:off x="502920" y="35661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5" name="Google Shape;445;p11"/>
          <p:cNvPicPr preferRelativeResize="0"/>
          <p:nvPr/>
        </p:nvPicPr>
        <p:blipFill rotWithShape="1">
          <a:blip r:embed="rId4">
            <a:alphaModFix/>
          </a:blip>
          <a:srcRect b="0" l="0" r="0" t="0"/>
          <a:stretch/>
        </p:blipFill>
        <p:spPr>
          <a:xfrm>
            <a:off x="613562" y="3676802"/>
            <a:ext cx="281635" cy="281635"/>
          </a:xfrm>
          <a:prstGeom prst="rect">
            <a:avLst/>
          </a:prstGeom>
          <a:noFill/>
          <a:ln>
            <a:noFill/>
          </a:ln>
        </p:spPr>
      </p:pic>
      <p:sp>
        <p:nvSpPr>
          <p:cNvPr id="446" name="Google Shape;446;p11"/>
          <p:cNvSpPr txBox="1"/>
          <p:nvPr/>
        </p:nvSpPr>
        <p:spPr>
          <a:xfrm>
            <a:off x="1188720" y="354787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ChatGPT Images 2.5（OpenAI／2026年9月）</a:t>
            </a:r>
            <a:endParaRPr b="0" i="0" sz="1300" u="none" cap="none" strike="noStrike">
              <a:solidFill>
                <a:schemeClr val="dk1"/>
              </a:solidFill>
              <a:latin typeface="Calibri"/>
              <a:ea typeface="Calibri"/>
              <a:cs typeface="Calibri"/>
              <a:sym typeface="Calibri"/>
            </a:endParaRPr>
          </a:p>
        </p:txBody>
      </p:sp>
      <p:sp>
        <p:nvSpPr>
          <p:cNvPr id="447" name="Google Shape;447;p11"/>
          <p:cNvSpPr txBox="1"/>
          <p:nvPr/>
        </p:nvSpPr>
        <p:spPr>
          <a:xfrm>
            <a:off x="1188720" y="384048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手描きスケッチから画像を生成する機能を追加。生成時間は従来の約半分に</a:t>
            </a:r>
            <a:endParaRPr b="0" i="0" sz="1100" u="none" cap="none" strike="noStrike">
              <a:solidFill>
                <a:schemeClr val="dk1"/>
              </a:solidFill>
              <a:latin typeface="Calibri"/>
              <a:ea typeface="Calibri"/>
              <a:cs typeface="Calibri"/>
              <a:sym typeface="Calibri"/>
            </a:endParaRPr>
          </a:p>
        </p:txBody>
      </p:sp>
      <p:sp>
        <p:nvSpPr>
          <p:cNvPr id="448" name="Google Shape;448;p11"/>
          <p:cNvSpPr txBox="1"/>
          <p:nvPr/>
        </p:nvSpPr>
        <p:spPr>
          <a:xfrm>
            <a:off x="5943600" y="4343400"/>
            <a:ext cx="2788920" cy="2743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 後半のワーク③で体験します</a:t>
            </a:r>
            <a:endParaRPr b="0" i="0" sz="1100" u="none" cap="none" strike="noStrike">
              <a:solidFill>
                <a:schemeClr val="dk1"/>
              </a:solidFill>
              <a:latin typeface="Calibri"/>
              <a:ea typeface="Calibri"/>
              <a:cs typeface="Calibri"/>
              <a:sym typeface="Calibri"/>
            </a:endParaRPr>
          </a:p>
        </p:txBody>
      </p:sp>
      <p:sp>
        <p:nvSpPr>
          <p:cNvPr id="449" name="Google Shape;449;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1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最新動向④ 日本の現在地</a:t>
            </a:r>
            <a:endParaRPr b="0" i="0" sz="2200" u="none" cap="none" strike="noStrike">
              <a:solidFill>
                <a:schemeClr val="dk1"/>
              </a:solidFill>
              <a:latin typeface="Calibri"/>
              <a:ea typeface="Calibri"/>
              <a:cs typeface="Calibri"/>
              <a:sym typeface="Calibri"/>
            </a:endParaRPr>
          </a:p>
        </p:txBody>
      </p:sp>
      <p:sp>
        <p:nvSpPr>
          <p:cNvPr id="456" name="Google Shape;456;p1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57" name="Google Shape;457;p12"/>
          <p:cNvSpPr/>
          <p:nvPr/>
        </p:nvSpPr>
        <p:spPr>
          <a:xfrm>
            <a:off x="411480" y="1005840"/>
            <a:ext cx="2606040" cy="23317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12"/>
          <p:cNvSpPr txBox="1"/>
          <p:nvPr/>
        </p:nvSpPr>
        <p:spPr>
          <a:xfrm>
            <a:off x="54864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3800"/>
              <a:buFont typeface="Meiryo"/>
              <a:buNone/>
            </a:pPr>
            <a:r>
              <a:rPr b="1" i="0" lang="en-US" sz="3800" u="none" cap="none" strike="noStrike">
                <a:solidFill>
                  <a:srgbClr val="1F3A5F"/>
                </a:solidFill>
                <a:latin typeface="Meiryo"/>
                <a:ea typeface="Meiryo"/>
                <a:cs typeface="Meiryo"/>
                <a:sym typeface="Meiryo"/>
              </a:rPr>
              <a:t>86.4%</a:t>
            </a:r>
            <a:endParaRPr b="0" i="0" sz="3800" u="none" cap="none" strike="noStrike">
              <a:solidFill>
                <a:schemeClr val="dk1"/>
              </a:solidFill>
              <a:latin typeface="Calibri"/>
              <a:ea typeface="Calibri"/>
              <a:cs typeface="Calibri"/>
              <a:sym typeface="Calibri"/>
            </a:endParaRPr>
          </a:p>
        </p:txBody>
      </p:sp>
      <p:sp>
        <p:nvSpPr>
          <p:cNvPr id="459" name="Google Shape;459;p12"/>
          <p:cNvSpPr txBox="1"/>
          <p:nvPr/>
        </p:nvSpPr>
        <p:spPr>
          <a:xfrm>
            <a:off x="54864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業務で生成AIを</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利用している企業</a:t>
            </a:r>
            <a:endParaRPr b="0" i="0" sz="1200" u="none" cap="none" strike="noStrike">
              <a:solidFill>
                <a:schemeClr val="dk1"/>
              </a:solidFill>
              <a:latin typeface="Calibri"/>
              <a:ea typeface="Calibri"/>
              <a:cs typeface="Calibri"/>
              <a:sym typeface="Calibri"/>
            </a:endParaRPr>
          </a:p>
        </p:txBody>
      </p:sp>
      <p:sp>
        <p:nvSpPr>
          <p:cNvPr id="460" name="Google Shape;460;p12"/>
          <p:cNvSpPr txBox="1"/>
          <p:nvPr/>
        </p:nvSpPr>
        <p:spPr>
          <a:xfrm>
            <a:off x="54864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前年度 55.2%</a:t>
            </a:r>
            <a:endParaRPr b="0" i="0" sz="1050" u="none" cap="none" strike="noStrike">
              <a:solidFill>
                <a:schemeClr val="dk1"/>
              </a:solidFill>
              <a:latin typeface="Calibri"/>
              <a:ea typeface="Calibri"/>
              <a:cs typeface="Calibri"/>
              <a:sym typeface="Calibri"/>
            </a:endParaRPr>
          </a:p>
        </p:txBody>
      </p:sp>
      <p:sp>
        <p:nvSpPr>
          <p:cNvPr id="461" name="Google Shape;461;p12"/>
          <p:cNvSpPr/>
          <p:nvPr/>
        </p:nvSpPr>
        <p:spPr>
          <a:xfrm>
            <a:off x="324612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12"/>
          <p:cNvSpPr txBox="1"/>
          <p:nvPr/>
        </p:nvSpPr>
        <p:spPr>
          <a:xfrm>
            <a:off x="338328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約27%</a:t>
            </a:r>
            <a:endParaRPr b="0" i="0" sz="3800" u="none" cap="none" strike="noStrike">
              <a:solidFill>
                <a:schemeClr val="dk1"/>
              </a:solidFill>
              <a:latin typeface="Calibri"/>
              <a:ea typeface="Calibri"/>
              <a:cs typeface="Calibri"/>
              <a:sym typeface="Calibri"/>
            </a:endParaRPr>
          </a:p>
        </p:txBody>
      </p:sp>
      <p:sp>
        <p:nvSpPr>
          <p:cNvPr id="463" name="Google Shape;463;p12"/>
          <p:cNvSpPr txBox="1"/>
          <p:nvPr/>
        </p:nvSpPr>
        <p:spPr>
          <a:xfrm>
            <a:off x="338328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「組織的な取組はない」</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企業</a:t>
            </a:r>
            <a:endParaRPr b="0" i="0" sz="1200" u="none" cap="none" strike="noStrike">
              <a:solidFill>
                <a:schemeClr val="dk1"/>
              </a:solidFill>
              <a:latin typeface="Calibri"/>
              <a:ea typeface="Calibri"/>
              <a:cs typeface="Calibri"/>
              <a:sym typeface="Calibri"/>
            </a:endParaRPr>
          </a:p>
        </p:txBody>
      </p:sp>
      <p:sp>
        <p:nvSpPr>
          <p:cNvPr id="464" name="Google Shape;464;p12"/>
          <p:cNvSpPr txBox="1"/>
          <p:nvPr/>
        </p:nvSpPr>
        <p:spPr>
          <a:xfrm>
            <a:off x="338328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1.4%</a:t>
            </a:r>
            <a:endParaRPr b="0" i="0" sz="1050" u="none" cap="none" strike="noStrike">
              <a:solidFill>
                <a:schemeClr val="dk1"/>
              </a:solidFill>
              <a:latin typeface="Calibri"/>
              <a:ea typeface="Calibri"/>
              <a:cs typeface="Calibri"/>
              <a:sym typeface="Calibri"/>
            </a:endParaRPr>
          </a:p>
        </p:txBody>
      </p:sp>
      <p:sp>
        <p:nvSpPr>
          <p:cNvPr id="465" name="Google Shape;465;p12"/>
          <p:cNvSpPr/>
          <p:nvPr/>
        </p:nvSpPr>
        <p:spPr>
          <a:xfrm>
            <a:off x="608076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12"/>
          <p:cNvSpPr txBox="1"/>
          <p:nvPr/>
        </p:nvSpPr>
        <p:spPr>
          <a:xfrm>
            <a:off x="621792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39.9%</a:t>
            </a:r>
            <a:endParaRPr b="0" i="0" sz="3800" u="none" cap="none" strike="noStrike">
              <a:solidFill>
                <a:schemeClr val="dk1"/>
              </a:solidFill>
              <a:latin typeface="Calibri"/>
              <a:ea typeface="Calibri"/>
              <a:cs typeface="Calibri"/>
              <a:sym typeface="Calibri"/>
            </a:endParaRPr>
          </a:p>
        </p:txBody>
      </p:sp>
      <p:sp>
        <p:nvSpPr>
          <p:cNvPr id="467" name="Google Shape;467;p12"/>
          <p:cNvSpPr txBox="1"/>
          <p:nvPr/>
        </p:nvSpPr>
        <p:spPr>
          <a:xfrm>
            <a:off x="621792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活用スキルを学ぶ</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環境がある企業</a:t>
            </a:r>
            <a:endParaRPr b="0" i="0" sz="1200" u="none" cap="none" strike="noStrike">
              <a:solidFill>
                <a:schemeClr val="dk1"/>
              </a:solidFill>
              <a:latin typeface="Calibri"/>
              <a:ea typeface="Calibri"/>
              <a:cs typeface="Calibri"/>
              <a:sym typeface="Calibri"/>
            </a:endParaRPr>
          </a:p>
        </p:txBody>
      </p:sp>
      <p:sp>
        <p:nvSpPr>
          <p:cNvPr id="468" name="Google Shape;468;p12"/>
          <p:cNvSpPr txBox="1"/>
          <p:nvPr/>
        </p:nvSpPr>
        <p:spPr>
          <a:xfrm>
            <a:off x="621792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62.7%</a:t>
            </a:r>
            <a:endParaRPr b="0" i="0" sz="1050" u="none" cap="none" strike="noStrike">
              <a:solidFill>
                <a:schemeClr val="dk1"/>
              </a:solidFill>
              <a:latin typeface="Calibri"/>
              <a:ea typeface="Calibri"/>
              <a:cs typeface="Calibri"/>
              <a:sym typeface="Calibri"/>
            </a:endParaRPr>
          </a:p>
        </p:txBody>
      </p:sp>
      <p:sp>
        <p:nvSpPr>
          <p:cNvPr id="469" name="Google Shape;469;p12"/>
          <p:cNvSpPr txBox="1"/>
          <p:nvPr/>
        </p:nvSpPr>
        <p:spPr>
          <a:xfrm>
            <a:off x="411480" y="3429000"/>
            <a:ext cx="83210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Meiryo"/>
              <a:buNone/>
            </a:pPr>
            <a:r>
              <a:rPr b="0" i="0" lang="en-US" sz="900" u="none" cap="none" strike="noStrike">
                <a:solidFill>
                  <a:srgbClr val="6B7280"/>
                </a:solidFill>
                <a:latin typeface="Meiryo"/>
                <a:ea typeface="Meiryo"/>
                <a:cs typeface="Meiryo"/>
                <a:sym typeface="Meiryo"/>
              </a:rPr>
              <a:t>出典：総務省「令和8年版 情報通信白書」（2026年7月）</a:t>
            </a:r>
            <a:r>
              <a:rPr b="0" i="0" lang="en-US" sz="900" u="sng" cap="none" strike="noStrike">
                <a:solidFill>
                  <a:schemeClr val="hlink"/>
                </a:solidFill>
                <a:latin typeface="Meiryo"/>
                <a:ea typeface="Meiryo"/>
                <a:cs typeface="Meiryo"/>
                <a:sym typeface="Meiryo"/>
                <a:hlinkClick r:id="rId3"/>
              </a:rPr>
              <a:t>https://www.soumu.go.jp/johotsusintokei/whitepaper/ja/r08/html/nd121110.html</a:t>
            </a:r>
            <a:endParaRPr b="0" i="0" sz="900" u="none" cap="none" strike="noStrike">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900"/>
              <a:buFont typeface="Meiryo"/>
              <a:buNone/>
            </a:pPr>
            <a:r>
              <a:t/>
            </a:r>
            <a:endParaRPr sz="900">
              <a:solidFill>
                <a:srgbClr val="6B7280"/>
              </a:solidFill>
              <a:latin typeface="Meiryo"/>
              <a:ea typeface="Meiryo"/>
              <a:cs typeface="Meiryo"/>
              <a:sym typeface="Meiryo"/>
            </a:endParaRPr>
          </a:p>
        </p:txBody>
      </p:sp>
      <p:sp>
        <p:nvSpPr>
          <p:cNvPr id="470" name="Google Shape;470;p12"/>
          <p:cNvSpPr/>
          <p:nvPr/>
        </p:nvSpPr>
        <p:spPr>
          <a:xfrm>
            <a:off x="411480" y="3749040"/>
            <a:ext cx="8321040" cy="73152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12"/>
          <p:cNvSpPr txBox="1"/>
          <p:nvPr/>
        </p:nvSpPr>
        <p:spPr>
          <a:xfrm>
            <a:off x="594360" y="3749040"/>
            <a:ext cx="795528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1600"/>
              <a:buFont typeface="Meiryo"/>
              <a:buNone/>
            </a:pPr>
            <a:r>
              <a:rPr b="1" i="0" lang="en-US" sz="1600" u="none" cap="none" strike="noStrike">
                <a:solidFill>
                  <a:srgbClr val="222222"/>
                </a:solidFill>
                <a:latin typeface="Meiryo"/>
                <a:ea typeface="Meiryo"/>
                <a:cs typeface="Meiryo"/>
                <a:sym typeface="Meiryo"/>
              </a:rPr>
              <a:t>差がつくのは「使っているか」ではなく、「業務に定着しているか」</a:t>
            </a:r>
            <a:endParaRPr b="0" i="0" sz="1600" u="none" cap="none" strike="noStrike">
              <a:solidFill>
                <a:schemeClr val="dk1"/>
              </a:solidFill>
              <a:latin typeface="Calibri"/>
              <a:ea typeface="Calibri"/>
              <a:cs typeface="Calibri"/>
              <a:sym typeface="Calibri"/>
            </a:endParaRPr>
          </a:p>
        </p:txBody>
      </p:sp>
      <p:sp>
        <p:nvSpPr>
          <p:cNvPr id="472" name="Google Shape;472;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h12a068dd872fd278_0_3"/>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本ワークショップも活かして、</a:t>
            </a:r>
            <a:endParaRPr b="1" sz="3600"/>
          </a:p>
          <a:p>
            <a:pPr indent="0" lvl="0" marL="0" rtl="0" algn="ctr">
              <a:spcBef>
                <a:spcPts val="0"/>
              </a:spcBef>
              <a:spcAft>
                <a:spcPts val="0"/>
              </a:spcAft>
              <a:buNone/>
            </a:pPr>
            <a:r>
              <a:rPr b="1" lang="en-US" sz="3600"/>
              <a:t>業務への定着をしていきましょう！</a:t>
            </a:r>
            <a:endParaRPr b="1" sz="3600"/>
          </a:p>
        </p:txBody>
      </p:sp>
      <p:sp>
        <p:nvSpPr>
          <p:cNvPr id="478" name="Google Shape;478;h12a068dd872fd278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79" name="Google Shape;479;h12a068dd872fd278_0_3"/>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g40a0daa3361_0_250"/>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485" name="Google Shape;485;g40a0daa3361_0_250"/>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486" name="Google Shape;486;g40a0daa3361_0_250"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487" name="Google Shape;487;g40a0daa3361_0_25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488" name="Google Shape;488;g40a0daa3361_0_250"/>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2</a:t>
            </a:r>
            <a:endParaRPr b="0" i="0" sz="2800" u="none" cap="none" strike="noStrike">
              <a:solidFill>
                <a:schemeClr val="dk1"/>
              </a:solidFill>
              <a:latin typeface="Calibri"/>
              <a:ea typeface="Calibri"/>
              <a:cs typeface="Calibri"/>
              <a:sym typeface="Calibri"/>
            </a:endParaRPr>
          </a:p>
        </p:txBody>
      </p:sp>
      <p:sp>
        <p:nvSpPr>
          <p:cNvPr id="489" name="Google Shape;489;g40a0daa3361_0_250"/>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AIへのインプット・</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アウトプットの考え方</a:t>
            </a:r>
            <a:endParaRPr b="0" i="0" sz="3000" u="none" cap="none" strike="noStrike">
              <a:solidFill>
                <a:schemeClr val="dk1"/>
              </a:solidFill>
              <a:latin typeface="Calibri"/>
              <a:ea typeface="Calibri"/>
              <a:cs typeface="Calibri"/>
              <a:sym typeface="Calibri"/>
            </a:endParaRPr>
          </a:p>
        </p:txBody>
      </p:sp>
      <p:sp>
        <p:nvSpPr>
          <p:cNvPr id="490" name="Google Shape;490;g40a0daa3361_0_250"/>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35</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50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h603855749043a6f2_0_135"/>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生成AIを正しく安心して使うために</a:t>
            </a:r>
            <a:endParaRPr b="1" sz="3600"/>
          </a:p>
        </p:txBody>
      </p:sp>
      <p:sp>
        <p:nvSpPr>
          <p:cNvPr id="496" name="Google Shape;496;h603855749043a6f2_0_13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97" name="Google Shape;497;h603855749043a6f2_0_135"/>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8"/>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AIを安心して使うための3ルール</a:t>
            </a:r>
            <a:endParaRPr b="0" i="0" sz="2200" u="none" cap="none" strike="noStrike">
              <a:solidFill>
                <a:schemeClr val="dk1"/>
              </a:solidFill>
              <a:latin typeface="Calibri"/>
              <a:ea typeface="Calibri"/>
              <a:cs typeface="Calibri"/>
              <a:sym typeface="Calibri"/>
            </a:endParaRPr>
          </a:p>
        </p:txBody>
      </p:sp>
      <p:sp>
        <p:nvSpPr>
          <p:cNvPr id="504" name="Google Shape;504;p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05" name="Google Shape;505;p8"/>
          <p:cNvSpPr/>
          <p:nvPr/>
        </p:nvSpPr>
        <p:spPr>
          <a:xfrm>
            <a:off x="411480" y="1005840"/>
            <a:ext cx="2606040" cy="34290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8"/>
          <p:cNvSpPr/>
          <p:nvPr/>
        </p:nvSpPr>
        <p:spPr>
          <a:xfrm>
            <a:off x="594360" y="118872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7" name="Google Shape;507;p8"/>
          <p:cNvPicPr preferRelativeResize="0"/>
          <p:nvPr/>
        </p:nvPicPr>
        <p:blipFill rotWithShape="1">
          <a:blip r:embed="rId3">
            <a:alphaModFix/>
          </a:blip>
          <a:srcRect b="0" l="0" r="0" t="0"/>
          <a:stretch/>
        </p:blipFill>
        <p:spPr>
          <a:xfrm>
            <a:off x="715061" y="1309421"/>
            <a:ext cx="307238" cy="307238"/>
          </a:xfrm>
          <a:prstGeom prst="rect">
            <a:avLst/>
          </a:prstGeom>
          <a:noFill/>
          <a:ln>
            <a:noFill/>
          </a:ln>
        </p:spPr>
      </p:pic>
      <p:sp>
        <p:nvSpPr>
          <p:cNvPr id="508" name="Google Shape;508;p8"/>
          <p:cNvSpPr txBox="1"/>
          <p:nvPr/>
        </p:nvSpPr>
        <p:spPr>
          <a:xfrm>
            <a:off x="1234440" y="128016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① ファクトチェック</a:t>
            </a:r>
            <a:endParaRPr b="0" i="0" sz="1400" u="none" cap="none" strike="noStrike">
              <a:solidFill>
                <a:schemeClr val="dk1"/>
              </a:solidFill>
              <a:latin typeface="Calibri"/>
              <a:ea typeface="Calibri"/>
              <a:cs typeface="Calibri"/>
              <a:sym typeface="Calibri"/>
            </a:endParaRPr>
          </a:p>
        </p:txBody>
      </p:sp>
      <p:sp>
        <p:nvSpPr>
          <p:cNvPr id="509" name="Google Shape;509;p8"/>
          <p:cNvSpPr txBox="1"/>
          <p:nvPr/>
        </p:nvSpPr>
        <p:spPr>
          <a:xfrm>
            <a:off x="594360" y="1965960"/>
            <a:ext cx="2286000" cy="233172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AIはもっともらしい間違いを出す</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価格・相場・日付・固有名詞は必ず裏取りする</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最終判断は人がする</a:t>
            </a:r>
            <a:endParaRPr b="0" i="0" sz="1300" u="none" cap="none" strike="noStrike">
              <a:solidFill>
                <a:schemeClr val="dk1"/>
              </a:solidFill>
              <a:latin typeface="Calibri"/>
              <a:ea typeface="Calibri"/>
              <a:cs typeface="Calibri"/>
              <a:sym typeface="Calibri"/>
            </a:endParaRPr>
          </a:p>
        </p:txBody>
      </p:sp>
      <p:sp>
        <p:nvSpPr>
          <p:cNvPr id="510" name="Google Shape;510;p8"/>
          <p:cNvSpPr/>
          <p:nvPr/>
        </p:nvSpPr>
        <p:spPr>
          <a:xfrm>
            <a:off x="3246120" y="1005840"/>
            <a:ext cx="2606040" cy="34290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
          <p:cNvSpPr/>
          <p:nvPr/>
        </p:nvSpPr>
        <p:spPr>
          <a:xfrm>
            <a:off x="3429000" y="118872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2" name="Google Shape;512;p8"/>
          <p:cNvPicPr preferRelativeResize="0"/>
          <p:nvPr/>
        </p:nvPicPr>
        <p:blipFill rotWithShape="1">
          <a:blip r:embed="rId4">
            <a:alphaModFix/>
          </a:blip>
          <a:srcRect b="0" l="0" r="0" t="0"/>
          <a:stretch/>
        </p:blipFill>
        <p:spPr>
          <a:xfrm>
            <a:off x="3549701" y="1309421"/>
            <a:ext cx="307238" cy="307238"/>
          </a:xfrm>
          <a:prstGeom prst="rect">
            <a:avLst/>
          </a:prstGeom>
          <a:noFill/>
          <a:ln>
            <a:noFill/>
          </a:ln>
        </p:spPr>
      </p:pic>
      <p:sp>
        <p:nvSpPr>
          <p:cNvPr id="513" name="Google Shape;513;p8"/>
          <p:cNvSpPr txBox="1"/>
          <p:nvPr/>
        </p:nvSpPr>
        <p:spPr>
          <a:xfrm>
            <a:off x="4069080" y="128016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② 権利侵害</a:t>
            </a:r>
            <a:endParaRPr b="0" i="0" sz="1400" u="none" cap="none" strike="noStrike">
              <a:solidFill>
                <a:schemeClr val="dk1"/>
              </a:solidFill>
              <a:latin typeface="Calibri"/>
              <a:ea typeface="Calibri"/>
              <a:cs typeface="Calibri"/>
              <a:sym typeface="Calibri"/>
            </a:endParaRPr>
          </a:p>
        </p:txBody>
      </p:sp>
      <p:sp>
        <p:nvSpPr>
          <p:cNvPr id="514" name="Google Shape;514;p8"/>
          <p:cNvSpPr txBox="1"/>
          <p:nvPr/>
        </p:nvSpPr>
        <p:spPr>
          <a:xfrm>
            <a:off x="3429000" y="1965960"/>
            <a:ext cx="2286000" cy="233172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実在のキャラクター・他社ロゴ・有名人を生成しない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「〇〇風」など既存作品に寄せる指示をしない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社外に出す前に人が確認する</a:t>
            </a:r>
            <a:endParaRPr b="0" i="0" sz="1300" u="none" cap="none" strike="noStrike">
              <a:solidFill>
                <a:schemeClr val="dk1"/>
              </a:solidFill>
              <a:latin typeface="Calibri"/>
              <a:ea typeface="Calibri"/>
              <a:cs typeface="Calibri"/>
              <a:sym typeface="Calibri"/>
            </a:endParaRPr>
          </a:p>
        </p:txBody>
      </p:sp>
      <p:sp>
        <p:nvSpPr>
          <p:cNvPr id="515" name="Google Shape;515;p8"/>
          <p:cNvSpPr/>
          <p:nvPr/>
        </p:nvSpPr>
        <p:spPr>
          <a:xfrm>
            <a:off x="6080760" y="1005840"/>
            <a:ext cx="2606040" cy="34290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8"/>
          <p:cNvSpPr/>
          <p:nvPr/>
        </p:nvSpPr>
        <p:spPr>
          <a:xfrm>
            <a:off x="6263640" y="118872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7" name="Google Shape;517;p8"/>
          <p:cNvPicPr preferRelativeResize="0"/>
          <p:nvPr/>
        </p:nvPicPr>
        <p:blipFill rotWithShape="1">
          <a:blip r:embed="rId5">
            <a:alphaModFix/>
          </a:blip>
          <a:srcRect b="0" l="0" r="0" t="0"/>
          <a:stretch/>
        </p:blipFill>
        <p:spPr>
          <a:xfrm>
            <a:off x="6384341" y="1309421"/>
            <a:ext cx="307238" cy="307238"/>
          </a:xfrm>
          <a:prstGeom prst="rect">
            <a:avLst/>
          </a:prstGeom>
          <a:noFill/>
          <a:ln>
            <a:noFill/>
          </a:ln>
        </p:spPr>
      </p:pic>
      <p:sp>
        <p:nvSpPr>
          <p:cNvPr id="518" name="Google Shape;518;p8"/>
          <p:cNvSpPr txBox="1"/>
          <p:nvPr/>
        </p:nvSpPr>
        <p:spPr>
          <a:xfrm>
            <a:off x="6903720" y="128016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③ 機密情報</a:t>
            </a:r>
            <a:endParaRPr b="0" i="0" sz="1400" u="none" cap="none" strike="noStrike">
              <a:solidFill>
                <a:schemeClr val="dk1"/>
              </a:solidFill>
              <a:latin typeface="Calibri"/>
              <a:ea typeface="Calibri"/>
              <a:cs typeface="Calibri"/>
              <a:sym typeface="Calibri"/>
            </a:endParaRPr>
          </a:p>
        </p:txBody>
      </p:sp>
      <p:sp>
        <p:nvSpPr>
          <p:cNvPr id="519" name="Google Shape;519;p8"/>
          <p:cNvSpPr txBox="1"/>
          <p:nvPr/>
        </p:nvSpPr>
        <p:spPr>
          <a:xfrm>
            <a:off x="6263640" y="1965960"/>
            <a:ext cx="2286000" cy="233172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お客様の氏名・連絡先・査定情報を入力しない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会社で認められたツール・設定で使う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迷ったら「〇〇」に置き換えて入力する</a:t>
            </a:r>
            <a:endParaRPr b="0" i="0" sz="1300" u="none" cap="none" strike="noStrike">
              <a:solidFill>
                <a:schemeClr val="dk1"/>
              </a:solidFill>
              <a:latin typeface="Calibri"/>
              <a:ea typeface="Calibri"/>
              <a:cs typeface="Calibri"/>
              <a:sym typeface="Calibri"/>
            </a:endParaRPr>
          </a:p>
        </p:txBody>
      </p:sp>
      <p:sp>
        <p:nvSpPr>
          <p:cNvPr id="520" name="Google Shape;520;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h603855749043a6f2_0_141"/>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この3つを意識して生成AIを</a:t>
            </a:r>
            <a:endParaRPr b="1" sz="3600"/>
          </a:p>
          <a:p>
            <a:pPr indent="0" lvl="0" marL="0" rtl="0" algn="ctr">
              <a:spcBef>
                <a:spcPts val="0"/>
              </a:spcBef>
              <a:spcAft>
                <a:spcPts val="0"/>
              </a:spcAft>
              <a:buNone/>
            </a:pPr>
            <a:r>
              <a:rPr b="1" lang="en-US" sz="3600"/>
              <a:t>使いこなしていきましょう！</a:t>
            </a:r>
            <a:endParaRPr b="1" sz="3600"/>
          </a:p>
        </p:txBody>
      </p:sp>
      <p:sp>
        <p:nvSpPr>
          <p:cNvPr id="526" name="Google Shape;526;h603855749043a6f2_0_14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27" name="Google Shape;527;h603855749043a6f2_0_14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2" name="Shape 532"/>
        <p:cNvGrpSpPr/>
        <p:nvPr/>
      </p:nvGrpSpPr>
      <p:grpSpPr>
        <a:xfrm>
          <a:off x="0" y="0"/>
          <a:ext cx="0" cy="0"/>
          <a:chOff x="0" y="0"/>
          <a:chExt cx="0" cy="0"/>
        </a:xfrm>
      </p:grpSpPr>
      <p:sp>
        <p:nvSpPr>
          <p:cNvPr id="533" name="Google Shape;533;h603855749043a6f2_0_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t>
            </a:r>
            <a:r>
              <a:rPr b="1" i="0" lang="en-US" sz="2200" u="none" cap="none" strike="noStrike">
                <a:solidFill>
                  <a:srgbClr val="222222"/>
                </a:solidFill>
                <a:latin typeface="Meiryo"/>
                <a:ea typeface="Meiryo"/>
                <a:cs typeface="Meiryo"/>
                <a:sym typeface="Meiryo"/>
              </a:rPr>
              <a:t>プロンプト</a:t>
            </a:r>
            <a:r>
              <a:rPr b="1" lang="en-US" sz="2200">
                <a:solidFill>
                  <a:srgbClr val="222222"/>
                </a:solidFill>
                <a:latin typeface="Meiryo"/>
                <a:ea typeface="Meiryo"/>
                <a:cs typeface="Meiryo"/>
                <a:sym typeface="Meiryo"/>
              </a:rPr>
              <a:t>」…これが</a:t>
            </a:r>
            <a:r>
              <a:rPr b="1" i="0" lang="en-US" sz="2200" u="none" cap="none" strike="noStrike">
                <a:solidFill>
                  <a:srgbClr val="222222"/>
                </a:solidFill>
                <a:latin typeface="Meiryo"/>
                <a:ea typeface="Meiryo"/>
                <a:cs typeface="Meiryo"/>
                <a:sym typeface="Meiryo"/>
              </a:rPr>
              <a:t>すべてではありません</a:t>
            </a:r>
            <a:endParaRPr b="0" i="0" sz="2200" u="none" cap="none" strike="noStrike">
              <a:solidFill>
                <a:schemeClr val="dk1"/>
              </a:solidFill>
              <a:latin typeface="Calibri"/>
              <a:ea typeface="Calibri"/>
              <a:cs typeface="Calibri"/>
              <a:sym typeface="Calibri"/>
            </a:endParaRPr>
          </a:p>
        </p:txBody>
      </p:sp>
      <p:sp>
        <p:nvSpPr>
          <p:cNvPr id="534" name="Google Shape;534;h603855749043a6f2_0_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35" name="Google Shape;535;h603855749043a6f2_0_0"/>
          <p:cNvSpPr txBox="1"/>
          <p:nvPr/>
        </p:nvSpPr>
        <p:spPr>
          <a:xfrm>
            <a:off x="411475" y="914400"/>
            <a:ext cx="8321100" cy="502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u="none" cap="none" strike="noStrike">
                <a:solidFill>
                  <a:srgbClr val="1F3A5F"/>
                </a:solidFill>
                <a:latin typeface="Meiryo"/>
                <a:ea typeface="Meiryo"/>
                <a:cs typeface="Meiryo"/>
                <a:sym typeface="Meiryo"/>
              </a:rPr>
              <a:t>「うまい言い方」を覚える必要はありません。</a:t>
            </a:r>
            <a:endParaRPr b="1" i="0" u="none" cap="none" strike="noStrike">
              <a:solidFill>
                <a:srgbClr val="1F3A5F"/>
              </a:solidFill>
              <a:latin typeface="Meiryo"/>
              <a:ea typeface="Meiryo"/>
              <a:cs typeface="Meiryo"/>
              <a:sym typeface="Meiryo"/>
            </a:endParaRPr>
          </a:p>
          <a:p>
            <a:pPr indent="0" lvl="0" marL="0" marR="0" rtl="0" algn="l">
              <a:spcBef>
                <a:spcPts val="0"/>
              </a:spcBef>
              <a:spcAft>
                <a:spcPts val="0"/>
              </a:spcAft>
              <a:buClr>
                <a:srgbClr val="1F3A5F"/>
              </a:buClr>
              <a:buSzPts val="1500"/>
              <a:buFont typeface="Meiryo"/>
              <a:buNone/>
            </a:pPr>
            <a:r>
              <a:rPr b="1" lang="en-US">
                <a:solidFill>
                  <a:srgbClr val="1F3A5F"/>
                </a:solidFill>
                <a:latin typeface="Meiryo"/>
                <a:ea typeface="Meiryo"/>
                <a:cs typeface="Meiryo"/>
                <a:sym typeface="Meiryo"/>
              </a:rPr>
              <a:t>AIの進化も著しい今、大事なのはAIが知らない情報を渡すことです。</a:t>
            </a:r>
            <a:endParaRPr b="0" i="0" u="none" cap="none" strike="noStrike">
              <a:solidFill>
                <a:schemeClr val="dk1"/>
              </a:solidFill>
              <a:latin typeface="Calibri"/>
              <a:ea typeface="Calibri"/>
              <a:cs typeface="Calibri"/>
              <a:sym typeface="Calibri"/>
            </a:endParaRPr>
          </a:p>
        </p:txBody>
      </p:sp>
      <p:sp>
        <p:nvSpPr>
          <p:cNvPr id="536" name="Google Shape;536;h603855749043a6f2_0_0"/>
          <p:cNvSpPr txBox="1"/>
          <p:nvPr/>
        </p:nvSpPr>
        <p:spPr>
          <a:xfrm>
            <a:off x="411480" y="1633795"/>
            <a:ext cx="8321100" cy="292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200"/>
              <a:buFont typeface="Meiryo"/>
              <a:buNone/>
            </a:pPr>
            <a:r>
              <a:rPr b="1" i="0" lang="en-US" sz="1200" u="none" cap="none" strike="noStrike">
                <a:solidFill>
                  <a:srgbClr val="6B7280"/>
                </a:solidFill>
                <a:latin typeface="Meiryo"/>
                <a:ea typeface="Meiryo"/>
                <a:cs typeface="Meiryo"/>
                <a:sym typeface="Meiryo"/>
              </a:rPr>
              <a:t>含めておいたほうがいい情報</a:t>
            </a:r>
            <a:endParaRPr b="0" i="0" sz="1200" u="none" cap="none" strike="noStrike">
              <a:solidFill>
                <a:schemeClr val="dk1"/>
              </a:solidFill>
              <a:latin typeface="Calibri"/>
              <a:ea typeface="Calibri"/>
              <a:cs typeface="Calibri"/>
              <a:sym typeface="Calibri"/>
            </a:endParaRPr>
          </a:p>
        </p:txBody>
      </p:sp>
      <p:sp>
        <p:nvSpPr>
          <p:cNvPr id="537" name="Google Shape;537;h603855749043a6f2_0_0"/>
          <p:cNvSpPr txBox="1"/>
          <p:nvPr/>
        </p:nvSpPr>
        <p:spPr>
          <a:xfrm>
            <a:off x="768500" y="1811288"/>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前提</a:t>
            </a:r>
            <a:endParaRPr b="0" i="0" sz="1400" u="none" cap="none" strike="noStrike">
              <a:solidFill>
                <a:schemeClr val="dk1"/>
              </a:solidFill>
              <a:latin typeface="Calibri"/>
              <a:ea typeface="Calibri"/>
              <a:cs typeface="Calibri"/>
              <a:sym typeface="Calibri"/>
            </a:endParaRPr>
          </a:p>
        </p:txBody>
      </p:sp>
      <p:sp>
        <p:nvSpPr>
          <p:cNvPr id="538" name="Google Shape;538;h603855749043a6f2_0_0"/>
          <p:cNvSpPr txBox="1"/>
          <p:nvPr/>
        </p:nvSpPr>
        <p:spPr>
          <a:xfrm>
            <a:off x="1707935" y="180132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誰が・何のために・どんな状況で</a:t>
            </a:r>
            <a:endParaRPr b="0" i="0" sz="1400" u="none" cap="none" strike="noStrike">
              <a:solidFill>
                <a:schemeClr val="dk1"/>
              </a:solidFill>
              <a:latin typeface="Calibri"/>
              <a:ea typeface="Calibri"/>
              <a:cs typeface="Calibri"/>
              <a:sym typeface="Calibri"/>
            </a:endParaRPr>
          </a:p>
        </p:txBody>
      </p:sp>
      <p:sp>
        <p:nvSpPr>
          <p:cNvPr id="539" name="Google Shape;539;h603855749043a6f2_0_0"/>
          <p:cNvSpPr txBox="1"/>
          <p:nvPr/>
        </p:nvSpPr>
        <p:spPr>
          <a:xfrm>
            <a:off x="768500" y="2357666"/>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素材</a:t>
            </a:r>
            <a:endParaRPr b="0" i="0" sz="1400" u="none" cap="none" strike="noStrike">
              <a:solidFill>
                <a:schemeClr val="dk1"/>
              </a:solidFill>
              <a:latin typeface="Calibri"/>
              <a:ea typeface="Calibri"/>
              <a:cs typeface="Calibri"/>
              <a:sym typeface="Calibri"/>
            </a:endParaRPr>
          </a:p>
        </p:txBody>
      </p:sp>
      <p:sp>
        <p:nvSpPr>
          <p:cNvPr id="540" name="Google Shape;540;h603855749043a6f2_0_0"/>
          <p:cNvSpPr txBox="1"/>
          <p:nvPr/>
        </p:nvSpPr>
        <p:spPr>
          <a:xfrm>
            <a:off x="1707935" y="234996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データ・文章・画像をここに貼る</a:t>
            </a:r>
            <a:endParaRPr b="0" i="0" sz="1400" u="none" cap="none" strike="noStrike">
              <a:solidFill>
                <a:schemeClr val="dk1"/>
              </a:solidFill>
              <a:latin typeface="Calibri"/>
              <a:ea typeface="Calibri"/>
              <a:cs typeface="Calibri"/>
              <a:sym typeface="Calibri"/>
            </a:endParaRPr>
          </a:p>
        </p:txBody>
      </p:sp>
      <p:sp>
        <p:nvSpPr>
          <p:cNvPr id="541" name="Google Shape;541;h603855749043a6f2_0_0"/>
          <p:cNvSpPr txBox="1"/>
          <p:nvPr/>
        </p:nvSpPr>
        <p:spPr>
          <a:xfrm>
            <a:off x="768500" y="2904031"/>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お手本</a:t>
            </a:r>
            <a:endParaRPr b="0" i="0" sz="1400" u="none" cap="none" strike="noStrike">
              <a:solidFill>
                <a:schemeClr val="dk1"/>
              </a:solidFill>
              <a:latin typeface="Calibri"/>
              <a:ea typeface="Calibri"/>
              <a:cs typeface="Calibri"/>
              <a:sym typeface="Calibri"/>
            </a:endParaRPr>
          </a:p>
        </p:txBody>
      </p:sp>
      <p:sp>
        <p:nvSpPr>
          <p:cNvPr id="542" name="Google Shape;542;h603855749043a6f2_0_0"/>
          <p:cNvSpPr txBox="1"/>
          <p:nvPr/>
        </p:nvSpPr>
        <p:spPr>
          <a:xfrm>
            <a:off x="1707935" y="289860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過去の良い例があれば</a:t>
            </a:r>
            <a:endParaRPr b="0" i="0" sz="1400" u="none" cap="none" strike="noStrike">
              <a:solidFill>
                <a:schemeClr val="dk1"/>
              </a:solidFill>
              <a:latin typeface="Calibri"/>
              <a:ea typeface="Calibri"/>
              <a:cs typeface="Calibri"/>
              <a:sym typeface="Calibri"/>
            </a:endParaRPr>
          </a:p>
        </p:txBody>
      </p:sp>
      <p:sp>
        <p:nvSpPr>
          <p:cNvPr id="543" name="Google Shape;543;h603855749043a6f2_0_0"/>
          <p:cNvSpPr txBox="1"/>
          <p:nvPr/>
        </p:nvSpPr>
        <p:spPr>
          <a:xfrm>
            <a:off x="768500" y="3451559"/>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制約</a:t>
            </a:r>
            <a:endParaRPr b="0" i="0" sz="1400" u="none" cap="none" strike="noStrike">
              <a:solidFill>
                <a:schemeClr val="dk1"/>
              </a:solidFill>
              <a:latin typeface="Calibri"/>
              <a:ea typeface="Calibri"/>
              <a:cs typeface="Calibri"/>
              <a:sym typeface="Calibri"/>
            </a:endParaRPr>
          </a:p>
        </p:txBody>
      </p:sp>
      <p:sp>
        <p:nvSpPr>
          <p:cNvPr id="544" name="Google Shape;544;h603855749043a6f2_0_0"/>
          <p:cNvSpPr txBox="1"/>
          <p:nvPr/>
        </p:nvSpPr>
        <p:spPr>
          <a:xfrm>
            <a:off x="1707935" y="344724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文字数・表記ルール・NG表現</a:t>
            </a:r>
            <a:endParaRPr b="0" i="0" sz="1400" u="none" cap="none" strike="noStrike">
              <a:solidFill>
                <a:schemeClr val="dk1"/>
              </a:solidFill>
              <a:latin typeface="Calibri"/>
              <a:ea typeface="Calibri"/>
              <a:cs typeface="Calibri"/>
              <a:sym typeface="Calibri"/>
            </a:endParaRPr>
          </a:p>
        </p:txBody>
      </p:sp>
      <p:sp>
        <p:nvSpPr>
          <p:cNvPr id="545" name="Google Shape;545;h603855749043a6f2_0_0"/>
          <p:cNvSpPr txBox="1"/>
          <p:nvPr/>
        </p:nvSpPr>
        <p:spPr>
          <a:xfrm>
            <a:off x="768500" y="3985912"/>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出力</a:t>
            </a:r>
            <a:endParaRPr b="0" i="0" sz="1400" u="none" cap="none" strike="noStrike">
              <a:solidFill>
                <a:schemeClr val="dk1"/>
              </a:solidFill>
              <a:latin typeface="Calibri"/>
              <a:ea typeface="Calibri"/>
              <a:cs typeface="Calibri"/>
              <a:sym typeface="Calibri"/>
            </a:endParaRPr>
          </a:p>
        </p:txBody>
      </p:sp>
      <p:sp>
        <p:nvSpPr>
          <p:cNvPr id="546" name="Google Shape;546;h603855749043a6f2_0_0"/>
          <p:cNvSpPr txBox="1"/>
          <p:nvPr/>
        </p:nvSpPr>
        <p:spPr>
          <a:xfrm>
            <a:off x="1707935" y="399588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形式・用途・案の数</a:t>
            </a:r>
            <a:endParaRPr b="0" i="0" sz="1400" u="none" cap="none" strike="noStrike">
              <a:solidFill>
                <a:schemeClr val="dk1"/>
              </a:solidFill>
              <a:latin typeface="Calibri"/>
              <a:ea typeface="Calibri"/>
              <a:cs typeface="Calibri"/>
              <a:sym typeface="Calibri"/>
            </a:endParaRPr>
          </a:p>
        </p:txBody>
      </p:sp>
      <p:sp>
        <p:nvSpPr>
          <p:cNvPr id="547" name="Google Shape;547;h603855749043a6f2_0_0"/>
          <p:cNvSpPr txBox="1"/>
          <p:nvPr/>
        </p:nvSpPr>
        <p:spPr>
          <a:xfrm>
            <a:off x="4703900" y="2477900"/>
            <a:ext cx="9246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50"/>
              <a:buFont typeface="Meiryo"/>
              <a:buNone/>
            </a:pPr>
            <a:r>
              <a:rPr b="1" i="0" lang="en-US" sz="1150" u="none" cap="none" strike="noStrike">
                <a:solidFill>
                  <a:schemeClr val="accent2"/>
                </a:solidFill>
                <a:latin typeface="Meiryo"/>
                <a:ea typeface="Meiryo"/>
                <a:cs typeface="Meiryo"/>
                <a:sym typeface="Meiryo"/>
              </a:rPr>
              <a:t>いちばん効く</a:t>
            </a:r>
            <a:endParaRPr b="1" i="0" sz="1150" u="none" cap="none" strike="noStrike">
              <a:solidFill>
                <a:schemeClr val="accent2"/>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h259926ce4e4d5a8f_0_635"/>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まずはやってみよう</a:t>
            </a:r>
            <a:endParaRPr b="0" i="0" sz="2200" u="none" cap="none" strike="noStrike">
              <a:solidFill>
                <a:schemeClr val="dk1"/>
              </a:solidFill>
              <a:latin typeface="Calibri"/>
              <a:ea typeface="Calibri"/>
              <a:cs typeface="Calibri"/>
              <a:sym typeface="Calibri"/>
            </a:endParaRPr>
          </a:p>
        </p:txBody>
      </p:sp>
      <p:sp>
        <p:nvSpPr>
          <p:cNvPr id="554" name="Google Shape;554;h259926ce4e4d5a8f_0_63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55" name="Google Shape;555;h259926ce4e4d5a8f_0_635"/>
          <p:cNvSpPr txBox="1"/>
          <p:nvPr/>
        </p:nvSpPr>
        <p:spPr>
          <a:xfrm>
            <a:off x="8229600" y="4846320"/>
            <a:ext cx="594300" cy="1830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8C8C8C"/>
              </a:buClr>
              <a:buSzPts val="800"/>
              <a:buFont typeface="Meiryo"/>
              <a:buNone/>
            </a:pPr>
            <a:r>
              <a:rPr b="0" i="0" lang="en-US" sz="800" u="none" cap="none" strike="noStrike">
                <a:solidFill>
                  <a:srgbClr val="8C8C8C"/>
                </a:solidFill>
                <a:latin typeface="Meiryo"/>
                <a:ea typeface="Meiryo"/>
                <a:cs typeface="Meiryo"/>
                <a:sym typeface="Meiryo"/>
              </a:rPr>
              <a:t>21</a:t>
            </a:r>
            <a:endParaRPr b="0" i="0" sz="800" u="none" cap="none" strike="noStrike">
              <a:solidFill>
                <a:schemeClr val="dk1"/>
              </a:solidFill>
              <a:latin typeface="Calibri"/>
              <a:ea typeface="Calibri"/>
              <a:cs typeface="Calibri"/>
              <a:sym typeface="Calibri"/>
            </a:endParaRPr>
          </a:p>
        </p:txBody>
      </p:sp>
      <p:sp>
        <p:nvSpPr>
          <p:cNvPr id="556" name="Google Shape;556;h259926ce4e4d5a8f_0_635"/>
          <p:cNvSpPr txBox="1"/>
          <p:nvPr/>
        </p:nvSpPr>
        <p:spPr>
          <a:xfrm>
            <a:off x="411480" y="96012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次の文を、そのままAIに入力してください。</a:t>
            </a:r>
            <a:endParaRPr b="0" i="0" sz="1400" u="none" cap="none" strike="noStrike">
              <a:solidFill>
                <a:schemeClr val="dk1"/>
              </a:solidFill>
              <a:latin typeface="Calibri"/>
              <a:ea typeface="Calibri"/>
              <a:cs typeface="Calibri"/>
              <a:sym typeface="Calibri"/>
            </a:endParaRPr>
          </a:p>
        </p:txBody>
      </p:sp>
      <p:sp>
        <p:nvSpPr>
          <p:cNvPr id="557" name="Google Shape;557;h259926ce4e4d5a8f_0_635"/>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558" name="Google Shape;558;h259926ce4e4d5a8f_0_635"/>
          <p:cNvSpPr/>
          <p:nvPr/>
        </p:nvSpPr>
        <p:spPr>
          <a:xfrm>
            <a:off x="1371600" y="1783080"/>
            <a:ext cx="6400800" cy="10059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h259926ce4e4d5a8f_0_635"/>
          <p:cNvSpPr txBox="1"/>
          <p:nvPr/>
        </p:nvSpPr>
        <p:spPr>
          <a:xfrm>
            <a:off x="1554480" y="1920240"/>
            <a:ext cx="6035100" cy="731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lang="en-US" sz="2200">
                <a:solidFill>
                  <a:srgbClr val="222222"/>
                </a:solidFill>
                <a:latin typeface="Meiryo"/>
                <a:ea typeface="Meiryo"/>
                <a:cs typeface="Meiryo"/>
                <a:sym typeface="Meiryo"/>
              </a:rPr>
              <a:t>メルカリの出品文をスプシでまとめて</a:t>
            </a:r>
            <a:endParaRPr b="0" i="0" sz="2200" u="none" cap="none" strike="noStrike">
              <a:solidFill>
                <a:schemeClr val="dk1"/>
              </a:solidFill>
              <a:latin typeface="Calibri"/>
              <a:ea typeface="Calibri"/>
              <a:cs typeface="Calibri"/>
              <a:sym typeface="Calibri"/>
            </a:endParaRPr>
          </a:p>
        </p:txBody>
      </p:sp>
      <p:sp>
        <p:nvSpPr>
          <p:cNvPr id="560" name="Google Shape;560;h259926ce4e4d5a8f_0_635"/>
          <p:cNvSpPr txBox="1"/>
          <p:nvPr/>
        </p:nvSpPr>
        <p:spPr>
          <a:xfrm>
            <a:off x="411480" y="315468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考えずに、このまま入力するのがポイントです。</a:t>
            </a:r>
            <a:endParaRPr b="0" i="0" sz="1300" u="none" cap="none" strike="noStrike">
              <a:solidFill>
                <a:schemeClr val="dk1"/>
              </a:solidFill>
              <a:latin typeface="Calibri"/>
              <a:ea typeface="Calibri"/>
              <a:cs typeface="Calibri"/>
              <a:sym typeface="Calibri"/>
            </a:endParaRPr>
          </a:p>
        </p:txBody>
      </p:sp>
      <p:sp>
        <p:nvSpPr>
          <p:cNvPr id="561" name="Google Shape;561;h259926ce4e4d5a8f_0_635"/>
          <p:cNvSpPr txBox="1"/>
          <p:nvPr/>
        </p:nvSpPr>
        <p:spPr>
          <a:xfrm>
            <a:off x="411480" y="347472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（ChatGPT／Gemini など、普段お使いのツールで構いません）</a:t>
            </a:r>
            <a:endParaRPr b="0" i="0" sz="1100" u="none" cap="none" strike="noStrike">
              <a:solidFill>
                <a:schemeClr val="dk1"/>
              </a:solidFill>
              <a:latin typeface="Calibri"/>
              <a:ea typeface="Calibri"/>
              <a:cs typeface="Calibri"/>
              <a:sym typeface="Calibri"/>
            </a:endParaRPr>
          </a:p>
        </p:txBody>
      </p:sp>
      <p:sp>
        <p:nvSpPr>
          <p:cNvPr id="562" name="Google Shape;562;h259926ce4e4d5a8f_0_635"/>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h259926ce4e4d5a8f_0_635"/>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h603855749043a6f2_0_1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570" name="Google Shape;570;h603855749043a6f2_0_118"/>
          <p:cNvPicPr preferRelativeResize="0"/>
          <p:nvPr/>
        </p:nvPicPr>
        <p:blipFill rotWithShape="1">
          <a:blip r:embed="rId3">
            <a:alphaModFix/>
          </a:blip>
          <a:srcRect b="25904" l="0" r="0" t="0"/>
          <a:stretch/>
        </p:blipFill>
        <p:spPr>
          <a:xfrm>
            <a:off x="152400" y="734775"/>
            <a:ext cx="8839199" cy="3562600"/>
          </a:xfrm>
          <a:prstGeom prst="rect">
            <a:avLst/>
          </a:prstGeom>
          <a:noFill/>
          <a:ln cap="flat" cmpd="sng" w="9525">
            <a:solidFill>
              <a:schemeClr val="dk2"/>
            </a:solidFill>
            <a:prstDash val="solid"/>
            <a:round/>
            <a:headEnd len="sm" w="sm" type="none"/>
            <a:tailEnd len="sm" w="sm" type="none"/>
          </a:ln>
        </p:spPr>
      </p:pic>
      <p:sp>
        <p:nvSpPr>
          <p:cNvPr id="571" name="Google Shape;571;h603855749043a6f2_0_11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出力結果</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h259926ce4e4d5a8f_0_65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578" name="Google Shape;578;h259926ce4e4d5a8f_0_65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79" name="Google Shape;579;h259926ce4e4d5a8f_0_650"/>
          <p:cNvSpPr txBox="1"/>
          <p:nvPr/>
        </p:nvSpPr>
        <p:spPr>
          <a:xfrm>
            <a:off x="8229600" y="4846320"/>
            <a:ext cx="594300" cy="1830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8C8C8C"/>
              </a:buClr>
              <a:buSzPts val="800"/>
              <a:buFont typeface="Meiryo"/>
              <a:buNone/>
            </a:pPr>
            <a:r>
              <a:rPr b="0" i="0" lang="en-US" sz="800" u="none" cap="none" strike="noStrike">
                <a:solidFill>
                  <a:srgbClr val="8C8C8C"/>
                </a:solidFill>
                <a:latin typeface="Meiryo"/>
                <a:ea typeface="Meiryo"/>
                <a:cs typeface="Meiryo"/>
                <a:sym typeface="Meiryo"/>
              </a:rPr>
              <a:t>22</a:t>
            </a:r>
            <a:endParaRPr b="0" i="0" sz="800" u="none" cap="none" strike="noStrike">
              <a:solidFill>
                <a:schemeClr val="dk1"/>
              </a:solidFill>
              <a:latin typeface="Calibri"/>
              <a:ea typeface="Calibri"/>
              <a:cs typeface="Calibri"/>
              <a:sym typeface="Calibri"/>
            </a:endParaRPr>
          </a:p>
        </p:txBody>
      </p:sp>
      <p:sp>
        <p:nvSpPr>
          <p:cNvPr id="580" name="Google Shape;580;h259926ce4e4d5a8f_0_650"/>
          <p:cNvSpPr/>
          <p:nvPr/>
        </p:nvSpPr>
        <p:spPr>
          <a:xfrm>
            <a:off x="469575" y="1329885"/>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1" name="Google Shape;581;h259926ce4e4d5a8f_0_650"/>
          <p:cNvPicPr preferRelativeResize="0"/>
          <p:nvPr/>
        </p:nvPicPr>
        <p:blipFill rotWithShape="1">
          <a:blip r:embed="rId3">
            <a:alphaModFix/>
          </a:blip>
          <a:srcRect b="0" l="0" r="0" t="0"/>
          <a:stretch/>
        </p:blipFill>
        <p:spPr>
          <a:xfrm>
            <a:off x="566136" y="1426446"/>
            <a:ext cx="245791" cy="245791"/>
          </a:xfrm>
          <a:prstGeom prst="rect">
            <a:avLst/>
          </a:prstGeom>
          <a:noFill/>
          <a:ln>
            <a:noFill/>
          </a:ln>
        </p:spPr>
      </p:pic>
      <p:sp>
        <p:nvSpPr>
          <p:cNvPr id="582" name="Google Shape;582;h259926ce4e4d5a8f_0_650"/>
          <p:cNvSpPr txBox="1"/>
          <p:nvPr/>
        </p:nvSpPr>
        <p:spPr>
          <a:xfrm>
            <a:off x="1063935" y="1329885"/>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商品名や価格が</a:t>
            </a:r>
            <a:r>
              <a:rPr lang="en-US" sz="1250">
                <a:solidFill>
                  <a:srgbClr val="222222"/>
                </a:solidFill>
                <a:latin typeface="Meiryo"/>
                <a:ea typeface="Meiryo"/>
                <a:cs typeface="Meiryo"/>
                <a:sym typeface="Meiryo"/>
              </a:rPr>
              <a:t>不明</a:t>
            </a:r>
            <a:endParaRPr b="0" i="0" sz="1250" u="none" cap="none" strike="noStrike">
              <a:solidFill>
                <a:schemeClr val="dk1"/>
              </a:solidFill>
              <a:latin typeface="Calibri"/>
              <a:ea typeface="Calibri"/>
              <a:cs typeface="Calibri"/>
              <a:sym typeface="Calibri"/>
            </a:endParaRPr>
          </a:p>
        </p:txBody>
      </p:sp>
      <p:sp>
        <p:nvSpPr>
          <p:cNvPr id="583" name="Google Shape;583;h259926ce4e4d5a8f_0_650"/>
          <p:cNvSpPr/>
          <p:nvPr/>
        </p:nvSpPr>
        <p:spPr>
          <a:xfrm>
            <a:off x="469575" y="1988253"/>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4" name="Google Shape;584;h259926ce4e4d5a8f_0_650"/>
          <p:cNvPicPr preferRelativeResize="0"/>
          <p:nvPr/>
        </p:nvPicPr>
        <p:blipFill rotWithShape="1">
          <a:blip r:embed="rId3">
            <a:alphaModFix/>
          </a:blip>
          <a:srcRect b="0" l="0" r="0" t="0"/>
          <a:stretch/>
        </p:blipFill>
        <p:spPr>
          <a:xfrm>
            <a:off x="566136" y="2084814"/>
            <a:ext cx="245791" cy="245791"/>
          </a:xfrm>
          <a:prstGeom prst="rect">
            <a:avLst/>
          </a:prstGeom>
          <a:noFill/>
          <a:ln>
            <a:noFill/>
          </a:ln>
        </p:spPr>
      </p:pic>
      <p:sp>
        <p:nvSpPr>
          <p:cNvPr id="585" name="Google Shape;585;h259926ce4e4d5a8f_0_650"/>
          <p:cNvSpPr txBox="1"/>
          <p:nvPr/>
        </p:nvSpPr>
        <p:spPr>
          <a:xfrm>
            <a:off x="1063935" y="1988253"/>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列の並びが、普段使っている表と違う</a:t>
            </a:r>
            <a:endParaRPr b="0" i="0" sz="1250" u="none" cap="none" strike="noStrike">
              <a:solidFill>
                <a:schemeClr val="dk1"/>
              </a:solidFill>
              <a:latin typeface="Calibri"/>
              <a:ea typeface="Calibri"/>
              <a:cs typeface="Calibri"/>
              <a:sym typeface="Calibri"/>
            </a:endParaRPr>
          </a:p>
        </p:txBody>
      </p:sp>
      <p:sp>
        <p:nvSpPr>
          <p:cNvPr id="586" name="Google Shape;586;h259926ce4e4d5a8f_0_650"/>
          <p:cNvSpPr/>
          <p:nvPr/>
        </p:nvSpPr>
        <p:spPr>
          <a:xfrm>
            <a:off x="469575" y="2743164"/>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7" name="Google Shape;587;h259926ce4e4d5a8f_0_650"/>
          <p:cNvPicPr preferRelativeResize="0"/>
          <p:nvPr/>
        </p:nvPicPr>
        <p:blipFill rotWithShape="1">
          <a:blip r:embed="rId3">
            <a:alphaModFix/>
          </a:blip>
          <a:srcRect b="0" l="0" r="0" t="0"/>
          <a:stretch/>
        </p:blipFill>
        <p:spPr>
          <a:xfrm>
            <a:off x="566136" y="2839725"/>
            <a:ext cx="245791" cy="245791"/>
          </a:xfrm>
          <a:prstGeom prst="rect">
            <a:avLst/>
          </a:prstGeom>
          <a:noFill/>
          <a:ln>
            <a:noFill/>
          </a:ln>
        </p:spPr>
      </p:pic>
      <p:sp>
        <p:nvSpPr>
          <p:cNvPr id="588" name="Google Shape;588;h259926ce4e4d5a8f_0_650"/>
          <p:cNvSpPr txBox="1"/>
          <p:nvPr/>
        </p:nvSpPr>
        <p:spPr>
          <a:xfrm>
            <a:off x="1063935" y="2743164"/>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結局、自分で作り直すことになる</a:t>
            </a:r>
            <a:endParaRPr b="0" i="0" sz="1250" u="none" cap="none" strike="noStrike">
              <a:solidFill>
                <a:schemeClr val="dk1"/>
              </a:solidFill>
              <a:latin typeface="Calibri"/>
              <a:ea typeface="Calibri"/>
              <a:cs typeface="Calibri"/>
              <a:sym typeface="Calibri"/>
            </a:endParaRPr>
          </a:p>
        </p:txBody>
      </p:sp>
      <p:sp>
        <p:nvSpPr>
          <p:cNvPr id="589" name="Google Shape;589;h259926ce4e4d5a8f_0_650"/>
          <p:cNvSpPr/>
          <p:nvPr/>
        </p:nvSpPr>
        <p:spPr>
          <a:xfrm>
            <a:off x="5166360" y="1005840"/>
            <a:ext cx="356610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h259926ce4e4d5a8f_0_65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答えが悪いのではなく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頭の中の情報が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渡っていないだけ</a:t>
            </a:r>
            <a:endParaRPr b="0" i="0" sz="1700" u="none" cap="none" strike="noStrike">
              <a:solidFill>
                <a:schemeClr val="dk1"/>
              </a:solidFill>
              <a:latin typeface="Calibri"/>
              <a:ea typeface="Calibri"/>
              <a:cs typeface="Calibri"/>
              <a:sym typeface="Calibri"/>
            </a:endParaRPr>
          </a:p>
        </p:txBody>
      </p:sp>
      <p:sp>
        <p:nvSpPr>
          <p:cNvPr id="591" name="Google Shape;591;h259926ce4e4d5a8f_0_650"/>
          <p:cNvSpPr txBox="1"/>
          <p:nvPr/>
        </p:nvSpPr>
        <p:spPr>
          <a:xfrm>
            <a:off x="5349240" y="2743200"/>
            <a:ext cx="3200400" cy="8229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AIは察してくれない。</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渡した情報の分だけ返ってくる。</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6" name="Shape 596"/>
        <p:cNvGrpSpPr/>
        <p:nvPr/>
      </p:nvGrpSpPr>
      <p:grpSpPr>
        <a:xfrm>
          <a:off x="0" y="0"/>
          <a:ext cx="0" cy="0"/>
          <a:chOff x="0" y="0"/>
          <a:chExt cx="0" cy="0"/>
        </a:xfrm>
      </p:grpSpPr>
      <p:sp>
        <p:nvSpPr>
          <p:cNvPr id="597" name="Google Shape;597;h603855749043a6f2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98" name="Google Shape;598;h603855749043a6f2_0_111"/>
          <p:cNvSpPr txBox="1"/>
          <p:nvPr/>
        </p:nvSpPr>
        <p:spPr>
          <a:xfrm>
            <a:off x="411450" y="1345225"/>
            <a:ext cx="8321100" cy="3035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E8702A"/>
              </a:buClr>
              <a:buSzPts val="1300"/>
              <a:buFont typeface="Meiryo"/>
              <a:buNone/>
            </a:pPr>
            <a:r>
              <a:rPr b="1" lang="en-US" sz="2200">
                <a:solidFill>
                  <a:schemeClr val="dk1"/>
                </a:solidFill>
                <a:latin typeface="Meiryo"/>
                <a:ea typeface="Meiryo"/>
                <a:cs typeface="Meiryo"/>
                <a:sym typeface="Meiryo"/>
              </a:rPr>
              <a:t>×：ゼロから作る</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2200">
                <a:solidFill>
                  <a:schemeClr val="dk1"/>
                </a:solidFill>
                <a:latin typeface="Meiryo"/>
                <a:ea typeface="Meiryo"/>
                <a:cs typeface="Meiryo"/>
                <a:sym typeface="Meiryo"/>
              </a:rPr>
              <a:t>〇：良いものを参考にして作る</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1,</a:t>
            </a:r>
            <a:r>
              <a:rPr b="1" lang="en-US" sz="1600">
                <a:solidFill>
                  <a:schemeClr val="dk1"/>
                </a:solidFill>
                <a:latin typeface="Meiryo"/>
                <a:ea typeface="Meiryo"/>
                <a:cs typeface="Meiryo"/>
                <a:sym typeface="Meiryo"/>
              </a:rPr>
              <a:t>前に売れた出品文をpick up</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2,</a:t>
            </a:r>
            <a:r>
              <a:rPr b="1" lang="en-US" sz="1600">
                <a:solidFill>
                  <a:schemeClr val="dk1"/>
                </a:solidFill>
                <a:latin typeface="Meiryo"/>
                <a:ea typeface="Meiryo"/>
                <a:cs typeface="Meiryo"/>
                <a:sym typeface="Meiryo"/>
              </a:rPr>
              <a:t>商品の内容・メモを添付、制約を入れる</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3,AIにアレンジしてもらう</a:t>
            </a:r>
            <a:endParaRPr b="1" sz="1600">
              <a:solidFill>
                <a:schemeClr val="dk1"/>
              </a:solidFill>
              <a:latin typeface="Meiryo"/>
              <a:ea typeface="Meiryo"/>
              <a:cs typeface="Meiryo"/>
              <a:sym typeface="Meiryo"/>
            </a:endParaRPr>
          </a:p>
        </p:txBody>
      </p:sp>
      <p:sp>
        <p:nvSpPr>
          <p:cNvPr id="599" name="Google Shape;599;h603855749043a6f2_0_111"/>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思考フロー</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4" name="Shape 604"/>
        <p:cNvGrpSpPr/>
        <p:nvPr/>
      </p:nvGrpSpPr>
      <p:grpSpPr>
        <a:xfrm>
          <a:off x="0" y="0"/>
          <a:ext cx="0" cy="0"/>
          <a:chOff x="0" y="0"/>
          <a:chExt cx="0" cy="0"/>
        </a:xfrm>
      </p:grpSpPr>
      <p:sp>
        <p:nvSpPr>
          <p:cNvPr id="605" name="Google Shape;605;p2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インプットの4要素</a:t>
            </a:r>
            <a:endParaRPr b="0" i="0" sz="2200" u="none" cap="none" strike="noStrike">
              <a:solidFill>
                <a:schemeClr val="dk1"/>
              </a:solidFill>
              <a:latin typeface="Calibri"/>
              <a:ea typeface="Calibri"/>
              <a:cs typeface="Calibri"/>
              <a:sym typeface="Calibri"/>
            </a:endParaRPr>
          </a:p>
        </p:txBody>
      </p:sp>
      <p:sp>
        <p:nvSpPr>
          <p:cNvPr id="606" name="Google Shape;606;p2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07" name="Google Shape;607;p21"/>
          <p:cNvSpPr/>
          <p:nvPr/>
        </p:nvSpPr>
        <p:spPr>
          <a:xfrm>
            <a:off x="411475" y="960125"/>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 name="Google Shape;608;p21"/>
          <p:cNvSpPr/>
          <p:nvPr/>
        </p:nvSpPr>
        <p:spPr>
          <a:xfrm>
            <a:off x="594360" y="114300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09" name="Google Shape;609;p21"/>
          <p:cNvPicPr preferRelativeResize="0"/>
          <p:nvPr/>
        </p:nvPicPr>
        <p:blipFill rotWithShape="1">
          <a:blip r:embed="rId3">
            <a:alphaModFix/>
          </a:blip>
          <a:srcRect b="0" l="0" r="0" t="0"/>
          <a:stretch/>
        </p:blipFill>
        <p:spPr>
          <a:xfrm>
            <a:off x="715061" y="1263701"/>
            <a:ext cx="307238" cy="307238"/>
          </a:xfrm>
          <a:prstGeom prst="rect">
            <a:avLst/>
          </a:prstGeom>
          <a:noFill/>
          <a:ln>
            <a:noFill/>
          </a:ln>
        </p:spPr>
      </p:pic>
      <p:sp>
        <p:nvSpPr>
          <p:cNvPr id="610" name="Google Shape;610;p21"/>
          <p:cNvSpPr txBox="1"/>
          <p:nvPr/>
        </p:nvSpPr>
        <p:spPr>
          <a:xfrm>
            <a:off x="1280160" y="1143000"/>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前提</a:t>
            </a:r>
            <a:endParaRPr b="0" i="0" sz="1800" u="none" cap="none" strike="noStrike">
              <a:solidFill>
                <a:schemeClr val="dk1"/>
              </a:solidFill>
              <a:latin typeface="Calibri"/>
              <a:ea typeface="Calibri"/>
              <a:cs typeface="Calibri"/>
              <a:sym typeface="Calibri"/>
            </a:endParaRPr>
          </a:p>
        </p:txBody>
      </p:sp>
      <p:sp>
        <p:nvSpPr>
          <p:cNvPr id="611" name="Google Shape;611;p21"/>
          <p:cNvSpPr txBox="1"/>
          <p:nvPr/>
        </p:nvSpPr>
        <p:spPr>
          <a:xfrm>
            <a:off x="1876535" y="118874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誰が・何のために・どんな状況で</a:t>
            </a:r>
            <a:endParaRPr b="0" i="0" sz="1250" u="none" cap="none" strike="noStrike">
              <a:solidFill>
                <a:schemeClr val="dk1"/>
              </a:solidFill>
              <a:latin typeface="Calibri"/>
              <a:ea typeface="Calibri"/>
              <a:cs typeface="Calibri"/>
              <a:sym typeface="Calibri"/>
            </a:endParaRPr>
          </a:p>
        </p:txBody>
      </p:sp>
      <p:sp>
        <p:nvSpPr>
          <p:cNvPr id="612" name="Google Shape;612;p21"/>
          <p:cNvSpPr txBox="1"/>
          <p:nvPr/>
        </p:nvSpPr>
        <p:spPr>
          <a:xfrm>
            <a:off x="1280150" y="1462663"/>
            <a:ext cx="56190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例）今週の買取強化リストをスプレッドシートで共有する</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13" name="Google Shape;613;p21"/>
          <p:cNvSpPr/>
          <p:nvPr/>
        </p:nvSpPr>
        <p:spPr>
          <a:xfrm>
            <a:off x="411475" y="2862163"/>
            <a:ext cx="8441700" cy="7881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 name="Google Shape;614;p21"/>
          <p:cNvSpPr/>
          <p:nvPr/>
        </p:nvSpPr>
        <p:spPr>
          <a:xfrm>
            <a:off x="594350" y="3045038"/>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15" name="Google Shape;615;p21"/>
          <p:cNvPicPr preferRelativeResize="0"/>
          <p:nvPr/>
        </p:nvPicPr>
        <p:blipFill rotWithShape="1">
          <a:blip r:embed="rId4">
            <a:alphaModFix/>
          </a:blip>
          <a:srcRect b="0" l="0" r="0" t="0"/>
          <a:stretch/>
        </p:blipFill>
        <p:spPr>
          <a:xfrm>
            <a:off x="715051" y="3165738"/>
            <a:ext cx="307238" cy="307238"/>
          </a:xfrm>
          <a:prstGeom prst="rect">
            <a:avLst/>
          </a:prstGeom>
          <a:noFill/>
          <a:ln>
            <a:noFill/>
          </a:ln>
        </p:spPr>
      </p:pic>
      <p:sp>
        <p:nvSpPr>
          <p:cNvPr id="616" name="Google Shape;616;p21"/>
          <p:cNvSpPr txBox="1"/>
          <p:nvPr/>
        </p:nvSpPr>
        <p:spPr>
          <a:xfrm>
            <a:off x="1280150" y="304503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i="0" lang="en-US" sz="1800" u="none" cap="none" strike="noStrike">
                <a:solidFill>
                  <a:srgbClr val="E8702A"/>
                </a:solidFill>
                <a:latin typeface="Meiryo"/>
                <a:ea typeface="Meiryo"/>
                <a:cs typeface="Meiryo"/>
                <a:sym typeface="Meiryo"/>
              </a:rPr>
              <a:t>素材</a:t>
            </a:r>
            <a:endParaRPr b="0" i="0" sz="1800" u="none" cap="none" strike="noStrike">
              <a:solidFill>
                <a:schemeClr val="dk1"/>
              </a:solidFill>
              <a:latin typeface="Calibri"/>
              <a:ea typeface="Calibri"/>
              <a:cs typeface="Calibri"/>
              <a:sym typeface="Calibri"/>
            </a:endParaRPr>
          </a:p>
        </p:txBody>
      </p:sp>
      <p:sp>
        <p:nvSpPr>
          <p:cNvPr id="617" name="Google Shape;617;p21"/>
          <p:cNvSpPr txBox="1"/>
          <p:nvPr/>
        </p:nvSpPr>
        <p:spPr>
          <a:xfrm>
            <a:off x="7406485" y="3090796"/>
            <a:ext cx="1280100" cy="274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000"/>
              <a:buFont typeface="Meiryo"/>
              <a:buNone/>
            </a:pPr>
            <a:r>
              <a:rPr b="1" i="0" lang="en-US" sz="1000" u="none" cap="none" strike="noStrike">
                <a:solidFill>
                  <a:srgbClr val="E8702A"/>
                </a:solidFill>
                <a:latin typeface="Meiryo"/>
                <a:ea typeface="Meiryo"/>
                <a:cs typeface="Meiryo"/>
                <a:sym typeface="Meiryo"/>
              </a:rPr>
              <a:t>いちばん効く</a:t>
            </a:r>
            <a:endParaRPr b="0" i="0" sz="1000" u="none" cap="none" strike="noStrike">
              <a:solidFill>
                <a:schemeClr val="dk1"/>
              </a:solidFill>
              <a:latin typeface="Calibri"/>
              <a:ea typeface="Calibri"/>
              <a:cs typeface="Calibri"/>
              <a:sym typeface="Calibri"/>
            </a:endParaRPr>
          </a:p>
        </p:txBody>
      </p:sp>
      <p:sp>
        <p:nvSpPr>
          <p:cNvPr id="618" name="Google Shape;618;p21"/>
          <p:cNvSpPr txBox="1"/>
          <p:nvPr/>
        </p:nvSpPr>
        <p:spPr>
          <a:xfrm>
            <a:off x="1828900" y="3090786"/>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実際のデータをそのまま渡す</a:t>
            </a:r>
            <a:endParaRPr b="0" i="0" sz="1250" u="none" cap="none" strike="noStrike">
              <a:solidFill>
                <a:schemeClr val="dk1"/>
              </a:solidFill>
              <a:latin typeface="Calibri"/>
              <a:ea typeface="Calibri"/>
              <a:cs typeface="Calibri"/>
              <a:sym typeface="Calibri"/>
            </a:endParaRPr>
          </a:p>
        </p:txBody>
      </p:sp>
      <p:sp>
        <p:nvSpPr>
          <p:cNvPr id="619" name="Google Shape;619;p21"/>
          <p:cNvSpPr txBox="1"/>
          <p:nvPr/>
        </p:nvSpPr>
        <p:spPr>
          <a:xfrm>
            <a:off x="1280150" y="3343730"/>
            <a:ext cx="68628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例）商品リストのテキスト・買取価格表を添付</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0" name="Google Shape;620;p21"/>
          <p:cNvSpPr/>
          <p:nvPr/>
        </p:nvSpPr>
        <p:spPr>
          <a:xfrm>
            <a:off x="411475" y="3825988"/>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21"/>
          <p:cNvSpPr/>
          <p:nvPr/>
        </p:nvSpPr>
        <p:spPr>
          <a:xfrm>
            <a:off x="594360" y="4008873"/>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2" name="Google Shape;622;p21"/>
          <p:cNvPicPr preferRelativeResize="0"/>
          <p:nvPr/>
        </p:nvPicPr>
        <p:blipFill rotWithShape="1">
          <a:blip r:embed="rId5">
            <a:alphaModFix/>
          </a:blip>
          <a:srcRect b="0" l="0" r="0" t="0"/>
          <a:stretch/>
        </p:blipFill>
        <p:spPr>
          <a:xfrm>
            <a:off x="715061" y="4129574"/>
            <a:ext cx="307238" cy="307238"/>
          </a:xfrm>
          <a:prstGeom prst="rect">
            <a:avLst/>
          </a:prstGeom>
          <a:noFill/>
          <a:ln>
            <a:noFill/>
          </a:ln>
        </p:spPr>
      </p:pic>
      <p:sp>
        <p:nvSpPr>
          <p:cNvPr id="623" name="Google Shape;623;p21"/>
          <p:cNvSpPr txBox="1"/>
          <p:nvPr/>
        </p:nvSpPr>
        <p:spPr>
          <a:xfrm>
            <a:off x="1280160" y="4008873"/>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お手本</a:t>
            </a:r>
            <a:endParaRPr b="0" i="0" sz="1800" u="none" cap="none" strike="noStrike">
              <a:solidFill>
                <a:schemeClr val="dk1"/>
              </a:solidFill>
              <a:latin typeface="Calibri"/>
              <a:ea typeface="Calibri"/>
              <a:cs typeface="Calibri"/>
              <a:sym typeface="Calibri"/>
            </a:endParaRPr>
          </a:p>
        </p:txBody>
      </p:sp>
      <p:sp>
        <p:nvSpPr>
          <p:cNvPr id="624" name="Google Shape;624;p21"/>
          <p:cNvSpPr txBox="1"/>
          <p:nvPr/>
        </p:nvSpPr>
        <p:spPr>
          <a:xfrm>
            <a:off x="2051685" y="4088683"/>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うまくいった過去の成果物を見せる</a:t>
            </a:r>
            <a:endParaRPr b="0" i="0" sz="1250" u="none" cap="none" strike="noStrike">
              <a:solidFill>
                <a:schemeClr val="dk1"/>
              </a:solidFill>
              <a:latin typeface="Calibri"/>
              <a:ea typeface="Calibri"/>
              <a:cs typeface="Calibri"/>
              <a:sym typeface="Calibri"/>
            </a:endParaRPr>
          </a:p>
        </p:txBody>
      </p:sp>
      <p:sp>
        <p:nvSpPr>
          <p:cNvPr id="625" name="Google Shape;625;p21"/>
          <p:cNvSpPr txBox="1"/>
          <p:nvPr/>
        </p:nvSpPr>
        <p:spPr>
          <a:xfrm>
            <a:off x="1280150" y="4351738"/>
            <a:ext cx="58077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例）過去のスプレッドシートを「この体裁で」と添付</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6" name="Google Shape;626;p21"/>
          <p:cNvSpPr/>
          <p:nvPr/>
        </p:nvSpPr>
        <p:spPr>
          <a:xfrm>
            <a:off x="411475" y="1905550"/>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 name="Google Shape;627;p21"/>
          <p:cNvSpPr/>
          <p:nvPr/>
        </p:nvSpPr>
        <p:spPr>
          <a:xfrm>
            <a:off x="594350" y="208843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8" name="Google Shape;628;p21"/>
          <p:cNvPicPr preferRelativeResize="0"/>
          <p:nvPr/>
        </p:nvPicPr>
        <p:blipFill rotWithShape="1">
          <a:blip r:embed="rId6">
            <a:alphaModFix/>
          </a:blip>
          <a:srcRect b="0" l="0" r="0" t="0"/>
          <a:stretch/>
        </p:blipFill>
        <p:spPr>
          <a:xfrm>
            <a:off x="715051" y="2209136"/>
            <a:ext cx="307238" cy="307238"/>
          </a:xfrm>
          <a:prstGeom prst="rect">
            <a:avLst/>
          </a:prstGeom>
          <a:noFill/>
          <a:ln>
            <a:noFill/>
          </a:ln>
        </p:spPr>
      </p:pic>
      <p:sp>
        <p:nvSpPr>
          <p:cNvPr id="629" name="Google Shape;629;p21"/>
          <p:cNvSpPr txBox="1"/>
          <p:nvPr/>
        </p:nvSpPr>
        <p:spPr>
          <a:xfrm>
            <a:off x="1280150" y="2088435"/>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制約</a:t>
            </a:r>
            <a:endParaRPr b="0" i="0" sz="1800" u="none" cap="none" strike="noStrike">
              <a:solidFill>
                <a:schemeClr val="dk1"/>
              </a:solidFill>
              <a:latin typeface="Calibri"/>
              <a:ea typeface="Calibri"/>
              <a:cs typeface="Calibri"/>
              <a:sym typeface="Calibri"/>
            </a:endParaRPr>
          </a:p>
        </p:txBody>
      </p:sp>
      <p:sp>
        <p:nvSpPr>
          <p:cNvPr id="630" name="Google Shape;630;p21"/>
          <p:cNvSpPr txBox="1"/>
          <p:nvPr/>
        </p:nvSpPr>
        <p:spPr>
          <a:xfrm>
            <a:off x="1828900" y="213070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守るべきルール・やってはいけないこと</a:t>
            </a:r>
            <a:endParaRPr b="0" i="0" sz="1250" u="none" cap="none" strike="noStrike">
              <a:solidFill>
                <a:schemeClr val="dk1"/>
              </a:solidFill>
              <a:latin typeface="Calibri"/>
              <a:ea typeface="Calibri"/>
              <a:cs typeface="Calibri"/>
              <a:sym typeface="Calibri"/>
            </a:endParaRPr>
          </a:p>
        </p:txBody>
      </p:sp>
      <p:sp>
        <p:nvSpPr>
          <p:cNvPr id="631" name="Google Shape;631;p21"/>
          <p:cNvSpPr txBox="1"/>
          <p:nvPr/>
        </p:nvSpPr>
        <p:spPr>
          <a:xfrm>
            <a:off x="1280150" y="2387113"/>
            <a:ext cx="5807700" cy="30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例）税込表記／列は変えない／推測で埋めない</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32" name="Google Shape;632;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2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アウトプットの指定</a:t>
            </a:r>
            <a:endParaRPr b="0" i="0" sz="2200" u="none" cap="none" strike="noStrike">
              <a:solidFill>
                <a:schemeClr val="dk1"/>
              </a:solidFill>
              <a:latin typeface="Calibri"/>
              <a:ea typeface="Calibri"/>
              <a:cs typeface="Calibri"/>
              <a:sym typeface="Calibri"/>
            </a:endParaRPr>
          </a:p>
        </p:txBody>
      </p:sp>
      <p:sp>
        <p:nvSpPr>
          <p:cNvPr id="639" name="Google Shape;639;p2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40" name="Google Shape;640;p22"/>
          <p:cNvSpPr/>
          <p:nvPr/>
        </p:nvSpPr>
        <p:spPr>
          <a:xfrm>
            <a:off x="434280" y="1539920"/>
            <a:ext cx="406920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22"/>
          <p:cNvSpPr/>
          <p:nvPr/>
        </p:nvSpPr>
        <p:spPr>
          <a:xfrm>
            <a:off x="61716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2" name="Google Shape;642;p22"/>
          <p:cNvPicPr preferRelativeResize="0"/>
          <p:nvPr/>
        </p:nvPicPr>
        <p:blipFill rotWithShape="1">
          <a:blip r:embed="rId3">
            <a:alphaModFix/>
          </a:blip>
          <a:srcRect b="0" l="0" r="0" t="0"/>
          <a:stretch/>
        </p:blipFill>
        <p:spPr>
          <a:xfrm>
            <a:off x="737861" y="1797781"/>
            <a:ext cx="307238" cy="307238"/>
          </a:xfrm>
          <a:prstGeom prst="rect">
            <a:avLst/>
          </a:prstGeom>
          <a:noFill/>
          <a:ln>
            <a:noFill/>
          </a:ln>
        </p:spPr>
      </p:pic>
      <p:sp>
        <p:nvSpPr>
          <p:cNvPr id="643" name="Google Shape;643;p22"/>
          <p:cNvSpPr txBox="1"/>
          <p:nvPr/>
        </p:nvSpPr>
        <p:spPr>
          <a:xfrm>
            <a:off x="1302960" y="169536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形式</a:t>
            </a:r>
            <a:endParaRPr b="0" i="0" sz="1800" u="none" cap="none" strike="noStrike">
              <a:solidFill>
                <a:schemeClr val="dk1"/>
              </a:solidFill>
              <a:latin typeface="Calibri"/>
              <a:ea typeface="Calibri"/>
              <a:cs typeface="Calibri"/>
              <a:sym typeface="Calibri"/>
            </a:endParaRPr>
          </a:p>
        </p:txBody>
      </p:sp>
      <p:sp>
        <p:nvSpPr>
          <p:cNvPr id="644" name="Google Shape;644;p22"/>
          <p:cNvSpPr txBox="1"/>
          <p:nvPr/>
        </p:nvSpPr>
        <p:spPr>
          <a:xfrm>
            <a:off x="1302960" y="2042840"/>
            <a:ext cx="3017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どんな形で返してほしいか</a:t>
            </a:r>
            <a:endParaRPr b="0" i="0" sz="1150" u="none" cap="none" strike="noStrike">
              <a:solidFill>
                <a:schemeClr val="dk1"/>
              </a:solidFill>
              <a:latin typeface="Calibri"/>
              <a:ea typeface="Calibri"/>
              <a:cs typeface="Calibri"/>
              <a:sym typeface="Calibri"/>
            </a:endParaRPr>
          </a:p>
        </p:txBody>
      </p:sp>
      <p:sp>
        <p:nvSpPr>
          <p:cNvPr id="645" name="Google Shape;645;p22"/>
          <p:cNvSpPr txBox="1"/>
          <p:nvPr/>
        </p:nvSpPr>
        <p:spPr>
          <a:xfrm>
            <a:off x="708600" y="2454320"/>
            <a:ext cx="361200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表／箇条書き／文章／画像</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Excelに貼れる形で</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見出し・本文・注意書きに分けて</a:t>
            </a:r>
            <a:endParaRPr b="0" i="0" sz="1200" u="none" cap="none" strike="noStrike">
              <a:solidFill>
                <a:schemeClr val="dk1"/>
              </a:solidFill>
              <a:latin typeface="Calibri"/>
              <a:ea typeface="Calibri"/>
              <a:cs typeface="Calibri"/>
              <a:sym typeface="Calibri"/>
            </a:endParaRPr>
          </a:p>
        </p:txBody>
      </p:sp>
      <p:sp>
        <p:nvSpPr>
          <p:cNvPr id="646" name="Google Shape;646;p22"/>
          <p:cNvSpPr/>
          <p:nvPr/>
        </p:nvSpPr>
        <p:spPr>
          <a:xfrm>
            <a:off x="4640520" y="1539920"/>
            <a:ext cx="406920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22"/>
          <p:cNvSpPr/>
          <p:nvPr/>
        </p:nvSpPr>
        <p:spPr>
          <a:xfrm>
            <a:off x="482340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8" name="Google Shape;648;p22"/>
          <p:cNvPicPr preferRelativeResize="0"/>
          <p:nvPr/>
        </p:nvPicPr>
        <p:blipFill rotWithShape="1">
          <a:blip r:embed="rId4">
            <a:alphaModFix/>
          </a:blip>
          <a:srcRect b="0" l="0" r="0" t="0"/>
          <a:stretch/>
        </p:blipFill>
        <p:spPr>
          <a:xfrm>
            <a:off x="4944101" y="1797781"/>
            <a:ext cx="307238" cy="307238"/>
          </a:xfrm>
          <a:prstGeom prst="rect">
            <a:avLst/>
          </a:prstGeom>
          <a:noFill/>
          <a:ln>
            <a:noFill/>
          </a:ln>
        </p:spPr>
      </p:pic>
      <p:sp>
        <p:nvSpPr>
          <p:cNvPr id="649" name="Google Shape;649;p22"/>
          <p:cNvSpPr txBox="1"/>
          <p:nvPr/>
        </p:nvSpPr>
        <p:spPr>
          <a:xfrm>
            <a:off x="5509200" y="169536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用途</a:t>
            </a:r>
            <a:endParaRPr b="0" i="0" sz="1800" u="none" cap="none" strike="noStrike">
              <a:solidFill>
                <a:schemeClr val="dk1"/>
              </a:solidFill>
              <a:latin typeface="Calibri"/>
              <a:ea typeface="Calibri"/>
              <a:cs typeface="Calibri"/>
              <a:sym typeface="Calibri"/>
            </a:endParaRPr>
          </a:p>
        </p:txBody>
      </p:sp>
      <p:sp>
        <p:nvSpPr>
          <p:cNvPr id="650" name="Google Shape;650;p22"/>
          <p:cNvSpPr txBox="1"/>
          <p:nvPr/>
        </p:nvSpPr>
        <p:spPr>
          <a:xfrm>
            <a:off x="5509200" y="2042840"/>
            <a:ext cx="3017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どこで・誰が使うか</a:t>
            </a:r>
            <a:endParaRPr b="0" i="0" sz="1150" u="none" cap="none" strike="noStrike">
              <a:solidFill>
                <a:schemeClr val="dk1"/>
              </a:solidFill>
              <a:latin typeface="Calibri"/>
              <a:ea typeface="Calibri"/>
              <a:cs typeface="Calibri"/>
              <a:sym typeface="Calibri"/>
            </a:endParaRPr>
          </a:p>
        </p:txBody>
      </p:sp>
      <p:sp>
        <p:nvSpPr>
          <p:cNvPr id="651" name="Google Shape;651;p22"/>
          <p:cNvSpPr txBox="1"/>
          <p:nvPr/>
        </p:nvSpPr>
        <p:spPr>
          <a:xfrm>
            <a:off x="4914840" y="2454320"/>
            <a:ext cx="361200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400"/>
              </a:spcBef>
              <a:spcAft>
                <a:spcPts val="0"/>
              </a:spcAft>
              <a:buClr>
                <a:srgbClr val="222222"/>
              </a:buClr>
              <a:buSzPts val="1200"/>
              <a:buFont typeface="Meiryo"/>
              <a:buChar char="•"/>
            </a:pPr>
            <a:r>
              <a:rPr lang="en-US" sz="1200">
                <a:solidFill>
                  <a:srgbClr val="222222"/>
                </a:solidFill>
                <a:latin typeface="Meiryo"/>
                <a:ea typeface="Meiryo"/>
                <a:cs typeface="Meiryo"/>
                <a:sym typeface="Meiryo"/>
              </a:rPr>
              <a:t>スプレッドシートで共有する</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200">
                <a:solidFill>
                  <a:srgbClr val="222222"/>
                </a:solidFill>
                <a:latin typeface="Meiryo"/>
                <a:ea typeface="Meiryo"/>
                <a:cs typeface="Meiryo"/>
                <a:sym typeface="Meiryo"/>
              </a:rPr>
              <a:t>印刷して店頭に貼る</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200">
                <a:solidFill>
                  <a:srgbClr val="222222"/>
                </a:solidFill>
                <a:latin typeface="Meiryo"/>
                <a:ea typeface="Meiryo"/>
                <a:cs typeface="Meiryo"/>
                <a:sym typeface="Meiryo"/>
              </a:rPr>
              <a:t>SNSに投稿する</a:t>
            </a:r>
            <a:endParaRPr sz="1200">
              <a:solidFill>
                <a:srgbClr val="222222"/>
              </a:solidFill>
              <a:latin typeface="Meiryo"/>
              <a:ea typeface="Meiryo"/>
              <a:cs typeface="Meiryo"/>
              <a:sym typeface="Meiryo"/>
            </a:endParaRPr>
          </a:p>
          <a:p>
            <a:pPr indent="0" lvl="0" marL="0" marR="0" rtl="0" algn="l">
              <a:lnSpc>
                <a:spcPct val="100000"/>
              </a:lnSpc>
              <a:spcBef>
                <a:spcPts val="400"/>
              </a:spcBef>
              <a:spcAft>
                <a:spcPts val="0"/>
              </a:spcAft>
              <a:buNone/>
            </a:pPr>
            <a:r>
              <a:t/>
            </a:r>
            <a:endParaRPr sz="1200">
              <a:solidFill>
                <a:srgbClr val="222222"/>
              </a:solidFill>
              <a:latin typeface="Meiryo"/>
              <a:ea typeface="Meiryo"/>
              <a:cs typeface="Meiryo"/>
              <a:sym typeface="Meiryo"/>
            </a:endParaRPr>
          </a:p>
        </p:txBody>
      </p:sp>
      <p:sp>
        <p:nvSpPr>
          <p:cNvPr id="652" name="Google Shape;652;p22"/>
          <p:cNvSpPr txBox="1"/>
          <p:nvPr/>
        </p:nvSpPr>
        <p:spPr>
          <a:xfrm>
            <a:off x="467983" y="868243"/>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lang="en-US" sz="1787">
                <a:solidFill>
                  <a:srgbClr val="1F3A5F"/>
                </a:solidFill>
                <a:latin typeface="Meiryo"/>
                <a:ea typeface="Meiryo"/>
                <a:cs typeface="Meiryo"/>
                <a:sym typeface="Meiryo"/>
              </a:rPr>
              <a:t>対話の精度を上げるコツ</a:t>
            </a:r>
            <a:endParaRPr b="0" i="0" sz="1787" u="none" cap="none" strike="noStrike">
              <a:solidFill>
                <a:schemeClr val="dk1"/>
              </a:solidFill>
              <a:latin typeface="Calibri"/>
              <a:ea typeface="Calibri"/>
              <a:cs typeface="Calibri"/>
              <a:sym typeface="Calibri"/>
            </a:endParaRPr>
          </a:p>
        </p:txBody>
      </p:sp>
      <p:sp>
        <p:nvSpPr>
          <p:cNvPr id="653" name="Google Shape;653;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8" name="Shape 658"/>
        <p:cNvGrpSpPr/>
        <p:nvPr/>
      </p:nvGrpSpPr>
      <p:grpSpPr>
        <a:xfrm>
          <a:off x="0" y="0"/>
          <a:ext cx="0" cy="0"/>
          <a:chOff x="0" y="0"/>
          <a:chExt cx="0" cy="0"/>
        </a:xfrm>
      </p:grpSpPr>
      <p:sp>
        <p:nvSpPr>
          <p:cNvPr id="659" name="Google Shape;659;h259926ce4e4d5a8f_0_67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改善されたプロンプト</a:t>
            </a:r>
            <a:endParaRPr b="0" i="0" sz="2200" u="none" cap="none" strike="noStrike">
              <a:solidFill>
                <a:schemeClr val="dk1"/>
              </a:solidFill>
              <a:latin typeface="Calibri"/>
              <a:ea typeface="Calibri"/>
              <a:cs typeface="Calibri"/>
              <a:sym typeface="Calibri"/>
            </a:endParaRPr>
          </a:p>
        </p:txBody>
      </p:sp>
      <p:sp>
        <p:nvSpPr>
          <p:cNvPr id="660" name="Google Shape;660;h259926ce4e4d5a8f_0_673"/>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h259926ce4e4d5a8f_0_673"/>
          <p:cNvSpPr txBox="1"/>
          <p:nvPr/>
        </p:nvSpPr>
        <p:spPr>
          <a:xfrm>
            <a:off x="6949440" y="310727"/>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662" name="Google Shape;662;h259926ce4e4d5a8f_0_67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63" name="Google Shape;663;h259926ce4e4d5a8f_0_673"/>
          <p:cNvSpPr txBox="1"/>
          <p:nvPr/>
        </p:nvSpPr>
        <p:spPr>
          <a:xfrm>
            <a:off x="8229600" y="4846320"/>
            <a:ext cx="594300" cy="1830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8C8C8C"/>
              </a:buClr>
              <a:buSzPts val="800"/>
              <a:buFont typeface="Meiryo"/>
              <a:buNone/>
            </a:pPr>
            <a:r>
              <a:rPr b="0" i="0" lang="en-US" sz="800" u="none" cap="none" strike="noStrike">
                <a:solidFill>
                  <a:srgbClr val="8C8C8C"/>
                </a:solidFill>
                <a:latin typeface="Meiryo"/>
                <a:ea typeface="Meiryo"/>
                <a:cs typeface="Meiryo"/>
                <a:sym typeface="Meiryo"/>
              </a:rPr>
              <a:t>25</a:t>
            </a:r>
            <a:endParaRPr b="0" i="0" sz="800" u="none" cap="none" strike="noStrike">
              <a:solidFill>
                <a:schemeClr val="dk1"/>
              </a:solidFill>
              <a:latin typeface="Calibri"/>
              <a:ea typeface="Calibri"/>
              <a:cs typeface="Calibri"/>
              <a:sym typeface="Calibri"/>
            </a:endParaRPr>
          </a:p>
        </p:txBody>
      </p:sp>
      <p:sp>
        <p:nvSpPr>
          <p:cNvPr id="664" name="Google Shape;664;h259926ce4e4d5a8f_0_67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665" name="Google Shape;665;h259926ce4e4d5a8f_0_673"/>
          <p:cNvSpPr/>
          <p:nvPr/>
        </p:nvSpPr>
        <p:spPr>
          <a:xfrm>
            <a:off x="411480" y="1115568"/>
            <a:ext cx="8321100" cy="33375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h259926ce4e4d5a8f_0_673"/>
          <p:cNvSpPr txBox="1"/>
          <p:nvPr/>
        </p:nvSpPr>
        <p:spPr>
          <a:xfrm>
            <a:off x="640080" y="1252728"/>
            <a:ext cx="7863900" cy="31089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あなたは中古ホビーショップのEC担当です。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【前提】</a:t>
            </a:r>
            <a:r>
              <a:rPr lang="en-US" sz="1100">
                <a:solidFill>
                  <a:srgbClr val="222222"/>
                </a:solidFill>
                <a:latin typeface="Meiryo"/>
                <a:ea typeface="Meiryo"/>
                <a:cs typeface="Meiryo"/>
                <a:sym typeface="Meiryo"/>
              </a:rPr>
              <a:t>添付の商品を、これからメルカリに出品します。出品作業は店のスタッフが手分けして行います。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【素材】</a:t>
            </a:r>
            <a:r>
              <a:rPr lang="en-US" sz="1100">
                <a:solidFill>
                  <a:srgbClr val="222222"/>
                </a:solidFill>
                <a:latin typeface="Meiryo"/>
                <a:ea typeface="Meiryo"/>
                <a:cs typeface="Meiryo"/>
                <a:sym typeface="Meiryo"/>
              </a:rPr>
              <a:t>添付した「商品メモ」の10点を使ってください。状態・付属品はメモに書かれているとおりに扱ってください。</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a:t>
            </a:r>
            <a:r>
              <a:rPr lang="en-US" sz="1100">
                <a:solidFill>
                  <a:schemeClr val="accent2"/>
                </a:solidFill>
                <a:latin typeface="Meiryo"/>
                <a:ea typeface="Meiryo"/>
                <a:cs typeface="Meiryo"/>
                <a:sym typeface="Meiryo"/>
              </a:rPr>
              <a:t>お手本】</a:t>
            </a:r>
            <a:r>
              <a:rPr lang="en-US" sz="1100">
                <a:solidFill>
                  <a:srgbClr val="222222"/>
                </a:solidFill>
                <a:latin typeface="Meiryo"/>
                <a:ea typeface="Meiryo"/>
                <a:cs typeface="Meiryo"/>
                <a:sym typeface="Meiryo"/>
              </a:rPr>
              <a:t>前に売れたときの出品文はこの書き方でした。この雰囲気に合わせてください。</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タイトル：Switchソフト マリオカート8 デラックス 動作確認済 箱・説明書あり</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説明文：ご覧いただきありがとうございます。中古品ですが動作確認済みです。ケースに小さなスレがありますが、</a:t>
            </a:r>
            <a:br>
              <a:rPr lang="en-US" sz="1100">
                <a:solidFill>
                  <a:srgbClr val="222222"/>
                </a:solidFill>
                <a:latin typeface="Meiryo"/>
                <a:ea typeface="Meiryo"/>
                <a:cs typeface="Meiryo"/>
                <a:sym typeface="Meiryo"/>
              </a:rPr>
            </a:br>
            <a:r>
              <a:rPr lang="en-US" sz="1100">
                <a:solidFill>
                  <a:srgbClr val="222222"/>
                </a:solidFill>
                <a:latin typeface="Meiryo"/>
                <a:ea typeface="Meiryo"/>
                <a:cs typeface="Meiryo"/>
                <a:sym typeface="Meiryo"/>
              </a:rPr>
              <a:t>　　　　　　プレイに支障はありません。気になる点はコメントからご質問ください。</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【制約】</a:t>
            </a:r>
            <a:r>
              <a:rPr lang="en-US" sz="1100">
                <a:solidFill>
                  <a:srgbClr val="222222"/>
                </a:solidFill>
                <a:latin typeface="Meiryo"/>
                <a:ea typeface="Meiryo"/>
                <a:cs typeface="Meiryo"/>
                <a:sym typeface="Meiryo"/>
              </a:rPr>
              <a:t>タイトルは40文字以内。説明文は150文字以内。メモにあるキズや不足品は必ず書く。</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「新品同様」「完璧」などの断定表現は使わない。送料と発送日数は書かない。</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【出力】</a:t>
            </a:r>
            <a:r>
              <a:rPr lang="en-US" sz="1100">
                <a:solidFill>
                  <a:srgbClr val="222222"/>
                </a:solidFill>
                <a:latin typeface="Meiryo"/>
                <a:ea typeface="Meiryo"/>
                <a:cs typeface="Meiryo"/>
                <a:sym typeface="Meiryo"/>
              </a:rPr>
              <a:t>「商品名／タイトル／説明文／ハッシュタグ」の順で、スプレッドシートにそのまま貼れる表の形にしてください。</a:t>
            </a:r>
            <a:endParaRPr sz="1100">
              <a:solidFill>
                <a:srgbClr val="222222"/>
              </a:solidFill>
              <a:latin typeface="Meiryo"/>
              <a:ea typeface="Meiryo"/>
              <a:cs typeface="Meiryo"/>
              <a:sym typeface="Meiry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h603855749043a6f2_0_1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673" name="Google Shape;673;h603855749043a6f2_0_124"/>
          <p:cNvPicPr preferRelativeResize="0"/>
          <p:nvPr/>
        </p:nvPicPr>
        <p:blipFill>
          <a:blip r:embed="rId3">
            <a:alphaModFix/>
          </a:blip>
          <a:stretch>
            <a:fillRect/>
          </a:stretch>
        </p:blipFill>
        <p:spPr>
          <a:xfrm>
            <a:off x="152400" y="717313"/>
            <a:ext cx="8839199" cy="3993399"/>
          </a:xfrm>
          <a:prstGeom prst="rect">
            <a:avLst/>
          </a:prstGeom>
          <a:noFill/>
          <a:ln cap="flat" cmpd="sng" w="9525">
            <a:solidFill>
              <a:schemeClr val="dk2"/>
            </a:solidFill>
            <a:prstDash val="solid"/>
            <a:round/>
            <a:headEnd len="sm" w="sm" type="none"/>
            <a:tailEnd len="sm" w="sm" type="none"/>
          </a:ln>
        </p:spPr>
      </p:pic>
      <p:sp>
        <p:nvSpPr>
          <p:cNvPr id="674" name="Google Shape;674;h603855749043a6f2_0_124"/>
          <p:cNvSpPr txBox="1"/>
          <p:nvPr/>
        </p:nvSpPr>
        <p:spPr>
          <a:xfrm>
            <a:off x="411455" y="17537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改善されたプロンプトでの出力</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h259926ce4e4d5a8f_0_68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681" name="Google Shape;681;h259926ce4e4d5a8f_0_68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82" name="Google Shape;682;h259926ce4e4d5a8f_0_685"/>
          <p:cNvSpPr txBox="1"/>
          <p:nvPr/>
        </p:nvSpPr>
        <p:spPr>
          <a:xfrm>
            <a:off x="8229600" y="4846320"/>
            <a:ext cx="594300" cy="1830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8C8C8C"/>
              </a:buClr>
              <a:buSzPts val="800"/>
              <a:buFont typeface="Meiryo"/>
              <a:buNone/>
            </a:pPr>
            <a:r>
              <a:rPr b="0" i="0" lang="en-US" sz="800" u="none" cap="none" strike="noStrike">
                <a:solidFill>
                  <a:srgbClr val="8C8C8C"/>
                </a:solidFill>
                <a:latin typeface="Meiryo"/>
                <a:ea typeface="Meiryo"/>
                <a:cs typeface="Meiryo"/>
                <a:sym typeface="Meiryo"/>
              </a:rPr>
              <a:t>26</a:t>
            </a:r>
            <a:endParaRPr b="0" i="0" sz="800" u="none" cap="none" strike="noStrike">
              <a:solidFill>
                <a:schemeClr val="dk1"/>
              </a:solidFill>
              <a:latin typeface="Calibri"/>
              <a:ea typeface="Calibri"/>
              <a:cs typeface="Calibri"/>
              <a:sym typeface="Calibri"/>
            </a:endParaRPr>
          </a:p>
        </p:txBody>
      </p:sp>
      <p:graphicFrame>
        <p:nvGraphicFramePr>
          <p:cNvPr id="683" name="Google Shape;683;h259926ce4e4d5a8f_0_685"/>
          <p:cNvGraphicFramePr/>
          <p:nvPr/>
        </p:nvGraphicFramePr>
        <p:xfrm>
          <a:off x="411480" y="1005840"/>
          <a:ext cx="3000000" cy="3000000"/>
        </p:xfrm>
        <a:graphic>
          <a:graphicData uri="http://schemas.openxmlformats.org/drawingml/2006/table">
            <a:tbl>
              <a:tblPr>
                <a:noFill/>
                <a:tableStyleId>{A5FF9485-15E4-4B45-BF75-814422209F04}</a:tableStyleId>
              </a:tblPr>
              <a:tblGrid>
                <a:gridCol w="1188725"/>
                <a:gridCol w="3200400"/>
                <a:gridCol w="3931925"/>
              </a:tblGrid>
              <a:tr h="384050">
                <a:tc>
                  <a:txBody>
                    <a:bodyPr/>
                    <a:lstStyle/>
                    <a:p>
                      <a:pPr indent="0" lvl="0" marL="0" marR="0" rtl="0" algn="l">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「メルカリの出品文を書いて」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前提・素材・お手本・制約・出力を入れた指示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何の商品か分からない一般論</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メモどおりの状態・付属品・キズが入る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体裁</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そのつど変わる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前に売れた出品文と揃う</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a:latin typeface="Meiryo"/>
                          <a:ea typeface="Meiryo"/>
                          <a:cs typeface="Meiryo"/>
                          <a:sym typeface="Meiryo"/>
                        </a:rPr>
                        <a:t>量</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1件だけ</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10件がまとめて表で返る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684" name="Google Shape;684;h259926ce4e4d5a8f_0_685"/>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85" name="Google Shape;685;h259926ce4e4d5a8f_0_685"/>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686" name="Google Shape;686;h259926ce4e4d5a8f_0_685"/>
          <p:cNvSpPr txBox="1"/>
          <p:nvPr/>
        </p:nvSpPr>
        <p:spPr>
          <a:xfrm>
            <a:off x="1051560" y="3840480"/>
            <a:ext cx="76809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afterでも、商品名・価格などは必ず自分の目で確認しましょう。</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0" name="Shape 690"/>
        <p:cNvGrpSpPr/>
        <p:nvPr/>
      </p:nvGrpSpPr>
      <p:grpSpPr>
        <a:xfrm>
          <a:off x="0" y="0"/>
          <a:ext cx="0" cy="0"/>
          <a:chOff x="0" y="0"/>
          <a:chExt cx="0" cy="0"/>
        </a:xfrm>
      </p:grpSpPr>
      <p:sp>
        <p:nvSpPr>
          <p:cNvPr id="691" name="Google Shape;691;h12a068dd872fd278_0_5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92" name="Google Shape;692;h12a068dd872fd278_0_51"/>
          <p:cNvSpPr txBox="1"/>
          <p:nvPr/>
        </p:nvSpPr>
        <p:spPr>
          <a:xfrm>
            <a:off x="1205625" y="1438450"/>
            <a:ext cx="7640400" cy="560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600">
                <a:solidFill>
                  <a:srgbClr val="E8702A"/>
                </a:solidFill>
                <a:latin typeface="Meiryo"/>
                <a:ea typeface="Meiryo"/>
                <a:cs typeface="Meiryo"/>
                <a:sym typeface="Meiryo"/>
              </a:rPr>
              <a:t>全部を完璧にしなくて大丈夫！！</a:t>
            </a:r>
            <a:endParaRPr b="0" i="0" sz="3600" u="none" cap="none" strike="noStrike">
              <a:solidFill>
                <a:schemeClr val="dk1"/>
              </a:solidFill>
              <a:latin typeface="Calibri"/>
              <a:ea typeface="Calibri"/>
              <a:cs typeface="Calibri"/>
              <a:sym typeface="Calibri"/>
            </a:endParaRPr>
          </a:p>
        </p:txBody>
      </p:sp>
      <p:sp>
        <p:nvSpPr>
          <p:cNvPr id="693" name="Google Shape;693;h12a068dd872fd278_0_51"/>
          <p:cNvSpPr txBox="1"/>
          <p:nvPr/>
        </p:nvSpPr>
        <p:spPr>
          <a:xfrm>
            <a:off x="1205625" y="2555425"/>
            <a:ext cx="7640400" cy="87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sz="2400">
                <a:solidFill>
                  <a:srgbClr val="444444"/>
                </a:solidFill>
                <a:latin typeface="Meiryo"/>
                <a:ea typeface="Meiryo"/>
                <a:cs typeface="Meiryo"/>
                <a:sym typeface="Meiryo"/>
              </a:rPr>
              <a:t>一度にすべて入力しなくても、対話を重ねて仕上げていけばOK。</a:t>
            </a:r>
            <a:endParaRPr b="0" i="0" sz="2400" u="none" cap="none" strike="noStrike">
              <a:solidFill>
                <a:schemeClr val="dk1"/>
              </a:solidFill>
              <a:latin typeface="Calibri"/>
              <a:ea typeface="Calibri"/>
              <a:cs typeface="Calibri"/>
              <a:sym typeface="Calibri"/>
            </a:endParaRPr>
          </a:p>
        </p:txBody>
      </p:sp>
      <p:sp>
        <p:nvSpPr>
          <p:cNvPr id="694" name="Google Shape;694;h12a068dd872fd278_0_5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9" name="Shape 699"/>
        <p:cNvGrpSpPr/>
        <p:nvPr/>
      </p:nvGrpSpPr>
      <p:grpSpPr>
        <a:xfrm>
          <a:off x="0" y="0"/>
          <a:ext cx="0" cy="0"/>
          <a:chOff x="0" y="0"/>
          <a:chExt cx="0" cy="0"/>
        </a:xfrm>
      </p:grpSpPr>
      <p:sp>
        <p:nvSpPr>
          <p:cNvPr id="700" name="Google Shape;700;p2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何を渡せばいいか分からないときは</a:t>
            </a:r>
            <a:endParaRPr b="0" i="0" sz="2200" u="none" cap="none" strike="noStrike">
              <a:solidFill>
                <a:schemeClr val="dk1"/>
              </a:solidFill>
              <a:latin typeface="Calibri"/>
              <a:ea typeface="Calibri"/>
              <a:cs typeface="Calibri"/>
              <a:sym typeface="Calibri"/>
            </a:endParaRPr>
          </a:p>
        </p:txBody>
      </p:sp>
      <p:sp>
        <p:nvSpPr>
          <p:cNvPr id="701" name="Google Shape;701;p2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02" name="Google Shape;702;p25"/>
          <p:cNvSpPr txBox="1"/>
          <p:nvPr/>
        </p:nvSpPr>
        <p:spPr>
          <a:xfrm>
            <a:off x="411480" y="96012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足りない情報を、AIに質問してもらいましょう。</a:t>
            </a:r>
            <a:endParaRPr b="0" i="0" sz="1500" u="none" cap="none" strike="noStrike">
              <a:solidFill>
                <a:schemeClr val="dk1"/>
              </a:solidFill>
              <a:latin typeface="Calibri"/>
              <a:ea typeface="Calibri"/>
              <a:cs typeface="Calibri"/>
              <a:sym typeface="Calibri"/>
            </a:endParaRPr>
          </a:p>
        </p:txBody>
      </p:sp>
      <p:sp>
        <p:nvSpPr>
          <p:cNvPr id="703" name="Google Shape;703;p25"/>
          <p:cNvSpPr txBox="1"/>
          <p:nvPr/>
        </p:nvSpPr>
        <p:spPr>
          <a:xfrm>
            <a:off x="80467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704" name="Google Shape;704;p25"/>
          <p:cNvSpPr/>
          <p:nvPr/>
        </p:nvSpPr>
        <p:spPr>
          <a:xfrm>
            <a:off x="822960" y="1783080"/>
            <a:ext cx="7498080" cy="141732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p25"/>
          <p:cNvSpPr txBox="1"/>
          <p:nvPr/>
        </p:nvSpPr>
        <p:spPr>
          <a:xfrm>
            <a:off x="1005840" y="1920240"/>
            <a:ext cx="7132320" cy="11430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〇〇の作業をお願いしたいです。</a:t>
            </a:r>
            <a:endParaRPr b="0" i="0" sz="1600" u="none" cap="none" strike="noStrike">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いい結果を出すために、足りない情報を質問してください。</a:t>
            </a:r>
            <a:endParaRPr b="0" i="0" sz="1600" u="none" cap="none" strike="noStrike">
              <a:solidFill>
                <a:schemeClr val="dk1"/>
              </a:solidFill>
              <a:latin typeface="Calibri"/>
              <a:ea typeface="Calibri"/>
              <a:cs typeface="Calibri"/>
              <a:sym typeface="Calibri"/>
            </a:endParaRPr>
          </a:p>
        </p:txBody>
      </p:sp>
      <p:sp>
        <p:nvSpPr>
          <p:cNvPr id="706" name="Google Shape;706;p25"/>
          <p:cNvSpPr txBox="1"/>
          <p:nvPr/>
        </p:nvSpPr>
        <p:spPr>
          <a:xfrm>
            <a:off x="411480" y="352044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00"/>
              <a:buFont typeface="Meiryo"/>
              <a:buNone/>
            </a:pPr>
            <a:r>
              <a:rPr b="0" i="0" lang="en-US" sz="1500" u="none" cap="none" strike="noStrike">
                <a:solidFill>
                  <a:srgbClr val="222222"/>
                </a:solidFill>
                <a:latin typeface="Meiryo"/>
                <a:ea typeface="Meiryo"/>
                <a:cs typeface="Meiryo"/>
                <a:sym typeface="Meiryo"/>
              </a:rPr>
              <a:t>AIからの質問に答えていくだけで、「前提・素材・お手本・制約」が自然にそろいます。</a:t>
            </a:r>
            <a:endParaRPr b="0" i="0" sz="1500" u="none" cap="none" strike="noStrike">
              <a:solidFill>
                <a:schemeClr val="dk1"/>
              </a:solidFill>
              <a:latin typeface="Calibri"/>
              <a:ea typeface="Calibri"/>
              <a:cs typeface="Calibri"/>
              <a:sym typeface="Calibri"/>
            </a:endParaRPr>
          </a:p>
        </p:txBody>
      </p:sp>
      <p:sp>
        <p:nvSpPr>
          <p:cNvPr id="707" name="Google Shape;707;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g40a0daa3361_0_237"/>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713" name="Google Shape;713;g40a0daa3361_0_237"/>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714" name="Google Shape;714;g40a0daa3361_0_237"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15" name="Google Shape;715;g40a0daa3361_0_237"/>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716" name="Google Shape;716;g40a0daa3361_0_237"/>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3</a:t>
            </a:r>
            <a:endParaRPr b="0" i="0" sz="2800" u="none" cap="none" strike="noStrike">
              <a:solidFill>
                <a:schemeClr val="dk1"/>
              </a:solidFill>
              <a:latin typeface="Calibri"/>
              <a:ea typeface="Calibri"/>
              <a:cs typeface="Calibri"/>
              <a:sym typeface="Calibri"/>
            </a:endParaRPr>
          </a:p>
        </p:txBody>
      </p:sp>
      <p:sp>
        <p:nvSpPr>
          <p:cNvPr id="717" name="Google Shape;717;g40a0daa3361_0_237"/>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ワーク①</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業務課題の棚卸し</a:t>
            </a:r>
            <a:endParaRPr b="0" i="0" sz="3000" u="none" cap="none" strike="noStrike">
              <a:solidFill>
                <a:schemeClr val="dk1"/>
              </a:solidFill>
              <a:latin typeface="Calibri"/>
              <a:ea typeface="Calibri"/>
              <a:cs typeface="Calibri"/>
              <a:sym typeface="Calibri"/>
            </a:endParaRPr>
          </a:p>
        </p:txBody>
      </p:sp>
      <p:sp>
        <p:nvSpPr>
          <p:cNvPr id="718" name="Google Shape;718;g40a0daa3361_0_237"/>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a:t>
            </a:r>
            <a:r>
              <a:rPr lang="en-US">
                <a:solidFill>
                  <a:srgbClr val="C9D3E0"/>
                </a:solidFill>
                <a:latin typeface="Meiryo"/>
                <a:ea typeface="Meiryo"/>
                <a:cs typeface="Meiryo"/>
                <a:sym typeface="Meiryo"/>
              </a:rPr>
              <a:t>50</a:t>
            </a:r>
            <a:r>
              <a:rPr b="0" i="0" lang="en-US" sz="1400" u="none" cap="none" strike="noStrike">
                <a:solidFill>
                  <a:srgbClr val="C9D3E0"/>
                </a:solidFill>
                <a:latin typeface="Meiryo"/>
                <a:ea typeface="Meiryo"/>
                <a:cs typeface="Meiryo"/>
                <a:sym typeface="Meiryo"/>
              </a:rPr>
              <a:t> – 14:</a:t>
            </a:r>
            <a:r>
              <a:rPr lang="en-US">
                <a:solidFill>
                  <a:srgbClr val="C9D3E0"/>
                </a:solidFill>
                <a:latin typeface="Meiryo"/>
                <a:ea typeface="Meiryo"/>
                <a:cs typeface="Meiryo"/>
                <a:sym typeface="Meiryo"/>
              </a:rPr>
              <a:t>20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14"/>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25" name="Google Shape;725;p14"/>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14"/>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27" name="Google Shape;727;p1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28" name="Google Shape;728;p14"/>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29" name="Google Shape;729;p14"/>
          <p:cNvSpPr/>
          <p:nvPr/>
        </p:nvSpPr>
        <p:spPr>
          <a:xfrm>
            <a:off x="411475" y="1371600"/>
            <a:ext cx="6952500" cy="3220200"/>
          </a:xfrm>
          <a:prstGeom prst="rect">
            <a:avLst/>
          </a:prstGeom>
          <a:solidFill>
            <a:srgbClr val="EEF3F8"/>
          </a:solidFill>
          <a:ln cap="flat" cmpd="sng" w="13350">
            <a:solidFill>
              <a:srgbClr val="EEF3F8"/>
            </a:solidFill>
            <a:prstDash val="solid"/>
            <a:round/>
            <a:headEnd len="sm" w="sm" type="none"/>
            <a:tailEnd len="sm" w="sm" type="none"/>
          </a:ln>
        </p:spPr>
        <p:txBody>
          <a:bodyPr anchorCtr="0" anchor="ctr" bIns="96125" lIns="96125" spcFirstLastPara="1" rIns="96125" wrap="square" tIns="96125">
            <a:noAutofit/>
          </a:bodyPr>
          <a:lstStyle/>
          <a:p>
            <a:pPr indent="0" lvl="0" marL="0" marR="0" rtl="0" algn="l">
              <a:lnSpc>
                <a:spcPct val="100000"/>
              </a:lnSpc>
              <a:spcBef>
                <a:spcPts val="0"/>
              </a:spcBef>
              <a:spcAft>
                <a:spcPts val="0"/>
              </a:spcAft>
              <a:buClr>
                <a:srgbClr val="000000"/>
              </a:buClr>
              <a:buSzPts val="1472"/>
              <a:buFont typeface="Arial"/>
              <a:buNone/>
            </a:pPr>
            <a:r>
              <a:t/>
            </a:r>
            <a:endParaRPr b="0" i="0" sz="1472" u="none" cap="none" strike="noStrike">
              <a:solidFill>
                <a:srgbClr val="000000"/>
              </a:solidFill>
              <a:latin typeface="Arial"/>
              <a:ea typeface="Arial"/>
              <a:cs typeface="Arial"/>
              <a:sym typeface="Arial"/>
            </a:endParaRPr>
          </a:p>
        </p:txBody>
      </p:sp>
      <p:sp>
        <p:nvSpPr>
          <p:cNvPr id="730" name="Google Shape;730;p14"/>
          <p:cNvSpPr txBox="1"/>
          <p:nvPr/>
        </p:nvSpPr>
        <p:spPr>
          <a:xfrm>
            <a:off x="802083" y="1515789"/>
            <a:ext cx="1874700" cy="288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6"/>
              <a:buFont typeface="Meiryo"/>
              <a:buNone/>
            </a:pPr>
            <a:r>
              <a:rPr b="1" i="0" lang="en-US" sz="1156" u="none" cap="none" strike="noStrike">
                <a:solidFill>
                  <a:srgbClr val="E8702A"/>
                </a:solidFill>
                <a:latin typeface="Meiryo"/>
                <a:ea typeface="Meiryo"/>
                <a:cs typeface="Meiryo"/>
                <a:sym typeface="Meiryo"/>
              </a:rPr>
              <a:t>STEP 1</a:t>
            </a:r>
            <a:endParaRPr b="0" i="0" sz="1156" u="none" cap="none" strike="noStrike">
              <a:solidFill>
                <a:schemeClr val="dk1"/>
              </a:solidFill>
              <a:latin typeface="Calibri"/>
              <a:ea typeface="Calibri"/>
              <a:cs typeface="Calibri"/>
              <a:sym typeface="Calibri"/>
            </a:endParaRPr>
          </a:p>
        </p:txBody>
      </p:sp>
      <p:sp>
        <p:nvSpPr>
          <p:cNvPr id="731" name="Google Shape;731;p14"/>
          <p:cNvSpPr txBox="1"/>
          <p:nvPr/>
        </p:nvSpPr>
        <p:spPr>
          <a:xfrm>
            <a:off x="802083" y="1804168"/>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i="0" lang="en-US" sz="1787" u="none" cap="none" strike="noStrike">
                <a:solidFill>
                  <a:srgbClr val="1F3A5F"/>
                </a:solidFill>
                <a:latin typeface="Meiryo"/>
                <a:ea typeface="Meiryo"/>
                <a:cs typeface="Meiryo"/>
                <a:sym typeface="Meiryo"/>
              </a:rPr>
              <a:t>個人セッション</a:t>
            </a:r>
            <a:endParaRPr b="0" i="0" sz="1787" u="none" cap="none" strike="noStrike">
              <a:solidFill>
                <a:schemeClr val="dk1"/>
              </a:solidFill>
              <a:latin typeface="Calibri"/>
              <a:ea typeface="Calibri"/>
              <a:cs typeface="Calibri"/>
              <a:sym typeface="Calibri"/>
            </a:endParaRPr>
          </a:p>
        </p:txBody>
      </p:sp>
      <p:sp>
        <p:nvSpPr>
          <p:cNvPr id="732" name="Google Shape;732;p14"/>
          <p:cNvSpPr txBox="1"/>
          <p:nvPr/>
        </p:nvSpPr>
        <p:spPr>
          <a:xfrm>
            <a:off x="5333141" y="1804168"/>
            <a:ext cx="1640400" cy="432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87"/>
              <a:buFont typeface="Meiryo"/>
              <a:buNone/>
            </a:pPr>
            <a:r>
              <a:rPr b="1" i="0" lang="en-US" sz="1787" u="none" cap="none" strike="noStrike">
                <a:solidFill>
                  <a:srgbClr val="E8702A"/>
                </a:solidFill>
                <a:latin typeface="Meiryo"/>
                <a:ea typeface="Meiryo"/>
                <a:cs typeface="Meiryo"/>
                <a:sym typeface="Meiryo"/>
              </a:rPr>
              <a:t>10分</a:t>
            </a:r>
            <a:endParaRPr b="0" i="0" sz="1787" u="none" cap="none" strike="noStrike">
              <a:solidFill>
                <a:schemeClr val="dk1"/>
              </a:solidFill>
              <a:latin typeface="Calibri"/>
              <a:ea typeface="Calibri"/>
              <a:cs typeface="Calibri"/>
              <a:sym typeface="Calibri"/>
            </a:endParaRPr>
          </a:p>
        </p:txBody>
      </p:sp>
      <p:sp>
        <p:nvSpPr>
          <p:cNvPr id="733" name="Google Shape;733;p14"/>
          <p:cNvSpPr txBox="1"/>
          <p:nvPr/>
        </p:nvSpPr>
        <p:spPr>
          <a:xfrm>
            <a:off x="802083" y="2428987"/>
            <a:ext cx="6171900" cy="2018700"/>
          </a:xfrm>
          <a:prstGeom prst="rect">
            <a:avLst/>
          </a:prstGeom>
          <a:noFill/>
          <a:ln>
            <a:noFill/>
          </a:ln>
        </p:spPr>
        <p:txBody>
          <a:bodyPr anchorCtr="0" anchor="t" bIns="0" lIns="0" spcFirstLastPara="1" rIns="0" wrap="square" tIns="0">
            <a:noAutofit/>
          </a:bodyPr>
          <a:lstStyle/>
          <a:p>
            <a:pPr indent="-186912" lvl="0" marL="186912" marR="0" rtl="0" algn="l">
              <a:lnSpc>
                <a:spcPct val="100000"/>
              </a:lnSpc>
              <a:spcBef>
                <a:spcPts val="0"/>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1日の業務を書き出す</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業務ごとにインプット（使う材料）とアウトプット（できあがる物）を記入</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AI活用度を ◎ ○ △ でつける</a:t>
            </a:r>
            <a:endParaRPr b="0" i="0" sz="1314" u="none" cap="none" strike="noStrike">
              <a:solidFill>
                <a:schemeClr val="dk1"/>
              </a:solidFill>
              <a:latin typeface="Calibri"/>
              <a:ea typeface="Calibri"/>
              <a:cs typeface="Calibri"/>
              <a:sym typeface="Calibri"/>
            </a:endParaRPr>
          </a:p>
        </p:txBody>
      </p:sp>
      <p:sp>
        <p:nvSpPr>
          <p:cNvPr id="734" name="Google Shape;734;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9" name="Shape 739"/>
        <p:cNvGrpSpPr/>
        <p:nvPr/>
      </p:nvGrpSpPr>
      <p:grpSpPr>
        <a:xfrm>
          <a:off x="0" y="0"/>
          <a:ext cx="0" cy="0"/>
          <a:chOff x="0" y="0"/>
          <a:chExt cx="0" cy="0"/>
        </a:xfrm>
      </p:grpSpPr>
      <p:sp>
        <p:nvSpPr>
          <p:cNvPr id="740" name="Google Shape;740;p15"/>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インプット・アウトプットシート（記入例）</a:t>
            </a:r>
            <a:endParaRPr b="0" i="0" sz="2200" u="none" cap="none" strike="noStrike">
              <a:solidFill>
                <a:schemeClr val="dk1"/>
              </a:solidFill>
              <a:latin typeface="Calibri"/>
              <a:ea typeface="Calibri"/>
              <a:cs typeface="Calibri"/>
              <a:sym typeface="Calibri"/>
            </a:endParaRPr>
          </a:p>
        </p:txBody>
      </p:sp>
      <p:sp>
        <p:nvSpPr>
          <p:cNvPr id="741" name="Google Shape;741;p15"/>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5"/>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43" name="Google Shape;743;p1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744" name="Google Shape;744;p15"/>
          <p:cNvGraphicFramePr/>
          <p:nvPr/>
        </p:nvGraphicFramePr>
        <p:xfrm>
          <a:off x="411480" y="960120"/>
          <a:ext cx="3000000" cy="3000000"/>
        </p:xfrm>
        <a:graphic>
          <a:graphicData uri="http://schemas.openxmlformats.org/drawingml/2006/table">
            <a:tbl>
              <a:tblPr>
                <a:noFill/>
                <a:tableStyleId>{EA21E3E7-CB49-40DB-9B02-7D83FE17C7A2}</a:tableStyleId>
              </a:tblPr>
              <a:tblGrid>
                <a:gridCol w="1600200"/>
                <a:gridCol w="1600200"/>
                <a:gridCol w="1463050"/>
                <a:gridCol w="1143000"/>
                <a:gridCol w="1645925"/>
                <a:gridCol w="868675"/>
              </a:tblGrid>
              <a:tr h="502925">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業務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インプット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（使う材料）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アウトプット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（できあがる物）</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頻度・時間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困っていること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AI活用度</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買取告知の更新</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買取価格表、過去の告知文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店頭POP・告知文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週2回・各30分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毎回ゼロから書いている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中古商品の相場チェック</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各サイトの販売価格</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買取・販売価格の案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見るサイトが多い</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伝票・データ入力</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紙の伝票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Excelの一覧</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毎日・40分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転記ミスが起きる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景品の発注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在庫表、人気の傾向</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発注リスト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週1回・1時間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何を選ぶか迷う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400"/>
                        <a:buFont typeface="Calibri"/>
                        <a:buNone/>
                      </a:pPr>
                      <a:r>
                        <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bl>
          </a:graphicData>
        </a:graphic>
      </p:graphicFrame>
      <p:sp>
        <p:nvSpPr>
          <p:cNvPr id="745" name="Google Shape;745;p15"/>
          <p:cNvSpPr txBox="1"/>
          <p:nvPr/>
        </p:nvSpPr>
        <p:spPr>
          <a:xfrm>
            <a:off x="411480" y="3931920"/>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100"/>
              <a:buFont typeface="Meiryo"/>
              <a:buNone/>
            </a:pPr>
            <a:r>
              <a:rPr b="0" i="0" lang="en-US" sz="1100" u="none" cap="none" strike="noStrike">
                <a:solidFill>
                  <a:srgbClr val="444444"/>
                </a:solidFill>
                <a:latin typeface="Meiryo"/>
                <a:ea typeface="Meiryo"/>
                <a:cs typeface="Meiryo"/>
                <a:sym typeface="Meiryo"/>
              </a:rPr>
              <a:t>AI活用度　◎ そのまま任せられそう　○ 一部なら任せられそう　△ 難しそう</a:t>
            </a:r>
            <a:endParaRPr b="0" i="0" sz="1100" u="none" cap="none" strike="noStrike">
              <a:solidFill>
                <a:schemeClr val="dk1"/>
              </a:solidFill>
              <a:latin typeface="Calibri"/>
              <a:ea typeface="Calibri"/>
              <a:cs typeface="Calibri"/>
              <a:sym typeface="Calibri"/>
            </a:endParaRPr>
          </a:p>
        </p:txBody>
      </p:sp>
      <p:sp>
        <p:nvSpPr>
          <p:cNvPr id="746" name="Google Shape;746;p15"/>
          <p:cNvSpPr txBox="1"/>
          <p:nvPr/>
        </p:nvSpPr>
        <p:spPr>
          <a:xfrm>
            <a:off x="411480" y="4224528"/>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迷ったら「インプット」と「アウトプット」が両方デジタルかどうかで判断すると分かりやすくなります。</a:t>
            </a:r>
            <a:endParaRPr b="0" i="0" sz="1050" u="none" cap="none" strike="noStrike">
              <a:solidFill>
                <a:schemeClr val="dk1"/>
              </a:solidFill>
              <a:latin typeface="Calibri"/>
              <a:ea typeface="Calibri"/>
              <a:cs typeface="Calibri"/>
              <a:sym typeface="Calibri"/>
            </a:endParaRPr>
          </a:p>
        </p:txBody>
      </p:sp>
      <p:sp>
        <p:nvSpPr>
          <p:cNvPr id="747" name="Google Shape;747;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2" name="Shape 752"/>
        <p:cNvGrpSpPr/>
        <p:nvPr/>
      </p:nvGrpSpPr>
      <p:grpSpPr>
        <a:xfrm>
          <a:off x="0" y="0"/>
          <a:ext cx="0" cy="0"/>
          <a:chOff x="0" y="0"/>
          <a:chExt cx="0" cy="0"/>
        </a:xfrm>
      </p:grpSpPr>
      <p:sp>
        <p:nvSpPr>
          <p:cNvPr id="753" name="Google Shape;753;h12a068dd872fd278_0_8"/>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54" name="Google Shape;754;h12a068dd872fd278_0_8"/>
          <p:cNvSpPr/>
          <p:nvPr/>
        </p:nvSpPr>
        <p:spPr>
          <a:xfrm>
            <a:off x="6949440" y="301752"/>
            <a:ext cx="1783200" cy="41160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 name="Google Shape;755;h12a068dd872fd278_0_8"/>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56" name="Google Shape;756;h12a068dd872fd278_0_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57" name="Google Shape;757;h12a068dd872fd278_0_8"/>
          <p:cNvSpPr txBox="1"/>
          <p:nvPr/>
        </p:nvSpPr>
        <p:spPr>
          <a:xfrm>
            <a:off x="411480" y="896112"/>
            <a:ext cx="8321100" cy="32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58" name="Google Shape;758;h12a068dd872fd278_0_8"/>
          <p:cNvSpPr/>
          <p:nvPr/>
        </p:nvSpPr>
        <p:spPr>
          <a:xfrm>
            <a:off x="411475" y="1371600"/>
            <a:ext cx="6909000" cy="32514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 name="Google Shape;759;h12a068dd872fd278_0_8"/>
          <p:cNvSpPr txBox="1"/>
          <p:nvPr/>
        </p:nvSpPr>
        <p:spPr>
          <a:xfrm>
            <a:off x="799595" y="1517177"/>
            <a:ext cx="1863300" cy="29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STEP 2</a:t>
            </a:r>
            <a:endParaRPr b="0" i="0" sz="1100" u="none" cap="none" strike="noStrike">
              <a:solidFill>
                <a:schemeClr val="dk1"/>
              </a:solidFill>
              <a:latin typeface="Calibri"/>
              <a:ea typeface="Calibri"/>
              <a:cs typeface="Calibri"/>
              <a:sym typeface="Calibri"/>
            </a:endParaRPr>
          </a:p>
        </p:txBody>
      </p:sp>
      <p:sp>
        <p:nvSpPr>
          <p:cNvPr id="760" name="Google Shape;760;h12a068dd872fd278_0_8"/>
          <p:cNvSpPr txBox="1"/>
          <p:nvPr/>
        </p:nvSpPr>
        <p:spPr>
          <a:xfrm>
            <a:off x="799595" y="1808330"/>
            <a:ext cx="4657500" cy="43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共有セッション</a:t>
            </a:r>
            <a:endParaRPr b="0" i="0" sz="1700" u="none" cap="none" strike="noStrike">
              <a:solidFill>
                <a:schemeClr val="dk1"/>
              </a:solidFill>
              <a:latin typeface="Calibri"/>
              <a:ea typeface="Calibri"/>
              <a:cs typeface="Calibri"/>
              <a:sym typeface="Calibri"/>
            </a:endParaRPr>
          </a:p>
        </p:txBody>
      </p:sp>
      <p:sp>
        <p:nvSpPr>
          <p:cNvPr id="761" name="Google Shape;761;h12a068dd872fd278_0_8"/>
          <p:cNvSpPr txBox="1"/>
          <p:nvPr/>
        </p:nvSpPr>
        <p:spPr>
          <a:xfrm>
            <a:off x="5301785" y="1808330"/>
            <a:ext cx="1629900" cy="43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00"/>
              <a:buFont typeface="Meiryo"/>
              <a:buNone/>
            </a:pPr>
            <a:r>
              <a:rPr b="1" lang="en-US" sz="1700">
                <a:solidFill>
                  <a:srgbClr val="E8702A"/>
                </a:solidFill>
                <a:latin typeface="Meiryo"/>
                <a:ea typeface="Meiryo"/>
                <a:cs typeface="Meiryo"/>
                <a:sym typeface="Meiryo"/>
              </a:rPr>
              <a:t>15</a:t>
            </a:r>
            <a:r>
              <a:rPr b="1" i="0" lang="en-US" sz="1700" u="none" cap="none" strike="noStrike">
                <a:solidFill>
                  <a:srgbClr val="E8702A"/>
                </a:solidFill>
                <a:latin typeface="Meiryo"/>
                <a:ea typeface="Meiryo"/>
                <a:cs typeface="Meiryo"/>
                <a:sym typeface="Meiryo"/>
              </a:rPr>
              <a:t>分</a:t>
            </a:r>
            <a:endParaRPr b="0" i="0" sz="1700" u="none" cap="none" strike="noStrike">
              <a:solidFill>
                <a:schemeClr val="dk1"/>
              </a:solidFill>
              <a:latin typeface="Calibri"/>
              <a:ea typeface="Calibri"/>
              <a:cs typeface="Calibri"/>
              <a:sym typeface="Calibri"/>
            </a:endParaRPr>
          </a:p>
        </p:txBody>
      </p:sp>
      <p:sp>
        <p:nvSpPr>
          <p:cNvPr id="762" name="Google Shape;762;h12a068dd872fd278_0_8"/>
          <p:cNvSpPr txBox="1"/>
          <p:nvPr/>
        </p:nvSpPr>
        <p:spPr>
          <a:xfrm>
            <a:off x="799595" y="2439162"/>
            <a:ext cx="6132600" cy="20382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一人ずつシートを紹介する</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「それAIでできそう」を出し合う</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ワーク②で取り組む業務の候補を決める</a:t>
            </a:r>
            <a:endParaRPr b="0" i="0" sz="1250" u="none" cap="none" strike="noStrike">
              <a:solidFill>
                <a:schemeClr val="dk1"/>
              </a:solidFill>
              <a:latin typeface="Calibri"/>
              <a:ea typeface="Calibri"/>
              <a:cs typeface="Calibri"/>
              <a:sym typeface="Calibri"/>
            </a:endParaRPr>
          </a:p>
        </p:txBody>
      </p:sp>
      <p:sp>
        <p:nvSpPr>
          <p:cNvPr id="763" name="Google Shape;763;h12a068dd872fd278_0_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8" name="Shape 768"/>
        <p:cNvGrpSpPr/>
        <p:nvPr/>
      </p:nvGrpSpPr>
      <p:grpSpPr>
        <a:xfrm>
          <a:off x="0" y="0"/>
          <a:ext cx="0" cy="0"/>
          <a:chOff x="0" y="0"/>
          <a:chExt cx="0" cy="0"/>
        </a:xfrm>
      </p:grpSpPr>
      <p:sp>
        <p:nvSpPr>
          <p:cNvPr id="769" name="Google Shape;769;p16"/>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共有セッションの進め方</a:t>
            </a:r>
            <a:endParaRPr b="0" i="0" sz="2200" u="none" cap="none" strike="noStrike">
              <a:solidFill>
                <a:schemeClr val="dk1"/>
              </a:solidFill>
              <a:latin typeface="Calibri"/>
              <a:ea typeface="Calibri"/>
              <a:cs typeface="Calibri"/>
              <a:sym typeface="Calibri"/>
            </a:endParaRPr>
          </a:p>
        </p:txBody>
      </p:sp>
      <p:sp>
        <p:nvSpPr>
          <p:cNvPr id="770" name="Google Shape;770;p16"/>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16"/>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72" name="Google Shape;772;p16"/>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73" name="Google Shape;773;p16"/>
          <p:cNvSpPr/>
          <p:nvPr/>
        </p:nvSpPr>
        <p:spPr>
          <a:xfrm>
            <a:off x="457200" y="10515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16"/>
          <p:cNvSpPr txBox="1"/>
          <p:nvPr/>
        </p:nvSpPr>
        <p:spPr>
          <a:xfrm>
            <a:off x="457200" y="105156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775" name="Google Shape;775;p16"/>
          <p:cNvSpPr txBox="1"/>
          <p:nvPr/>
        </p:nvSpPr>
        <p:spPr>
          <a:xfrm>
            <a:off x="1234440" y="103327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一番時間がかかっている業務</a:t>
            </a:r>
            <a:endParaRPr b="0" i="0" sz="1500" u="none" cap="none" strike="noStrike">
              <a:solidFill>
                <a:schemeClr val="dk1"/>
              </a:solidFill>
              <a:latin typeface="Calibri"/>
              <a:ea typeface="Calibri"/>
              <a:cs typeface="Calibri"/>
              <a:sym typeface="Calibri"/>
            </a:endParaRPr>
          </a:p>
        </p:txBody>
      </p:sp>
      <p:sp>
        <p:nvSpPr>
          <p:cNvPr id="776" name="Google Shape;776;p16"/>
          <p:cNvSpPr txBox="1"/>
          <p:nvPr/>
        </p:nvSpPr>
        <p:spPr>
          <a:xfrm>
            <a:off x="1234440" y="135331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毎日・毎週くり返している作業から紹介</a:t>
            </a:r>
            <a:endParaRPr b="0" i="0" sz="1200" u="none" cap="none" strike="noStrike">
              <a:solidFill>
                <a:schemeClr val="dk1"/>
              </a:solidFill>
              <a:latin typeface="Calibri"/>
              <a:ea typeface="Calibri"/>
              <a:cs typeface="Calibri"/>
              <a:sym typeface="Calibri"/>
            </a:endParaRPr>
          </a:p>
        </p:txBody>
      </p:sp>
      <p:sp>
        <p:nvSpPr>
          <p:cNvPr id="777" name="Google Shape;777;p16"/>
          <p:cNvSpPr/>
          <p:nvPr/>
        </p:nvSpPr>
        <p:spPr>
          <a:xfrm>
            <a:off x="457200" y="192024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16"/>
          <p:cNvSpPr txBox="1"/>
          <p:nvPr/>
        </p:nvSpPr>
        <p:spPr>
          <a:xfrm>
            <a:off x="457200" y="192024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779" name="Google Shape;779;p16"/>
          <p:cNvSpPr txBox="1"/>
          <p:nvPr/>
        </p:nvSpPr>
        <p:spPr>
          <a:xfrm>
            <a:off x="1234440" y="19019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AIに任せられそうな工程</a:t>
            </a:r>
            <a:endParaRPr b="0" i="0" sz="1500" u="none" cap="none" strike="noStrike">
              <a:solidFill>
                <a:schemeClr val="dk1"/>
              </a:solidFill>
              <a:latin typeface="Calibri"/>
              <a:ea typeface="Calibri"/>
              <a:cs typeface="Calibri"/>
              <a:sym typeface="Calibri"/>
            </a:endParaRPr>
          </a:p>
        </p:txBody>
      </p:sp>
      <p:sp>
        <p:nvSpPr>
          <p:cNvPr id="780" name="Google Shape;780;p16"/>
          <p:cNvSpPr txBox="1"/>
          <p:nvPr/>
        </p:nvSpPr>
        <p:spPr>
          <a:xfrm>
            <a:off x="1234440" y="22219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業務全体ではなく「文章を書く部分」「まとめる部分」など工程で考える</a:t>
            </a:r>
            <a:endParaRPr b="0" i="0" sz="1200" u="none" cap="none" strike="noStrike">
              <a:solidFill>
                <a:schemeClr val="dk1"/>
              </a:solidFill>
              <a:latin typeface="Calibri"/>
              <a:ea typeface="Calibri"/>
              <a:cs typeface="Calibri"/>
              <a:sym typeface="Calibri"/>
            </a:endParaRPr>
          </a:p>
        </p:txBody>
      </p:sp>
      <p:sp>
        <p:nvSpPr>
          <p:cNvPr id="781" name="Google Shape;781;p16"/>
          <p:cNvSpPr/>
          <p:nvPr/>
        </p:nvSpPr>
        <p:spPr>
          <a:xfrm>
            <a:off x="457200" y="278892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6"/>
          <p:cNvSpPr txBox="1"/>
          <p:nvPr/>
        </p:nvSpPr>
        <p:spPr>
          <a:xfrm>
            <a:off x="457200" y="278892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783" name="Google Shape;783;p16"/>
          <p:cNvSpPr txBox="1"/>
          <p:nvPr/>
        </p:nvSpPr>
        <p:spPr>
          <a:xfrm>
            <a:off x="1234440" y="277063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メンバーからのアイデア</a:t>
            </a:r>
            <a:endParaRPr b="0" i="0" sz="1500" u="none" cap="none" strike="noStrike">
              <a:solidFill>
                <a:schemeClr val="dk1"/>
              </a:solidFill>
              <a:latin typeface="Calibri"/>
              <a:ea typeface="Calibri"/>
              <a:cs typeface="Calibri"/>
              <a:sym typeface="Calibri"/>
            </a:endParaRPr>
          </a:p>
        </p:txBody>
      </p:sp>
      <p:sp>
        <p:nvSpPr>
          <p:cNvPr id="784" name="Google Shape;784;p16"/>
          <p:cNvSpPr txBox="1"/>
          <p:nvPr/>
        </p:nvSpPr>
        <p:spPr>
          <a:xfrm>
            <a:off x="1234440" y="30906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「それAIでできそう」「自分はこう使っている」を出し合う</a:t>
            </a:r>
            <a:endParaRPr b="0" i="0" sz="1200" u="none" cap="none" strike="noStrike">
              <a:solidFill>
                <a:schemeClr val="dk1"/>
              </a:solidFill>
              <a:latin typeface="Calibri"/>
              <a:ea typeface="Calibri"/>
              <a:cs typeface="Calibri"/>
              <a:sym typeface="Calibri"/>
            </a:endParaRPr>
          </a:p>
        </p:txBody>
      </p:sp>
      <p:sp>
        <p:nvSpPr>
          <p:cNvPr id="785" name="Google Shape;785;p16"/>
          <p:cNvSpPr/>
          <p:nvPr/>
        </p:nvSpPr>
        <p:spPr>
          <a:xfrm>
            <a:off x="411480" y="3749040"/>
            <a:ext cx="8321040" cy="685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6"/>
          <p:cNvSpPr txBox="1"/>
          <p:nvPr/>
        </p:nvSpPr>
        <p:spPr>
          <a:xfrm>
            <a:off x="594360" y="3749040"/>
            <a:ext cx="79552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最後に、ワーク②で取り組む業務を一人1つ決めておきましょう</a:t>
            </a:r>
            <a:endParaRPr b="0" i="0" sz="1400" u="none" cap="none" strike="noStrike">
              <a:solidFill>
                <a:schemeClr val="dk1"/>
              </a:solidFill>
              <a:latin typeface="Calibri"/>
              <a:ea typeface="Calibri"/>
              <a:cs typeface="Calibri"/>
              <a:sym typeface="Calibri"/>
            </a:endParaRPr>
          </a:p>
        </p:txBody>
      </p:sp>
      <p:sp>
        <p:nvSpPr>
          <p:cNvPr id="787" name="Google Shape;787;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1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794" name="Google Shape;794;p1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95" name="Google Shape;795;p17"/>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96" name="Google Shape;796;p17"/>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797" name="Google Shape;797;p17"/>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14:</a:t>
            </a:r>
            <a:r>
              <a:rPr b="1" lang="en-US" sz="1800">
                <a:solidFill>
                  <a:srgbClr val="1F3A5F"/>
                </a:solidFill>
                <a:latin typeface="Meiryo"/>
                <a:ea typeface="Meiryo"/>
                <a:cs typeface="Meiryo"/>
                <a:sym typeface="Meiryo"/>
              </a:rPr>
              <a:t>30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798" name="Google Shape;798;p17"/>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一度のプロンプトで完結させようとする人が多い</a:t>
            </a:r>
            <a:endParaRPr b="0" i="0" sz="1400" u="none" cap="none" strike="noStrike">
              <a:solidFill>
                <a:schemeClr val="dk1"/>
              </a:solidFill>
              <a:latin typeface="Calibri"/>
              <a:ea typeface="Calibri"/>
              <a:cs typeface="Calibri"/>
              <a:sym typeface="Calibri"/>
            </a:endParaRPr>
          </a:p>
        </p:txBody>
      </p:sp>
      <p:sp>
        <p:nvSpPr>
          <p:cNvPr id="799" name="Google Shape;799;p17"/>
          <p:cNvSpPr txBox="1"/>
          <p:nvPr/>
        </p:nvSpPr>
        <p:spPr>
          <a:xfrm>
            <a:off x="685800" y="2606040"/>
            <a:ext cx="8046720" cy="6400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「対話」を意識しましょう</a:t>
            </a:r>
            <a:endParaRPr b="0" i="0" sz="1200" u="none" cap="none" strike="noStrike">
              <a:solidFill>
                <a:schemeClr val="dk1"/>
              </a:solidFill>
              <a:latin typeface="Calibri"/>
              <a:ea typeface="Calibri"/>
              <a:cs typeface="Calibri"/>
              <a:sym typeface="Calibri"/>
            </a:endParaRPr>
          </a:p>
          <a:p>
            <a:pPr indent="-304800" lvl="1" marL="9144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例）先ほどの出力に「価格」の列を追加して、表にしてください</a:t>
            </a:r>
            <a:endParaRPr b="0" i="0" sz="1200" u="none" cap="none" strike="noStrike">
              <a:solidFill>
                <a:schemeClr val="dk1"/>
              </a:solidFill>
              <a:latin typeface="Calibri"/>
              <a:ea typeface="Calibri"/>
              <a:cs typeface="Calibri"/>
              <a:sym typeface="Calibri"/>
            </a:endParaRPr>
          </a:p>
        </p:txBody>
      </p:sp>
      <p:sp>
        <p:nvSpPr>
          <p:cNvPr id="800" name="Google Shape;800;p17"/>
          <p:cNvSpPr txBox="1"/>
          <p:nvPr/>
        </p:nvSpPr>
        <p:spPr>
          <a:xfrm>
            <a:off x="502920" y="3383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話題ごとにチャットを切り替える</a:t>
            </a:r>
            <a:endParaRPr b="0" i="0" sz="1400" u="none" cap="none" strike="noStrike">
              <a:solidFill>
                <a:schemeClr val="dk1"/>
              </a:solidFill>
              <a:latin typeface="Calibri"/>
              <a:ea typeface="Calibri"/>
              <a:cs typeface="Calibri"/>
              <a:sym typeface="Calibri"/>
            </a:endParaRPr>
          </a:p>
        </p:txBody>
      </p:sp>
      <p:sp>
        <p:nvSpPr>
          <p:cNvPr id="801" name="Google Shape;801;p17"/>
          <p:cNvSpPr txBox="1"/>
          <p:nvPr/>
        </p:nvSpPr>
        <p:spPr>
          <a:xfrm>
            <a:off x="685800" y="3749040"/>
            <a:ext cx="8046720" cy="36576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違う話題を続けると、前の内容に引っ張られて精度が落ちます</a:t>
            </a:r>
            <a:endParaRPr b="0" i="0" sz="1200" u="none" cap="none" strike="noStrike">
              <a:solidFill>
                <a:schemeClr val="dk1"/>
              </a:solidFill>
              <a:latin typeface="Calibri"/>
              <a:ea typeface="Calibri"/>
              <a:cs typeface="Calibri"/>
              <a:sym typeface="Calibri"/>
            </a:endParaRPr>
          </a:p>
        </p:txBody>
      </p:sp>
      <p:sp>
        <p:nvSpPr>
          <p:cNvPr id="802" name="Google Shape;802;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g40a0daa3361_0_26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08" name="Google Shape;808;g40a0daa3361_0_26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09" name="Google Shape;809;g40a0daa3361_0_26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10" name="Google Shape;810;g40a0daa3361_0_26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11" name="Google Shape;811;g40a0daa3361_0_26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04</a:t>
            </a:r>
            <a:endParaRPr b="0" i="0" sz="2800" u="none" cap="none" strike="noStrike">
              <a:solidFill>
                <a:schemeClr val="dk1"/>
              </a:solidFill>
              <a:latin typeface="Calibri"/>
              <a:ea typeface="Calibri"/>
              <a:cs typeface="Calibri"/>
              <a:sym typeface="Calibri"/>
            </a:endParaRPr>
          </a:p>
        </p:txBody>
      </p:sp>
      <p:sp>
        <p:nvSpPr>
          <p:cNvPr id="812" name="Google Shape;812;g40a0daa3361_0_26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ワーク②</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プロンプト作成・実行・改善</a:t>
            </a:r>
            <a:endParaRPr b="0" i="0" sz="3000" u="none" cap="none" strike="noStrike">
              <a:solidFill>
                <a:schemeClr val="dk1"/>
              </a:solidFill>
              <a:latin typeface="Calibri"/>
              <a:ea typeface="Calibri"/>
              <a:cs typeface="Calibri"/>
              <a:sym typeface="Calibri"/>
            </a:endParaRPr>
          </a:p>
        </p:txBody>
      </p:sp>
      <p:sp>
        <p:nvSpPr>
          <p:cNvPr id="813" name="Google Shape;813;g40a0daa3361_0_26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14:</a:t>
            </a:r>
            <a:r>
              <a:rPr lang="en-US">
                <a:solidFill>
                  <a:srgbClr val="C9D3E0"/>
                </a:solidFill>
                <a:latin typeface="Meiryo"/>
                <a:ea typeface="Meiryo"/>
                <a:cs typeface="Meiryo"/>
                <a:sym typeface="Meiryo"/>
              </a:rPr>
              <a:t>30</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5</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00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8" name="Shape 818"/>
        <p:cNvGrpSpPr/>
        <p:nvPr/>
      </p:nvGrpSpPr>
      <p:grpSpPr>
        <a:xfrm>
          <a:off x="0" y="0"/>
          <a:ext cx="0" cy="0"/>
          <a:chOff x="0" y="0"/>
          <a:chExt cx="0" cy="0"/>
        </a:xfrm>
      </p:grpSpPr>
      <p:sp>
        <p:nvSpPr>
          <p:cNvPr id="819" name="Google Shape;819;p2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プロンプト作成・実行・改善</a:t>
            </a:r>
            <a:endParaRPr b="0" i="0" sz="2200" u="none" cap="none" strike="noStrike">
              <a:solidFill>
                <a:schemeClr val="dk1"/>
              </a:solidFill>
              <a:latin typeface="Calibri"/>
              <a:ea typeface="Calibri"/>
              <a:cs typeface="Calibri"/>
              <a:sym typeface="Calibri"/>
            </a:endParaRPr>
          </a:p>
        </p:txBody>
      </p:sp>
      <p:sp>
        <p:nvSpPr>
          <p:cNvPr id="820" name="Google Shape;820;p2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 name="Google Shape;821;p2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22" name="Google Shape;822;p2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23" name="Google Shape;823;p27"/>
          <p:cNvSpPr/>
          <p:nvPr/>
        </p:nvSpPr>
        <p:spPr>
          <a:xfrm>
            <a:off x="411475" y="1254325"/>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27"/>
          <p:cNvSpPr/>
          <p:nvPr/>
        </p:nvSpPr>
        <p:spPr>
          <a:xfrm>
            <a:off x="896112"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27"/>
          <p:cNvSpPr txBox="1"/>
          <p:nvPr/>
        </p:nvSpPr>
        <p:spPr>
          <a:xfrm>
            <a:off x="896112"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826" name="Google Shape;826;p27"/>
          <p:cNvSpPr txBox="1"/>
          <p:nvPr/>
        </p:nvSpPr>
        <p:spPr>
          <a:xfrm>
            <a:off x="484632"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業務を選ぶ</a:t>
            </a:r>
            <a:endParaRPr b="0" i="0" sz="1350" u="none" cap="none" strike="noStrike">
              <a:solidFill>
                <a:schemeClr val="dk1"/>
              </a:solidFill>
              <a:latin typeface="Calibri"/>
              <a:ea typeface="Calibri"/>
              <a:cs typeface="Calibri"/>
              <a:sym typeface="Calibri"/>
            </a:endParaRPr>
          </a:p>
        </p:txBody>
      </p:sp>
      <p:sp>
        <p:nvSpPr>
          <p:cNvPr id="827" name="Google Shape;827;p27"/>
          <p:cNvSpPr/>
          <p:nvPr/>
        </p:nvSpPr>
        <p:spPr>
          <a:xfrm>
            <a:off x="2093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27"/>
          <p:cNvSpPr/>
          <p:nvPr/>
        </p:nvSpPr>
        <p:spPr>
          <a:xfrm>
            <a:off x="2578608"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27"/>
          <p:cNvSpPr txBox="1"/>
          <p:nvPr/>
        </p:nvSpPr>
        <p:spPr>
          <a:xfrm>
            <a:off x="2578608"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830" name="Google Shape;830;p27"/>
          <p:cNvSpPr txBox="1"/>
          <p:nvPr/>
        </p:nvSpPr>
        <p:spPr>
          <a:xfrm>
            <a:off x="2167128"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まずは短く</a:t>
            </a:r>
            <a:endParaRPr b="0" i="0" sz="1350" u="none" cap="none" strike="noStrike">
              <a:solidFill>
                <a:schemeClr val="dk1"/>
              </a:solidFill>
              <a:latin typeface="Calibri"/>
              <a:ea typeface="Calibri"/>
              <a:cs typeface="Calibri"/>
              <a:sym typeface="Calibri"/>
            </a:endParaRPr>
          </a:p>
        </p:txBody>
      </p:sp>
      <p:sp>
        <p:nvSpPr>
          <p:cNvPr id="831" name="Google Shape;831;p27"/>
          <p:cNvSpPr/>
          <p:nvPr/>
        </p:nvSpPr>
        <p:spPr>
          <a:xfrm>
            <a:off x="37764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27"/>
          <p:cNvSpPr/>
          <p:nvPr/>
        </p:nvSpPr>
        <p:spPr>
          <a:xfrm>
            <a:off x="4261104"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27"/>
          <p:cNvSpPr txBox="1"/>
          <p:nvPr/>
        </p:nvSpPr>
        <p:spPr>
          <a:xfrm>
            <a:off x="4261104"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834" name="Google Shape;834;p27"/>
          <p:cNvSpPr txBox="1"/>
          <p:nvPr/>
        </p:nvSpPr>
        <p:spPr>
          <a:xfrm>
            <a:off x="3849624"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4要素で書き直す</a:t>
            </a:r>
            <a:endParaRPr b="0" i="0" sz="1350" u="none" cap="none" strike="noStrike">
              <a:solidFill>
                <a:schemeClr val="dk1"/>
              </a:solidFill>
              <a:latin typeface="Calibri"/>
              <a:ea typeface="Calibri"/>
              <a:cs typeface="Calibri"/>
              <a:sym typeface="Calibri"/>
            </a:endParaRPr>
          </a:p>
        </p:txBody>
      </p:sp>
      <p:sp>
        <p:nvSpPr>
          <p:cNvPr id="835" name="Google Shape;835;p27"/>
          <p:cNvSpPr/>
          <p:nvPr/>
        </p:nvSpPr>
        <p:spPr>
          <a:xfrm>
            <a:off x="5458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27"/>
          <p:cNvSpPr/>
          <p:nvPr/>
        </p:nvSpPr>
        <p:spPr>
          <a:xfrm>
            <a:off x="5943600"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27"/>
          <p:cNvSpPr txBox="1"/>
          <p:nvPr/>
        </p:nvSpPr>
        <p:spPr>
          <a:xfrm>
            <a:off x="5943600"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4</a:t>
            </a:r>
            <a:endParaRPr b="0" i="0" sz="1800" u="none" cap="none" strike="noStrike">
              <a:solidFill>
                <a:schemeClr val="dk1"/>
              </a:solidFill>
              <a:latin typeface="Calibri"/>
              <a:ea typeface="Calibri"/>
              <a:cs typeface="Calibri"/>
              <a:sym typeface="Calibri"/>
            </a:endParaRPr>
          </a:p>
        </p:txBody>
      </p:sp>
      <p:sp>
        <p:nvSpPr>
          <p:cNvPr id="838" name="Google Shape;838;p27"/>
          <p:cNvSpPr txBox="1"/>
          <p:nvPr/>
        </p:nvSpPr>
        <p:spPr>
          <a:xfrm>
            <a:off x="5532120"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対話で直す</a:t>
            </a:r>
            <a:endParaRPr b="0" i="0" sz="1350" u="none" cap="none" strike="noStrike">
              <a:solidFill>
                <a:schemeClr val="dk1"/>
              </a:solidFill>
              <a:latin typeface="Calibri"/>
              <a:ea typeface="Calibri"/>
              <a:cs typeface="Calibri"/>
              <a:sym typeface="Calibri"/>
            </a:endParaRPr>
          </a:p>
        </p:txBody>
      </p:sp>
      <p:sp>
        <p:nvSpPr>
          <p:cNvPr id="839" name="Google Shape;839;p27"/>
          <p:cNvSpPr/>
          <p:nvPr/>
        </p:nvSpPr>
        <p:spPr>
          <a:xfrm>
            <a:off x="7141475" y="1254320"/>
            <a:ext cx="1518000" cy="1188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 name="Google Shape;840;p27"/>
          <p:cNvSpPr/>
          <p:nvPr/>
        </p:nvSpPr>
        <p:spPr>
          <a:xfrm>
            <a:off x="7626096" y="1391475"/>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 name="Google Shape;841;p27"/>
          <p:cNvSpPr txBox="1"/>
          <p:nvPr/>
        </p:nvSpPr>
        <p:spPr>
          <a:xfrm>
            <a:off x="7626096"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5</a:t>
            </a:r>
            <a:endParaRPr b="0" i="0" sz="1800" u="none" cap="none" strike="noStrike">
              <a:solidFill>
                <a:schemeClr val="dk1"/>
              </a:solidFill>
              <a:latin typeface="Calibri"/>
              <a:ea typeface="Calibri"/>
              <a:cs typeface="Calibri"/>
              <a:sym typeface="Calibri"/>
            </a:endParaRPr>
          </a:p>
        </p:txBody>
      </p:sp>
      <p:sp>
        <p:nvSpPr>
          <p:cNvPr id="842" name="Google Shape;842;p27"/>
          <p:cNvSpPr txBox="1"/>
          <p:nvPr/>
        </p:nvSpPr>
        <p:spPr>
          <a:xfrm>
            <a:off x="7214616"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1つ選ぶ</a:t>
            </a:r>
            <a:endParaRPr b="0" i="0" sz="1350" u="none" cap="none" strike="noStrike">
              <a:solidFill>
                <a:schemeClr val="dk1"/>
              </a:solidFill>
              <a:latin typeface="Calibri"/>
              <a:ea typeface="Calibri"/>
              <a:cs typeface="Calibri"/>
              <a:sym typeface="Calibri"/>
            </a:endParaRPr>
          </a:p>
        </p:txBody>
      </p:sp>
      <p:sp>
        <p:nvSpPr>
          <p:cNvPr id="843" name="Google Shape;843;p27"/>
          <p:cNvSpPr txBox="1"/>
          <p:nvPr/>
        </p:nvSpPr>
        <p:spPr>
          <a:xfrm>
            <a:off x="374925" y="2603271"/>
            <a:ext cx="8321100" cy="174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a:p>
            <a:pPr indent="-215900" lvl="0" marL="177800" marR="0" rtl="0" algn="l">
              <a:lnSpc>
                <a:spcPct val="100000"/>
              </a:lnSpc>
              <a:spcBef>
                <a:spcPts val="600"/>
              </a:spcBef>
              <a:spcAft>
                <a:spcPts val="0"/>
              </a:spcAft>
              <a:buClr>
                <a:srgbClr val="222222"/>
              </a:buClr>
              <a:buSzPts val="1800"/>
              <a:buFont typeface="Meiryo"/>
              <a:buChar char="•"/>
            </a:pPr>
            <a:r>
              <a:rPr b="0" i="0" lang="en-US" sz="1800" u="none" cap="none" strike="noStrike">
                <a:solidFill>
                  <a:srgbClr val="222222"/>
                </a:solidFill>
                <a:latin typeface="Meiryo"/>
                <a:ea typeface="Meiryo"/>
                <a:cs typeface="Meiryo"/>
                <a:sym typeface="Meiryo"/>
              </a:rPr>
              <a:t>何を書けばいいか分からないときは「足りない情報を質問してください」</a:t>
            </a:r>
            <a:endParaRPr b="0" i="0" sz="1800" u="none" cap="none" strike="noStrike">
              <a:solidFill>
                <a:srgbClr val="222222"/>
              </a:solidFill>
              <a:latin typeface="Meiryo"/>
              <a:ea typeface="Meiryo"/>
              <a:cs typeface="Meiryo"/>
              <a:sym typeface="Meiryo"/>
            </a:endParaRPr>
          </a:p>
          <a:p>
            <a:pPr indent="0" lvl="0" marL="457200" marR="0" rtl="0" algn="l">
              <a:lnSpc>
                <a:spcPct val="100000"/>
              </a:lnSpc>
              <a:spcBef>
                <a:spcPts val="600"/>
              </a:spcBef>
              <a:spcAft>
                <a:spcPts val="0"/>
              </a:spcAft>
              <a:buNone/>
            </a:pPr>
            <a:r>
              <a:t/>
            </a:r>
            <a:endParaRPr sz="1800">
              <a:solidFill>
                <a:srgbClr val="222222"/>
              </a:solidFill>
              <a:latin typeface="Meiryo"/>
              <a:ea typeface="Meiryo"/>
              <a:cs typeface="Meiryo"/>
              <a:sym typeface="Meiryo"/>
            </a:endParaRPr>
          </a:p>
          <a:p>
            <a:pPr indent="-215900" lvl="0" marL="177800" marR="0" rtl="0" algn="l">
              <a:lnSpc>
                <a:spcPct val="100000"/>
              </a:lnSpc>
              <a:spcBef>
                <a:spcPts val="600"/>
              </a:spcBef>
              <a:spcAft>
                <a:spcPts val="0"/>
              </a:spcAft>
              <a:buClr>
                <a:srgbClr val="222222"/>
              </a:buClr>
              <a:buSzPts val="1800"/>
              <a:buFont typeface="Meiryo"/>
              <a:buChar char="•"/>
            </a:pPr>
            <a:r>
              <a:rPr b="0" i="0" lang="en-US" sz="1800" u="none" cap="none" strike="noStrike">
                <a:solidFill>
                  <a:srgbClr val="222222"/>
                </a:solidFill>
                <a:latin typeface="Meiryo"/>
                <a:ea typeface="Meiryo"/>
                <a:cs typeface="Meiryo"/>
                <a:sym typeface="Meiryo"/>
              </a:rPr>
              <a:t>終了3分前になったら、グループで発表するプロンプトを1つ選びます</a:t>
            </a:r>
            <a:endParaRPr b="0" i="0" sz="1800" u="none" cap="none" strike="noStrike">
              <a:solidFill>
                <a:schemeClr val="dk1"/>
              </a:solidFill>
              <a:latin typeface="Calibri"/>
              <a:ea typeface="Calibri"/>
              <a:cs typeface="Calibri"/>
              <a:sym typeface="Calibri"/>
            </a:endParaRPr>
          </a:p>
        </p:txBody>
      </p:sp>
      <p:sp>
        <p:nvSpPr>
          <p:cNvPr id="844" name="Google Shape;844;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9" name="Shape 849"/>
        <p:cNvGrpSpPr/>
        <p:nvPr/>
      </p:nvGrpSpPr>
      <p:grpSpPr>
        <a:xfrm>
          <a:off x="0" y="0"/>
          <a:ext cx="0" cy="0"/>
          <a:chOff x="0" y="0"/>
          <a:chExt cx="0" cy="0"/>
        </a:xfrm>
      </p:grpSpPr>
      <p:sp>
        <p:nvSpPr>
          <p:cNvPr id="850" name="Google Shape;850;p2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プロンプトの型（そのまま使えます）</a:t>
            </a:r>
            <a:endParaRPr b="0" i="0" sz="2200" u="none" cap="none" strike="noStrike">
              <a:solidFill>
                <a:schemeClr val="dk1"/>
              </a:solidFill>
              <a:latin typeface="Calibri"/>
              <a:ea typeface="Calibri"/>
              <a:cs typeface="Calibri"/>
              <a:sym typeface="Calibri"/>
            </a:endParaRPr>
          </a:p>
        </p:txBody>
      </p:sp>
      <p:sp>
        <p:nvSpPr>
          <p:cNvPr id="851" name="Google Shape;851;p2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 name="Google Shape;852;p2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53" name="Google Shape;853;p2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54" name="Google Shape;854;p28"/>
          <p:cNvSpPr txBox="1"/>
          <p:nvPr/>
        </p:nvSpPr>
        <p:spPr>
          <a:xfrm>
            <a:off x="393192" y="868680"/>
            <a:ext cx="1828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300" u="none" cap="none" strike="noStrike">
                <a:solidFill>
                  <a:srgbClr val="6B7280"/>
                </a:solidFill>
                <a:latin typeface="Meiryo"/>
                <a:ea typeface="Meiryo"/>
                <a:cs typeface="Meiryo"/>
                <a:sym typeface="Meiryo"/>
              </a:rPr>
              <a:t>テンプレート</a:t>
            </a:r>
            <a:endParaRPr b="0" i="0" sz="1300" u="none" cap="none" strike="noStrike">
              <a:solidFill>
                <a:schemeClr val="dk1"/>
              </a:solidFill>
              <a:latin typeface="Calibri"/>
              <a:ea typeface="Calibri"/>
              <a:cs typeface="Calibri"/>
              <a:sym typeface="Calibri"/>
            </a:endParaRPr>
          </a:p>
        </p:txBody>
      </p:sp>
      <p:sp>
        <p:nvSpPr>
          <p:cNvPr id="855" name="Google Shape;855;p28"/>
          <p:cNvSpPr/>
          <p:nvPr/>
        </p:nvSpPr>
        <p:spPr>
          <a:xfrm>
            <a:off x="411480" y="1115568"/>
            <a:ext cx="4846320" cy="3291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28"/>
          <p:cNvSpPr txBox="1"/>
          <p:nvPr/>
        </p:nvSpPr>
        <p:spPr>
          <a:xfrm>
            <a:off x="640080" y="1325880"/>
            <a:ext cx="4434840" cy="2926080"/>
          </a:xfrm>
          <a:prstGeom prst="rect">
            <a:avLst/>
          </a:prstGeom>
          <a:noFill/>
          <a:ln>
            <a:noFill/>
          </a:ln>
        </p:spPr>
        <p:txBody>
          <a:bodyPr anchorCtr="0" anchor="t" bIns="0" lIns="0" spcFirstLastPara="1" rIns="0" wrap="square" tIns="0">
            <a:noAutofit/>
          </a:bodyPr>
          <a:lstStyle/>
          <a:p>
            <a:pPr indent="0" lvl="0" marL="0" marR="0" rtl="0" algn="l">
              <a:lnSpc>
                <a:spcPct val="155000"/>
              </a:lnSpc>
              <a:spcBef>
                <a:spcPts val="0"/>
              </a:spcBef>
              <a:spcAft>
                <a:spcPts val="0"/>
              </a:spcAft>
              <a:buClr>
                <a:srgbClr val="222222"/>
              </a:buClr>
              <a:buSzPts val="1300"/>
              <a:buFont typeface="Meiryo"/>
              <a:buNone/>
            </a:pPr>
            <a:r>
              <a:rPr b="0" i="0" lang="en-US" sz="1600" u="none" cap="none" strike="noStrike">
                <a:solidFill>
                  <a:srgbClr val="222222"/>
                </a:solidFill>
                <a:latin typeface="Meiryo"/>
                <a:ea typeface="Meiryo"/>
                <a:cs typeface="Meiryo"/>
                <a:sym typeface="Meiryo"/>
              </a:rPr>
              <a:t>あなたは【役割】です。</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【前提】</a:t>
            </a:r>
            <a:r>
              <a:rPr b="0" i="0" lang="en-US" sz="1600" u="none" cap="none" strike="noStrike">
                <a:solidFill>
                  <a:srgbClr val="222222"/>
                </a:solidFill>
                <a:latin typeface="Meiryo"/>
                <a:ea typeface="Meiryo"/>
                <a:cs typeface="Meiryo"/>
                <a:sym typeface="Meiryo"/>
              </a:rPr>
              <a:t>誰が・何のために・どんな状況で</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E8702A"/>
              </a:buClr>
              <a:buSzPts val="1300"/>
              <a:buFont typeface="Meiryo"/>
              <a:buNone/>
            </a:pPr>
            <a:r>
              <a:rPr b="1" i="0" lang="en-US" sz="1600" u="none" cap="none" strike="noStrike">
                <a:solidFill>
                  <a:srgbClr val="E8702A"/>
                </a:solidFill>
                <a:latin typeface="Meiryo"/>
                <a:ea typeface="Meiryo"/>
                <a:cs typeface="Meiryo"/>
                <a:sym typeface="Meiryo"/>
              </a:rPr>
              <a:t>【素材】</a:t>
            </a:r>
            <a:r>
              <a:rPr b="0" i="0" lang="en-US" sz="1600" u="none" cap="none" strike="noStrike">
                <a:solidFill>
                  <a:srgbClr val="222222"/>
                </a:solidFill>
                <a:latin typeface="Meiryo"/>
                <a:ea typeface="Meiryo"/>
                <a:cs typeface="Meiryo"/>
                <a:sym typeface="Meiryo"/>
              </a:rPr>
              <a:t>データ・文章・画像をここに貼る</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【お手本】</a:t>
            </a:r>
            <a:r>
              <a:rPr b="0" i="0" lang="en-US" sz="1600" u="none" cap="none" strike="noStrike">
                <a:solidFill>
                  <a:srgbClr val="222222"/>
                </a:solidFill>
                <a:latin typeface="Meiryo"/>
                <a:ea typeface="Meiryo"/>
                <a:cs typeface="Meiryo"/>
                <a:sym typeface="Meiryo"/>
              </a:rPr>
              <a:t>過去の良い例があれば</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【制約】</a:t>
            </a:r>
            <a:r>
              <a:rPr b="0" i="0" lang="en-US" sz="1600" u="none" cap="none" strike="noStrike">
                <a:solidFill>
                  <a:srgbClr val="222222"/>
                </a:solidFill>
                <a:latin typeface="Meiryo"/>
                <a:ea typeface="Meiryo"/>
                <a:cs typeface="Meiryo"/>
                <a:sym typeface="Meiryo"/>
              </a:rPr>
              <a:t>文字数・表記ルール・NG表現</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【出力】</a:t>
            </a:r>
            <a:r>
              <a:rPr b="0" i="0" lang="en-US" sz="1600" u="none" cap="none" strike="noStrike">
                <a:solidFill>
                  <a:srgbClr val="222222"/>
                </a:solidFill>
                <a:latin typeface="Meiryo"/>
                <a:ea typeface="Meiryo"/>
                <a:cs typeface="Meiryo"/>
                <a:sym typeface="Meiryo"/>
              </a:rPr>
              <a:t>形式・用途・案の数</a:t>
            </a:r>
            <a:endParaRPr b="0" i="0" sz="1600" u="none" cap="none" strike="noStrike">
              <a:solidFill>
                <a:schemeClr val="dk1"/>
              </a:solidFill>
              <a:latin typeface="Calibri"/>
              <a:ea typeface="Calibri"/>
              <a:cs typeface="Calibri"/>
              <a:sym typeface="Calibri"/>
            </a:endParaRPr>
          </a:p>
        </p:txBody>
      </p:sp>
      <p:sp>
        <p:nvSpPr>
          <p:cNvPr id="857" name="Google Shape;857;p28"/>
          <p:cNvSpPr/>
          <p:nvPr/>
        </p:nvSpPr>
        <p:spPr>
          <a:xfrm>
            <a:off x="5532120" y="1115568"/>
            <a:ext cx="3200400" cy="3291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 name="Google Shape;858;p28"/>
          <p:cNvSpPr txBox="1"/>
          <p:nvPr/>
        </p:nvSpPr>
        <p:spPr>
          <a:xfrm>
            <a:off x="5760720" y="1280160"/>
            <a:ext cx="2834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50"/>
              <a:buFont typeface="Meiryo"/>
              <a:buNone/>
            </a:pPr>
            <a:r>
              <a:rPr b="1" i="0" lang="en-US" sz="1350" u="none" cap="none" strike="noStrike">
                <a:solidFill>
                  <a:srgbClr val="1F3A5F"/>
                </a:solidFill>
                <a:latin typeface="Meiryo"/>
                <a:ea typeface="Meiryo"/>
                <a:cs typeface="Meiryo"/>
                <a:sym typeface="Meiryo"/>
              </a:rPr>
              <a:t>修正のひと言 例</a:t>
            </a:r>
            <a:endParaRPr b="0" i="0" sz="1350" u="none" cap="none" strike="noStrike">
              <a:solidFill>
                <a:schemeClr val="dk1"/>
              </a:solidFill>
              <a:latin typeface="Calibri"/>
              <a:ea typeface="Calibri"/>
              <a:cs typeface="Calibri"/>
              <a:sym typeface="Calibri"/>
            </a:endParaRPr>
          </a:p>
        </p:txBody>
      </p:sp>
      <p:sp>
        <p:nvSpPr>
          <p:cNvPr id="859" name="Google Shape;859;p28"/>
          <p:cNvSpPr txBox="1"/>
          <p:nvPr/>
        </p:nvSpPr>
        <p:spPr>
          <a:xfrm>
            <a:off x="5760720" y="1737360"/>
            <a:ext cx="2834640" cy="2560320"/>
          </a:xfrm>
          <a:prstGeom prst="rect">
            <a:avLst/>
          </a:prstGeom>
          <a:noFill/>
          <a:ln>
            <a:noFill/>
          </a:ln>
        </p:spPr>
        <p:txBody>
          <a:bodyPr anchorCtr="0" anchor="t" bIns="0" lIns="0" spcFirstLastPara="1" rIns="0" wrap="square" tIns="0">
            <a:noAutofit/>
          </a:bodyPr>
          <a:lstStyle/>
          <a:p>
            <a:pPr indent="-196850" lvl="0" marL="177800" marR="0" rtl="0" algn="l">
              <a:lnSpc>
                <a:spcPct val="100000"/>
              </a:lnSpc>
              <a:spcBef>
                <a:spcPts val="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もっと短くしてください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lang="en-US" sz="1450">
                <a:solidFill>
                  <a:srgbClr val="222222"/>
                </a:solidFill>
                <a:latin typeface="Meiryo"/>
                <a:ea typeface="Meiryo"/>
                <a:cs typeface="Meiryo"/>
                <a:sym typeface="Meiryo"/>
              </a:rPr>
              <a:t>こども</a:t>
            </a:r>
            <a:r>
              <a:rPr b="0" i="0" lang="en-US" sz="1450" u="none" cap="none" strike="noStrike">
                <a:solidFill>
                  <a:srgbClr val="222222"/>
                </a:solidFill>
                <a:latin typeface="Meiryo"/>
                <a:ea typeface="Meiryo"/>
                <a:cs typeface="Meiryo"/>
                <a:sym typeface="Meiryo"/>
              </a:rPr>
              <a:t>にも伝わる言葉にしてください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表の形にしてください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2案目をベースに、見出しだけ変えてください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足りない情報があれば質問してください</a:t>
            </a:r>
            <a:endParaRPr b="0" i="0" sz="1450" u="none" cap="none" strike="noStrike">
              <a:solidFill>
                <a:schemeClr val="dk1"/>
              </a:solidFill>
              <a:latin typeface="Calibri"/>
              <a:ea typeface="Calibri"/>
              <a:cs typeface="Calibri"/>
              <a:sym typeface="Calibri"/>
            </a:endParaRPr>
          </a:p>
        </p:txBody>
      </p:sp>
      <p:sp>
        <p:nvSpPr>
          <p:cNvPr id="860" name="Google Shape;860;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5" name="Shape 865"/>
        <p:cNvGrpSpPr/>
        <p:nvPr/>
      </p:nvGrpSpPr>
      <p:grpSpPr>
        <a:xfrm>
          <a:off x="0" y="0"/>
          <a:ext cx="0" cy="0"/>
          <a:chOff x="0" y="0"/>
          <a:chExt cx="0" cy="0"/>
        </a:xfrm>
      </p:grpSpPr>
      <p:sp>
        <p:nvSpPr>
          <p:cNvPr id="866" name="Google Shape;866;p2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成果発表</a:t>
            </a:r>
            <a:endParaRPr b="0" i="0" sz="2200" u="none" cap="none" strike="noStrike">
              <a:solidFill>
                <a:schemeClr val="dk1"/>
              </a:solidFill>
              <a:latin typeface="Calibri"/>
              <a:ea typeface="Calibri"/>
              <a:cs typeface="Calibri"/>
              <a:sym typeface="Calibri"/>
            </a:endParaRPr>
          </a:p>
        </p:txBody>
      </p:sp>
      <p:sp>
        <p:nvSpPr>
          <p:cNvPr id="867" name="Google Shape;867;p2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68" name="Google Shape;868;p2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lang="en-US" sz="1500">
                <a:solidFill>
                  <a:srgbClr val="1F3A5F"/>
                </a:solidFill>
                <a:latin typeface="Meiryo"/>
                <a:ea typeface="Meiryo"/>
                <a:cs typeface="Meiryo"/>
                <a:sym typeface="Meiryo"/>
              </a:rPr>
              <a:t>横の人とペアで／</a:t>
            </a:r>
            <a:r>
              <a:rPr b="1" i="0" lang="en-US" sz="1500" u="none" cap="none" strike="noStrike">
                <a:solidFill>
                  <a:srgbClr val="1F3A5F"/>
                </a:solidFill>
                <a:latin typeface="Meiryo"/>
                <a:ea typeface="Meiryo"/>
                <a:cs typeface="Meiryo"/>
                <a:sym typeface="Meiryo"/>
              </a:rPr>
              <a:t> 2分／代表者</a:t>
            </a:r>
            <a:endParaRPr b="0" i="0" sz="1500" u="none" cap="none" strike="noStrike">
              <a:solidFill>
                <a:schemeClr val="dk1"/>
              </a:solidFill>
              <a:latin typeface="Calibri"/>
              <a:ea typeface="Calibri"/>
              <a:cs typeface="Calibri"/>
              <a:sym typeface="Calibri"/>
            </a:endParaRPr>
          </a:p>
        </p:txBody>
      </p:sp>
      <p:sp>
        <p:nvSpPr>
          <p:cNvPr id="869" name="Google Shape;869;p29"/>
          <p:cNvSpPr txBox="1"/>
          <p:nvPr/>
        </p:nvSpPr>
        <p:spPr>
          <a:xfrm>
            <a:off x="411475" y="1417288"/>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①取り組んだ業務と、困っていた内容</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②プロンプトの中身は</a:t>
            </a:r>
            <a:endParaRPr sz="2000"/>
          </a:p>
          <a:p>
            <a:pPr indent="0" lvl="0" marL="0" rtl="0" algn="l">
              <a:lnSpc>
                <a:spcPct val="150000"/>
              </a:lnSpc>
              <a:spcBef>
                <a:spcPts val="0"/>
              </a:spcBef>
              <a:spcAft>
                <a:spcPts val="0"/>
              </a:spcAft>
              <a:buNone/>
            </a:pPr>
            <a:r>
              <a:rPr lang="en-US" sz="2000"/>
              <a:t>（</a:t>
            </a:r>
            <a:r>
              <a:rPr lang="en-US" sz="2000"/>
              <a:t>前提・素材・お手本・制約のうち何を入れたか</a:t>
            </a:r>
            <a:r>
              <a:rPr lang="en-US" sz="2000"/>
              <a:t>）</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③どう変わったか、欲しい答えが出たか</a:t>
            </a:r>
            <a:endParaRPr sz="2000"/>
          </a:p>
          <a:p>
            <a:pPr indent="0" lvl="0" marL="0" rtl="0" algn="l">
              <a:lnSpc>
                <a:spcPct val="150000"/>
              </a:lnSpc>
              <a:spcBef>
                <a:spcPts val="0"/>
              </a:spcBef>
              <a:spcAft>
                <a:spcPts val="0"/>
              </a:spcAft>
              <a:buNone/>
            </a:pPr>
            <a:r>
              <a:rPr lang="en-US" sz="2000"/>
              <a:t>（最初の結果と比べて、何が良くなったか）</a:t>
            </a:r>
            <a:endParaRPr sz="2000"/>
          </a:p>
        </p:txBody>
      </p:sp>
      <p:sp>
        <p:nvSpPr>
          <p:cNvPr id="870" name="Google Shape;870;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3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877" name="Google Shape;877;p3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78" name="Google Shape;878;p30"/>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79" name="Google Shape;879;p30"/>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880" name="Google Shape;880;p30"/>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15:</a:t>
            </a:r>
            <a:r>
              <a:rPr b="1" lang="en-US" sz="1800">
                <a:solidFill>
                  <a:srgbClr val="1F3A5F"/>
                </a:solidFill>
                <a:latin typeface="Meiryo"/>
                <a:ea typeface="Meiryo"/>
                <a:cs typeface="Meiryo"/>
                <a:sym typeface="Meiryo"/>
              </a:rPr>
              <a:t>10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881" name="Google Shape;881;p30"/>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800" u="none" cap="none" strike="noStrike">
                <a:solidFill>
                  <a:srgbClr val="222222"/>
                </a:solidFill>
                <a:latin typeface="Meiryo"/>
                <a:ea typeface="Meiryo"/>
                <a:cs typeface="Meiryo"/>
                <a:sym typeface="Meiryo"/>
              </a:rPr>
              <a:t>後半は「販促物づくり」です。休憩中に準備しておくとスムーズです</a:t>
            </a:r>
            <a:endParaRPr b="0" i="0" sz="1800" u="none" cap="none" strike="noStrike">
              <a:solidFill>
                <a:schemeClr val="dk1"/>
              </a:solidFill>
              <a:latin typeface="Calibri"/>
              <a:ea typeface="Calibri"/>
              <a:cs typeface="Calibri"/>
              <a:sym typeface="Calibri"/>
            </a:endParaRPr>
          </a:p>
        </p:txBody>
      </p:sp>
      <p:sp>
        <p:nvSpPr>
          <p:cNvPr id="882" name="Google Shape;882;p30"/>
          <p:cNvSpPr txBox="1"/>
          <p:nvPr/>
        </p:nvSpPr>
        <p:spPr>
          <a:xfrm>
            <a:off x="685800" y="2651760"/>
            <a:ext cx="8046720" cy="1280160"/>
          </a:xfrm>
          <a:prstGeom prst="rect">
            <a:avLst/>
          </a:prstGeom>
          <a:noFill/>
          <a:ln>
            <a:noFill/>
          </a:ln>
        </p:spPr>
        <p:txBody>
          <a:bodyPr anchorCtr="0" anchor="t" bIns="0" lIns="0" spcFirstLastPara="1" rIns="0" wrap="square" tIns="0">
            <a:noAutofit/>
          </a:bodyPr>
          <a:lstStyle/>
          <a:p>
            <a:pPr indent="-200025" lvl="0" marL="177800" marR="0" rtl="0" algn="l">
              <a:lnSpc>
                <a:spcPct val="100000"/>
              </a:lnSpc>
              <a:spcBef>
                <a:spcPts val="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使いたい商品写真を、スマホからPCへ送っておく</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過去のPOPやチラシがあれば、写真に撮っておく（お手本になります）</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何をつくるか（POP・チラシ・SNS画像）を考えておく</a:t>
            </a:r>
            <a:endParaRPr b="0" i="0" sz="1600" u="none" cap="none" strike="noStrike">
              <a:solidFill>
                <a:schemeClr val="dk1"/>
              </a:solidFill>
              <a:latin typeface="Calibri"/>
              <a:ea typeface="Calibri"/>
              <a:cs typeface="Calibri"/>
              <a:sym typeface="Calibri"/>
            </a:endParaRPr>
          </a:p>
        </p:txBody>
      </p:sp>
      <p:sp>
        <p:nvSpPr>
          <p:cNvPr id="883" name="Google Shape;883;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7" name="Shape 887"/>
        <p:cNvGrpSpPr/>
        <p:nvPr/>
      </p:nvGrpSpPr>
      <p:grpSpPr>
        <a:xfrm>
          <a:off x="0" y="0"/>
          <a:ext cx="0" cy="0"/>
          <a:chOff x="0" y="0"/>
          <a:chExt cx="0" cy="0"/>
        </a:xfrm>
      </p:grpSpPr>
      <p:sp>
        <p:nvSpPr>
          <p:cNvPr id="888" name="Google Shape;888;g40a0daa3361_0_27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89" name="Google Shape;889;g40a0daa3361_0_27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90" name="Google Shape;890;g40a0daa3361_0_27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91" name="Google Shape;891;g40a0daa3361_0_27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92" name="Google Shape;892;g40a0daa3361_0_27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05</a:t>
            </a:r>
            <a:endParaRPr b="0" i="0" sz="2800" u="none" cap="none" strike="noStrike">
              <a:solidFill>
                <a:schemeClr val="dk1"/>
              </a:solidFill>
              <a:latin typeface="Calibri"/>
              <a:ea typeface="Calibri"/>
              <a:cs typeface="Calibri"/>
              <a:sym typeface="Calibri"/>
            </a:endParaRPr>
          </a:p>
        </p:txBody>
      </p:sp>
      <p:sp>
        <p:nvSpPr>
          <p:cNvPr id="893" name="Google Shape;893;g40a0daa3361_0_27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画像生成AIで</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販促物をつくる</a:t>
            </a:r>
            <a:endParaRPr b="0" i="0" sz="3000" u="none" cap="none" strike="noStrike">
              <a:solidFill>
                <a:schemeClr val="dk1"/>
              </a:solidFill>
              <a:latin typeface="Calibri"/>
              <a:ea typeface="Calibri"/>
              <a:cs typeface="Calibri"/>
              <a:sym typeface="Calibri"/>
            </a:endParaRPr>
          </a:p>
        </p:txBody>
      </p:sp>
      <p:sp>
        <p:nvSpPr>
          <p:cNvPr id="894" name="Google Shape;894;g40a0daa3361_0_27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a:t>
            </a:r>
            <a:r>
              <a:rPr lang="en-US">
                <a:solidFill>
                  <a:srgbClr val="C9D3E0"/>
                </a:solidFill>
                <a:latin typeface="Meiryo"/>
                <a:ea typeface="Meiryo"/>
                <a:cs typeface="Meiryo"/>
                <a:sym typeface="Meiryo"/>
              </a:rPr>
              <a:t>10</a:t>
            </a:r>
            <a:r>
              <a:rPr b="0" i="0" lang="en-US" sz="1400" u="none" cap="none" strike="noStrike">
                <a:solidFill>
                  <a:srgbClr val="C9D3E0"/>
                </a:solidFill>
                <a:latin typeface="Meiryo"/>
                <a:ea typeface="Meiryo"/>
                <a:cs typeface="Meiryo"/>
                <a:sym typeface="Meiryo"/>
              </a:rPr>
              <a:t> – 15:</a:t>
            </a:r>
            <a:r>
              <a:rPr lang="en-US">
                <a:solidFill>
                  <a:srgbClr val="C9D3E0"/>
                </a:solidFill>
                <a:latin typeface="Meiryo"/>
                <a:ea typeface="Meiryo"/>
                <a:cs typeface="Meiryo"/>
                <a:sym typeface="Meiryo"/>
              </a:rPr>
              <a:t>25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9" name="Shape 899"/>
        <p:cNvGrpSpPr/>
        <p:nvPr/>
      </p:nvGrpSpPr>
      <p:grpSpPr>
        <a:xfrm>
          <a:off x="0" y="0"/>
          <a:ext cx="0" cy="0"/>
          <a:chOff x="0" y="0"/>
          <a:chExt cx="0" cy="0"/>
        </a:xfrm>
      </p:grpSpPr>
      <p:sp>
        <p:nvSpPr>
          <p:cNvPr id="900" name="Google Shape;900;p19"/>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まずはやってみよう</a:t>
            </a:r>
            <a:endParaRPr b="0" i="0" sz="2200" u="none" cap="none" strike="noStrike">
              <a:solidFill>
                <a:schemeClr val="dk1"/>
              </a:solidFill>
              <a:latin typeface="Calibri"/>
              <a:ea typeface="Calibri"/>
              <a:cs typeface="Calibri"/>
              <a:sym typeface="Calibri"/>
            </a:endParaRPr>
          </a:p>
        </p:txBody>
      </p:sp>
      <p:sp>
        <p:nvSpPr>
          <p:cNvPr id="901" name="Google Shape;901;p1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02" name="Google Shape;902;p19"/>
          <p:cNvSpPr txBox="1"/>
          <p:nvPr/>
        </p:nvSpPr>
        <p:spPr>
          <a:xfrm>
            <a:off x="411480" y="96012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次の文を、そのままAIに入力してください。</a:t>
            </a:r>
            <a:endParaRPr b="0" i="0" sz="1400" u="none" cap="none" strike="noStrike">
              <a:solidFill>
                <a:schemeClr val="dk1"/>
              </a:solidFill>
              <a:latin typeface="Calibri"/>
              <a:ea typeface="Calibri"/>
              <a:cs typeface="Calibri"/>
              <a:sym typeface="Calibri"/>
            </a:endParaRPr>
          </a:p>
        </p:txBody>
      </p:sp>
      <p:sp>
        <p:nvSpPr>
          <p:cNvPr id="903" name="Google Shape;903;p19"/>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u="none" cap="none" strike="noStrike">
                <a:solidFill>
                  <a:srgbClr val="6B7280"/>
                </a:solidFill>
                <a:latin typeface="Meiryo"/>
                <a:ea typeface="Meiryo"/>
                <a:cs typeface="Meiryo"/>
                <a:sym typeface="Meiryo"/>
              </a:rPr>
              <a:t>(例)</a:t>
            </a:r>
            <a:endParaRPr b="0" i="0" u="none" cap="none" strike="noStrike">
              <a:solidFill>
                <a:schemeClr val="dk1"/>
              </a:solidFill>
              <a:latin typeface="Calibri"/>
              <a:ea typeface="Calibri"/>
              <a:cs typeface="Calibri"/>
              <a:sym typeface="Calibri"/>
            </a:endParaRPr>
          </a:p>
        </p:txBody>
      </p:sp>
      <p:sp>
        <p:nvSpPr>
          <p:cNvPr id="904" name="Google Shape;904;p19"/>
          <p:cNvSpPr/>
          <p:nvPr/>
        </p:nvSpPr>
        <p:spPr>
          <a:xfrm>
            <a:off x="1371600" y="1783080"/>
            <a:ext cx="6400800" cy="1005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19"/>
          <p:cNvSpPr txBox="1"/>
          <p:nvPr/>
        </p:nvSpPr>
        <p:spPr>
          <a:xfrm>
            <a:off x="1554480" y="1920240"/>
            <a:ext cx="6035040" cy="7315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b="0" i="0" lang="en-US" sz="2200" u="none" cap="none" strike="noStrike">
                <a:solidFill>
                  <a:srgbClr val="222222"/>
                </a:solidFill>
                <a:latin typeface="Meiryo"/>
                <a:ea typeface="Meiryo"/>
                <a:cs typeface="Meiryo"/>
                <a:sym typeface="Meiryo"/>
              </a:rPr>
              <a:t>買取強化のPOPを作って</a:t>
            </a:r>
            <a:endParaRPr b="0" i="0" sz="2200" u="none" cap="none" strike="noStrike">
              <a:solidFill>
                <a:schemeClr val="dk1"/>
              </a:solidFill>
              <a:latin typeface="Calibri"/>
              <a:ea typeface="Calibri"/>
              <a:cs typeface="Calibri"/>
              <a:sym typeface="Calibri"/>
            </a:endParaRPr>
          </a:p>
        </p:txBody>
      </p:sp>
      <p:sp>
        <p:nvSpPr>
          <p:cNvPr id="906" name="Google Shape;906;p19"/>
          <p:cNvSpPr txBox="1"/>
          <p:nvPr/>
        </p:nvSpPr>
        <p:spPr>
          <a:xfrm>
            <a:off x="411480" y="315468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300"/>
              <a:buFont typeface="Meiryo"/>
              <a:buNone/>
            </a:pPr>
            <a:r>
              <a:rPr b="0" i="0" lang="en-US" sz="1600" u="none" cap="none" strike="noStrike">
                <a:solidFill>
                  <a:srgbClr val="6B7280"/>
                </a:solidFill>
                <a:latin typeface="Meiryo"/>
                <a:ea typeface="Meiryo"/>
                <a:cs typeface="Meiryo"/>
                <a:sym typeface="Meiryo"/>
              </a:rPr>
              <a:t>考えずに、このまま入力するのがポイントです。</a:t>
            </a:r>
            <a:endParaRPr b="0" i="0" sz="1600" u="none" cap="none" strike="noStrike">
              <a:solidFill>
                <a:schemeClr val="dk1"/>
              </a:solidFill>
              <a:latin typeface="Calibri"/>
              <a:ea typeface="Calibri"/>
              <a:cs typeface="Calibri"/>
              <a:sym typeface="Calibri"/>
            </a:endParaRPr>
          </a:p>
        </p:txBody>
      </p:sp>
      <p:sp>
        <p:nvSpPr>
          <p:cNvPr id="907" name="Google Shape;907;p19"/>
          <p:cNvSpPr txBox="1"/>
          <p:nvPr/>
        </p:nvSpPr>
        <p:spPr>
          <a:xfrm>
            <a:off x="411480" y="347472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u="none" cap="none" strike="noStrike">
                <a:solidFill>
                  <a:srgbClr val="6B7280"/>
                </a:solidFill>
                <a:latin typeface="Meiryo"/>
                <a:ea typeface="Meiryo"/>
                <a:cs typeface="Meiryo"/>
                <a:sym typeface="Meiryo"/>
              </a:rPr>
              <a:t>（ChatGPT／Gemini など、普段お使いのツールで構いません）</a:t>
            </a:r>
            <a:endParaRPr b="0" i="0" u="none" cap="none" strike="noStrike">
              <a:solidFill>
                <a:schemeClr val="dk1"/>
              </a:solidFill>
              <a:latin typeface="Calibri"/>
              <a:ea typeface="Calibri"/>
              <a:cs typeface="Calibri"/>
              <a:sym typeface="Calibri"/>
            </a:endParaRPr>
          </a:p>
        </p:txBody>
      </p:sp>
      <p:sp>
        <p:nvSpPr>
          <p:cNvPr id="908" name="Google Shape;908;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09" name="Google Shape;909;p19"/>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 name="Google Shape;910;p19"/>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5" name="Shape 915"/>
        <p:cNvGrpSpPr/>
        <p:nvPr/>
      </p:nvGrpSpPr>
      <p:grpSpPr>
        <a:xfrm>
          <a:off x="0" y="0"/>
          <a:ext cx="0" cy="0"/>
          <a:chOff x="0" y="0"/>
          <a:chExt cx="0" cy="0"/>
        </a:xfrm>
      </p:grpSpPr>
      <p:pic>
        <p:nvPicPr>
          <p:cNvPr id="916" name="Google Shape;916;h12a068dd872fd278_0_63"/>
          <p:cNvPicPr preferRelativeResize="0"/>
          <p:nvPr/>
        </p:nvPicPr>
        <p:blipFill>
          <a:blip r:embed="rId4">
            <a:alphaModFix/>
          </a:blip>
          <a:stretch>
            <a:fillRect/>
          </a:stretch>
        </p:blipFill>
        <p:spPr>
          <a:xfrm>
            <a:off x="2152650" y="152400"/>
            <a:ext cx="4838700" cy="4838700"/>
          </a:xfrm>
          <a:prstGeom prst="rect">
            <a:avLst/>
          </a:prstGeom>
          <a:noFill/>
          <a:ln>
            <a:noFill/>
          </a:ln>
        </p:spPr>
      </p:pic>
      <p:sp>
        <p:nvSpPr>
          <p:cNvPr id="917" name="Google Shape;917;h12a068dd872fd278_0_6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2" name="Shape 922"/>
        <p:cNvGrpSpPr/>
        <p:nvPr/>
      </p:nvGrpSpPr>
      <p:grpSpPr>
        <a:xfrm>
          <a:off x="0" y="0"/>
          <a:ext cx="0" cy="0"/>
          <a:chOff x="0" y="0"/>
          <a:chExt cx="0" cy="0"/>
        </a:xfrm>
      </p:grpSpPr>
      <p:sp>
        <p:nvSpPr>
          <p:cNvPr id="923" name="Google Shape;923;h603855749043a6f2_0_10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24" name="Google Shape;924;h603855749043a6f2_0_103"/>
          <p:cNvSpPr txBox="1"/>
          <p:nvPr/>
        </p:nvSpPr>
        <p:spPr>
          <a:xfrm>
            <a:off x="411450" y="1345225"/>
            <a:ext cx="8321100" cy="3035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E8702A"/>
              </a:buClr>
              <a:buSzPts val="1300"/>
              <a:buFont typeface="Meiryo"/>
              <a:buNone/>
            </a:pPr>
            <a:r>
              <a:rPr b="1" lang="en-US" sz="2200">
                <a:solidFill>
                  <a:schemeClr val="dk1"/>
                </a:solidFill>
                <a:latin typeface="Meiryo"/>
                <a:ea typeface="Meiryo"/>
                <a:cs typeface="Meiryo"/>
                <a:sym typeface="Meiryo"/>
              </a:rPr>
              <a:t>×：ゼロから作る</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2200">
                <a:solidFill>
                  <a:schemeClr val="dk1"/>
                </a:solidFill>
                <a:latin typeface="Meiryo"/>
                <a:ea typeface="Meiryo"/>
                <a:cs typeface="Meiryo"/>
                <a:sym typeface="Meiryo"/>
              </a:rPr>
              <a:t>〇：良いものを参考にして作る</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1,良かったデザインをpick up</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2,今回の条件を追加</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3,AIにアレンジしてもらう</a:t>
            </a:r>
            <a:endParaRPr b="1" sz="1600">
              <a:solidFill>
                <a:schemeClr val="dk1"/>
              </a:solidFill>
              <a:latin typeface="Meiryo"/>
              <a:ea typeface="Meiryo"/>
              <a:cs typeface="Meiryo"/>
              <a:sym typeface="Meiryo"/>
            </a:endParaRPr>
          </a:p>
        </p:txBody>
      </p:sp>
      <p:sp>
        <p:nvSpPr>
          <p:cNvPr id="925" name="Google Shape;925;h603855749043a6f2_0_103"/>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思考フロー</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930" name="Shape 930"/>
        <p:cNvGrpSpPr/>
        <p:nvPr/>
      </p:nvGrpSpPr>
      <p:grpSpPr>
        <a:xfrm>
          <a:off x="0" y="0"/>
          <a:ext cx="0" cy="0"/>
          <a:chOff x="0" y="0"/>
          <a:chExt cx="0" cy="0"/>
        </a:xfrm>
      </p:grpSpPr>
      <p:sp>
        <p:nvSpPr>
          <p:cNvPr id="931" name="Google Shape;931;p2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932" name="Google Shape;932;p2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33" name="Google Shape;933;p20"/>
          <p:cNvSpPr/>
          <p:nvPr/>
        </p:nvSpPr>
        <p:spPr>
          <a:xfrm>
            <a:off x="457200" y="1051560"/>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4" name="Google Shape;934;p20"/>
          <p:cNvPicPr preferRelativeResize="0"/>
          <p:nvPr/>
        </p:nvPicPr>
        <p:blipFill rotWithShape="1">
          <a:blip r:embed="rId3">
            <a:alphaModFix/>
          </a:blip>
          <a:srcRect b="0" l="0" r="0" t="0"/>
          <a:stretch/>
        </p:blipFill>
        <p:spPr>
          <a:xfrm>
            <a:off x="553761" y="1148121"/>
            <a:ext cx="245791" cy="245791"/>
          </a:xfrm>
          <a:prstGeom prst="rect">
            <a:avLst/>
          </a:prstGeom>
          <a:noFill/>
          <a:ln>
            <a:noFill/>
          </a:ln>
        </p:spPr>
      </p:pic>
      <p:sp>
        <p:nvSpPr>
          <p:cNvPr id="935" name="Google Shape;935;p20"/>
          <p:cNvSpPr txBox="1"/>
          <p:nvPr/>
        </p:nvSpPr>
        <p:spPr>
          <a:xfrm>
            <a:off x="1051560" y="1051560"/>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店名・商品名・価格が入っていない</a:t>
            </a:r>
            <a:endParaRPr b="0" i="0" sz="1250" u="none" cap="none" strike="noStrike">
              <a:solidFill>
                <a:schemeClr val="dk1"/>
              </a:solidFill>
              <a:latin typeface="Calibri"/>
              <a:ea typeface="Calibri"/>
              <a:cs typeface="Calibri"/>
              <a:sym typeface="Calibri"/>
            </a:endParaRPr>
          </a:p>
        </p:txBody>
      </p:sp>
      <p:sp>
        <p:nvSpPr>
          <p:cNvPr id="936" name="Google Shape;936;p20"/>
          <p:cNvSpPr/>
          <p:nvPr/>
        </p:nvSpPr>
        <p:spPr>
          <a:xfrm>
            <a:off x="457200" y="1709928"/>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7" name="Google Shape;937;p20"/>
          <p:cNvPicPr preferRelativeResize="0"/>
          <p:nvPr/>
        </p:nvPicPr>
        <p:blipFill rotWithShape="1">
          <a:blip r:embed="rId3">
            <a:alphaModFix/>
          </a:blip>
          <a:srcRect b="0" l="0" r="0" t="0"/>
          <a:stretch/>
        </p:blipFill>
        <p:spPr>
          <a:xfrm>
            <a:off x="553761" y="1806489"/>
            <a:ext cx="245791" cy="245791"/>
          </a:xfrm>
          <a:prstGeom prst="rect">
            <a:avLst/>
          </a:prstGeom>
          <a:noFill/>
          <a:ln>
            <a:noFill/>
          </a:ln>
        </p:spPr>
      </p:pic>
      <p:sp>
        <p:nvSpPr>
          <p:cNvPr id="938" name="Google Shape;938;p20"/>
          <p:cNvSpPr txBox="1"/>
          <p:nvPr/>
        </p:nvSpPr>
        <p:spPr>
          <a:xfrm>
            <a:off x="1051560" y="1709928"/>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「買取</a:t>
            </a:r>
            <a:r>
              <a:rPr lang="en-US" sz="1250">
                <a:solidFill>
                  <a:srgbClr val="222222"/>
                </a:solidFill>
                <a:latin typeface="Meiryo"/>
                <a:ea typeface="Meiryo"/>
                <a:cs typeface="Meiryo"/>
                <a:sym typeface="Meiryo"/>
              </a:rPr>
              <a:t>強化</a:t>
            </a:r>
            <a:r>
              <a:rPr b="0" i="0" lang="en-US" sz="1250" u="none" cap="none" strike="noStrike">
                <a:solidFill>
                  <a:srgbClr val="222222"/>
                </a:solidFill>
                <a:latin typeface="Meiryo"/>
                <a:ea typeface="Meiryo"/>
                <a:cs typeface="Meiryo"/>
                <a:sym typeface="Meiryo"/>
              </a:rPr>
              <a:t>中！」など、どこの店でも使える文言</a:t>
            </a:r>
            <a:endParaRPr b="0" i="0" sz="1250" u="none" cap="none" strike="noStrike">
              <a:solidFill>
                <a:schemeClr val="dk1"/>
              </a:solidFill>
              <a:latin typeface="Calibri"/>
              <a:ea typeface="Calibri"/>
              <a:cs typeface="Calibri"/>
              <a:sym typeface="Calibri"/>
            </a:endParaRPr>
          </a:p>
        </p:txBody>
      </p:sp>
      <p:sp>
        <p:nvSpPr>
          <p:cNvPr id="939" name="Google Shape;939;p20"/>
          <p:cNvSpPr/>
          <p:nvPr/>
        </p:nvSpPr>
        <p:spPr>
          <a:xfrm>
            <a:off x="457200" y="2368296"/>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0" name="Google Shape;940;p20"/>
          <p:cNvPicPr preferRelativeResize="0"/>
          <p:nvPr/>
        </p:nvPicPr>
        <p:blipFill rotWithShape="1">
          <a:blip r:embed="rId3">
            <a:alphaModFix/>
          </a:blip>
          <a:srcRect b="0" l="0" r="0" t="0"/>
          <a:stretch/>
        </p:blipFill>
        <p:spPr>
          <a:xfrm>
            <a:off x="553761" y="2464857"/>
            <a:ext cx="245791" cy="245791"/>
          </a:xfrm>
          <a:prstGeom prst="rect">
            <a:avLst/>
          </a:prstGeom>
          <a:noFill/>
          <a:ln>
            <a:noFill/>
          </a:ln>
        </p:spPr>
      </p:pic>
      <p:sp>
        <p:nvSpPr>
          <p:cNvPr id="941" name="Google Shape;941;p20"/>
          <p:cNvSpPr txBox="1"/>
          <p:nvPr/>
        </p:nvSpPr>
        <p:spPr>
          <a:xfrm>
            <a:off x="1051560" y="2368296"/>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売場の雰囲気や、いつものPOPのトーンと合わない</a:t>
            </a:r>
            <a:endParaRPr b="0" i="0" sz="1250" u="none" cap="none" strike="noStrike">
              <a:solidFill>
                <a:schemeClr val="dk1"/>
              </a:solidFill>
              <a:latin typeface="Calibri"/>
              <a:ea typeface="Calibri"/>
              <a:cs typeface="Calibri"/>
              <a:sym typeface="Calibri"/>
            </a:endParaRPr>
          </a:p>
        </p:txBody>
      </p:sp>
      <p:sp>
        <p:nvSpPr>
          <p:cNvPr id="942" name="Google Shape;942;p20"/>
          <p:cNvSpPr/>
          <p:nvPr/>
        </p:nvSpPr>
        <p:spPr>
          <a:xfrm>
            <a:off x="457200" y="3026664"/>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3" name="Google Shape;943;p20"/>
          <p:cNvPicPr preferRelativeResize="0"/>
          <p:nvPr/>
        </p:nvPicPr>
        <p:blipFill rotWithShape="1">
          <a:blip r:embed="rId3">
            <a:alphaModFix/>
          </a:blip>
          <a:srcRect b="0" l="0" r="0" t="0"/>
          <a:stretch/>
        </p:blipFill>
        <p:spPr>
          <a:xfrm>
            <a:off x="553761" y="3123225"/>
            <a:ext cx="245791" cy="245791"/>
          </a:xfrm>
          <a:prstGeom prst="rect">
            <a:avLst/>
          </a:prstGeom>
          <a:noFill/>
          <a:ln>
            <a:noFill/>
          </a:ln>
        </p:spPr>
      </p:pic>
      <p:sp>
        <p:nvSpPr>
          <p:cNvPr id="944" name="Google Shape;944;p20"/>
          <p:cNvSpPr txBox="1"/>
          <p:nvPr/>
        </p:nvSpPr>
        <p:spPr>
          <a:xfrm>
            <a:off x="1051560" y="3026664"/>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そのままでは使えず、結局あとから直すことになる</a:t>
            </a:r>
            <a:endParaRPr b="0" i="0" sz="1250" u="none" cap="none" strike="noStrike">
              <a:solidFill>
                <a:schemeClr val="dk1"/>
              </a:solidFill>
              <a:latin typeface="Calibri"/>
              <a:ea typeface="Calibri"/>
              <a:cs typeface="Calibri"/>
              <a:sym typeface="Calibri"/>
            </a:endParaRPr>
          </a:p>
        </p:txBody>
      </p:sp>
      <p:sp>
        <p:nvSpPr>
          <p:cNvPr id="945" name="Google Shape;945;p20"/>
          <p:cNvSpPr/>
          <p:nvPr/>
        </p:nvSpPr>
        <p:spPr>
          <a:xfrm>
            <a:off x="5166360" y="1005840"/>
            <a:ext cx="356616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p2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答えが悪いのではなく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頭の中の情報が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渡っていないだけ</a:t>
            </a:r>
            <a:endParaRPr b="0" i="0" sz="1700" u="none" cap="none" strike="noStrike">
              <a:solidFill>
                <a:schemeClr val="dk1"/>
              </a:solidFill>
              <a:latin typeface="Calibri"/>
              <a:ea typeface="Calibri"/>
              <a:cs typeface="Calibri"/>
              <a:sym typeface="Calibri"/>
            </a:endParaRPr>
          </a:p>
        </p:txBody>
      </p:sp>
      <p:sp>
        <p:nvSpPr>
          <p:cNvPr id="947" name="Google Shape;947;p20"/>
          <p:cNvSpPr txBox="1"/>
          <p:nvPr/>
        </p:nvSpPr>
        <p:spPr>
          <a:xfrm>
            <a:off x="5349240" y="2743200"/>
            <a:ext cx="3200400"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AIは察してくれない。</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渡した情報の分だけ返ってくる。</a:t>
            </a:r>
            <a:endParaRPr b="0" i="0" sz="1250" u="none" cap="none" strike="noStrike">
              <a:solidFill>
                <a:schemeClr val="dk1"/>
              </a:solidFill>
              <a:latin typeface="Calibri"/>
              <a:ea typeface="Calibri"/>
              <a:cs typeface="Calibri"/>
              <a:sym typeface="Calibri"/>
            </a:endParaRPr>
          </a:p>
        </p:txBody>
      </p:sp>
      <p:sp>
        <p:nvSpPr>
          <p:cNvPr id="948" name="Google Shape;948;p20"/>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作り直しが増える原因は、最初の1回目の指示にあります。</a:t>
            </a:r>
            <a:endParaRPr b="0" i="0" sz="1300" u="none" cap="none" strike="noStrike">
              <a:solidFill>
                <a:schemeClr val="dk1"/>
              </a:solidFill>
              <a:latin typeface="Calibri"/>
              <a:ea typeface="Calibri"/>
              <a:cs typeface="Calibri"/>
              <a:sym typeface="Calibri"/>
            </a:endParaRPr>
          </a:p>
        </p:txBody>
      </p:sp>
      <p:sp>
        <p:nvSpPr>
          <p:cNvPr id="949" name="Google Shape;949;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2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改善されたプロンプト</a:t>
            </a:r>
            <a:endParaRPr b="0" i="0" sz="2200" u="none" cap="none" strike="noStrike">
              <a:solidFill>
                <a:schemeClr val="dk1"/>
              </a:solidFill>
              <a:latin typeface="Calibri"/>
              <a:ea typeface="Calibri"/>
              <a:cs typeface="Calibri"/>
              <a:sym typeface="Calibri"/>
            </a:endParaRPr>
          </a:p>
        </p:txBody>
      </p:sp>
      <p:sp>
        <p:nvSpPr>
          <p:cNvPr id="956" name="Google Shape;956;p23"/>
          <p:cNvSpPr/>
          <p:nvPr/>
        </p:nvSpPr>
        <p:spPr>
          <a:xfrm>
            <a:off x="6949440" y="301752"/>
            <a:ext cx="1783080" cy="41148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23"/>
          <p:cNvSpPr txBox="1"/>
          <p:nvPr/>
        </p:nvSpPr>
        <p:spPr>
          <a:xfrm>
            <a:off x="6949377" y="301690"/>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958" name="Google Shape;958;p2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59" name="Google Shape;959;p2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960" name="Google Shape;960;p23"/>
          <p:cNvSpPr/>
          <p:nvPr/>
        </p:nvSpPr>
        <p:spPr>
          <a:xfrm>
            <a:off x="411480" y="1115568"/>
            <a:ext cx="8321040" cy="333756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23"/>
          <p:cNvSpPr txBox="1"/>
          <p:nvPr/>
        </p:nvSpPr>
        <p:spPr>
          <a:xfrm>
            <a:off x="640080" y="1252728"/>
            <a:ext cx="7863840" cy="310896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222222"/>
              </a:buClr>
              <a:buSzPts val="1200"/>
              <a:buFont typeface="Meiryo"/>
              <a:buNone/>
            </a:pPr>
            <a:r>
              <a:rPr b="0" i="0" lang="en-US" u="none" cap="none" strike="noStrike">
                <a:solidFill>
                  <a:srgbClr val="222222"/>
                </a:solidFill>
                <a:latin typeface="Meiryo"/>
                <a:ea typeface="Meiryo"/>
                <a:cs typeface="Meiryo"/>
                <a:sym typeface="Meiryo"/>
              </a:rPr>
              <a:t>あなたは中古ホビーショップの販促担当です。</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【前提】</a:t>
            </a:r>
            <a:r>
              <a:rPr b="0" i="0" lang="en-US" u="none" cap="none" strike="noStrike">
                <a:solidFill>
                  <a:srgbClr val="222222"/>
                </a:solidFill>
                <a:latin typeface="Meiryo"/>
                <a:ea typeface="Meiryo"/>
                <a:cs typeface="Meiryo"/>
                <a:sym typeface="Meiryo"/>
              </a:rPr>
              <a:t>今週末の「トレーディングカード買取強化キャンペーン」の告知POPを作りたいです。レジ横に掲示し、来店したお客様に見てもらいます。</a:t>
            </a:r>
            <a:endParaRPr>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E8702A"/>
              </a:buClr>
              <a:buSzPts val="1200"/>
              <a:buFont typeface="Meiryo"/>
              <a:buNone/>
            </a:pPr>
            <a:r>
              <a:rPr b="1" i="0" lang="en-US" u="none" cap="none" strike="noStrike">
                <a:solidFill>
                  <a:srgbClr val="E8702A"/>
                </a:solidFill>
                <a:latin typeface="Meiryo"/>
                <a:ea typeface="Meiryo"/>
                <a:cs typeface="Meiryo"/>
                <a:sym typeface="Meiryo"/>
              </a:rPr>
              <a:t>【素材】</a:t>
            </a:r>
            <a:r>
              <a:rPr b="0" i="0" lang="en-US" u="none" cap="none" strike="noStrike">
                <a:solidFill>
                  <a:srgbClr val="222222"/>
                </a:solidFill>
                <a:latin typeface="Meiryo"/>
                <a:ea typeface="Meiryo"/>
                <a:cs typeface="Meiryo"/>
                <a:sym typeface="Meiryo"/>
              </a:rPr>
              <a:t>店名：〇〇店／期間：10月3日（土）・4日（日）／内容：対象カードの買取価格を通常より10%アップ</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【お手本】</a:t>
            </a:r>
            <a:r>
              <a:rPr b="0" i="0" lang="en-US" u="none" cap="none" strike="noStrike">
                <a:solidFill>
                  <a:srgbClr val="222222"/>
                </a:solidFill>
                <a:latin typeface="Meiryo"/>
                <a:ea typeface="Meiryo"/>
                <a:cs typeface="Meiryo"/>
                <a:sym typeface="Meiryo"/>
              </a:rPr>
              <a:t>前回好評だったPOPの見出し「眠ってるカード、今が売りどき！」</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【制約】</a:t>
            </a:r>
            <a:r>
              <a:rPr b="0" i="0" lang="en-US" u="none" cap="none" strike="noStrike">
                <a:solidFill>
                  <a:srgbClr val="222222"/>
                </a:solidFill>
                <a:latin typeface="Meiryo"/>
                <a:ea typeface="Meiryo"/>
                <a:cs typeface="Meiryo"/>
                <a:sym typeface="Meiryo"/>
              </a:rPr>
              <a:t>見出しは15文字以内。価格は税込表記。「業界最高値」などの断定表現は使わない。実在のキャラクターやロゴは使わない</a:t>
            </a:r>
            <a:r>
              <a:rPr lang="en-US">
                <a:solidFill>
                  <a:srgbClr val="222222"/>
                </a:solidFill>
                <a:latin typeface="Meiryo"/>
                <a:ea typeface="Meiryo"/>
                <a:cs typeface="Meiryo"/>
                <a:sym typeface="Meiryo"/>
              </a:rPr>
              <a:t>。</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【出力】</a:t>
            </a:r>
            <a:r>
              <a:rPr b="0" i="0" lang="en-US" u="none" cap="none" strike="noStrike">
                <a:solidFill>
                  <a:srgbClr val="222222"/>
                </a:solidFill>
                <a:latin typeface="Meiryo"/>
                <a:ea typeface="Meiryo"/>
                <a:cs typeface="Meiryo"/>
                <a:sym typeface="Meiryo"/>
              </a:rPr>
              <a:t>A4縦で印刷する前提で、見出し・本文・注意書きに分けて3案出してください。</a:t>
            </a:r>
            <a:endParaRPr b="0" i="0" u="none" cap="none" strike="noStrike">
              <a:solidFill>
                <a:schemeClr val="dk1"/>
              </a:solidFill>
              <a:latin typeface="Calibri"/>
              <a:ea typeface="Calibri"/>
              <a:cs typeface="Calibri"/>
              <a:sym typeface="Calibri"/>
            </a:endParaRPr>
          </a:p>
        </p:txBody>
      </p:sp>
      <p:sp>
        <p:nvSpPr>
          <p:cNvPr id="962" name="Google Shape;962;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7" name="Shape 967"/>
        <p:cNvGrpSpPr/>
        <p:nvPr/>
      </p:nvGrpSpPr>
      <p:grpSpPr>
        <a:xfrm>
          <a:off x="0" y="0"/>
          <a:ext cx="0" cy="0"/>
          <a:chOff x="0" y="0"/>
          <a:chExt cx="0" cy="0"/>
        </a:xfrm>
      </p:grpSpPr>
      <p:sp>
        <p:nvSpPr>
          <p:cNvPr id="968" name="Google Shape;968;h12a068dd872fd278_0_68"/>
          <p:cNvSpPr txBox="1"/>
          <p:nvPr/>
        </p:nvSpPr>
        <p:spPr>
          <a:xfrm>
            <a:off x="4911725" y="946700"/>
            <a:ext cx="3561600" cy="269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600"/>
              <a:t>3</a:t>
            </a:r>
            <a:r>
              <a:rPr lang="en-US" sz="1600"/>
              <a:t>案を1枚のA4で作ってしまった。</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US" sz="1600"/>
              <a:t>→「それぞれA4で作成して」</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US" sz="1600"/>
              <a:t>→「次のデザインもお願い」</a:t>
            </a:r>
            <a:endParaRPr sz="1600"/>
          </a:p>
          <a:p>
            <a:pPr indent="0" lvl="0" marL="0" rtl="0" algn="l">
              <a:spcBef>
                <a:spcPts val="0"/>
              </a:spcBef>
              <a:spcAft>
                <a:spcPts val="0"/>
              </a:spcAft>
              <a:buNone/>
            </a:pPr>
            <a:r>
              <a:rPr lang="en-US" sz="1600"/>
              <a:t>※この画像を添付すると👍</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t/>
            </a:r>
            <a:endParaRPr sz="1600"/>
          </a:p>
          <a:p>
            <a:pPr indent="0" lvl="0" marL="0" rtl="0" algn="l">
              <a:spcBef>
                <a:spcPts val="0"/>
              </a:spcBef>
              <a:spcAft>
                <a:spcPts val="0"/>
              </a:spcAft>
              <a:buNone/>
            </a:pPr>
            <a:r>
              <a:rPr lang="en-US" sz="1600"/>
              <a:t>会話を繰り返して行きます。</a:t>
            </a:r>
            <a:endParaRPr sz="1600"/>
          </a:p>
        </p:txBody>
      </p:sp>
      <p:sp>
        <p:nvSpPr>
          <p:cNvPr id="969" name="Google Shape;969;h12a068dd872fd278_0_6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0" name="Google Shape;970;h12a068dd872fd278_0_68" title="ChatGPT Image 2026年9月28日 09_38_40.png"/>
          <p:cNvPicPr preferRelativeResize="0"/>
          <p:nvPr/>
        </p:nvPicPr>
        <p:blipFill>
          <a:blip r:embed="rId3">
            <a:alphaModFix/>
          </a:blip>
          <a:stretch>
            <a:fillRect/>
          </a:stretch>
        </p:blipFill>
        <p:spPr>
          <a:xfrm>
            <a:off x="824075" y="152400"/>
            <a:ext cx="3423760" cy="4838698"/>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5" name="Shape 975"/>
        <p:cNvGrpSpPr/>
        <p:nvPr/>
      </p:nvGrpSpPr>
      <p:grpSpPr>
        <a:xfrm>
          <a:off x="0" y="0"/>
          <a:ext cx="0" cy="0"/>
          <a:chOff x="0" y="0"/>
          <a:chExt cx="0" cy="0"/>
        </a:xfrm>
      </p:grpSpPr>
      <p:pic>
        <p:nvPicPr>
          <p:cNvPr id="976" name="Google Shape;976;h12a068dd872fd278_0_74"/>
          <p:cNvPicPr preferRelativeResize="0"/>
          <p:nvPr/>
        </p:nvPicPr>
        <p:blipFill>
          <a:blip r:embed="rId3">
            <a:alphaModFix/>
          </a:blip>
          <a:stretch>
            <a:fillRect/>
          </a:stretch>
        </p:blipFill>
        <p:spPr>
          <a:xfrm>
            <a:off x="3244852" y="1027450"/>
            <a:ext cx="2654275" cy="3751192"/>
          </a:xfrm>
          <a:prstGeom prst="rect">
            <a:avLst/>
          </a:prstGeom>
          <a:noFill/>
          <a:ln>
            <a:noFill/>
          </a:ln>
        </p:spPr>
      </p:pic>
      <p:sp>
        <p:nvSpPr>
          <p:cNvPr id="977" name="Google Shape;977;h12a068dd872fd278_0_74"/>
          <p:cNvSpPr txBox="1"/>
          <p:nvPr/>
        </p:nvSpPr>
        <p:spPr>
          <a:xfrm>
            <a:off x="284950" y="245750"/>
            <a:ext cx="24318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000">
                <a:solidFill>
                  <a:srgbClr val="E8702A"/>
                </a:solidFill>
                <a:latin typeface="Meiryo"/>
                <a:ea typeface="Meiryo"/>
                <a:cs typeface="Meiryo"/>
                <a:sym typeface="Meiryo"/>
              </a:rPr>
              <a:t>3案生成完了</a:t>
            </a:r>
            <a:endParaRPr b="0" i="0" sz="3000" u="none" cap="none" strike="noStrike">
              <a:solidFill>
                <a:schemeClr val="dk1"/>
              </a:solidFill>
              <a:latin typeface="Calibri"/>
              <a:ea typeface="Calibri"/>
              <a:cs typeface="Calibri"/>
              <a:sym typeface="Calibri"/>
            </a:endParaRPr>
          </a:p>
        </p:txBody>
      </p:sp>
      <p:sp>
        <p:nvSpPr>
          <p:cNvPr id="978" name="Google Shape;978;h12a068dd872fd278_0_7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9" name="Google Shape;979;h12a068dd872fd278_0_74" title="ChatGPT Image 2026年9月27日 09_50_37.png"/>
          <p:cNvPicPr preferRelativeResize="0"/>
          <p:nvPr/>
        </p:nvPicPr>
        <p:blipFill>
          <a:blip r:embed="rId4">
            <a:alphaModFix/>
          </a:blip>
          <a:stretch>
            <a:fillRect/>
          </a:stretch>
        </p:blipFill>
        <p:spPr>
          <a:xfrm>
            <a:off x="6204775" y="1027438"/>
            <a:ext cx="2654274" cy="3751211"/>
          </a:xfrm>
          <a:prstGeom prst="rect">
            <a:avLst/>
          </a:prstGeom>
          <a:noFill/>
          <a:ln>
            <a:noFill/>
          </a:ln>
        </p:spPr>
      </p:pic>
      <p:pic>
        <p:nvPicPr>
          <p:cNvPr id="980" name="Google Shape;980;h12a068dd872fd278_0_74" title="ChatGPT Image 2026年9月27日 09_58_08.png"/>
          <p:cNvPicPr preferRelativeResize="0"/>
          <p:nvPr/>
        </p:nvPicPr>
        <p:blipFill>
          <a:blip r:embed="rId5">
            <a:alphaModFix/>
          </a:blip>
          <a:stretch>
            <a:fillRect/>
          </a:stretch>
        </p:blipFill>
        <p:spPr>
          <a:xfrm>
            <a:off x="284925" y="1024413"/>
            <a:ext cx="2654275" cy="3757281"/>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24"/>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987" name="Google Shape;987;p2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988" name="Google Shape;988;p24"/>
          <p:cNvGraphicFramePr/>
          <p:nvPr/>
        </p:nvGraphicFramePr>
        <p:xfrm>
          <a:off x="411480" y="1005840"/>
          <a:ext cx="3000000" cy="3000000"/>
        </p:xfrm>
        <a:graphic>
          <a:graphicData uri="http://schemas.openxmlformats.org/drawingml/2006/table">
            <a:tbl>
              <a:tblPr>
                <a:noFill/>
                <a:tableStyleId>{EA21E3E7-CB49-40DB-9B02-7D83FE17C7A2}</a:tableStyleId>
              </a:tblPr>
              <a:tblGrid>
                <a:gridCol w="1188725"/>
                <a:gridCol w="3200400"/>
                <a:gridCol w="3931925"/>
              </a:tblGrid>
              <a:tr h="384050">
                <a:tc>
                  <a:txBody>
                    <a:bodyPr/>
                    <a:lstStyle/>
                    <a:p>
                      <a:pPr indent="0" lvl="0" marL="0" marR="0" rtl="0" algn="l">
                        <a:lnSpc>
                          <a:spcPct val="100000"/>
                        </a:lnSpc>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「買取強化のPOPを作って」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4要素（前提・素材・お手本・制約）＋出力の指定</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店名・期間・条件が入っていない</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店名・期間・条件が入っている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トーン</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どこの店でも使える文言</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オリジナル感</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その後</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何度も作り直す</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3案から選んで、少し直すだけ</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989" name="Google Shape;989;p24"/>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0" name="Google Shape;990;p24"/>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991" name="Google Shape;991;p24"/>
          <p:cNvSpPr txBox="1"/>
          <p:nvPr/>
        </p:nvSpPr>
        <p:spPr>
          <a:xfrm>
            <a:off x="1051560" y="3840480"/>
            <a:ext cx="76809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afterでも、日付・価格などの数字は必ず自分で確認しましょう。</a:t>
            </a:r>
            <a:endParaRPr b="0" i="0" sz="1300" u="none" cap="none" strike="noStrike">
              <a:solidFill>
                <a:schemeClr val="dk1"/>
              </a:solidFill>
              <a:latin typeface="Calibri"/>
              <a:ea typeface="Calibri"/>
              <a:cs typeface="Calibri"/>
              <a:sym typeface="Calibri"/>
            </a:endParaRPr>
          </a:p>
        </p:txBody>
      </p:sp>
      <p:sp>
        <p:nvSpPr>
          <p:cNvPr id="992" name="Google Shape;992;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h259926ce4e4d5a8f_0_6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99" name="Google Shape;999;h259926ce4e4d5a8f_0_627"/>
          <p:cNvSpPr txBox="1"/>
          <p:nvPr>
            <p:ph type="title"/>
          </p:nvPr>
        </p:nvSpPr>
        <p:spPr>
          <a:xfrm>
            <a:off x="0" y="1421100"/>
            <a:ext cx="9144000" cy="2301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Canvaで編集したい</a:t>
            </a:r>
            <a:endParaRPr b="1" sz="3600"/>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4" name="Shape 1004"/>
        <p:cNvGrpSpPr/>
        <p:nvPr/>
      </p:nvGrpSpPr>
      <p:grpSpPr>
        <a:xfrm>
          <a:off x="0" y="0"/>
          <a:ext cx="0" cy="0"/>
          <a:chOff x="0" y="0"/>
          <a:chExt cx="0" cy="0"/>
        </a:xfrm>
      </p:grpSpPr>
      <p:sp>
        <p:nvSpPr>
          <p:cNvPr id="1005" name="Google Shape;1005;h259926ce4e4d5a8f_0_615"/>
          <p:cNvSpPr txBox="1"/>
          <p:nvPr/>
        </p:nvSpPr>
        <p:spPr>
          <a:xfrm>
            <a:off x="284950" y="245750"/>
            <a:ext cx="331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弊社セミナー草案</a:t>
            </a:r>
            <a:endParaRPr b="0" i="0" sz="2800" u="none" cap="none" strike="noStrike">
              <a:solidFill>
                <a:schemeClr val="dk1"/>
              </a:solidFill>
              <a:latin typeface="Calibri"/>
              <a:ea typeface="Calibri"/>
              <a:cs typeface="Calibri"/>
              <a:sym typeface="Calibri"/>
            </a:endParaRPr>
          </a:p>
        </p:txBody>
      </p:sp>
      <p:sp>
        <p:nvSpPr>
          <p:cNvPr id="1006" name="Google Shape;1006;h259926ce4e4d5a8f_0_6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07" name="Google Shape;1007;h259926ce4e4d5a8f_0_615" title="ChatGPT Image 2026年6月25日 14_42_56.png"/>
          <p:cNvPicPr preferRelativeResize="0"/>
          <p:nvPr/>
        </p:nvPicPr>
        <p:blipFill>
          <a:blip r:embed="rId3">
            <a:alphaModFix/>
          </a:blip>
          <a:stretch>
            <a:fillRect/>
          </a:stretch>
        </p:blipFill>
        <p:spPr>
          <a:xfrm>
            <a:off x="2958112" y="706550"/>
            <a:ext cx="3227774" cy="4303699"/>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h12a068dd872fd278_0_1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14" name="Google Shape;1014;h12a068dd872fd278_0_11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15" name="Google Shape;1015;h12a068dd872fd278_0_115" title="Video Project 8.mp4">
            <a:hlinkClick r:id="rId3"/>
          </p:cNvPr>
          <p:cNvPicPr preferRelativeResize="0"/>
          <p:nvPr/>
        </p:nvPicPr>
        <p:blipFill>
          <a:blip r:embed="rId4">
            <a:alphaModFix/>
          </a:blip>
          <a:stretch>
            <a:fillRect/>
          </a:stretch>
        </p:blipFill>
        <p:spPr>
          <a:xfrm>
            <a:off x="1799788" y="688000"/>
            <a:ext cx="5544425" cy="4158325"/>
          </a:xfrm>
          <a:prstGeom prst="rect">
            <a:avLst/>
          </a:prstGeom>
          <a:noFill/>
          <a:ln>
            <a:noFill/>
          </a:ln>
        </p:spPr>
      </p:pic>
      <p:sp>
        <p:nvSpPr>
          <p:cNvPr id="1016" name="Google Shape;1016;h12a068dd872fd278_0_115"/>
          <p:cNvSpPr txBox="1"/>
          <p:nvPr/>
        </p:nvSpPr>
        <p:spPr>
          <a:xfrm>
            <a:off x="284950" y="245750"/>
            <a:ext cx="640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方法①画像に上からテキストを被せる</a:t>
            </a:r>
            <a:endParaRPr b="0" i="0" sz="2800" u="none" cap="none" strike="noStrike">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5"/>
                                        </p:tgtEl>
                                        <p:attrNameLst>
                                          <p:attrName>style.visibility</p:attrName>
                                        </p:attrNameLst>
                                      </p:cBhvr>
                                      <p:to>
                                        <p:strVal val="visible"/>
                                      </p:to>
                                    </p:set>
                                    <p:animEffect filter="fade" transition="in">
                                      <p:cBhvr>
                                        <p:cTn dur="1000"/>
                                        <p:tgtEl>
                                          <p:spTgt spid="10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12a068dd872fd278_0_18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23" name="Google Shape;1023;h12a068dd872fd278_0_18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24" name="Google Shape;1024;h12a068dd872fd278_0_188" title="Video Project 9.mp4">
            <a:hlinkClick r:id="rId3"/>
          </p:cNvPr>
          <p:cNvPicPr preferRelativeResize="0"/>
          <p:nvPr/>
        </p:nvPicPr>
        <p:blipFill>
          <a:blip r:embed="rId4">
            <a:alphaModFix/>
          </a:blip>
          <a:stretch>
            <a:fillRect/>
          </a:stretch>
        </p:blipFill>
        <p:spPr>
          <a:xfrm>
            <a:off x="1788538" y="671125"/>
            <a:ext cx="5566925" cy="4175200"/>
          </a:xfrm>
          <a:prstGeom prst="rect">
            <a:avLst/>
          </a:prstGeom>
          <a:noFill/>
          <a:ln>
            <a:noFill/>
          </a:ln>
        </p:spPr>
      </p:pic>
      <p:sp>
        <p:nvSpPr>
          <p:cNvPr id="1025" name="Google Shape;1025;h12a068dd872fd278_0_188"/>
          <p:cNvSpPr txBox="1"/>
          <p:nvPr/>
        </p:nvSpPr>
        <p:spPr>
          <a:xfrm>
            <a:off x="284950" y="245750"/>
            <a:ext cx="676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a:t>
            </a:r>
            <a:r>
              <a:rPr b="1" lang="en-US" sz="2800">
                <a:solidFill>
                  <a:schemeClr val="dk1"/>
                </a:solidFill>
                <a:latin typeface="Meiryo"/>
                <a:ea typeface="Meiryo"/>
                <a:cs typeface="Meiryo"/>
                <a:sym typeface="Meiryo"/>
              </a:rPr>
              <a:t>②「マジックレイヤー」を使って編集</a:t>
            </a:r>
            <a:endParaRPr b="0" i="0" sz="2800" u="none" cap="none" strike="noStrike">
              <a:solidFill>
                <a:schemeClr val="dk1"/>
              </a:solidFill>
              <a:latin typeface="Calibri"/>
              <a:ea typeface="Calibri"/>
              <a:cs typeface="Calibri"/>
              <a:sym typeface="Calibri"/>
            </a:endParaRPr>
          </a:p>
        </p:txBody>
      </p:sp>
      <p:sp>
        <p:nvSpPr>
          <p:cNvPr id="1026" name="Google Shape;1026;h12a068dd872fd278_0_188"/>
          <p:cNvSpPr txBox="1"/>
          <p:nvPr/>
        </p:nvSpPr>
        <p:spPr>
          <a:xfrm>
            <a:off x="192658" y="992666"/>
            <a:ext cx="1427400" cy="252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lang="en-US" sz="1550">
                <a:solidFill>
                  <a:srgbClr val="6B7280"/>
                </a:solidFill>
                <a:latin typeface="Meiryo"/>
                <a:ea typeface="Meiryo"/>
                <a:cs typeface="Meiryo"/>
                <a:sym typeface="Meiryo"/>
              </a:rPr>
              <a:t>※無料プランでも使えますが、月で回数制限があります。</a:t>
            </a:r>
            <a:endParaRPr sz="1550">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1150"/>
              <a:buFont typeface="Meiryo"/>
              <a:buNone/>
            </a:pPr>
            <a:r>
              <a:rPr lang="en-US" sz="1550">
                <a:solidFill>
                  <a:srgbClr val="6B7280"/>
                </a:solidFill>
                <a:latin typeface="Meiryo"/>
                <a:ea typeface="Meiryo"/>
                <a:cs typeface="Meiryo"/>
                <a:sym typeface="Meiryo"/>
              </a:rPr>
              <a:t>（無料プランの</a:t>
            </a:r>
            <a:endParaRPr sz="1550">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1150"/>
              <a:buFont typeface="Meiryo"/>
              <a:buNone/>
            </a:pPr>
            <a:r>
              <a:rPr lang="en-US" sz="1550">
                <a:solidFill>
                  <a:srgbClr val="6B7280"/>
                </a:solidFill>
                <a:latin typeface="Meiryo"/>
                <a:ea typeface="Meiryo"/>
                <a:cs typeface="Meiryo"/>
                <a:sym typeface="Meiryo"/>
              </a:rPr>
              <a:t>AI利用枠内）</a:t>
            </a:r>
            <a:endParaRPr sz="1550">
              <a:solidFill>
                <a:srgbClr val="6B7280"/>
              </a:solidFill>
              <a:latin typeface="Meiryo"/>
              <a:ea typeface="Meiryo"/>
              <a:cs typeface="Meiryo"/>
              <a:sym typeface="Meiry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4"/>
                                        </p:tgtEl>
                                        <p:attrNameLst>
                                          <p:attrName>style.visibility</p:attrName>
                                        </p:attrNameLst>
                                      </p:cBhvr>
                                      <p:to>
                                        <p:strVal val="visible"/>
                                      </p:to>
                                    </p:set>
                                    <p:animEffect filter="fade" transition="in">
                                      <p:cBhvr>
                                        <p:cTn dur="1000"/>
                                        <p:tgtEl>
                                          <p:spTgt spid="10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10b5d30066dd11f8_0_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33" name="Google Shape;1033;h10b5d30066dd11f8_0_1" title="悠久堂医科器械店様_無料セミナー .png"/>
          <p:cNvPicPr preferRelativeResize="0"/>
          <p:nvPr/>
        </p:nvPicPr>
        <p:blipFill>
          <a:blip r:embed="rId3">
            <a:alphaModFix/>
          </a:blip>
          <a:stretch>
            <a:fillRect/>
          </a:stretch>
        </p:blipFill>
        <p:spPr>
          <a:xfrm>
            <a:off x="2757487" y="152400"/>
            <a:ext cx="3629024" cy="4838698"/>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8" name="Shape 1038"/>
        <p:cNvGrpSpPr/>
        <p:nvPr/>
      </p:nvGrpSpPr>
      <p:grpSpPr>
        <a:xfrm>
          <a:off x="0" y="0"/>
          <a:ext cx="0" cy="0"/>
          <a:chOff x="0" y="0"/>
          <a:chExt cx="0" cy="0"/>
        </a:xfrm>
      </p:grpSpPr>
      <p:sp>
        <p:nvSpPr>
          <p:cNvPr id="1039" name="Google Shape;1039;h12a068dd872fd278_0_11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活用例A 告知ポスター（新弾予約・大会告知）</a:t>
            </a:r>
            <a:endParaRPr b="0" i="0" sz="2200" u="none" cap="none" strike="noStrike">
              <a:solidFill>
                <a:srgbClr val="000000"/>
              </a:solidFill>
              <a:latin typeface="Calibri"/>
              <a:ea typeface="Calibri"/>
              <a:cs typeface="Calibri"/>
              <a:sym typeface="Calibri"/>
            </a:endParaRPr>
          </a:p>
        </p:txBody>
      </p:sp>
      <p:sp>
        <p:nvSpPr>
          <p:cNvPr id="1040" name="Google Shape;1040;h12a068dd872fd278_0_11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h12a068dd872fd278_0_11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42" name="Google Shape;1042;h12a068dd872fd278_0_111"/>
          <p:cNvSpPr txBox="1"/>
          <p:nvPr/>
        </p:nvSpPr>
        <p:spPr>
          <a:xfrm>
            <a:off x="411480" y="896112"/>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43" name="Google Shape;1043;h12a068dd872fd278_0_111"/>
          <p:cNvSpPr/>
          <p:nvPr/>
        </p:nvSpPr>
        <p:spPr>
          <a:xfrm>
            <a:off x="411480" y="1207008"/>
            <a:ext cx="4937700" cy="29262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h12a068dd872fd278_0_111"/>
          <p:cNvSpPr txBox="1"/>
          <p:nvPr/>
        </p:nvSpPr>
        <p:spPr>
          <a:xfrm>
            <a:off x="594360" y="1344168"/>
            <a:ext cx="4572000" cy="26976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Canvaで、トレカの新弾予約の告知ポスターをA4縦で作ってください。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テーマは「サイバー・近未来」、色は青と紫。競技プレイヤーに響くキャッチコピーも考えて入れてください。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入れる情報：予約開始日〇月〇日／発売日〇月〇日／店名〇〇店</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実在のゲームのキャラクターやロゴは使わないでください。</a:t>
            </a:r>
            <a:endParaRPr b="0" i="0" sz="1150" u="none" cap="none" strike="noStrike">
              <a:solidFill>
                <a:srgbClr val="000000"/>
              </a:solidFill>
              <a:latin typeface="Calibri"/>
              <a:ea typeface="Calibri"/>
              <a:cs typeface="Calibri"/>
              <a:sym typeface="Calibri"/>
            </a:endParaRPr>
          </a:p>
        </p:txBody>
      </p:sp>
      <p:sp>
        <p:nvSpPr>
          <p:cNvPr id="1045" name="Google Shape;1045;h12a068dd872fd278_0_111"/>
          <p:cNvSpPr txBox="1"/>
          <p:nvPr/>
        </p:nvSpPr>
        <p:spPr>
          <a:xfrm>
            <a:off x="5623560" y="896112"/>
            <a:ext cx="31089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46" name="Google Shape;1046;h12a068dd872fd278_0_111"/>
          <p:cNvSpPr/>
          <p:nvPr/>
        </p:nvSpPr>
        <p:spPr>
          <a:xfrm>
            <a:off x="5623560" y="120700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h12a068dd872fd278_0_111"/>
          <p:cNvSpPr txBox="1"/>
          <p:nvPr/>
        </p:nvSpPr>
        <p:spPr>
          <a:xfrm>
            <a:off x="5806440" y="129844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崩れた文字を直す</a:t>
            </a:r>
            <a:endParaRPr b="0" i="0" sz="1300" u="none" cap="none" strike="noStrike">
              <a:solidFill>
                <a:srgbClr val="000000"/>
              </a:solidFill>
              <a:latin typeface="Calibri"/>
              <a:ea typeface="Calibri"/>
              <a:cs typeface="Calibri"/>
              <a:sym typeface="Calibri"/>
            </a:endParaRPr>
          </a:p>
        </p:txBody>
      </p:sp>
      <p:sp>
        <p:nvSpPr>
          <p:cNvPr id="1048" name="Google Shape;1048;h12a068dd872fd278_0_111"/>
          <p:cNvSpPr txBox="1"/>
          <p:nvPr/>
        </p:nvSpPr>
        <p:spPr>
          <a:xfrm>
            <a:off x="5806440" y="164592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見出し・日付・店名を打ち直す</a:t>
            </a:r>
            <a:endParaRPr b="0" i="0" sz="1050" u="none" cap="none" strike="noStrike">
              <a:solidFill>
                <a:srgbClr val="000000"/>
              </a:solidFill>
              <a:latin typeface="Calibri"/>
              <a:ea typeface="Calibri"/>
              <a:cs typeface="Calibri"/>
              <a:sym typeface="Calibri"/>
            </a:endParaRPr>
          </a:p>
        </p:txBody>
      </p:sp>
      <p:sp>
        <p:nvSpPr>
          <p:cNvPr id="1049" name="Google Shape;1049;h12a068dd872fd278_0_111"/>
          <p:cNvSpPr/>
          <p:nvPr/>
        </p:nvSpPr>
        <p:spPr>
          <a:xfrm>
            <a:off x="5623560" y="221284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h12a068dd872fd278_0_111"/>
          <p:cNvSpPr txBox="1"/>
          <p:nvPr/>
        </p:nvSpPr>
        <p:spPr>
          <a:xfrm>
            <a:off x="5806440" y="230428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商品写真を入れる</a:t>
            </a:r>
            <a:endParaRPr b="0" i="0" sz="1300" u="none" cap="none" strike="noStrike">
              <a:solidFill>
                <a:srgbClr val="000000"/>
              </a:solidFill>
              <a:latin typeface="Calibri"/>
              <a:ea typeface="Calibri"/>
              <a:cs typeface="Calibri"/>
              <a:sym typeface="Calibri"/>
            </a:endParaRPr>
          </a:p>
        </p:txBody>
      </p:sp>
      <p:sp>
        <p:nvSpPr>
          <p:cNvPr id="1051" name="Google Shape;1051;h12a068dd872fd278_0_111"/>
          <p:cNvSpPr txBox="1"/>
          <p:nvPr/>
        </p:nvSpPr>
        <p:spPr>
          <a:xfrm>
            <a:off x="5806440" y="265176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パックや商品の写真を配置</a:t>
            </a:r>
            <a:endParaRPr b="0" i="0" sz="1050" u="none" cap="none" strike="noStrike">
              <a:solidFill>
                <a:srgbClr val="000000"/>
              </a:solidFill>
              <a:latin typeface="Calibri"/>
              <a:ea typeface="Calibri"/>
              <a:cs typeface="Calibri"/>
              <a:sym typeface="Calibri"/>
            </a:endParaRPr>
          </a:p>
        </p:txBody>
      </p:sp>
      <p:sp>
        <p:nvSpPr>
          <p:cNvPr id="1052" name="Google Shape;1052;h12a068dd872fd278_0_111"/>
          <p:cNvSpPr/>
          <p:nvPr/>
        </p:nvSpPr>
        <p:spPr>
          <a:xfrm>
            <a:off x="5623560" y="3218688"/>
            <a:ext cx="3108900" cy="8688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h12a068dd872fd278_0_111"/>
          <p:cNvSpPr txBox="1"/>
          <p:nvPr/>
        </p:nvSpPr>
        <p:spPr>
          <a:xfrm>
            <a:off x="5806440" y="331012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サイズを変えて展開</a:t>
            </a:r>
            <a:endParaRPr b="0" i="0" sz="1300" u="none" cap="none" strike="noStrike">
              <a:solidFill>
                <a:srgbClr val="000000"/>
              </a:solidFill>
              <a:latin typeface="Calibri"/>
              <a:ea typeface="Calibri"/>
              <a:cs typeface="Calibri"/>
              <a:sym typeface="Calibri"/>
            </a:endParaRPr>
          </a:p>
        </p:txBody>
      </p:sp>
      <p:sp>
        <p:nvSpPr>
          <p:cNvPr id="1054" name="Google Shape;1054;h12a068dd872fd278_0_111"/>
          <p:cNvSpPr txBox="1"/>
          <p:nvPr/>
        </p:nvSpPr>
        <p:spPr>
          <a:xfrm>
            <a:off x="5806440" y="365760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SNS用の正方形にも</a:t>
            </a:r>
            <a:endParaRPr b="0" i="0" sz="1050" u="none" cap="none" strike="noStrike">
              <a:solidFill>
                <a:srgbClr val="000000"/>
              </a:solidFill>
              <a:latin typeface="Calibri"/>
              <a:ea typeface="Calibri"/>
              <a:cs typeface="Calibri"/>
              <a:sym typeface="Calibri"/>
            </a:endParaRPr>
          </a:p>
        </p:txBody>
      </p:sp>
      <p:sp>
        <p:nvSpPr>
          <p:cNvPr id="1055" name="Google Shape;1055;h12a068dd872fd278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56" name="Google Shape;1056;h12a068dd872fd278_0_11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61" name="Shape 1061"/>
        <p:cNvGrpSpPr/>
        <p:nvPr/>
      </p:nvGrpSpPr>
      <p:grpSpPr>
        <a:xfrm>
          <a:off x="0" y="0"/>
          <a:ext cx="0" cy="0"/>
          <a:chOff x="0" y="0"/>
          <a:chExt cx="0" cy="0"/>
        </a:xfrm>
      </p:grpSpPr>
      <p:sp>
        <p:nvSpPr>
          <p:cNvPr id="1062" name="Google Shape;1062;h12a068dd872fd278_0_18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63" name="Google Shape;1063;h12a068dd872fd278_0_18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64" name="Google Shape;1064;h12a068dd872fd278_0_18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活用例B 買取表・価格POPをまとめてつくる</a:t>
            </a:r>
            <a:endParaRPr b="0" i="0" sz="2200" u="none" cap="none" strike="noStrike">
              <a:solidFill>
                <a:srgbClr val="000000"/>
              </a:solidFill>
              <a:latin typeface="Calibri"/>
              <a:ea typeface="Calibri"/>
              <a:cs typeface="Calibri"/>
              <a:sym typeface="Calibri"/>
            </a:endParaRPr>
          </a:p>
        </p:txBody>
      </p:sp>
      <p:sp>
        <p:nvSpPr>
          <p:cNvPr id="1065" name="Google Shape;1065;h12a068dd872fd278_0_18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h12a068dd872fd278_0_18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67" name="Google Shape;1067;h12a068dd872fd278_0_181"/>
          <p:cNvSpPr txBox="1"/>
          <p:nvPr/>
        </p:nvSpPr>
        <p:spPr>
          <a:xfrm>
            <a:off x="411480" y="8686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68" name="Google Shape;1068;h12a068dd872fd278_0_181"/>
          <p:cNvSpPr/>
          <p:nvPr/>
        </p:nvSpPr>
        <p:spPr>
          <a:xfrm>
            <a:off x="411480" y="1170432"/>
            <a:ext cx="8321100" cy="13716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h12a068dd872fd278_0_181"/>
          <p:cNvSpPr txBox="1"/>
          <p:nvPr/>
        </p:nvSpPr>
        <p:spPr>
          <a:xfrm>
            <a:off x="594360" y="1298448"/>
            <a:ext cx="7955400" cy="11430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Canvaで、トレカの買取POPのひな形をA6縦で作ってください。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「買取強化中」の見出しと、商品名・レアリティ・型番・買取価格を入れる場所を用意してください。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商品名・レアリティ・型番・価格は、それぞれ別のテキストとして分けてください。中身は仮の文字で構いません。</a:t>
            </a:r>
            <a:endParaRPr sz="1150">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222222"/>
              </a:buClr>
              <a:buSzPts val="1150"/>
              <a:buFont typeface="Meiryo"/>
              <a:buNone/>
            </a:pPr>
            <a:r>
              <a:t/>
            </a:r>
            <a:endParaRPr sz="1150">
              <a:solidFill>
                <a:srgbClr val="222222"/>
              </a:solidFill>
              <a:latin typeface="Meiryo"/>
              <a:ea typeface="Meiryo"/>
              <a:cs typeface="Meiryo"/>
              <a:sym typeface="Meiryo"/>
            </a:endParaRPr>
          </a:p>
        </p:txBody>
      </p:sp>
      <p:sp>
        <p:nvSpPr>
          <p:cNvPr id="1070" name="Google Shape;1070;h12a068dd872fd278_0_181"/>
          <p:cNvSpPr txBox="1"/>
          <p:nvPr/>
        </p:nvSpPr>
        <p:spPr>
          <a:xfrm>
            <a:off x="411480" y="26974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71" name="Google Shape;1071;h12a068dd872fd278_0_181"/>
          <p:cNvSpPr/>
          <p:nvPr/>
        </p:nvSpPr>
        <p:spPr>
          <a:xfrm>
            <a:off x="411480" y="3017520"/>
            <a:ext cx="4069200" cy="1097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h12a068dd872fd278_0_181"/>
          <p:cNvSpPr txBox="1"/>
          <p:nvPr/>
        </p:nvSpPr>
        <p:spPr>
          <a:xfrm>
            <a:off x="59436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無課金</a:t>
            </a:r>
            <a:endParaRPr b="0" i="0" sz="1400" u="none" cap="none" strike="noStrike">
              <a:solidFill>
                <a:srgbClr val="000000"/>
              </a:solidFill>
              <a:latin typeface="Calibri"/>
              <a:ea typeface="Calibri"/>
              <a:cs typeface="Calibri"/>
              <a:sym typeface="Calibri"/>
            </a:endParaRPr>
          </a:p>
        </p:txBody>
      </p:sp>
      <p:sp>
        <p:nvSpPr>
          <p:cNvPr id="1073" name="Google Shape;1073;h12a068dd872fd278_0_181"/>
          <p:cNvSpPr txBox="1"/>
          <p:nvPr/>
        </p:nvSpPr>
        <p:spPr>
          <a:xfrm>
            <a:off x="178308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ページを複製して、CSVを見ながら</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商品名と価格を打ち替える</a:t>
            </a:r>
            <a:endParaRPr b="0" i="0" sz="1100" u="none" cap="none" strike="noStrike">
              <a:solidFill>
                <a:srgbClr val="000000"/>
              </a:solidFill>
              <a:latin typeface="Calibri"/>
              <a:ea typeface="Calibri"/>
              <a:cs typeface="Calibri"/>
              <a:sym typeface="Calibri"/>
            </a:endParaRPr>
          </a:p>
        </p:txBody>
      </p:sp>
      <p:sp>
        <p:nvSpPr>
          <p:cNvPr id="1074" name="Google Shape;1074;h12a068dd872fd278_0_181"/>
          <p:cNvSpPr txBox="1"/>
          <p:nvPr/>
        </p:nvSpPr>
        <p:spPr>
          <a:xfrm>
            <a:off x="59436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数枚ならこれで十分</a:t>
            </a:r>
            <a:endParaRPr b="0" i="0" sz="1050" u="none" cap="none" strike="noStrike">
              <a:solidFill>
                <a:srgbClr val="000000"/>
              </a:solidFill>
              <a:latin typeface="Calibri"/>
              <a:ea typeface="Calibri"/>
              <a:cs typeface="Calibri"/>
              <a:sym typeface="Calibri"/>
            </a:endParaRPr>
          </a:p>
        </p:txBody>
      </p:sp>
      <p:sp>
        <p:nvSpPr>
          <p:cNvPr id="1075" name="Google Shape;1075;h12a068dd872fd278_0_181"/>
          <p:cNvSpPr/>
          <p:nvPr/>
        </p:nvSpPr>
        <p:spPr>
          <a:xfrm>
            <a:off x="4663440" y="3017520"/>
            <a:ext cx="4069200" cy="1097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h12a068dd872fd278_0_181"/>
          <p:cNvSpPr txBox="1"/>
          <p:nvPr/>
        </p:nvSpPr>
        <p:spPr>
          <a:xfrm>
            <a:off x="484632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400"/>
              <a:buFont typeface="Meiryo"/>
              <a:buNone/>
            </a:pPr>
            <a:r>
              <a:rPr b="1" i="0" lang="en-US" sz="1400" u="none" cap="none" strike="noStrike">
                <a:solidFill>
                  <a:srgbClr val="E8702A"/>
                </a:solidFill>
                <a:latin typeface="Meiryo"/>
                <a:ea typeface="Meiryo"/>
                <a:cs typeface="Meiryo"/>
                <a:sym typeface="Meiryo"/>
              </a:rPr>
              <a:t>Canvaプロ</a:t>
            </a:r>
            <a:endParaRPr b="0" i="0" sz="1400" u="none" cap="none" strike="noStrike">
              <a:solidFill>
                <a:srgbClr val="000000"/>
              </a:solidFill>
              <a:latin typeface="Calibri"/>
              <a:ea typeface="Calibri"/>
              <a:cs typeface="Calibri"/>
              <a:sym typeface="Calibri"/>
            </a:endParaRPr>
          </a:p>
        </p:txBody>
      </p:sp>
      <p:sp>
        <p:nvSpPr>
          <p:cNvPr id="1077" name="Google Shape;1077;h12a068dd872fd278_0_181"/>
          <p:cNvSpPr txBox="1"/>
          <p:nvPr/>
        </p:nvSpPr>
        <p:spPr>
          <a:xfrm>
            <a:off x="603504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「一括作成」にCSVを読み込み、</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テキストと列をつなぐ</a:t>
            </a:r>
            <a:endParaRPr b="0" i="0" sz="1100" u="none" cap="none" strike="noStrike">
              <a:solidFill>
                <a:srgbClr val="000000"/>
              </a:solidFill>
              <a:latin typeface="Calibri"/>
              <a:ea typeface="Calibri"/>
              <a:cs typeface="Calibri"/>
              <a:sym typeface="Calibri"/>
            </a:endParaRPr>
          </a:p>
        </p:txBody>
      </p:sp>
      <p:sp>
        <p:nvSpPr>
          <p:cNvPr id="1078" name="Google Shape;1078;h12a068dd872fd278_0_181"/>
          <p:cNvSpPr txBox="1"/>
          <p:nvPr/>
        </p:nvSpPr>
        <p:spPr>
          <a:xfrm>
            <a:off x="484632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何十枚でも一度に生成できる</a:t>
            </a:r>
            <a:endParaRPr b="0" i="0" sz="1050" u="none" cap="none" strike="noStrik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3" name="Shape 1083"/>
        <p:cNvGrpSpPr/>
        <p:nvPr/>
      </p:nvGrpSpPr>
      <p:grpSpPr>
        <a:xfrm>
          <a:off x="0" y="0"/>
          <a:ext cx="0" cy="0"/>
          <a:chOff x="0" y="0"/>
          <a:chExt cx="0" cy="0"/>
        </a:xfrm>
      </p:grpSpPr>
      <p:sp>
        <p:nvSpPr>
          <p:cNvPr id="1084" name="Google Shape;1084;p3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販促物で気をつけること</a:t>
            </a:r>
            <a:endParaRPr b="0" i="0" sz="2200" u="none" cap="none" strike="noStrike">
              <a:solidFill>
                <a:schemeClr val="dk1"/>
              </a:solidFill>
              <a:latin typeface="Calibri"/>
              <a:ea typeface="Calibri"/>
              <a:cs typeface="Calibri"/>
              <a:sym typeface="Calibri"/>
            </a:endParaRPr>
          </a:p>
        </p:txBody>
      </p:sp>
      <p:sp>
        <p:nvSpPr>
          <p:cNvPr id="1085" name="Google Shape;1085;p3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86" name="Google Shape;1086;p35"/>
          <p:cNvSpPr/>
          <p:nvPr/>
        </p:nvSpPr>
        <p:spPr>
          <a:xfrm>
            <a:off x="502920" y="1005840"/>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87" name="Google Shape;1087;p35"/>
          <p:cNvPicPr preferRelativeResize="0"/>
          <p:nvPr/>
        </p:nvPicPr>
        <p:blipFill rotWithShape="1">
          <a:blip r:embed="rId3">
            <a:alphaModFix/>
          </a:blip>
          <a:srcRect b="0" l="0" r="0" t="0"/>
          <a:stretch/>
        </p:blipFill>
        <p:spPr>
          <a:xfrm>
            <a:off x="623621" y="1126541"/>
            <a:ext cx="307238" cy="307238"/>
          </a:xfrm>
          <a:prstGeom prst="rect">
            <a:avLst/>
          </a:prstGeom>
          <a:noFill/>
          <a:ln>
            <a:noFill/>
          </a:ln>
        </p:spPr>
      </p:pic>
      <p:sp>
        <p:nvSpPr>
          <p:cNvPr id="1088" name="Google Shape;1088;p35"/>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実在のキャラクター・他社のロゴ・有名人を描かせない</a:t>
            </a:r>
            <a:endParaRPr b="0" i="0" sz="1400" u="none" cap="none" strike="noStrike">
              <a:solidFill>
                <a:schemeClr val="dk1"/>
              </a:solidFill>
              <a:latin typeface="Calibri"/>
              <a:ea typeface="Calibri"/>
              <a:cs typeface="Calibri"/>
              <a:sym typeface="Calibri"/>
            </a:endParaRPr>
          </a:p>
        </p:txBody>
      </p:sp>
      <p:sp>
        <p:nvSpPr>
          <p:cNvPr id="1089" name="Google Shape;1089;p35"/>
          <p:cNvSpPr txBox="1"/>
          <p:nvPr/>
        </p:nvSpPr>
        <p:spPr>
          <a:xfrm>
            <a:off x="1280160" y="13075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「〇〇風に」といった、既存の作品に似せる指示も避けましょう</a:t>
            </a:r>
            <a:endParaRPr b="0" i="0" sz="1150" u="none" cap="none" strike="noStrike">
              <a:solidFill>
                <a:schemeClr val="dk1"/>
              </a:solidFill>
              <a:latin typeface="Calibri"/>
              <a:ea typeface="Calibri"/>
              <a:cs typeface="Calibri"/>
              <a:sym typeface="Calibri"/>
            </a:endParaRPr>
          </a:p>
        </p:txBody>
      </p:sp>
      <p:sp>
        <p:nvSpPr>
          <p:cNvPr id="1090" name="Google Shape;1090;p35"/>
          <p:cNvSpPr/>
          <p:nvPr/>
        </p:nvSpPr>
        <p:spPr>
          <a:xfrm>
            <a:off x="502920" y="1856232"/>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1" name="Google Shape;1091;p35"/>
          <p:cNvPicPr preferRelativeResize="0"/>
          <p:nvPr/>
        </p:nvPicPr>
        <p:blipFill rotWithShape="1">
          <a:blip r:embed="rId4">
            <a:alphaModFix/>
          </a:blip>
          <a:srcRect b="0" l="0" r="0" t="0"/>
          <a:stretch/>
        </p:blipFill>
        <p:spPr>
          <a:xfrm>
            <a:off x="623621" y="1976933"/>
            <a:ext cx="307238" cy="307238"/>
          </a:xfrm>
          <a:prstGeom prst="rect">
            <a:avLst/>
          </a:prstGeom>
          <a:noFill/>
          <a:ln>
            <a:noFill/>
          </a:ln>
        </p:spPr>
      </p:pic>
      <p:sp>
        <p:nvSpPr>
          <p:cNvPr id="1092" name="Google Shape;1092;p35"/>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価格・日付・条件は、掲示前に必ず人が確認する</a:t>
            </a:r>
            <a:endParaRPr b="0" i="0" sz="1400" u="none" cap="none" strike="noStrike">
              <a:solidFill>
                <a:schemeClr val="dk1"/>
              </a:solidFill>
              <a:latin typeface="Calibri"/>
              <a:ea typeface="Calibri"/>
              <a:cs typeface="Calibri"/>
              <a:sym typeface="Calibri"/>
            </a:endParaRPr>
          </a:p>
        </p:txBody>
      </p:sp>
      <p:sp>
        <p:nvSpPr>
          <p:cNvPr id="1093" name="Google Shape;1093;p35"/>
          <p:cNvSpPr txBox="1"/>
          <p:nvPr/>
        </p:nvSpPr>
        <p:spPr>
          <a:xfrm>
            <a:off x="1280160" y="2157984"/>
            <a:ext cx="74066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6B7280"/>
              </a:buClr>
              <a:buSzPts val="1150"/>
              <a:buFont typeface="Meiryo"/>
              <a:buNone/>
            </a:pPr>
            <a:r>
              <a:rPr lang="en-US" sz="1150">
                <a:solidFill>
                  <a:srgbClr val="6B7280"/>
                </a:solidFill>
                <a:latin typeface="Meiryo"/>
                <a:ea typeface="Meiryo"/>
                <a:cs typeface="Meiryo"/>
                <a:sym typeface="Meiryo"/>
              </a:rPr>
              <a:t>まとめて</a:t>
            </a:r>
            <a:r>
              <a:rPr lang="en-US" sz="1150">
                <a:solidFill>
                  <a:srgbClr val="6B7280"/>
                </a:solidFill>
                <a:latin typeface="Meiryo"/>
                <a:ea typeface="Meiryo"/>
                <a:cs typeface="Meiryo"/>
                <a:sym typeface="Meiryo"/>
              </a:rPr>
              <a:t>作っ</a:t>
            </a:r>
            <a:r>
              <a:rPr lang="en-US" sz="1150">
                <a:solidFill>
                  <a:srgbClr val="6B7280"/>
                </a:solidFill>
                <a:latin typeface="Meiryo"/>
                <a:ea typeface="Meiryo"/>
                <a:cs typeface="Meiryo"/>
                <a:sym typeface="Meiryo"/>
              </a:rPr>
              <a:t>たPOPも、元のリストと照合してから掲示します</a:t>
            </a:r>
            <a:endParaRPr sz="1150">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150"/>
              <a:buFont typeface="Meiryo"/>
              <a:buNone/>
            </a:pPr>
            <a:r>
              <a:t/>
            </a:r>
            <a:endParaRPr sz="1150">
              <a:solidFill>
                <a:srgbClr val="6B7280"/>
              </a:solidFill>
              <a:latin typeface="Meiryo"/>
              <a:ea typeface="Meiryo"/>
              <a:cs typeface="Meiryo"/>
              <a:sym typeface="Meiryo"/>
            </a:endParaRPr>
          </a:p>
        </p:txBody>
      </p:sp>
      <p:sp>
        <p:nvSpPr>
          <p:cNvPr id="1094" name="Google Shape;1094;p35"/>
          <p:cNvSpPr/>
          <p:nvPr/>
        </p:nvSpPr>
        <p:spPr>
          <a:xfrm>
            <a:off x="502920" y="2706624"/>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5" name="Google Shape;1095;p35"/>
          <p:cNvPicPr preferRelativeResize="0"/>
          <p:nvPr/>
        </p:nvPicPr>
        <p:blipFill rotWithShape="1">
          <a:blip r:embed="rId5">
            <a:alphaModFix/>
          </a:blip>
          <a:srcRect b="0" l="0" r="0" t="0"/>
          <a:stretch/>
        </p:blipFill>
        <p:spPr>
          <a:xfrm>
            <a:off x="623621" y="2827325"/>
            <a:ext cx="307238" cy="307238"/>
          </a:xfrm>
          <a:prstGeom prst="rect">
            <a:avLst/>
          </a:prstGeom>
          <a:noFill/>
          <a:ln>
            <a:noFill/>
          </a:ln>
        </p:spPr>
      </p:pic>
      <p:sp>
        <p:nvSpPr>
          <p:cNvPr id="1096" name="Google Shape;1096;p35"/>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根拠のない「最安」「No.1」などの表現は使わない</a:t>
            </a:r>
            <a:endParaRPr b="0" i="0" sz="1400" u="none" cap="none" strike="noStrike">
              <a:solidFill>
                <a:schemeClr val="dk1"/>
              </a:solidFill>
              <a:latin typeface="Calibri"/>
              <a:ea typeface="Calibri"/>
              <a:cs typeface="Calibri"/>
              <a:sym typeface="Calibri"/>
            </a:endParaRPr>
          </a:p>
        </p:txBody>
      </p:sp>
      <p:sp>
        <p:nvSpPr>
          <p:cNvPr id="1097" name="Google Shape;1097;p35"/>
          <p:cNvSpPr txBox="1"/>
          <p:nvPr/>
        </p:nvSpPr>
        <p:spPr>
          <a:xfrm>
            <a:off x="1280160" y="300837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お客様に誤解を与える表現は、景品表示法上の問題になり得ます</a:t>
            </a:r>
            <a:endParaRPr b="0" i="0" sz="1150" u="none" cap="none" strike="noStrike">
              <a:solidFill>
                <a:schemeClr val="dk1"/>
              </a:solidFill>
              <a:latin typeface="Calibri"/>
              <a:ea typeface="Calibri"/>
              <a:cs typeface="Calibri"/>
              <a:sym typeface="Calibri"/>
            </a:endParaRPr>
          </a:p>
        </p:txBody>
      </p:sp>
      <p:sp>
        <p:nvSpPr>
          <p:cNvPr id="1098" name="Google Shape;1098;p35"/>
          <p:cNvSpPr/>
          <p:nvPr/>
        </p:nvSpPr>
        <p:spPr>
          <a:xfrm>
            <a:off x="502920" y="3557016"/>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9" name="Google Shape;1099;p35"/>
          <p:cNvPicPr preferRelativeResize="0"/>
          <p:nvPr/>
        </p:nvPicPr>
        <p:blipFill rotWithShape="1">
          <a:blip r:embed="rId6">
            <a:alphaModFix/>
          </a:blip>
          <a:srcRect b="0" l="0" r="0" t="0"/>
          <a:stretch/>
        </p:blipFill>
        <p:spPr>
          <a:xfrm>
            <a:off x="623621" y="3677717"/>
            <a:ext cx="307238" cy="307238"/>
          </a:xfrm>
          <a:prstGeom prst="rect">
            <a:avLst/>
          </a:prstGeom>
          <a:noFill/>
          <a:ln>
            <a:noFill/>
          </a:ln>
        </p:spPr>
      </p:pic>
      <p:sp>
        <p:nvSpPr>
          <p:cNvPr id="1100" name="Google Shape;1100;p35"/>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商用利用の条件はツールごとに確認する</a:t>
            </a:r>
            <a:endParaRPr b="0" i="0" sz="1400" u="none" cap="none" strike="noStrike">
              <a:solidFill>
                <a:schemeClr val="dk1"/>
              </a:solidFill>
              <a:latin typeface="Calibri"/>
              <a:ea typeface="Calibri"/>
              <a:cs typeface="Calibri"/>
              <a:sym typeface="Calibri"/>
            </a:endParaRPr>
          </a:p>
        </p:txBody>
      </p:sp>
      <p:sp>
        <p:nvSpPr>
          <p:cNvPr id="1101" name="Google Shape;1101;p35"/>
          <p:cNvSpPr txBox="1"/>
          <p:nvPr/>
        </p:nvSpPr>
        <p:spPr>
          <a:xfrm>
            <a:off x="1280160" y="3858768"/>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使うツールの利用規約を、店頭掲示・SNS投稿の前に確認しましょう</a:t>
            </a:r>
            <a:endParaRPr b="0" i="0" sz="1150" u="none" cap="none" strike="noStrike">
              <a:solidFill>
                <a:schemeClr val="dk1"/>
              </a:solidFill>
              <a:latin typeface="Calibri"/>
              <a:ea typeface="Calibri"/>
              <a:cs typeface="Calibri"/>
              <a:sym typeface="Calibri"/>
            </a:endParaRPr>
          </a:p>
        </p:txBody>
      </p:sp>
      <p:sp>
        <p:nvSpPr>
          <p:cNvPr id="1102" name="Google Shape;1102;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g40a0daa3361_0_28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108" name="Google Shape;1108;g40a0daa3361_0_28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109" name="Google Shape;1109;g40a0daa3361_0_28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110" name="Google Shape;1110;g40a0daa3361_0_28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11" name="Google Shape;1111;g40a0daa3361_0_28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06</a:t>
            </a:r>
            <a:endParaRPr b="0" i="0" sz="2800" u="none" cap="none" strike="noStrike">
              <a:solidFill>
                <a:schemeClr val="dk1"/>
              </a:solidFill>
              <a:latin typeface="Calibri"/>
              <a:ea typeface="Calibri"/>
              <a:cs typeface="Calibri"/>
              <a:sym typeface="Calibri"/>
            </a:endParaRPr>
          </a:p>
        </p:txBody>
      </p:sp>
      <p:sp>
        <p:nvSpPr>
          <p:cNvPr id="1112" name="Google Shape;1112;g40a0daa3361_0_28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ワーク③</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販促物制作</a:t>
            </a:r>
            <a:endParaRPr b="0" i="0" sz="3000" u="none" cap="none" strike="noStrike">
              <a:solidFill>
                <a:schemeClr val="dk1"/>
              </a:solidFill>
              <a:latin typeface="Calibri"/>
              <a:ea typeface="Calibri"/>
              <a:cs typeface="Calibri"/>
              <a:sym typeface="Calibri"/>
            </a:endParaRPr>
          </a:p>
        </p:txBody>
      </p:sp>
      <p:sp>
        <p:nvSpPr>
          <p:cNvPr id="1113" name="Google Shape;1113;g40a0daa3361_0_28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a:t>
            </a:r>
            <a:r>
              <a:rPr lang="en-US">
                <a:solidFill>
                  <a:srgbClr val="C9D3E0"/>
                </a:solidFill>
                <a:latin typeface="Meiryo"/>
                <a:ea typeface="Meiryo"/>
                <a:cs typeface="Meiryo"/>
                <a:sym typeface="Meiryo"/>
              </a:rPr>
              <a:t>25</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6</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25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3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販促物制作</a:t>
            </a:r>
            <a:endParaRPr b="0" i="0" sz="2200" u="none" cap="none" strike="noStrike">
              <a:solidFill>
                <a:schemeClr val="dk1"/>
              </a:solidFill>
              <a:latin typeface="Calibri"/>
              <a:ea typeface="Calibri"/>
              <a:cs typeface="Calibri"/>
              <a:sym typeface="Calibri"/>
            </a:endParaRPr>
          </a:p>
        </p:txBody>
      </p:sp>
      <p:sp>
        <p:nvSpPr>
          <p:cNvPr id="1120" name="Google Shape;1120;p3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 name="Google Shape;1121;p3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22" name="Google Shape;1122;p3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23" name="Google Shape;1123;p37"/>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POP・チラシ・SNS画像のうち、どれか1点を完成させます。</a:t>
            </a:r>
            <a:endParaRPr b="0" i="0" sz="1300" u="none" cap="none" strike="noStrike">
              <a:solidFill>
                <a:schemeClr val="dk1"/>
              </a:solidFill>
              <a:latin typeface="Calibri"/>
              <a:ea typeface="Calibri"/>
              <a:cs typeface="Calibri"/>
              <a:sym typeface="Calibri"/>
            </a:endParaRPr>
          </a:p>
        </p:txBody>
      </p:sp>
      <p:sp>
        <p:nvSpPr>
          <p:cNvPr id="1124" name="Google Shape;1124;p37"/>
          <p:cNvSpPr/>
          <p:nvPr/>
        </p:nvSpPr>
        <p:spPr>
          <a:xfrm>
            <a:off x="41147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5" name="Google Shape;1125;p37"/>
          <p:cNvSpPr/>
          <p:nvPr/>
        </p:nvSpPr>
        <p:spPr>
          <a:xfrm>
            <a:off x="1334511"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6" name="Google Shape;1126;p37"/>
          <p:cNvSpPr txBox="1"/>
          <p:nvPr/>
        </p:nvSpPr>
        <p:spPr>
          <a:xfrm>
            <a:off x="1334511"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1</a:t>
            </a:r>
            <a:endParaRPr b="0" i="0" sz="2423" u="none" cap="none" strike="noStrike">
              <a:solidFill>
                <a:schemeClr val="dk1"/>
              </a:solidFill>
              <a:latin typeface="Calibri"/>
              <a:ea typeface="Calibri"/>
              <a:cs typeface="Calibri"/>
              <a:sym typeface="Calibri"/>
            </a:endParaRPr>
          </a:p>
        </p:txBody>
      </p:sp>
      <p:sp>
        <p:nvSpPr>
          <p:cNvPr id="1127" name="Google Shape;1127;p37"/>
          <p:cNvSpPr txBox="1"/>
          <p:nvPr/>
        </p:nvSpPr>
        <p:spPr>
          <a:xfrm>
            <a:off x="534552"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題材を決める</a:t>
            </a:r>
            <a:endParaRPr b="0" i="0" sz="1817" u="none" cap="none" strike="noStrike">
              <a:solidFill>
                <a:schemeClr val="dk1"/>
              </a:solidFill>
              <a:latin typeface="Calibri"/>
              <a:ea typeface="Calibri"/>
              <a:cs typeface="Calibri"/>
              <a:sym typeface="Calibri"/>
            </a:endParaRPr>
          </a:p>
        </p:txBody>
      </p:sp>
      <p:sp>
        <p:nvSpPr>
          <p:cNvPr id="1128" name="Google Shape;1128;p37"/>
          <p:cNvSpPr txBox="1"/>
          <p:nvPr/>
        </p:nvSpPr>
        <p:spPr>
          <a:xfrm>
            <a:off x="534552"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何を・どこに貼る／載せるか</a:t>
            </a:r>
            <a:endParaRPr b="0" i="0" sz="1413" u="none" cap="none" strike="noStrike">
              <a:solidFill>
                <a:schemeClr val="dk1"/>
              </a:solidFill>
              <a:latin typeface="Calibri"/>
              <a:ea typeface="Calibri"/>
              <a:cs typeface="Calibri"/>
              <a:sym typeface="Calibri"/>
            </a:endParaRPr>
          </a:p>
        </p:txBody>
      </p:sp>
      <p:sp>
        <p:nvSpPr>
          <p:cNvPr id="1129" name="Google Shape;1129;p37"/>
          <p:cNvSpPr/>
          <p:nvPr/>
        </p:nvSpPr>
        <p:spPr>
          <a:xfrm>
            <a:off x="324210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0" name="Google Shape;1130;p37"/>
          <p:cNvSpPr/>
          <p:nvPr/>
        </p:nvSpPr>
        <p:spPr>
          <a:xfrm>
            <a:off x="4165134"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1" name="Google Shape;1131;p37"/>
          <p:cNvSpPr txBox="1"/>
          <p:nvPr/>
        </p:nvSpPr>
        <p:spPr>
          <a:xfrm>
            <a:off x="4165134"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2</a:t>
            </a:r>
            <a:endParaRPr b="0" i="0" sz="2423" u="none" cap="none" strike="noStrike">
              <a:solidFill>
                <a:schemeClr val="dk1"/>
              </a:solidFill>
              <a:latin typeface="Calibri"/>
              <a:ea typeface="Calibri"/>
              <a:cs typeface="Calibri"/>
              <a:sym typeface="Calibri"/>
            </a:endParaRPr>
          </a:p>
        </p:txBody>
      </p:sp>
      <p:sp>
        <p:nvSpPr>
          <p:cNvPr id="1132" name="Google Shape;1132;p37"/>
          <p:cNvSpPr txBox="1"/>
          <p:nvPr/>
        </p:nvSpPr>
        <p:spPr>
          <a:xfrm>
            <a:off x="3365176"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文案をつくる</a:t>
            </a:r>
            <a:endParaRPr b="0" i="0" sz="1817" u="none" cap="none" strike="noStrike">
              <a:solidFill>
                <a:schemeClr val="dk1"/>
              </a:solidFill>
              <a:latin typeface="Calibri"/>
              <a:ea typeface="Calibri"/>
              <a:cs typeface="Calibri"/>
              <a:sym typeface="Calibri"/>
            </a:endParaRPr>
          </a:p>
        </p:txBody>
      </p:sp>
      <p:sp>
        <p:nvSpPr>
          <p:cNvPr id="1133" name="Google Shape;1133;p37"/>
          <p:cNvSpPr txBox="1"/>
          <p:nvPr/>
        </p:nvSpPr>
        <p:spPr>
          <a:xfrm>
            <a:off x="3365243" y="3319249"/>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見出し・本文を3案</a:t>
            </a:r>
            <a:r>
              <a:rPr lang="en-US" sz="1413">
                <a:solidFill>
                  <a:srgbClr val="444444"/>
                </a:solidFill>
                <a:latin typeface="Meiryo"/>
                <a:ea typeface="Meiryo"/>
                <a:cs typeface="Meiryo"/>
                <a:sym typeface="Meiryo"/>
              </a:rPr>
              <a:t>異なる</a:t>
            </a:r>
            <a:endParaRPr sz="1413">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lang="en-US" sz="1413">
                <a:solidFill>
                  <a:srgbClr val="444444"/>
                </a:solidFill>
                <a:latin typeface="Meiryo"/>
                <a:ea typeface="Meiryo"/>
                <a:cs typeface="Meiryo"/>
                <a:sym typeface="Meiryo"/>
              </a:rPr>
              <a:t>デザインで</a:t>
            </a:r>
            <a:endParaRPr b="0" i="0" sz="1413" u="none" cap="none" strike="noStrike">
              <a:solidFill>
                <a:schemeClr val="dk1"/>
              </a:solidFill>
              <a:latin typeface="Calibri"/>
              <a:ea typeface="Calibri"/>
              <a:cs typeface="Calibri"/>
              <a:sym typeface="Calibri"/>
            </a:endParaRPr>
          </a:p>
        </p:txBody>
      </p:sp>
      <p:sp>
        <p:nvSpPr>
          <p:cNvPr id="1134" name="Google Shape;1134;p37"/>
          <p:cNvSpPr/>
          <p:nvPr/>
        </p:nvSpPr>
        <p:spPr>
          <a:xfrm>
            <a:off x="607273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5" name="Google Shape;1135;p37"/>
          <p:cNvSpPr/>
          <p:nvPr/>
        </p:nvSpPr>
        <p:spPr>
          <a:xfrm>
            <a:off x="6995757"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6" name="Google Shape;1136;p37"/>
          <p:cNvSpPr txBox="1"/>
          <p:nvPr/>
        </p:nvSpPr>
        <p:spPr>
          <a:xfrm>
            <a:off x="6995757"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3</a:t>
            </a:r>
            <a:endParaRPr b="0" i="0" sz="2423" u="none" cap="none" strike="noStrike">
              <a:solidFill>
                <a:schemeClr val="dk1"/>
              </a:solidFill>
              <a:latin typeface="Calibri"/>
              <a:ea typeface="Calibri"/>
              <a:cs typeface="Calibri"/>
              <a:sym typeface="Calibri"/>
            </a:endParaRPr>
          </a:p>
        </p:txBody>
      </p:sp>
      <p:sp>
        <p:nvSpPr>
          <p:cNvPr id="1137" name="Google Shape;1137;p37"/>
          <p:cNvSpPr txBox="1"/>
          <p:nvPr/>
        </p:nvSpPr>
        <p:spPr>
          <a:xfrm>
            <a:off x="6195799"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画像を生成・修正</a:t>
            </a:r>
            <a:endParaRPr b="0" i="0" sz="1817" u="none" cap="none" strike="noStrike">
              <a:solidFill>
                <a:schemeClr val="dk1"/>
              </a:solidFill>
              <a:latin typeface="Calibri"/>
              <a:ea typeface="Calibri"/>
              <a:cs typeface="Calibri"/>
              <a:sym typeface="Calibri"/>
            </a:endParaRPr>
          </a:p>
        </p:txBody>
      </p:sp>
      <p:sp>
        <p:nvSpPr>
          <p:cNvPr id="1138" name="Google Shape;1138;p37"/>
          <p:cNvSpPr txBox="1"/>
          <p:nvPr/>
        </p:nvSpPr>
        <p:spPr>
          <a:xfrm>
            <a:off x="6195967"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4要素で指示 </a:t>
            </a:r>
            <a:endParaRPr b="0" i="0" sz="1413" u="none" cap="none" strike="noStrike">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 部分修正</a:t>
            </a:r>
            <a:r>
              <a:rPr lang="en-US" sz="1413">
                <a:solidFill>
                  <a:srgbClr val="444444"/>
                </a:solidFill>
                <a:latin typeface="Meiryo"/>
                <a:ea typeface="Meiryo"/>
                <a:cs typeface="Meiryo"/>
                <a:sym typeface="Meiryo"/>
              </a:rPr>
              <a:t>、新規チャット</a:t>
            </a:r>
            <a:endParaRPr b="0" i="0" sz="1413" u="none" cap="none" strike="noStrike">
              <a:solidFill>
                <a:schemeClr val="dk1"/>
              </a:solidFill>
              <a:latin typeface="Calibri"/>
              <a:ea typeface="Calibri"/>
              <a:cs typeface="Calibri"/>
              <a:sym typeface="Calibri"/>
            </a:endParaRPr>
          </a:p>
        </p:txBody>
      </p:sp>
      <p:sp>
        <p:nvSpPr>
          <p:cNvPr id="1139" name="Google Shape;1139;p3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4" name="Shape 1144"/>
        <p:cNvGrpSpPr/>
        <p:nvPr/>
      </p:nvGrpSpPr>
      <p:grpSpPr>
        <a:xfrm>
          <a:off x="0" y="0"/>
          <a:ext cx="0" cy="0"/>
          <a:chOff x="0" y="0"/>
          <a:chExt cx="0" cy="0"/>
        </a:xfrm>
      </p:grpSpPr>
      <p:sp>
        <p:nvSpPr>
          <p:cNvPr id="1145" name="Google Shape;1145;p3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題材の例</a:t>
            </a:r>
            <a:endParaRPr b="0" i="0" sz="2200" u="none" cap="none" strike="noStrike">
              <a:solidFill>
                <a:schemeClr val="dk1"/>
              </a:solidFill>
              <a:latin typeface="Calibri"/>
              <a:ea typeface="Calibri"/>
              <a:cs typeface="Calibri"/>
              <a:sym typeface="Calibri"/>
            </a:endParaRPr>
          </a:p>
        </p:txBody>
      </p:sp>
      <p:sp>
        <p:nvSpPr>
          <p:cNvPr id="1146" name="Google Shape;1146;p3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 name="Google Shape;1147;p3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48" name="Google Shape;1148;p3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49" name="Google Shape;1149;p3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50" name="Google Shape;1150;p38"/>
          <p:cNvSpPr/>
          <p:nvPr/>
        </p:nvSpPr>
        <p:spPr>
          <a:xfrm>
            <a:off x="411480" y="960120"/>
            <a:ext cx="4069200" cy="3474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 name="Google Shape;1151;p38"/>
          <p:cNvSpPr txBox="1"/>
          <p:nvPr/>
        </p:nvSpPr>
        <p:spPr>
          <a:xfrm>
            <a:off x="64008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A 告知ポスター</a:t>
            </a:r>
            <a:endParaRPr b="0" i="0" sz="1700" u="none" cap="none" strike="noStrike">
              <a:solidFill>
                <a:srgbClr val="000000"/>
              </a:solidFill>
              <a:latin typeface="Calibri"/>
              <a:ea typeface="Calibri"/>
              <a:cs typeface="Calibri"/>
              <a:sym typeface="Calibri"/>
            </a:endParaRPr>
          </a:p>
        </p:txBody>
      </p:sp>
      <p:sp>
        <p:nvSpPr>
          <p:cNvPr id="1152" name="Google Shape;1152;p38"/>
          <p:cNvSpPr txBox="1"/>
          <p:nvPr/>
        </p:nvSpPr>
        <p:spPr>
          <a:xfrm>
            <a:off x="64008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150"/>
              <a:buFont typeface="Meiryo"/>
              <a:buNone/>
            </a:pPr>
            <a:r>
              <a:rPr b="1" i="0" lang="en-US" sz="1150" u="none" cap="none" strike="noStrike">
                <a:solidFill>
                  <a:srgbClr val="1F3A5F"/>
                </a:solidFill>
                <a:latin typeface="Meiryo"/>
                <a:ea typeface="Meiryo"/>
                <a:cs typeface="Meiryo"/>
                <a:sym typeface="Meiryo"/>
              </a:rPr>
              <a:t>1枚をしっかりつくる業務</a:t>
            </a:r>
            <a:endParaRPr b="0" i="0" sz="1150" u="none" cap="none" strike="noStrike">
              <a:solidFill>
                <a:srgbClr val="000000"/>
              </a:solidFill>
              <a:latin typeface="Calibri"/>
              <a:ea typeface="Calibri"/>
              <a:cs typeface="Calibri"/>
              <a:sym typeface="Calibri"/>
            </a:endParaRPr>
          </a:p>
        </p:txBody>
      </p:sp>
      <p:sp>
        <p:nvSpPr>
          <p:cNvPr id="1153" name="Google Shape;1153;p38"/>
          <p:cNvSpPr/>
          <p:nvPr/>
        </p:nvSpPr>
        <p:spPr>
          <a:xfrm>
            <a:off x="640080" y="196596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4" name="Google Shape;1154;p38"/>
          <p:cNvPicPr preferRelativeResize="0"/>
          <p:nvPr/>
        </p:nvPicPr>
        <p:blipFill rotWithShape="1">
          <a:blip r:embed="rId3">
            <a:alphaModFix/>
          </a:blip>
          <a:srcRect b="0" l="0" r="0" t="0"/>
          <a:stretch/>
        </p:blipFill>
        <p:spPr>
          <a:xfrm>
            <a:off x="750722" y="2076602"/>
            <a:ext cx="281635" cy="281635"/>
          </a:xfrm>
          <a:prstGeom prst="rect">
            <a:avLst/>
          </a:prstGeom>
          <a:noFill/>
          <a:ln>
            <a:noFill/>
          </a:ln>
        </p:spPr>
      </p:pic>
      <p:sp>
        <p:nvSpPr>
          <p:cNvPr id="1155" name="Google Shape;1155;p38"/>
          <p:cNvSpPr txBox="1"/>
          <p:nvPr/>
        </p:nvSpPr>
        <p:spPr>
          <a:xfrm>
            <a:off x="132588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新弾予約・大会の告知</a:t>
            </a:r>
            <a:endParaRPr b="0" i="0" sz="1300" u="none" cap="none" strike="noStrike">
              <a:solidFill>
                <a:srgbClr val="000000"/>
              </a:solidFill>
              <a:latin typeface="Calibri"/>
              <a:ea typeface="Calibri"/>
              <a:cs typeface="Calibri"/>
              <a:sym typeface="Calibri"/>
            </a:endParaRPr>
          </a:p>
        </p:txBody>
      </p:sp>
      <p:sp>
        <p:nvSpPr>
          <p:cNvPr id="1156" name="Google Shape;1156;p38"/>
          <p:cNvSpPr/>
          <p:nvPr/>
        </p:nvSpPr>
        <p:spPr>
          <a:xfrm>
            <a:off x="640080" y="274320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7" name="Google Shape;1157;p38"/>
          <p:cNvPicPr preferRelativeResize="0"/>
          <p:nvPr/>
        </p:nvPicPr>
        <p:blipFill rotWithShape="1">
          <a:blip r:embed="rId4">
            <a:alphaModFix/>
          </a:blip>
          <a:srcRect b="0" l="0" r="0" t="0"/>
          <a:stretch/>
        </p:blipFill>
        <p:spPr>
          <a:xfrm>
            <a:off x="750722" y="2853842"/>
            <a:ext cx="281635" cy="281635"/>
          </a:xfrm>
          <a:prstGeom prst="rect">
            <a:avLst/>
          </a:prstGeom>
          <a:noFill/>
          <a:ln>
            <a:noFill/>
          </a:ln>
        </p:spPr>
      </p:pic>
      <p:sp>
        <p:nvSpPr>
          <p:cNvPr id="1158" name="Google Shape;1158;p38"/>
          <p:cNvSpPr txBox="1"/>
          <p:nvPr/>
        </p:nvSpPr>
        <p:spPr>
          <a:xfrm>
            <a:off x="132588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クレーンゲーム新景品の告知</a:t>
            </a:r>
            <a:endParaRPr b="0" i="0" sz="1300" u="none" cap="none" strike="noStrike">
              <a:solidFill>
                <a:srgbClr val="000000"/>
              </a:solidFill>
              <a:latin typeface="Calibri"/>
              <a:ea typeface="Calibri"/>
              <a:cs typeface="Calibri"/>
              <a:sym typeface="Calibri"/>
            </a:endParaRPr>
          </a:p>
        </p:txBody>
      </p:sp>
      <p:sp>
        <p:nvSpPr>
          <p:cNvPr id="1159" name="Google Shape;1159;p38"/>
          <p:cNvSpPr/>
          <p:nvPr/>
        </p:nvSpPr>
        <p:spPr>
          <a:xfrm>
            <a:off x="640080" y="352044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0" name="Google Shape;1160;p38"/>
          <p:cNvPicPr preferRelativeResize="0"/>
          <p:nvPr/>
        </p:nvPicPr>
        <p:blipFill rotWithShape="1">
          <a:blip r:embed="rId5">
            <a:alphaModFix/>
          </a:blip>
          <a:srcRect b="0" l="0" r="0" t="0"/>
          <a:stretch/>
        </p:blipFill>
        <p:spPr>
          <a:xfrm>
            <a:off x="750722" y="3631082"/>
            <a:ext cx="281635" cy="281635"/>
          </a:xfrm>
          <a:prstGeom prst="rect">
            <a:avLst/>
          </a:prstGeom>
          <a:noFill/>
          <a:ln>
            <a:noFill/>
          </a:ln>
        </p:spPr>
      </p:pic>
      <p:sp>
        <p:nvSpPr>
          <p:cNvPr id="1161" name="Google Shape;1161;p38"/>
          <p:cNvSpPr txBox="1"/>
          <p:nvPr/>
        </p:nvSpPr>
        <p:spPr>
          <a:xfrm>
            <a:off x="132588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修理受付の店頭案内</a:t>
            </a:r>
            <a:endParaRPr b="0" i="0" sz="1300" u="none" cap="none" strike="noStrike">
              <a:solidFill>
                <a:srgbClr val="000000"/>
              </a:solidFill>
              <a:latin typeface="Calibri"/>
              <a:ea typeface="Calibri"/>
              <a:cs typeface="Calibri"/>
              <a:sym typeface="Calibri"/>
            </a:endParaRPr>
          </a:p>
        </p:txBody>
      </p:sp>
      <p:sp>
        <p:nvSpPr>
          <p:cNvPr id="1162" name="Google Shape;1162;p38"/>
          <p:cNvSpPr/>
          <p:nvPr/>
        </p:nvSpPr>
        <p:spPr>
          <a:xfrm>
            <a:off x="4663440" y="960120"/>
            <a:ext cx="4069200" cy="3474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38"/>
          <p:cNvSpPr txBox="1"/>
          <p:nvPr/>
        </p:nvSpPr>
        <p:spPr>
          <a:xfrm>
            <a:off x="489204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00"/>
              <a:buFont typeface="Meiryo"/>
              <a:buNone/>
            </a:pPr>
            <a:r>
              <a:rPr b="1" i="0" lang="en-US" sz="1700" u="none" cap="none" strike="noStrike">
                <a:solidFill>
                  <a:srgbClr val="E8702A"/>
                </a:solidFill>
                <a:latin typeface="Meiryo"/>
                <a:ea typeface="Meiryo"/>
                <a:cs typeface="Meiryo"/>
                <a:sym typeface="Meiryo"/>
              </a:rPr>
              <a:t>B 価格POP</a:t>
            </a:r>
            <a:endParaRPr b="0" i="0" sz="1700" u="none" cap="none" strike="noStrike">
              <a:solidFill>
                <a:srgbClr val="000000"/>
              </a:solidFill>
              <a:latin typeface="Calibri"/>
              <a:ea typeface="Calibri"/>
              <a:cs typeface="Calibri"/>
              <a:sym typeface="Calibri"/>
            </a:endParaRPr>
          </a:p>
        </p:txBody>
      </p:sp>
      <p:sp>
        <p:nvSpPr>
          <p:cNvPr id="1164" name="Google Shape;1164;p38"/>
          <p:cNvSpPr txBox="1"/>
          <p:nvPr/>
        </p:nvSpPr>
        <p:spPr>
          <a:xfrm>
            <a:off x="489204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0"/>
              <a:buFont typeface="Meiryo"/>
              <a:buNone/>
            </a:pPr>
            <a:r>
              <a:rPr b="1" i="0" lang="en-US" sz="1150" u="none" cap="none" strike="noStrike">
                <a:solidFill>
                  <a:srgbClr val="E8702A"/>
                </a:solidFill>
                <a:latin typeface="Meiryo"/>
                <a:ea typeface="Meiryo"/>
                <a:cs typeface="Meiryo"/>
                <a:sym typeface="Meiryo"/>
              </a:rPr>
              <a:t>同じ形のものを何枚もつくる業務</a:t>
            </a:r>
            <a:endParaRPr b="0" i="0" sz="1150" u="none" cap="none" strike="noStrike">
              <a:solidFill>
                <a:srgbClr val="000000"/>
              </a:solidFill>
              <a:latin typeface="Calibri"/>
              <a:ea typeface="Calibri"/>
              <a:cs typeface="Calibri"/>
              <a:sym typeface="Calibri"/>
            </a:endParaRPr>
          </a:p>
        </p:txBody>
      </p:sp>
      <p:sp>
        <p:nvSpPr>
          <p:cNvPr id="1165" name="Google Shape;1165;p38"/>
          <p:cNvSpPr/>
          <p:nvPr/>
        </p:nvSpPr>
        <p:spPr>
          <a:xfrm>
            <a:off x="4892040" y="196596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6" name="Google Shape;1166;p38"/>
          <p:cNvPicPr preferRelativeResize="0"/>
          <p:nvPr/>
        </p:nvPicPr>
        <p:blipFill rotWithShape="1">
          <a:blip r:embed="rId6">
            <a:alphaModFix/>
          </a:blip>
          <a:srcRect b="0" l="0" r="0" t="0"/>
          <a:stretch/>
        </p:blipFill>
        <p:spPr>
          <a:xfrm>
            <a:off x="5002682" y="2076602"/>
            <a:ext cx="281635" cy="281635"/>
          </a:xfrm>
          <a:prstGeom prst="rect">
            <a:avLst/>
          </a:prstGeom>
          <a:noFill/>
          <a:ln>
            <a:noFill/>
          </a:ln>
        </p:spPr>
      </p:pic>
      <p:sp>
        <p:nvSpPr>
          <p:cNvPr id="1167" name="Google Shape;1167;p38"/>
          <p:cNvSpPr txBox="1"/>
          <p:nvPr/>
        </p:nvSpPr>
        <p:spPr>
          <a:xfrm>
            <a:off x="557784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シングルカードの買取表</a:t>
            </a:r>
            <a:endParaRPr b="0" i="0" sz="1300" u="none" cap="none" strike="noStrike">
              <a:solidFill>
                <a:srgbClr val="000000"/>
              </a:solidFill>
              <a:latin typeface="Calibri"/>
              <a:ea typeface="Calibri"/>
              <a:cs typeface="Calibri"/>
              <a:sym typeface="Calibri"/>
            </a:endParaRPr>
          </a:p>
        </p:txBody>
      </p:sp>
      <p:sp>
        <p:nvSpPr>
          <p:cNvPr id="1168" name="Google Shape;1168;p38"/>
          <p:cNvSpPr/>
          <p:nvPr/>
        </p:nvSpPr>
        <p:spPr>
          <a:xfrm>
            <a:off x="4892040" y="274320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9" name="Google Shape;1169;p38"/>
          <p:cNvPicPr preferRelativeResize="0"/>
          <p:nvPr/>
        </p:nvPicPr>
        <p:blipFill rotWithShape="1">
          <a:blip r:embed="rId7">
            <a:alphaModFix/>
          </a:blip>
          <a:srcRect b="0" l="0" r="0" t="0"/>
          <a:stretch/>
        </p:blipFill>
        <p:spPr>
          <a:xfrm>
            <a:off x="5002682" y="2853842"/>
            <a:ext cx="281635" cy="281635"/>
          </a:xfrm>
          <a:prstGeom prst="rect">
            <a:avLst/>
          </a:prstGeom>
          <a:noFill/>
          <a:ln>
            <a:noFill/>
          </a:ln>
        </p:spPr>
      </p:pic>
      <p:sp>
        <p:nvSpPr>
          <p:cNvPr id="1170" name="Google Shape;1170;p38"/>
          <p:cNvSpPr txBox="1"/>
          <p:nvPr/>
        </p:nvSpPr>
        <p:spPr>
          <a:xfrm>
            <a:off x="557784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中古商品の価格POP</a:t>
            </a:r>
            <a:endParaRPr b="0" i="0" sz="1300" u="none" cap="none" strike="noStrike">
              <a:solidFill>
                <a:srgbClr val="000000"/>
              </a:solidFill>
              <a:latin typeface="Calibri"/>
              <a:ea typeface="Calibri"/>
              <a:cs typeface="Calibri"/>
              <a:sym typeface="Calibri"/>
            </a:endParaRPr>
          </a:p>
        </p:txBody>
      </p:sp>
      <p:sp>
        <p:nvSpPr>
          <p:cNvPr id="1171" name="Google Shape;1171;p38"/>
          <p:cNvSpPr/>
          <p:nvPr/>
        </p:nvSpPr>
        <p:spPr>
          <a:xfrm>
            <a:off x="4892040" y="352044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72" name="Google Shape;1172;p38"/>
          <p:cNvPicPr preferRelativeResize="0"/>
          <p:nvPr/>
        </p:nvPicPr>
        <p:blipFill rotWithShape="1">
          <a:blip r:embed="rId8">
            <a:alphaModFix/>
          </a:blip>
          <a:srcRect b="0" l="0" r="0" t="0"/>
          <a:stretch/>
        </p:blipFill>
        <p:spPr>
          <a:xfrm>
            <a:off x="5002682" y="3631082"/>
            <a:ext cx="281635" cy="281635"/>
          </a:xfrm>
          <a:prstGeom prst="rect">
            <a:avLst/>
          </a:prstGeom>
          <a:noFill/>
          <a:ln>
            <a:noFill/>
          </a:ln>
        </p:spPr>
      </p:pic>
      <p:sp>
        <p:nvSpPr>
          <p:cNvPr id="1173" name="Google Shape;1173;p38"/>
          <p:cNvSpPr txBox="1"/>
          <p:nvPr/>
        </p:nvSpPr>
        <p:spPr>
          <a:xfrm>
            <a:off x="557784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入荷商品の一覧</a:t>
            </a:r>
            <a:endParaRPr b="0" i="0" sz="1300" u="none" cap="none" strike="noStrike">
              <a:solidFill>
                <a:srgbClr val="000000"/>
              </a:solidFill>
              <a:latin typeface="Calibri"/>
              <a:ea typeface="Calibri"/>
              <a:cs typeface="Calibri"/>
              <a:sym typeface="Calibri"/>
            </a:endParaRPr>
          </a:p>
        </p:txBody>
      </p:sp>
      <p:sp>
        <p:nvSpPr>
          <p:cNvPr id="1174" name="Google Shape;1174;p38"/>
          <p:cNvSpPr txBox="1"/>
          <p:nvPr/>
        </p:nvSpPr>
        <p:spPr>
          <a:xfrm>
            <a:off x="561501" y="4549022"/>
            <a:ext cx="74985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lang="en-US" sz="1300">
                <a:solidFill>
                  <a:srgbClr val="1F3A5F"/>
                </a:solidFill>
                <a:latin typeface="Meiryo"/>
                <a:ea typeface="Meiryo"/>
                <a:cs typeface="Meiryo"/>
                <a:sym typeface="Meiryo"/>
              </a:rPr>
              <a:t>共有資料のプロンプトも参考にしてください</a:t>
            </a:r>
            <a:r>
              <a:rPr b="1" i="0" lang="en-US" sz="1300" u="none" cap="none" strike="noStrike">
                <a:solidFill>
                  <a:srgbClr val="1F3A5F"/>
                </a:solidFill>
                <a:latin typeface="Meiryo"/>
                <a:ea typeface="Meiryo"/>
                <a:cs typeface="Meiryo"/>
                <a:sym typeface="Meiryo"/>
              </a:rPr>
              <a:t>。</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9" name="Shape 1179"/>
        <p:cNvGrpSpPr/>
        <p:nvPr/>
      </p:nvGrpSpPr>
      <p:grpSpPr>
        <a:xfrm>
          <a:off x="0" y="0"/>
          <a:ext cx="0" cy="0"/>
          <a:chOff x="0" y="0"/>
          <a:chExt cx="0" cy="0"/>
        </a:xfrm>
      </p:grpSpPr>
      <p:sp>
        <p:nvSpPr>
          <p:cNvPr id="1180" name="Google Shape;1180;h603855749043a6f2_0_2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画像は「1生成 1チャット」で</a:t>
            </a:r>
            <a:endParaRPr b="0" i="0" sz="2200" u="none" cap="none" strike="noStrike">
              <a:solidFill>
                <a:schemeClr val="dk1"/>
              </a:solidFill>
              <a:latin typeface="Calibri"/>
              <a:ea typeface="Calibri"/>
              <a:cs typeface="Calibri"/>
              <a:sym typeface="Calibri"/>
            </a:endParaRPr>
          </a:p>
        </p:txBody>
      </p:sp>
      <p:sp>
        <p:nvSpPr>
          <p:cNvPr id="1181" name="Google Shape;1181;h603855749043a6f2_0_2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82" name="Google Shape;1182;h603855749043a6f2_0_27"/>
          <p:cNvSpPr/>
          <p:nvPr/>
        </p:nvSpPr>
        <p:spPr>
          <a:xfrm>
            <a:off x="411480" y="914400"/>
            <a:ext cx="4069200" cy="28347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h603855749043a6f2_0_27"/>
          <p:cNvSpPr/>
          <p:nvPr/>
        </p:nvSpPr>
        <p:spPr>
          <a:xfrm>
            <a:off x="640080" y="1097280"/>
            <a:ext cx="502800" cy="50280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h603855749043a6f2_0_27"/>
          <p:cNvSpPr txBox="1"/>
          <p:nvPr/>
        </p:nvSpPr>
        <p:spPr>
          <a:xfrm>
            <a:off x="128016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Meiryo"/>
              <a:buNone/>
            </a:pPr>
            <a:r>
              <a:rPr b="1" i="0" lang="en-US" sz="1600" u="none" cap="none" strike="noStrike">
                <a:solidFill>
                  <a:srgbClr val="6B7280"/>
                </a:solidFill>
                <a:latin typeface="Meiryo"/>
                <a:ea typeface="Meiryo"/>
                <a:cs typeface="Meiryo"/>
                <a:sym typeface="Meiryo"/>
              </a:rPr>
              <a:t>おすすめしない</a:t>
            </a:r>
            <a:endParaRPr b="0" i="0" sz="1600" u="none" cap="none" strike="noStrike">
              <a:solidFill>
                <a:schemeClr val="dk1"/>
              </a:solidFill>
              <a:latin typeface="Calibri"/>
              <a:ea typeface="Calibri"/>
              <a:cs typeface="Calibri"/>
              <a:sym typeface="Calibri"/>
            </a:endParaRPr>
          </a:p>
        </p:txBody>
      </p:sp>
      <p:sp>
        <p:nvSpPr>
          <p:cNvPr id="1185" name="Google Shape;1185;h603855749043a6f2_0_27"/>
          <p:cNvSpPr txBox="1"/>
          <p:nvPr/>
        </p:nvSpPr>
        <p:spPr>
          <a:xfrm>
            <a:off x="64008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同じチャットで会話を続けて直す</a:t>
            </a:r>
            <a:endParaRPr b="0" i="0" sz="1300" u="none" cap="none" strike="noStrike">
              <a:solidFill>
                <a:schemeClr val="dk1"/>
              </a:solidFill>
              <a:latin typeface="Calibri"/>
              <a:ea typeface="Calibri"/>
              <a:cs typeface="Calibri"/>
              <a:sym typeface="Calibri"/>
            </a:endParaRPr>
          </a:p>
        </p:txBody>
      </p:sp>
      <p:sp>
        <p:nvSpPr>
          <p:cNvPr id="1186" name="Google Shape;1186;h603855749043a6f2_0_27"/>
          <p:cNvSpPr txBox="1"/>
          <p:nvPr/>
        </p:nvSpPr>
        <p:spPr>
          <a:xfrm>
            <a:off x="685800" y="2377440"/>
            <a:ext cx="3566100" cy="118860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「もう少し明るく」</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「やっぱり背景を白に」</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「さっきの感じに戻して」</a:t>
            </a:r>
            <a:endParaRPr b="0" i="0" sz="1150" u="none" cap="none" strike="noStrike">
              <a:solidFill>
                <a:schemeClr val="dk1"/>
              </a:solidFill>
              <a:latin typeface="Calibri"/>
              <a:ea typeface="Calibri"/>
              <a:cs typeface="Calibri"/>
              <a:sym typeface="Calibri"/>
            </a:endParaRPr>
          </a:p>
        </p:txBody>
      </p:sp>
      <p:sp>
        <p:nvSpPr>
          <p:cNvPr id="1187" name="Google Shape;1187;h603855749043a6f2_0_27"/>
          <p:cNvSpPr/>
          <p:nvPr/>
        </p:nvSpPr>
        <p:spPr>
          <a:xfrm>
            <a:off x="4663440" y="914400"/>
            <a:ext cx="4069200" cy="28347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h603855749043a6f2_0_27"/>
          <p:cNvSpPr/>
          <p:nvPr/>
        </p:nvSpPr>
        <p:spPr>
          <a:xfrm>
            <a:off x="4892040" y="109728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89" name="Google Shape;1189;h603855749043a6f2_0_27"/>
          <p:cNvPicPr preferRelativeResize="0"/>
          <p:nvPr/>
        </p:nvPicPr>
        <p:blipFill rotWithShape="1">
          <a:blip r:embed="rId3">
            <a:alphaModFix/>
          </a:blip>
          <a:srcRect b="0" l="0" r="0" t="0"/>
          <a:stretch/>
        </p:blipFill>
        <p:spPr>
          <a:xfrm>
            <a:off x="5002682" y="1207922"/>
            <a:ext cx="281635" cy="281635"/>
          </a:xfrm>
          <a:prstGeom prst="rect">
            <a:avLst/>
          </a:prstGeom>
          <a:noFill/>
          <a:ln>
            <a:noFill/>
          </a:ln>
        </p:spPr>
      </p:pic>
      <p:sp>
        <p:nvSpPr>
          <p:cNvPr id="1190" name="Google Shape;1190;h603855749043a6f2_0_27"/>
          <p:cNvSpPr txBox="1"/>
          <p:nvPr/>
        </p:nvSpPr>
        <p:spPr>
          <a:xfrm>
            <a:off x="553212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600"/>
              <a:buFont typeface="Meiryo"/>
              <a:buNone/>
            </a:pPr>
            <a:r>
              <a:rPr b="1" i="0" lang="en-US" sz="1600" u="none" cap="none" strike="noStrike">
                <a:solidFill>
                  <a:srgbClr val="E8702A"/>
                </a:solidFill>
                <a:latin typeface="Meiryo"/>
                <a:ea typeface="Meiryo"/>
                <a:cs typeface="Meiryo"/>
                <a:sym typeface="Meiryo"/>
              </a:rPr>
              <a:t>おすすめ</a:t>
            </a:r>
            <a:endParaRPr b="0" i="0" sz="1600" u="none" cap="none" strike="noStrike">
              <a:solidFill>
                <a:schemeClr val="dk1"/>
              </a:solidFill>
              <a:latin typeface="Calibri"/>
              <a:ea typeface="Calibri"/>
              <a:cs typeface="Calibri"/>
              <a:sym typeface="Calibri"/>
            </a:endParaRPr>
          </a:p>
        </p:txBody>
      </p:sp>
      <p:sp>
        <p:nvSpPr>
          <p:cNvPr id="1191" name="Google Shape;1191;h603855749043a6f2_0_27"/>
          <p:cNvSpPr txBox="1"/>
          <p:nvPr/>
        </p:nvSpPr>
        <p:spPr>
          <a:xfrm>
            <a:off x="489204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書き直したプロンプトを新しいチャットで出す</a:t>
            </a:r>
            <a:endParaRPr b="0" i="0" sz="1300" u="none" cap="none" strike="noStrike">
              <a:solidFill>
                <a:schemeClr val="dk1"/>
              </a:solidFill>
              <a:latin typeface="Calibri"/>
              <a:ea typeface="Calibri"/>
              <a:cs typeface="Calibri"/>
              <a:sym typeface="Calibri"/>
            </a:endParaRPr>
          </a:p>
        </p:txBody>
      </p:sp>
      <p:sp>
        <p:nvSpPr>
          <p:cNvPr id="1192" name="Google Shape;1192;h603855749043a6f2_0_27"/>
          <p:cNvSpPr txBox="1"/>
          <p:nvPr/>
        </p:nvSpPr>
        <p:spPr>
          <a:xfrm>
            <a:off x="4937760" y="2377440"/>
            <a:ext cx="3566100" cy="118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直したい点を反映した</a:t>
            </a:r>
            <a:endParaRPr b="0" i="0" sz="1150" u="none" cap="none" strike="noStrike">
              <a:solidFill>
                <a:srgbClr val="222222"/>
              </a:solidFill>
              <a:latin typeface="Meiryo"/>
              <a:ea typeface="Meiryo"/>
              <a:cs typeface="Meiryo"/>
              <a:sym typeface="Meiryo"/>
            </a:endParaRPr>
          </a:p>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1本のプロンプトにまとめて</a:t>
            </a:r>
            <a:r>
              <a:rPr lang="en-US" sz="1150">
                <a:solidFill>
                  <a:schemeClr val="dk1"/>
                </a:solidFill>
                <a:latin typeface="Calibri"/>
                <a:ea typeface="Calibri"/>
                <a:cs typeface="Calibri"/>
                <a:sym typeface="Calibri"/>
              </a:rPr>
              <a:t>、</a:t>
            </a:r>
            <a:r>
              <a:rPr b="0" i="0" lang="en-US" sz="1150" u="none" cap="none" strike="noStrike">
                <a:solidFill>
                  <a:srgbClr val="222222"/>
                </a:solidFill>
                <a:latin typeface="Meiryo"/>
                <a:ea typeface="Meiryo"/>
                <a:cs typeface="Meiryo"/>
                <a:sym typeface="Meiryo"/>
              </a:rPr>
              <a:t>新しいチャットで実行</a:t>
            </a:r>
            <a:endParaRPr b="0" i="0" sz="1150" u="none" cap="none" strike="noStrike">
              <a:solidFill>
                <a:schemeClr val="dk1"/>
              </a:solidFill>
              <a:latin typeface="Calibri"/>
              <a:ea typeface="Calibri"/>
              <a:cs typeface="Calibri"/>
              <a:sym typeface="Calibri"/>
            </a:endParaRPr>
          </a:p>
        </p:txBody>
      </p:sp>
      <p:sp>
        <p:nvSpPr>
          <p:cNvPr id="1193" name="Google Shape;1193;h603855749043a6f2_0_27"/>
          <p:cNvSpPr/>
          <p:nvPr/>
        </p:nvSpPr>
        <p:spPr>
          <a:xfrm>
            <a:off x="411480" y="3931920"/>
            <a:ext cx="8321100" cy="5487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h603855749043a6f2_0_27"/>
          <p:cNvSpPr txBox="1"/>
          <p:nvPr/>
        </p:nvSpPr>
        <p:spPr>
          <a:xfrm>
            <a:off x="594360" y="3931920"/>
            <a:ext cx="79554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文字や配置の細かい調整は、AIで粘らずCanvaで直したほうが速く仕上がります。</a:t>
            </a:r>
            <a:endParaRPr b="0" i="0" sz="1300" u="none" cap="none" strike="noStrike">
              <a:solidFill>
                <a:schemeClr val="dk1"/>
              </a:solidFill>
              <a:latin typeface="Calibri"/>
              <a:ea typeface="Calibri"/>
              <a:cs typeface="Calibri"/>
              <a:sym typeface="Calibri"/>
            </a:endParaRPr>
          </a:p>
        </p:txBody>
      </p:sp>
      <p:sp>
        <p:nvSpPr>
          <p:cNvPr id="1195" name="Google Shape;1195;h603855749043a6f2_0_27"/>
          <p:cNvSpPr/>
          <p:nvPr/>
        </p:nvSpPr>
        <p:spPr>
          <a:xfrm>
            <a:off x="768175" y="1219687"/>
            <a:ext cx="246600" cy="258000"/>
          </a:xfrm>
          <a:prstGeom prst="triangle">
            <a:avLst>
              <a:gd fmla="val 50000" name="adj"/>
            </a:avLst>
          </a:prstGeom>
          <a:no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h603855749043a6f2_0_4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なぜ、会話で直すと遠回りになるのか</a:t>
            </a:r>
            <a:endParaRPr b="0" i="0" sz="2200" u="none" cap="none" strike="noStrike">
              <a:solidFill>
                <a:schemeClr val="dk1"/>
              </a:solidFill>
              <a:latin typeface="Calibri"/>
              <a:ea typeface="Calibri"/>
              <a:cs typeface="Calibri"/>
              <a:sym typeface="Calibri"/>
            </a:endParaRPr>
          </a:p>
        </p:txBody>
      </p:sp>
      <p:sp>
        <p:nvSpPr>
          <p:cNvPr id="1202" name="Google Shape;1202;h603855749043a6f2_0_4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descr="preencoded.png" id="1203" name="Google Shape;1203;h603855749043a6f2_0_48"/>
          <p:cNvPicPr preferRelativeResize="0"/>
          <p:nvPr/>
        </p:nvPicPr>
        <p:blipFill rotWithShape="1">
          <a:blip r:embed="rId3">
            <a:alphaModFix/>
          </a:blip>
          <a:srcRect b="0" l="0" r="0" t="0"/>
          <a:stretch/>
        </p:blipFill>
        <p:spPr>
          <a:xfrm>
            <a:off x="828971" y="1917559"/>
            <a:ext cx="367222" cy="367222"/>
          </a:xfrm>
          <a:prstGeom prst="rect">
            <a:avLst/>
          </a:prstGeom>
          <a:noFill/>
          <a:ln>
            <a:noFill/>
          </a:ln>
        </p:spPr>
      </p:pic>
      <p:sp>
        <p:nvSpPr>
          <p:cNvPr id="1204" name="Google Shape;1204;h603855749043a6f2_0_48"/>
          <p:cNvSpPr txBox="1"/>
          <p:nvPr/>
        </p:nvSpPr>
        <p:spPr>
          <a:xfrm>
            <a:off x="411479" y="1452825"/>
            <a:ext cx="83211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a:t>
            </a:r>
            <a:r>
              <a:rPr b="1" i="0" lang="en-US" sz="2008" u="none" cap="none" strike="noStrike">
                <a:solidFill>
                  <a:srgbClr val="1F3A5F"/>
                </a:solidFill>
                <a:latin typeface="Meiryo"/>
                <a:ea typeface="Meiryo"/>
                <a:cs typeface="Meiryo"/>
                <a:sym typeface="Meiryo"/>
              </a:rPr>
              <a:t>指示が上書きされず、積み重なっていく</a:t>
            </a:r>
            <a:endParaRPr b="0" i="0" sz="2008" u="none" cap="none" strike="noStrike">
              <a:solidFill>
                <a:schemeClr val="dk1"/>
              </a:solidFill>
              <a:latin typeface="Calibri"/>
              <a:ea typeface="Calibri"/>
              <a:cs typeface="Calibri"/>
              <a:sym typeface="Calibri"/>
            </a:endParaRPr>
          </a:p>
        </p:txBody>
      </p:sp>
      <p:sp>
        <p:nvSpPr>
          <p:cNvPr id="1205" name="Google Shape;1205;h603855749043a6f2_0_48"/>
          <p:cNvSpPr txBox="1"/>
          <p:nvPr/>
        </p:nvSpPr>
        <p:spPr>
          <a:xfrm>
            <a:off x="411479" y="1905804"/>
            <a:ext cx="83211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「もう少し明るく」「やっぱり白で」が足し算されて、長く矛盾した指示書になっていきます</a:t>
            </a:r>
            <a:endParaRPr b="0" i="0" sz="1540" u="none" cap="none" strike="noStrike">
              <a:solidFill>
                <a:schemeClr val="dk1"/>
              </a:solidFill>
              <a:latin typeface="Calibri"/>
              <a:ea typeface="Calibri"/>
              <a:cs typeface="Calibri"/>
              <a:sym typeface="Calibri"/>
            </a:endParaRPr>
          </a:p>
        </p:txBody>
      </p:sp>
      <p:sp>
        <p:nvSpPr>
          <p:cNvPr id="1206" name="Google Shape;1206;h603855749043a6f2_0_48"/>
          <p:cNvSpPr txBox="1"/>
          <p:nvPr/>
        </p:nvSpPr>
        <p:spPr>
          <a:xfrm>
            <a:off x="411450" y="2663131"/>
            <a:ext cx="81054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a:t>
            </a:r>
            <a:r>
              <a:rPr b="1" i="0" lang="en-US" sz="2008" u="none" cap="none" strike="noStrike">
                <a:solidFill>
                  <a:srgbClr val="1F3A5F"/>
                </a:solidFill>
                <a:latin typeface="Meiryo"/>
                <a:ea typeface="Meiryo"/>
                <a:cs typeface="Meiryo"/>
                <a:sym typeface="Meiryo"/>
              </a:rPr>
              <a:t>前の画像の見た目を引き継いでしまう</a:t>
            </a:r>
            <a:endParaRPr b="0" i="0" sz="2008" u="none" cap="none" strike="noStrike">
              <a:solidFill>
                <a:schemeClr val="dk1"/>
              </a:solidFill>
              <a:latin typeface="Calibri"/>
              <a:ea typeface="Calibri"/>
              <a:cs typeface="Calibri"/>
              <a:sym typeface="Calibri"/>
            </a:endParaRPr>
          </a:p>
        </p:txBody>
      </p:sp>
      <p:sp>
        <p:nvSpPr>
          <p:cNvPr id="1207" name="Google Shape;1207;h603855749043a6f2_0_48"/>
          <p:cNvSpPr txBox="1"/>
          <p:nvPr/>
        </p:nvSpPr>
        <p:spPr>
          <a:xfrm>
            <a:off x="411450" y="3116110"/>
            <a:ext cx="81054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AIは直前の画像の色や雰囲気を参照するため、作り直したいのに前の色味が残ります</a:t>
            </a:r>
            <a:endParaRPr b="0" i="0" sz="1540" u="none" cap="none" strike="noStrike">
              <a:solidFill>
                <a:schemeClr val="dk1"/>
              </a:solidFill>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2" name="Shape 1212"/>
        <p:cNvGrpSpPr/>
        <p:nvPr/>
      </p:nvGrpSpPr>
      <p:grpSpPr>
        <a:xfrm>
          <a:off x="0" y="0"/>
          <a:ext cx="0" cy="0"/>
          <a:chOff x="0" y="0"/>
          <a:chExt cx="0" cy="0"/>
        </a:xfrm>
      </p:grpSpPr>
      <p:sp>
        <p:nvSpPr>
          <p:cNvPr id="1213" name="Google Shape;1213;h603855749043a6f2_0_6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どうしても会話で直したいときは「マスク処理」</a:t>
            </a:r>
            <a:endParaRPr b="0" i="0" sz="2200" u="none" cap="none" strike="noStrike">
              <a:solidFill>
                <a:schemeClr val="dk1"/>
              </a:solidFill>
              <a:latin typeface="Calibri"/>
              <a:ea typeface="Calibri"/>
              <a:cs typeface="Calibri"/>
              <a:sym typeface="Calibri"/>
            </a:endParaRPr>
          </a:p>
        </p:txBody>
      </p:sp>
      <p:sp>
        <p:nvSpPr>
          <p:cNvPr id="1214" name="Google Shape;1214;h603855749043a6f2_0_6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15" name="Google Shape;1215;h603855749043a6f2_0_69"/>
          <p:cNvSpPr txBox="1"/>
          <p:nvPr/>
        </p:nvSpPr>
        <p:spPr>
          <a:xfrm>
            <a:off x="411480" y="91440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画像全体ではなく、「変えたい場所」を指定してから指示します。</a:t>
            </a:r>
            <a:endParaRPr b="0" i="0" sz="1400" u="none" cap="none" strike="noStrike">
              <a:solidFill>
                <a:schemeClr val="dk1"/>
              </a:solidFill>
              <a:latin typeface="Calibri"/>
              <a:ea typeface="Calibri"/>
              <a:cs typeface="Calibri"/>
              <a:sym typeface="Calibri"/>
            </a:endParaRPr>
          </a:p>
        </p:txBody>
      </p:sp>
      <p:pic>
        <p:nvPicPr>
          <p:cNvPr id="1216" name="Google Shape;1216;h603855749043a6f2_0_69" title="スクリーンショット 2026-09-27 173326.png"/>
          <p:cNvPicPr preferRelativeResize="0"/>
          <p:nvPr/>
        </p:nvPicPr>
        <p:blipFill>
          <a:blip r:embed="rId3">
            <a:alphaModFix/>
          </a:blip>
          <a:stretch>
            <a:fillRect/>
          </a:stretch>
        </p:blipFill>
        <p:spPr>
          <a:xfrm>
            <a:off x="140000" y="1444500"/>
            <a:ext cx="4072075" cy="2978275"/>
          </a:xfrm>
          <a:prstGeom prst="rect">
            <a:avLst/>
          </a:prstGeom>
          <a:noFill/>
          <a:ln cap="flat" cmpd="sng" w="9525">
            <a:solidFill>
              <a:schemeClr val="dk2"/>
            </a:solidFill>
            <a:prstDash val="solid"/>
            <a:round/>
            <a:headEnd len="sm" w="sm" type="none"/>
            <a:tailEnd len="sm" w="sm" type="none"/>
          </a:ln>
        </p:spPr>
      </p:pic>
      <p:pic>
        <p:nvPicPr>
          <p:cNvPr id="1217" name="Google Shape;1217;h603855749043a6f2_0_69" title="スクリーンショット 2026-09-27 173435.png"/>
          <p:cNvPicPr preferRelativeResize="0"/>
          <p:nvPr/>
        </p:nvPicPr>
        <p:blipFill>
          <a:blip r:embed="rId4">
            <a:alphaModFix/>
          </a:blip>
          <a:stretch>
            <a:fillRect/>
          </a:stretch>
        </p:blipFill>
        <p:spPr>
          <a:xfrm>
            <a:off x="4896375" y="1421800"/>
            <a:ext cx="4072075" cy="3023672"/>
          </a:xfrm>
          <a:prstGeom prst="rect">
            <a:avLst/>
          </a:prstGeom>
          <a:noFill/>
          <a:ln cap="flat" cmpd="sng" w="9525">
            <a:solidFill>
              <a:schemeClr val="dk2"/>
            </a:solidFill>
            <a:prstDash val="solid"/>
            <a:round/>
            <a:headEnd len="sm" w="sm" type="none"/>
            <a:tailEnd len="sm" w="sm" type="none"/>
          </a:ln>
        </p:spPr>
      </p:pic>
      <p:sp>
        <p:nvSpPr>
          <p:cNvPr id="1218" name="Google Shape;1218;h603855749043a6f2_0_69"/>
          <p:cNvSpPr/>
          <p:nvPr/>
        </p:nvSpPr>
        <p:spPr>
          <a:xfrm>
            <a:off x="4383925" y="2714638"/>
            <a:ext cx="376200" cy="438000"/>
          </a:xfrm>
          <a:prstGeom prst="rightArrow">
            <a:avLst>
              <a:gd fmla="val 50000" name="adj1"/>
              <a:gd fmla="val 50000" name="adj2"/>
            </a:avLst>
          </a:prstGeom>
          <a:solidFill>
            <a:schemeClr val="lt2"/>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3" name="Shape 1223"/>
        <p:cNvGrpSpPr/>
        <p:nvPr/>
      </p:nvGrpSpPr>
      <p:grpSpPr>
        <a:xfrm>
          <a:off x="0" y="0"/>
          <a:ext cx="0" cy="0"/>
          <a:chOff x="0" y="0"/>
          <a:chExt cx="0" cy="0"/>
        </a:xfrm>
      </p:grpSpPr>
      <p:sp>
        <p:nvSpPr>
          <p:cNvPr id="1224" name="Google Shape;1224;p3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成果共有</a:t>
            </a:r>
            <a:endParaRPr b="0" i="0" sz="2200" u="none" cap="none" strike="noStrike">
              <a:solidFill>
                <a:schemeClr val="dk1"/>
              </a:solidFill>
              <a:latin typeface="Calibri"/>
              <a:ea typeface="Calibri"/>
              <a:cs typeface="Calibri"/>
              <a:sym typeface="Calibri"/>
            </a:endParaRPr>
          </a:p>
        </p:txBody>
      </p:sp>
      <p:sp>
        <p:nvSpPr>
          <p:cNvPr id="1225" name="Google Shape;1225;p3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26" name="Google Shape;1226;p3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つくった販促物を見せながら、次の3点を紹介してください。</a:t>
            </a:r>
            <a:endParaRPr b="0" i="0" sz="1400" u="none" cap="none" strike="noStrike">
              <a:solidFill>
                <a:schemeClr val="dk1"/>
              </a:solidFill>
              <a:latin typeface="Calibri"/>
              <a:ea typeface="Calibri"/>
              <a:cs typeface="Calibri"/>
              <a:sym typeface="Calibri"/>
            </a:endParaRPr>
          </a:p>
        </p:txBody>
      </p:sp>
      <p:sp>
        <p:nvSpPr>
          <p:cNvPr id="1227" name="Google Shape;1227;p39"/>
          <p:cNvSpPr txBox="1"/>
          <p:nvPr/>
        </p:nvSpPr>
        <p:spPr>
          <a:xfrm>
            <a:off x="411475" y="1296925"/>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a:t>
            </a:r>
            <a:r>
              <a:rPr lang="en-US" sz="2000"/>
              <a:t>何を作ったか（用途、貼る場所・載せる場所）</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②プロンプトの中身は</a:t>
            </a:r>
            <a:endParaRPr sz="2000"/>
          </a:p>
          <a:p>
            <a:pPr indent="0" lvl="0" marL="0" rtl="0" algn="l">
              <a:lnSpc>
                <a:spcPct val="150000"/>
              </a:lnSpc>
              <a:spcBef>
                <a:spcPts val="0"/>
              </a:spcBef>
              <a:spcAft>
                <a:spcPts val="0"/>
              </a:spcAft>
              <a:buNone/>
            </a:pPr>
            <a:r>
              <a:rPr lang="en-US" sz="2000"/>
              <a:t>（前提・素材・お手本・制約のうち何を入れたか）</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a:t>
            </a:r>
            <a:r>
              <a:rPr lang="en-US" sz="2000"/>
              <a:t>一番効いた修正の一言</a:t>
            </a:r>
            <a:endParaRPr sz="2000"/>
          </a:p>
        </p:txBody>
      </p:sp>
      <p:sp>
        <p:nvSpPr>
          <p:cNvPr id="1228" name="Google Shape;1228;p3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3" name="Shape 1233"/>
        <p:cNvGrpSpPr/>
        <p:nvPr/>
      </p:nvGrpSpPr>
      <p:grpSpPr>
        <a:xfrm>
          <a:off x="0" y="0"/>
          <a:ext cx="0" cy="0"/>
          <a:chOff x="0" y="0"/>
          <a:chExt cx="0" cy="0"/>
        </a:xfrm>
      </p:grpSpPr>
      <p:sp>
        <p:nvSpPr>
          <p:cNvPr id="1234" name="Google Shape;1234;p4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本日のまとめ</a:t>
            </a:r>
            <a:endParaRPr b="0" i="0" sz="2200" u="none" cap="none" strike="noStrike">
              <a:solidFill>
                <a:schemeClr val="dk1"/>
              </a:solidFill>
              <a:latin typeface="Calibri"/>
              <a:ea typeface="Calibri"/>
              <a:cs typeface="Calibri"/>
              <a:sym typeface="Calibri"/>
            </a:endParaRPr>
          </a:p>
        </p:txBody>
      </p:sp>
      <p:sp>
        <p:nvSpPr>
          <p:cNvPr id="1235" name="Google Shape;1235;p4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36" name="Google Shape;1236;p40"/>
          <p:cNvSpPr/>
          <p:nvPr/>
        </p:nvSpPr>
        <p:spPr>
          <a:xfrm>
            <a:off x="502920" y="100584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37" name="Google Shape;1237;p40"/>
          <p:cNvPicPr preferRelativeResize="0"/>
          <p:nvPr/>
        </p:nvPicPr>
        <p:blipFill rotWithShape="1">
          <a:blip r:embed="rId3">
            <a:alphaModFix/>
          </a:blip>
          <a:srcRect b="0" l="0" r="0" t="0"/>
          <a:stretch/>
        </p:blipFill>
        <p:spPr>
          <a:xfrm>
            <a:off x="627644" y="1130564"/>
            <a:ext cx="317480" cy="317480"/>
          </a:xfrm>
          <a:prstGeom prst="rect">
            <a:avLst/>
          </a:prstGeom>
          <a:noFill/>
          <a:ln>
            <a:noFill/>
          </a:ln>
        </p:spPr>
      </p:pic>
      <p:sp>
        <p:nvSpPr>
          <p:cNvPr id="1238" name="Google Shape;1238;p40"/>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AIは察してくれない。渡した情報の分だけ返ってくる</a:t>
            </a:r>
            <a:endParaRPr b="0" i="0" sz="1500" u="none" cap="none" strike="noStrike">
              <a:solidFill>
                <a:schemeClr val="dk1"/>
              </a:solidFill>
              <a:latin typeface="Calibri"/>
              <a:ea typeface="Calibri"/>
              <a:cs typeface="Calibri"/>
              <a:sym typeface="Calibri"/>
            </a:endParaRPr>
          </a:p>
        </p:txBody>
      </p:sp>
      <p:sp>
        <p:nvSpPr>
          <p:cNvPr id="1239" name="Google Shape;1239;p40"/>
          <p:cNvSpPr txBox="1"/>
          <p:nvPr/>
        </p:nvSpPr>
        <p:spPr>
          <a:xfrm>
            <a:off x="1280160" y="1325880"/>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前提・素材・お手本・制約の4要素</a:t>
            </a:r>
            <a:endParaRPr b="0" i="0" sz="1200" u="none" cap="none" strike="noStrike">
              <a:solidFill>
                <a:schemeClr val="dk1"/>
              </a:solidFill>
              <a:latin typeface="Calibri"/>
              <a:ea typeface="Calibri"/>
              <a:cs typeface="Calibri"/>
              <a:sym typeface="Calibri"/>
            </a:endParaRPr>
          </a:p>
        </p:txBody>
      </p:sp>
      <p:sp>
        <p:nvSpPr>
          <p:cNvPr id="1240" name="Google Shape;1240;p40"/>
          <p:cNvSpPr/>
          <p:nvPr/>
        </p:nvSpPr>
        <p:spPr>
          <a:xfrm>
            <a:off x="502920" y="185623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1" name="Google Shape;1241;p40"/>
          <p:cNvPicPr preferRelativeResize="0"/>
          <p:nvPr/>
        </p:nvPicPr>
        <p:blipFill rotWithShape="1">
          <a:blip r:embed="rId4">
            <a:alphaModFix/>
          </a:blip>
          <a:srcRect b="0" l="0" r="0" t="0"/>
          <a:stretch/>
        </p:blipFill>
        <p:spPr>
          <a:xfrm>
            <a:off x="627644" y="1980956"/>
            <a:ext cx="317480" cy="317480"/>
          </a:xfrm>
          <a:prstGeom prst="rect">
            <a:avLst/>
          </a:prstGeom>
          <a:noFill/>
          <a:ln>
            <a:noFill/>
          </a:ln>
        </p:spPr>
      </p:pic>
      <p:sp>
        <p:nvSpPr>
          <p:cNvPr id="1242" name="Google Shape;1242;p40"/>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1回で完璧を狙わず、対話で直す</a:t>
            </a:r>
            <a:endParaRPr b="0" i="0" sz="1500" u="none" cap="none" strike="noStrike">
              <a:solidFill>
                <a:schemeClr val="dk1"/>
              </a:solidFill>
              <a:latin typeface="Calibri"/>
              <a:ea typeface="Calibri"/>
              <a:cs typeface="Calibri"/>
              <a:sym typeface="Calibri"/>
            </a:endParaRPr>
          </a:p>
        </p:txBody>
      </p:sp>
      <p:sp>
        <p:nvSpPr>
          <p:cNvPr id="1243" name="Google Shape;1243;p40"/>
          <p:cNvSpPr txBox="1"/>
          <p:nvPr/>
        </p:nvSpPr>
        <p:spPr>
          <a:xfrm>
            <a:off x="1280160" y="21762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たたき台を3案 → 選んで直す</a:t>
            </a:r>
            <a:endParaRPr b="0" i="0" sz="1200" u="none" cap="none" strike="noStrike">
              <a:solidFill>
                <a:schemeClr val="dk1"/>
              </a:solidFill>
              <a:latin typeface="Calibri"/>
              <a:ea typeface="Calibri"/>
              <a:cs typeface="Calibri"/>
              <a:sym typeface="Calibri"/>
            </a:endParaRPr>
          </a:p>
        </p:txBody>
      </p:sp>
      <p:sp>
        <p:nvSpPr>
          <p:cNvPr id="1244" name="Google Shape;1244;p40"/>
          <p:cNvSpPr/>
          <p:nvPr/>
        </p:nvSpPr>
        <p:spPr>
          <a:xfrm>
            <a:off x="502920" y="270662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5" name="Google Shape;1245;p40"/>
          <p:cNvPicPr preferRelativeResize="0"/>
          <p:nvPr/>
        </p:nvPicPr>
        <p:blipFill rotWithShape="1">
          <a:blip r:embed="rId5">
            <a:alphaModFix/>
          </a:blip>
          <a:srcRect b="0" l="0" r="0" t="0"/>
          <a:stretch/>
        </p:blipFill>
        <p:spPr>
          <a:xfrm>
            <a:off x="627644" y="2831348"/>
            <a:ext cx="317480" cy="317480"/>
          </a:xfrm>
          <a:prstGeom prst="rect">
            <a:avLst/>
          </a:prstGeom>
          <a:noFill/>
          <a:ln>
            <a:noFill/>
          </a:ln>
        </p:spPr>
      </p:pic>
      <p:sp>
        <p:nvSpPr>
          <p:cNvPr id="1246" name="Google Shape;1246;p40"/>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3ルールは人が守る</a:t>
            </a:r>
            <a:endParaRPr b="0" i="0" sz="1500" u="none" cap="none" strike="noStrike">
              <a:solidFill>
                <a:schemeClr val="dk1"/>
              </a:solidFill>
              <a:latin typeface="Calibri"/>
              <a:ea typeface="Calibri"/>
              <a:cs typeface="Calibri"/>
              <a:sym typeface="Calibri"/>
            </a:endParaRPr>
          </a:p>
        </p:txBody>
      </p:sp>
      <p:sp>
        <p:nvSpPr>
          <p:cNvPr id="1247" name="Google Shape;1247;p40"/>
          <p:cNvSpPr txBox="1"/>
          <p:nvPr/>
        </p:nvSpPr>
        <p:spPr>
          <a:xfrm>
            <a:off x="1280160" y="3026664"/>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ファクトチェック・権利侵害・機密情報</a:t>
            </a:r>
            <a:endParaRPr b="0" i="0" sz="1200" u="none" cap="none" strike="noStrike">
              <a:solidFill>
                <a:schemeClr val="dk1"/>
              </a:solidFill>
              <a:latin typeface="Calibri"/>
              <a:ea typeface="Calibri"/>
              <a:cs typeface="Calibri"/>
              <a:sym typeface="Calibri"/>
            </a:endParaRPr>
          </a:p>
        </p:txBody>
      </p:sp>
      <p:sp>
        <p:nvSpPr>
          <p:cNvPr id="1248" name="Google Shape;1248;p40"/>
          <p:cNvSpPr/>
          <p:nvPr/>
        </p:nvSpPr>
        <p:spPr>
          <a:xfrm>
            <a:off x="502920" y="355701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9" name="Google Shape;1249;p40"/>
          <p:cNvPicPr preferRelativeResize="0"/>
          <p:nvPr/>
        </p:nvPicPr>
        <p:blipFill rotWithShape="1">
          <a:blip r:embed="rId6">
            <a:alphaModFix/>
          </a:blip>
          <a:srcRect b="0" l="0" r="0" t="0"/>
          <a:stretch/>
        </p:blipFill>
        <p:spPr>
          <a:xfrm>
            <a:off x="627644" y="3681740"/>
            <a:ext cx="317480" cy="317480"/>
          </a:xfrm>
          <a:prstGeom prst="rect">
            <a:avLst/>
          </a:prstGeom>
          <a:noFill/>
          <a:ln>
            <a:noFill/>
          </a:ln>
        </p:spPr>
      </p:pic>
      <p:sp>
        <p:nvSpPr>
          <p:cNvPr id="1250" name="Google Shape;1250;p40"/>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困ったら「足りない情報を質問してください」</a:t>
            </a:r>
            <a:endParaRPr b="0" i="0" sz="1500" u="none" cap="none" strike="noStrike">
              <a:solidFill>
                <a:schemeClr val="dk1"/>
              </a:solidFill>
              <a:latin typeface="Calibri"/>
              <a:ea typeface="Calibri"/>
              <a:cs typeface="Calibri"/>
              <a:sym typeface="Calibri"/>
            </a:endParaRPr>
          </a:p>
        </p:txBody>
      </p:sp>
      <p:sp>
        <p:nvSpPr>
          <p:cNvPr id="1251" name="Google Shape;1251;p40"/>
          <p:cNvSpPr txBox="1"/>
          <p:nvPr/>
        </p:nvSpPr>
        <p:spPr>
          <a:xfrm>
            <a:off x="1280160" y="387705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何を渡すかは、AIに聞けばいい</a:t>
            </a:r>
            <a:endParaRPr b="0" i="0" sz="1200" u="none" cap="none" strike="noStrike">
              <a:solidFill>
                <a:schemeClr val="dk1"/>
              </a:solidFill>
              <a:latin typeface="Calibri"/>
              <a:ea typeface="Calibri"/>
              <a:cs typeface="Calibri"/>
              <a:sym typeface="Calibri"/>
            </a:endParaRPr>
          </a:p>
        </p:txBody>
      </p:sp>
      <p:sp>
        <p:nvSpPr>
          <p:cNvPr id="1252" name="Google Shape;1252;p4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次は、自分たちの道具をつくる</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75" y="914400"/>
            <a:ext cx="4023300" cy="140340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5399" y="1026684"/>
            <a:ext cx="3555600" cy="28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今回</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5399" y="1335464"/>
            <a:ext cx="3555600" cy="374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生成AIを使って、業務を効率化する</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5399" y="1756527"/>
            <a:ext cx="3555600" cy="46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126"/>
              <a:buFont typeface="Meiryo"/>
              <a:buNone/>
            </a:pPr>
            <a:r>
              <a:rPr b="0" i="0" lang="en-US" sz="1126" u="none" cap="none" strike="noStrike">
                <a:solidFill>
                  <a:srgbClr val="444444"/>
                </a:solidFill>
                <a:latin typeface="Meiryo"/>
                <a:ea typeface="Meiryo"/>
                <a:cs typeface="Meiryo"/>
                <a:sym typeface="Meiryo"/>
              </a:rPr>
              <a:t>文章・プロンプト・販促物を、AIに手伝ってもらってつくった</a:t>
            </a:r>
            <a:endParaRPr b="0" i="0" sz="1126" u="none" cap="none" strike="noStrike">
              <a:solidFill>
                <a:schemeClr val="dk1"/>
              </a:solidFill>
              <a:latin typeface="Calibri"/>
              <a:ea typeface="Calibri"/>
              <a:cs typeface="Calibri"/>
              <a:sym typeface="Calibri"/>
            </a:endParaRPr>
          </a:p>
        </p:txBody>
      </p:sp>
      <p:sp>
        <p:nvSpPr>
          <p:cNvPr id="1264" name="Google Shape;1264;h259926ce4e4d5a8f_0_77"/>
          <p:cNvSpPr/>
          <p:nvPr/>
        </p:nvSpPr>
        <p:spPr>
          <a:xfrm>
            <a:off x="4434840" y="1463040"/>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h259926ce4e4d5a8f_0_77"/>
          <p:cNvSpPr/>
          <p:nvPr/>
        </p:nvSpPr>
        <p:spPr>
          <a:xfrm>
            <a:off x="4846320" y="914400"/>
            <a:ext cx="3886200" cy="1371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74920" y="1024128"/>
            <a:ext cx="34746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次回</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74920" y="1325880"/>
            <a:ext cx="34746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AIを使って、自分たちの道具をつくる</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74920" y="1737360"/>
            <a:ext cx="3474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3333"/>
              </a:buClr>
              <a:buSzPts val="1100"/>
              <a:buFont typeface="Meiryo"/>
              <a:buNone/>
            </a:pPr>
            <a:r>
              <a:rPr b="0" i="0" lang="en-US" sz="1100" u="none" cap="none" strike="noStrike">
                <a:solidFill>
                  <a:srgbClr val="333333"/>
                </a:solidFill>
                <a:latin typeface="Meiryo"/>
                <a:ea typeface="Meiryo"/>
                <a:cs typeface="Meiryo"/>
                <a:sym typeface="Meiryo"/>
              </a:rPr>
              <a:t>自社の業務に合わせた仕組みを、自分たちの手でつくる</a:t>
            </a:r>
            <a:endParaRPr b="0" i="0" sz="11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270" name="Google Shape;1270;h259926ce4e4d5a8f_0_77"/>
          <p:cNvPicPr preferRelativeResize="0"/>
          <p:nvPr/>
        </p:nvPicPr>
        <p:blipFill>
          <a:blip r:embed="rId3">
            <a:alphaModFix/>
          </a:blip>
          <a:stretch>
            <a:fillRect/>
          </a:stretch>
        </p:blipFill>
        <p:spPr>
          <a:xfrm>
            <a:off x="4622400" y="2697363"/>
            <a:ext cx="4110174" cy="1737600"/>
          </a:xfrm>
          <a:prstGeom prst="rect">
            <a:avLst/>
          </a:prstGeom>
          <a:noFill/>
          <a:ln cap="flat" cmpd="sng" w="19050">
            <a:solidFill>
              <a:srgbClr val="1F3A5F"/>
            </a:solidFill>
            <a:prstDash val="solid"/>
            <a:round/>
            <a:headEnd len="sm" w="sm" type="none"/>
            <a:tailEnd len="sm" w="sm" type="none"/>
          </a:ln>
        </p:spPr>
      </p:pic>
      <p:sp>
        <p:nvSpPr>
          <p:cNvPr id="1271" name="Google Shape;1271;h259926ce4e4d5a8f_0_77"/>
          <p:cNvSpPr/>
          <p:nvPr/>
        </p:nvSpPr>
        <p:spPr>
          <a:xfrm>
            <a:off x="4114665" y="3122115"/>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72" name="Google Shape;1272;h259926ce4e4d5a8f_0_77"/>
          <p:cNvPicPr preferRelativeResize="0"/>
          <p:nvPr/>
        </p:nvPicPr>
        <p:blipFill>
          <a:blip r:embed="rId4">
            <a:alphaModFix/>
          </a:blip>
          <a:stretch>
            <a:fillRect/>
          </a:stretch>
        </p:blipFill>
        <p:spPr>
          <a:xfrm>
            <a:off x="781625" y="2423413"/>
            <a:ext cx="3089714" cy="2223720"/>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7" name="Shape 1277"/>
        <p:cNvGrpSpPr/>
        <p:nvPr/>
      </p:nvGrpSpPr>
      <p:grpSpPr>
        <a:xfrm>
          <a:off x="0" y="0"/>
          <a:ext cx="0" cy="0"/>
          <a:chOff x="0" y="0"/>
          <a:chExt cx="0" cy="0"/>
        </a:xfrm>
      </p:grpSpPr>
      <p:sp>
        <p:nvSpPr>
          <p:cNvPr id="1278" name="Google Shape;1278;h259926ce4e4d5a8f_0_20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次は、自分たちの道具をつくる</a:t>
            </a:r>
            <a:endParaRPr b="0" i="0" sz="2200" u="none" cap="none" strike="noStrike">
              <a:solidFill>
                <a:schemeClr val="dk1"/>
              </a:solidFill>
              <a:latin typeface="Calibri"/>
              <a:ea typeface="Calibri"/>
              <a:cs typeface="Calibri"/>
              <a:sym typeface="Calibri"/>
            </a:endParaRPr>
          </a:p>
        </p:txBody>
      </p:sp>
      <p:sp>
        <p:nvSpPr>
          <p:cNvPr id="1279" name="Google Shape;1279;h259926ce4e4d5a8f_0_20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80" name="Google Shape;1280;h259926ce4e4d5a8f_0_209"/>
          <p:cNvSpPr/>
          <p:nvPr/>
        </p:nvSpPr>
        <p:spPr>
          <a:xfrm>
            <a:off x="43431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h259926ce4e4d5a8f_0_209"/>
          <p:cNvSpPr/>
          <p:nvPr/>
        </p:nvSpPr>
        <p:spPr>
          <a:xfrm>
            <a:off x="61719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2" name="Google Shape;1282;h259926ce4e4d5a8f_0_209"/>
          <p:cNvPicPr preferRelativeResize="0"/>
          <p:nvPr/>
        </p:nvPicPr>
        <p:blipFill rotWithShape="1">
          <a:blip r:embed="rId3">
            <a:alphaModFix/>
          </a:blip>
          <a:srcRect b="0" l="0" r="0" t="0"/>
          <a:stretch/>
        </p:blipFill>
        <p:spPr>
          <a:xfrm>
            <a:off x="727840" y="1649215"/>
            <a:ext cx="281635" cy="281635"/>
          </a:xfrm>
          <a:prstGeom prst="rect">
            <a:avLst/>
          </a:prstGeom>
          <a:noFill/>
          <a:ln>
            <a:noFill/>
          </a:ln>
        </p:spPr>
      </p:pic>
      <p:sp>
        <p:nvSpPr>
          <p:cNvPr id="1283" name="Google Shape;1283;h259926ce4e4d5a8f_0_209"/>
          <p:cNvSpPr txBox="1"/>
          <p:nvPr/>
        </p:nvSpPr>
        <p:spPr>
          <a:xfrm>
            <a:off x="61714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作業を減らす小さなアプリ</a:t>
            </a:r>
            <a:endParaRPr b="0" i="0" sz="1250" u="none" cap="none" strike="noStrike">
              <a:solidFill>
                <a:schemeClr val="dk1"/>
              </a:solidFill>
              <a:latin typeface="Calibri"/>
              <a:ea typeface="Calibri"/>
              <a:cs typeface="Calibri"/>
              <a:sym typeface="Calibri"/>
            </a:endParaRPr>
          </a:p>
        </p:txBody>
      </p:sp>
      <p:sp>
        <p:nvSpPr>
          <p:cNvPr id="1284" name="Google Shape;1284;h259926ce4e4d5a8f_0_209"/>
          <p:cNvSpPr txBox="1"/>
          <p:nvPr/>
        </p:nvSpPr>
        <p:spPr>
          <a:xfrm>
            <a:off x="61714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伝票入力・在庫チェック・受注処理など、決まった作業を任せる</a:t>
            </a:r>
            <a:endParaRPr b="0" i="0" sz="1000" u="none" cap="none" strike="noStrike">
              <a:solidFill>
                <a:schemeClr val="dk1"/>
              </a:solidFill>
              <a:latin typeface="Calibri"/>
              <a:ea typeface="Calibri"/>
              <a:cs typeface="Calibri"/>
              <a:sym typeface="Calibri"/>
            </a:endParaRPr>
          </a:p>
        </p:txBody>
      </p:sp>
      <p:sp>
        <p:nvSpPr>
          <p:cNvPr id="1285" name="Google Shape;1285;h259926ce4e4d5a8f_0_209"/>
          <p:cNvSpPr/>
          <p:nvPr/>
        </p:nvSpPr>
        <p:spPr>
          <a:xfrm>
            <a:off x="326896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h259926ce4e4d5a8f_0_209"/>
          <p:cNvSpPr/>
          <p:nvPr/>
        </p:nvSpPr>
        <p:spPr>
          <a:xfrm>
            <a:off x="345183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7" name="Google Shape;1287;h259926ce4e4d5a8f_0_209"/>
          <p:cNvPicPr preferRelativeResize="0"/>
          <p:nvPr/>
        </p:nvPicPr>
        <p:blipFill rotWithShape="1">
          <a:blip r:embed="rId4">
            <a:alphaModFix/>
          </a:blip>
          <a:srcRect b="0" l="0" r="0" t="0"/>
          <a:stretch/>
        </p:blipFill>
        <p:spPr>
          <a:xfrm>
            <a:off x="3562480" y="1649215"/>
            <a:ext cx="281635" cy="281635"/>
          </a:xfrm>
          <a:prstGeom prst="rect">
            <a:avLst/>
          </a:prstGeom>
          <a:noFill/>
          <a:ln>
            <a:noFill/>
          </a:ln>
        </p:spPr>
      </p:pic>
      <p:sp>
        <p:nvSpPr>
          <p:cNvPr id="1288" name="Google Shape;1288;h259926ce4e4d5a8f_0_209"/>
          <p:cNvSpPr txBox="1"/>
          <p:nvPr/>
        </p:nvSpPr>
        <p:spPr>
          <a:xfrm>
            <a:off x="3451800"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自分の店に合わせた専用ツール</a:t>
            </a:r>
            <a:endParaRPr b="0" i="0" sz="1250" u="none" cap="none" strike="noStrike">
              <a:solidFill>
                <a:schemeClr val="dk1"/>
              </a:solidFill>
              <a:latin typeface="Calibri"/>
              <a:ea typeface="Calibri"/>
              <a:cs typeface="Calibri"/>
              <a:sym typeface="Calibri"/>
            </a:endParaRPr>
          </a:p>
        </p:txBody>
      </p:sp>
      <p:sp>
        <p:nvSpPr>
          <p:cNvPr id="1289" name="Google Shape;1289;h259926ce4e4d5a8f_0_209"/>
          <p:cNvSpPr txBox="1"/>
          <p:nvPr/>
        </p:nvSpPr>
        <p:spPr>
          <a:xfrm>
            <a:off x="3451800"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買取査定の補助、価格の一覧表示など、既製品にはない仕組み</a:t>
            </a:r>
            <a:endParaRPr b="0" i="0" sz="1000" u="none" cap="none" strike="noStrike">
              <a:solidFill>
                <a:schemeClr val="dk1"/>
              </a:solidFill>
              <a:latin typeface="Calibri"/>
              <a:ea typeface="Calibri"/>
              <a:cs typeface="Calibri"/>
              <a:sym typeface="Calibri"/>
            </a:endParaRPr>
          </a:p>
        </p:txBody>
      </p:sp>
      <p:sp>
        <p:nvSpPr>
          <p:cNvPr id="1290" name="Google Shape;1290;h259926ce4e4d5a8f_0_209"/>
          <p:cNvSpPr/>
          <p:nvPr/>
        </p:nvSpPr>
        <p:spPr>
          <a:xfrm>
            <a:off x="6103588"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h259926ce4e4d5a8f_0_209"/>
          <p:cNvSpPr/>
          <p:nvPr/>
        </p:nvSpPr>
        <p:spPr>
          <a:xfrm>
            <a:off x="628647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92" name="Google Shape;1292;h259926ce4e4d5a8f_0_209"/>
          <p:cNvPicPr preferRelativeResize="0"/>
          <p:nvPr/>
        </p:nvPicPr>
        <p:blipFill rotWithShape="1">
          <a:blip r:embed="rId5">
            <a:alphaModFix/>
          </a:blip>
          <a:srcRect b="0" l="0" r="0" t="0"/>
          <a:stretch/>
        </p:blipFill>
        <p:spPr>
          <a:xfrm>
            <a:off x="6397119" y="1649215"/>
            <a:ext cx="281635" cy="281635"/>
          </a:xfrm>
          <a:prstGeom prst="rect">
            <a:avLst/>
          </a:prstGeom>
          <a:noFill/>
          <a:ln>
            <a:noFill/>
          </a:ln>
        </p:spPr>
      </p:pic>
      <p:sp>
        <p:nvSpPr>
          <p:cNvPr id="1293" name="Google Shape;1293;h259926ce4e4d5a8f_0_209"/>
          <p:cNvSpPr txBox="1"/>
          <p:nvPr/>
        </p:nvSpPr>
        <p:spPr>
          <a:xfrm>
            <a:off x="628647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お客様の目を引く仕掛け</a:t>
            </a:r>
            <a:endParaRPr b="0" i="0" sz="1250" u="none" cap="none" strike="noStrike">
              <a:solidFill>
                <a:schemeClr val="dk1"/>
              </a:solidFill>
              <a:latin typeface="Calibri"/>
              <a:ea typeface="Calibri"/>
              <a:cs typeface="Calibri"/>
              <a:sym typeface="Calibri"/>
            </a:endParaRPr>
          </a:p>
        </p:txBody>
      </p:sp>
      <p:sp>
        <p:nvSpPr>
          <p:cNvPr id="1294" name="Google Shape;1294;h259926ce4e4d5a8f_0_209"/>
          <p:cNvSpPr txBox="1"/>
          <p:nvPr/>
        </p:nvSpPr>
        <p:spPr>
          <a:xfrm>
            <a:off x="628647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診断・抽選・ゲーム風のページなど、来店や投稿につながる企画</a:t>
            </a:r>
            <a:endParaRPr b="0" i="0" sz="1000" u="none" cap="none" strike="noStrike">
              <a:solidFill>
                <a:schemeClr val="dk1"/>
              </a:solidFill>
              <a:latin typeface="Calibri"/>
              <a:ea typeface="Calibri"/>
              <a:cs typeface="Calibri"/>
              <a:sym typeface="Calibri"/>
            </a:endParaRPr>
          </a:p>
        </p:txBody>
      </p:sp>
      <p:sp>
        <p:nvSpPr>
          <p:cNvPr id="1295" name="Google Shape;1295;h259926ce4e4d5a8f_0_20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9" name="Shape 1299"/>
        <p:cNvGrpSpPr/>
        <p:nvPr/>
      </p:nvGrpSpPr>
      <p:grpSpPr>
        <a:xfrm>
          <a:off x="0" y="0"/>
          <a:ext cx="0" cy="0"/>
          <a:chOff x="0" y="0"/>
          <a:chExt cx="0" cy="0"/>
        </a:xfrm>
      </p:grpSpPr>
      <p:sp>
        <p:nvSpPr>
          <p:cNvPr id="1300" name="Google Shape;1300;g40a0daa3361_0_29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301" name="Google Shape;1301;g40a0daa3361_0_29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302" name="Google Shape;1302;g40a0daa3361_0_29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303" name="Google Shape;1303;g40a0daa3361_0_29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304" name="Google Shape;1304;g40a0daa3361_0_293"/>
          <p:cNvSpPr txBox="1"/>
          <p:nvPr/>
        </p:nvSpPr>
        <p:spPr>
          <a:xfrm>
            <a:off x="731520" y="1188720"/>
            <a:ext cx="76809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3200"/>
              <a:buFont typeface="Meiryo"/>
              <a:buNone/>
            </a:pPr>
            <a:r>
              <a:rPr b="1" i="0" lang="en-US" sz="3200" u="none" cap="none" strike="noStrike">
                <a:solidFill>
                  <a:srgbClr val="FFFFFF"/>
                </a:solidFill>
                <a:latin typeface="Meiryo"/>
                <a:ea typeface="Meiryo"/>
                <a:cs typeface="Meiryo"/>
                <a:sym typeface="Meiryo"/>
              </a:rPr>
              <a:t>ありがとうございました</a:t>
            </a:r>
            <a:endParaRPr b="0" i="0" sz="3200" u="none" cap="none" strike="noStrike">
              <a:solidFill>
                <a:schemeClr val="dk1"/>
              </a:solidFill>
              <a:latin typeface="Calibri"/>
              <a:ea typeface="Calibri"/>
              <a:cs typeface="Calibri"/>
              <a:sym typeface="Calibri"/>
            </a:endParaRPr>
          </a:p>
        </p:txBody>
      </p:sp>
      <p:sp>
        <p:nvSpPr>
          <p:cNvPr id="1305" name="Google Shape;1305;g40a0daa3361_0_293"/>
          <p:cNvSpPr txBox="1"/>
          <p:nvPr/>
        </p:nvSpPr>
        <p:spPr>
          <a:xfrm>
            <a:off x="731520" y="2103120"/>
            <a:ext cx="7680900" cy="41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Meiryo"/>
              <a:buNone/>
            </a:pPr>
            <a:r>
              <a:rPr b="0" i="0" lang="en-US" sz="1600" u="none" cap="none" strike="noStrike">
                <a:solidFill>
                  <a:srgbClr val="FFFFFF"/>
                </a:solidFill>
                <a:latin typeface="Meiryo"/>
                <a:ea typeface="Meiryo"/>
                <a:cs typeface="Meiryo"/>
                <a:sym typeface="Meiryo"/>
              </a:rPr>
              <a:t>このあと 17:00 まで、個別相談を受け付けています</a:t>
            </a:r>
            <a:endParaRPr b="0" i="0" sz="1600" u="none" cap="none" strike="noStrike">
              <a:solidFill>
                <a:schemeClr val="dk1"/>
              </a:solidFill>
              <a:latin typeface="Calibri"/>
              <a:ea typeface="Calibri"/>
              <a:cs typeface="Calibri"/>
              <a:sym typeface="Calibri"/>
            </a:endParaRPr>
          </a:p>
        </p:txBody>
      </p:sp>
      <p:sp>
        <p:nvSpPr>
          <p:cNvPr id="1306" name="Google Shape;1306;g40a0daa3361_0_293"/>
          <p:cNvSpPr txBox="1"/>
          <p:nvPr/>
        </p:nvSpPr>
        <p:spPr>
          <a:xfrm>
            <a:off x="822960" y="2743200"/>
            <a:ext cx="7315200" cy="11886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C9D3E0"/>
              </a:buClr>
              <a:buSzPts val="1300"/>
              <a:buFont typeface="Meiryo"/>
              <a:buChar char="•"/>
            </a:pPr>
            <a:r>
              <a:rPr b="0" i="0" lang="en-US" sz="1300" u="none" cap="none" strike="noStrike">
                <a:solidFill>
                  <a:srgbClr val="C9D3E0"/>
                </a:solidFill>
                <a:latin typeface="Meiryo"/>
                <a:ea typeface="Meiryo"/>
                <a:cs typeface="Meiryo"/>
                <a:sym typeface="Meiryo"/>
              </a:rPr>
              <a:t>ツールの設定・使い方</a:t>
            </a:r>
            <a:endParaRPr b="0" i="0" sz="13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C9D3E0"/>
              </a:buClr>
              <a:buSzPts val="1300"/>
              <a:buFont typeface="Meiryo"/>
              <a:buChar char="•"/>
            </a:pPr>
            <a:r>
              <a:rPr b="0" i="0" lang="en-US" sz="1300" u="none" cap="none" strike="noStrike">
                <a:solidFill>
                  <a:srgbClr val="C9D3E0"/>
                </a:solidFill>
                <a:latin typeface="Meiryo"/>
                <a:ea typeface="Meiryo"/>
                <a:cs typeface="Meiryo"/>
                <a:sym typeface="Meiryo"/>
              </a:rPr>
              <a:t>自分の業務への当てはめ方</a:t>
            </a:r>
            <a:endParaRPr b="0" i="0" sz="13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C9D3E0"/>
              </a:buClr>
              <a:buSzPts val="1300"/>
              <a:buFont typeface="Meiryo"/>
              <a:buChar char="•"/>
            </a:pPr>
            <a:r>
              <a:rPr b="0" i="0" lang="en-US" sz="1300" u="none" cap="none" strike="noStrike">
                <a:solidFill>
                  <a:srgbClr val="C9D3E0"/>
                </a:solidFill>
                <a:latin typeface="Meiryo"/>
                <a:ea typeface="Meiryo"/>
                <a:cs typeface="Meiryo"/>
                <a:sym typeface="Meiryo"/>
              </a:rPr>
              <a:t>Excel・Power Automate Desktop などとの組み合わせ</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