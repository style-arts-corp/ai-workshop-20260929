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2" r:id="rId6"/>
  </p:sldMasterIdLst>
  <p:notesMasterIdLst>
    <p:notesMasterId r:id="rId7"/>
  </p:notesMasterIdLst>
  <p:sldIdLst>
    <p:sldId id="256" r:id="rId8"/>
    <p:sldId id="257" r:id="rId9"/>
    <p:sldId id="258" r:id="rId10"/>
    <p:sldId id="259" r:id="rId11"/>
    <p:sldId id="260" r:id="rId12"/>
    <p:sldId id="342" r:id="rId36"/>
    <p:sldId id="265" r:id="rId17"/>
    <p:sldId id="261" r:id="rId13"/>
    <p:sldId id="262" r:id="rId14"/>
    <p:sldId id="263" r:id="rId15"/>
    <p:sldId id="264"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5" r:id="rId37"/>
    <p:sldId id="286" r:id="rId38"/>
    <p:sldId id="283" r:id="rId35"/>
    <p:sldId id="287" r:id="rId39"/>
    <p:sldId id="288" r:id="rId40"/>
    <p:sldId id="289" r:id="rId41"/>
    <p:sldId id="290" r:id="rId42"/>
    <p:sldId id="291" r:id="rId43"/>
    <p:sldId id="292" r:id="rId44"/>
    <p:sldId id="293" r:id="rId45"/>
    <p:sldId id="294" r:id="rId46"/>
    <p:sldId id="295" r:id="rId47"/>
    <p:sldId id="296" r:id="rId48"/>
    <p:sldId id="341" r:id="rId100"/>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8" r:id="rId97"/>
    <p:sldId id="336" r:id="rId88"/>
    <p:sldId id="339" r:id="rId98"/>
    <p:sldId id="340" r:id="rId99"/>
    <p:sldId id="337" r:id="rId89"/>
  </p:sldIdLst>
  <p:sldSz cy="5143500" cx="9144000"/>
  <p:notesSz cx="5143500" cy="9144000"/>
  <p:embeddedFontLst>
    <p:embeddedFont>
      <p:font typeface="Raleway"/>
      <p:regular r:id="rId90"/>
      <p:bold r:id="rId91"/>
      <p:italic r:id="rId92"/>
      <p:boldItalic r:id="rId93"/>
    </p:embeddedFont>
    <p:embeddedFont>
      <p:font typeface="Host Grotesk ExtraBold"/>
      <p:bold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6" roundtripDataSignature="AMtx7mhu6vj4ROoYEsQeGG79v/4IiEoy8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株式会社スタイルアーツ"/>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FF9485-15E4-4B45-BF75-814422209F04}">
  <a:tblStyle styleId="{A5FF9485-15E4-4B45-BF75-814422209F0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F9E1BD5-D0E9-458E-A40D-ABFE00257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A21E3E7-CB49-40DB-9B02-7D83FE17C7A2}"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7.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31.xml"/><Relationship Id="rId36" Type="http://schemas.openxmlformats.org/officeDocument/2006/relationships/slide" Target="slides/slide6.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3.xml"/><Relationship Id="rId89" Type="http://schemas.openxmlformats.org/officeDocument/2006/relationships/slide" Target="slides/slide86.xml"/><Relationship Id="rId90" Type="http://schemas.openxmlformats.org/officeDocument/2006/relationships/font" Target="fonts/Raleway-regular.fntdata"/><Relationship Id="rId91" Type="http://schemas.openxmlformats.org/officeDocument/2006/relationships/font" Target="fonts/Raleway-bold.fntdata"/><Relationship Id="rId92" Type="http://schemas.openxmlformats.org/officeDocument/2006/relationships/font" Target="fonts/Raleway-italic.fntdata"/><Relationship Id="rId93" Type="http://schemas.openxmlformats.org/officeDocument/2006/relationships/font" Target="fonts/Raleway-boldItalic.fntdata"/><Relationship Id="rId94" Type="http://schemas.openxmlformats.org/officeDocument/2006/relationships/font" Target="fonts/HostGroteskExtraBold-bold.fntdata"/><Relationship Id="rId95" Type="http://schemas.openxmlformats.org/officeDocument/2006/relationships/font" Target="fonts/HostGroteskExtraBold-boldItalic.fntdata"/><Relationship Id="rId96" Type="http://customschemas.google.com/relationships/presentationmetadata" Target="metadata"/><Relationship Id="rId97" Type="http://schemas.openxmlformats.org/officeDocument/2006/relationships/slide" Target="slides/slide82.xml"/><Relationship Id="rId98" Type="http://schemas.openxmlformats.org/officeDocument/2006/relationships/slide" Target="slides/slide84.xml"/><Relationship Id="rId99" Type="http://schemas.openxmlformats.org/officeDocument/2006/relationships/slide" Target="slides/slide85.xml"/><Relationship Id="rId100" Type="http://schemas.openxmlformats.org/officeDocument/2006/relationships/slide" Target="slides/slide4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2T09:35:48.171">
    <p:pos x="6000" y="0"/>
    <p:text>フリープランだと画像生成5枚で上限来た。by 高司</p:text>
    <p:extLst>
      <p:ext uri="{C676402C-5697-4E1C-873F-D02D1690AC5C}">
        <p15:threadingInfo timeZoneBias="0"/>
      </p:ext>
      <p:ext uri="http://customooxmlschemas.google.com/">
        <go:slidesCustomData xmlns:go="http://customooxmlschemas.google.com/" commentPostId="AAACArZ5UG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40a0daa3361_0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 name="Google Shape;62;g40a0daa3361_0_3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【開始前に表示】</a:t>
            </a:r>
          </a:p>
          <a:p>
            <a:r>
              <a:t>Wi-Fiの接続情報は、口頭または配布物で案内する。</a:t>
            </a:r>
          </a:p>
          <a:p>
            <a:r>
              <a:t>あわせて、ChatGPTやGeminiにログインできるかを確認してもらう（ログインできない方はスタッフへ）。</a:t>
            </a:r>
          </a:p>
        </p:txBody>
      </p:sp>
      <p:sp>
        <p:nvSpPr>
          <p:cNvPr id="63" name="Google Shape;63;g40a0daa3361_0_3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0a0daa3361_0_1: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0a0daa3361_0_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【13:10 開始】</a:t>
            </a:r>
          </a:p>
          <a:p>
            <a:r>
              <a:t>本日はお集まりいただき、ありがとうございます。</a:t>
            </a:r>
          </a:p>
          <a:p>
            <a:r>
              <a:t>生成AIを「知っている・たまに使う」から、「業務で使い続ける（定着）」へ進めるためのワークショップです。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40a0daa3361_0_164: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40a0daa3361_0_164: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講師2名の自己紹介（1人30秒〜1分）。</a:t>
            </a:r>
          </a:p>
          <a:p>
            <a:r>
              <a:t>ワーク中は講師と技術メンターが会場を回るので、困ったら手を挙げてもらう。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全体の流れ。ワークは3つ、手を動かす時間は約2時間。</a:t>
            </a:r>
          </a:p>
          <a:p>
            <a:r>
              <a:t>休憩は14:20と15:00の2回。16:35以降は自由解散、17:00まで個別相談を受け付ける。</a:t>
            </a:r>
          </a:p>
        </p:txBody>
      </p:sp>
      <p:sp>
        <p:nvSpPr>
          <p:cNvPr id="92" name="Google Shape;9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講義は短く区切って、すぐに自分の業務で試す。困ったらすぐに聞いてよい。</a:t>
            </a:r>
          </a:p>
          <a:p>
            <a:r>
              <a:t>完璧を目指さず、AIにたたき台を作ってもらい、対話で仕上げる。</a:t>
            </a:r>
          </a:p>
          <a:p>
            <a:r>
              <a:t>業務情報の扱い（入力してよい情報・控えたい情報）は、このあとの「3つのルール」で確認する。</a:t>
            </a: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259926ce4e4d5a8f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h259926ce4e4d5a8f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OpenAIが2026年9月3日に発表した「GPT-6 Astra」。</a:t>
            </a:r>
          </a:p>
        </p:txBody>
      </p:sp>
      <p:sp>
        <p:nvSpPr>
          <p:cNvPr id="131" name="Google Shape;131;h259926ce4e4d5a8f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259926ce4e4d5a8f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h259926ce4e4d5a8f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ポイントは、AIが「質問に答える」だけでなく「パソコンを操作して仕事を終わらせる」段階に入ったこと。</a:t>
            </a:r>
          </a:p>
          <a:p>
            <a:r>
              <a:t>画面を見てクリックや入力をするので、連携のしくみ（API）がない古い社内システムでも使える可能性がある。</a:t>
            </a:r>
          </a:p>
          <a:p>
            <a:r>
              <a:t>ChatGPTの有料プラン（Plus・Pro・Business など）から提供。今日のワークでは使わないが、業務の任せ方が変わりつつあることを押さえておく。</a:t>
            </a:r>
          </a:p>
        </p:txBody>
      </p:sp>
      <p:sp>
        <p:nvSpPr>
          <p:cNvPr id="140" name="Google Shape;140;h259926ce4e4d5a8f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259926ce4e4d5a8f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h259926ce4e4d5a8f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2025年11月、千葉県警が生成AI画像の無断複製で書類送検（全国初とされる事例）。</a:t>
            </a:r>
          </a:p>
        </p:txBody>
      </p:sp>
      <p:sp>
        <p:nvSpPr>
          <p:cNvPr id="161" name="Google Shape;161;h259926ce4e4d5a8f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259926ce4e4d5a8f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h259926ce4e4d5a8f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他人が生成AIで作ってSNSに投稿した画像を、無断で電子書籍の表紙に使ったケース。</a:t>
            </a:r>
          </a:p>
          <a:p>
            <a:r>
              <a:t>作者は2万回以上も指示を重ねて作っており、警察はその工夫を重く見て「著作物」と判断した。</a:t>
            </a:r>
          </a:p>
          <a:p>
            <a:r>
              <a:t>伝えたいのは「AIで作った画像だから自由に使ってよい、ではない」ということ。ネットで見つけた画像を、POPにそのまま流用しない。</a:t>
            </a:r>
          </a:p>
          <a:p>
            <a:r>
              <a:t>必要以上にこわがらず、このあとの「3つのルール」で備える。</a:t>
            </a:r>
          </a:p>
        </p:txBody>
      </p:sp>
      <p:sp>
        <p:nvSpPr>
          <p:cNvPr id="170" name="Google Shape;170;h259926ce4e4d5a8f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h259926ce4e4d5a8f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h259926ce4e4d5a8f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ChatGPT／Gemini など、普段お使いのツールで進める。</a:t>
            </a:r>
          </a:p>
          <a:p>
            <a:r>
              <a:t>無料版は途中で制限がかかる前提。事前の検証では、ChatGPT無料版の画像生成は5枚ほどで上限に達した。</a:t>
            </a:r>
          </a:p>
          <a:p>
            <a:r>
              <a:t>止まっても慌てず、Copilot や Gemini（Nano Banana）へ。書いたプロンプトはそのまま使える。</a:t>
            </a:r>
          </a:p>
        </p:txBody>
      </p:sp>
      <p:sp>
        <p:nvSpPr>
          <p:cNvPr id="190" name="Google Shape;190;h259926ce4e4d5a8f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40a0daa3361_0_225: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40a0daa3361_0_225: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【13:20 目安】ここから15分で、昨年度の振り返りと、この1年のアップデート。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12a068dd872fd278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h12a068dd872fd278_0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昨年度の研修の様子。参加された方は、当時のことを思い出してもらう。</a:t>
            </a:r>
          </a:p>
        </p:txBody>
      </p:sp>
      <p:sp>
        <p:nvSpPr>
          <p:cNvPr id="210" name="Google Shape;210;h12a068dd872fd278_0_2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昨年度は、生成AIを「知る」ところから、業務で使う入口までを扱った。4つのテーマをおさらいする。</a:t>
            </a:r>
          </a:p>
          <a:p>
            <a:r>
              <a:t>今日はオレンジの「1日の業務の洗い出し」の続きから、自分の業務で実際に使うところまで進める。</a:t>
            </a:r>
          </a:p>
        </p:txBody>
      </p:sp>
      <p:sp>
        <p:nvSpPr>
          <p:cNvPr id="217" name="Google Shape;2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259926ce4e4d5a8f_0_298: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h259926ce4e4d5a8f_0_298: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以前は、プロンプトのテクニックが特に重視されていた</a:t>
            </a:r>
          </a:p>
          <a:p>
            <a:r>
              <a:t>テクニックがないとAIを使いこなせない、とまで言われていた</a:t>
            </a:r>
          </a:p>
          <a:p>
            <a:r>
              <a:t>最近はAIの進化により、そこまで厳密なプロンプトがなくても、十分な精度の回答を返してくれるようになった</a:t>
            </a:r>
          </a:p>
          <a:p>
            <a:r>
              <a:t>ここから数枚は、昨年度の内容をさっと振り返る。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259926ce4e4d5a8f_0_40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h259926ce4e4d5a8f_0_40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昨年度の資料より。</a:t>
            </a:r>
          </a:p>
          <a:p>
            <a:r>
              <a:t>few-shotプロンプトはAIモデルに対して、タスクを遂行するための例をいくつか提示することで、そのタスクを学習させるプロンプトのテクニックになります</a:t>
            </a:r>
          </a:p>
          <a:p>
            <a:r>
              <a:t>(1)と(2)を比べると、例を見せたほうが欲しい形で返ってくる。今日の「お手本」は、この考え方と同じ。</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259926ce4e4d5a8f_0_41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h259926ce4e4d5a8f_0_41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昨年度の資料より。例を添えると、書き方の型をまねして返してくれる。ここはさっと流す。</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h259926ce4e4d5a8f_0_461: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h259926ce4e4d5a8f_0_46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昨年度の資料より。役割・進め方・フォーマットの指定。</a:t>
            </a:r>
          </a:p>
          <a:p>
            <a:r>
              <a:t>今日の「プロンプトの型」（役割＋前提・素材・お手本・制約＋出力）につながる。</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h259926ce4e4d5a8f_0_506: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h259926ce4e4d5a8f_0_506: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昨年度の資料より。RAGは、資料を渡して、それをもとに答えさせるしくみ。</a:t>
            </a:r>
          </a:p>
          <a:p>
            <a:r>
              <a:t>このあとの考え方講座で「毎回同じ情報はRAGで共通化」として再登場する。</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259926ce4e4d5a8f_0_56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259926ce4e4d5a8f_0_56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昨年度の資料より。昨年度も1日の業務を書き出した。</a:t>
            </a:r>
          </a:p>
          <a:p>
            <a:r>
              <a:t>今日のワーク①では、これを「インプット（使う材料）」と「アウトプット（できあがる物）」の形で整理し、AIに任せられる工程を見つける。</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40a0daa3361_0_361: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40a0daa3361_0_36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会場に問いかける（手を挙げてもらう／1〜2人に聞く）。30秒ほど。</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40a0daa3361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40a0daa3361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事前アンケートの結果（n=14、複数回答）。いちばん多いのは「欲しい答えが返ってこない」（7名）。</a:t>
            </a:r>
          </a:p>
        </p:txBody>
      </p:sp>
      <p:sp>
        <p:nvSpPr>
          <p:cNvPr id="324" name="Google Shape;324;g40a0daa3361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40a0daa3361_0_4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40a0daa3361_0_4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「欲しい答えが返ってこない」「書き方がわからない」は、このあとの考え方講座とワーク②で扱う。</a:t>
            </a:r>
          </a:p>
          <a:p>
            <a:r>
              <a:t>「正確性」「機密情報」の不安は、このパートの最後の「3つのルール」で扱う。</a:t>
            </a:r>
          </a:p>
        </p:txBody>
      </p:sp>
      <p:sp>
        <p:nvSpPr>
          <p:cNvPr id="355" name="Google Shape;355;g40a0daa3361_0_4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モデル名は数か月ごとに変わる（GPT-6 Astra：9月3日、Gemini 3.8 Flash：9月2日、Claude Opus 5.5：9月22日）。</a:t>
            </a:r>
          </a:p>
          <a:p>
            <a:r>
              <a:t>名前をすべて追うより、どのモデルでも「何を渡すか」で結果が大きく変わる、という点を押さえる。</a:t>
            </a:r>
          </a:p>
        </p:txBody>
      </p:sp>
      <p:sp>
        <p:nvSpPr>
          <p:cNvPr id="370" name="Google Shape;3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2025年はエージェント元年、2026年は業務での普及へ。</a:t>
            </a:r>
          </a:p>
          <a:p>
            <a:r>
              <a:t>Gartnerは、2026年に企業アプリの40%にAIエージェントが組み込まれると予測（2025年は5%未満）。</a:t>
            </a:r>
          </a:p>
          <a:p>
            <a:r>
              <a:t>任せる範囲が広がるほど、「何を渡すか」と「人が確認すること」が大事になる。</a:t>
            </a:r>
          </a:p>
        </p:txBody>
      </p:sp>
      <p:sp>
        <p:nvSpPr>
          <p:cNvPr id="407" name="Google Shape;4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画像生成は、日本語の文字が崩れにくくなった。</a:t>
            </a:r>
          </a:p>
          <a:p>
            <a:r>
              <a:t>Nano Banana Pro（2025年11月）、ChatGPT Images 2.5（2026年9月8日。スケッチから画像を作る機能を追加、生成時間は最大で約半分に）。</a:t>
            </a:r>
          </a:p>
          <a:p>
            <a:r>
              <a:t>後半のワーク③で実際に体験する。</a:t>
            </a:r>
          </a:p>
        </p:txBody>
      </p:sp>
      <p:sp>
        <p:nvSpPr>
          <p:cNvPr id="429" name="Google Shape;4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令和8年版 情報通信白書（2026年7月）より。業務で生成AIを使う企業は86.4%に急増（前年度55.2%）。</a:t>
            </a:r>
          </a:p>
          <a:p>
            <a:r>
              <a:t>一方で「組織的な取組はない」が約27%（米国1.4%）、活用スキルを学ぶ環境がある企業は39.9%（米国62.7%）。</a:t>
            </a:r>
          </a:p>
          <a:p>
            <a:r>
              <a:t>差がつくのは「使っているか」より「業務に定着しているか」。だから今日のテーマは「定着」。</a:t>
            </a:r>
          </a:p>
        </p:txBody>
      </p:sp>
      <p:sp>
        <p:nvSpPr>
          <p:cNvPr id="453" name="Google Shape;4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12a068dd872fd278_0_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h12a068dd872fd278_0_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業務で使い続けるために、先に押さえておきたい3つのルール。</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40a0daa3361_0_250: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40a0daa3361_0_250: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【13:35〜13:50】AIへのインプット・アウトプットの考え方。</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QRコードから本日の資料（GitHubのページ）を開いてもらう。スライドのプロンプトは、すべてここからコピーできる。</a:t>
            </a:r>
          </a:p>
          <a:p>
            <a:r>
              <a:t>開けたかを会場で確認する（1分）。開けない方にはURLを読み上げるか、スタッフがサポートする。</a:t>
            </a:r>
          </a:p>
          <a:p>
            <a:r>
              <a:t>ワーク①のExcelシートも、このページからダウンロードできる。</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① ファクトチェック：価格・相場・日付・固有名詞は元の情報で確認する。最後の判断は人が行う。</a:t>
            </a:r>
          </a:p>
          <a:p>
            <a:r>
              <a:t>② 権利への配慮：実在のキャラクター・他社のロゴ・著名人は生成しない。「〇〇風に」も避ける。</a:t>
            </a:r>
          </a:p>
          <a:p>
            <a:r>
              <a:t>③ 機密情報：お客様の氏名・連絡先・査定情報は入力しない。迷ったら「〇〇」に置き換える。</a:t>
            </a:r>
          </a:p>
          <a:p>
            <a:r>
              <a:t>今日のワークも、このルールで進める。</a:t>
            </a:r>
          </a:p>
        </p:txBody>
      </p:sp>
      <p:sp>
        <p:nvSpPr>
          <p:cNvPr id="501" name="Google Shape;5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603855749043a6f2_0_141: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h603855749043a6f2_0_14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【13:35 目安】ルールを押さえたところで、本題の「AIに何を渡すか」へ。</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h603855749043a6f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h603855749043a6f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a:t>AIへの指示を「特別なプロンプト」ではなく、人に仕事を頼むときの段取りとして考えてもらう。</a:t>
            </a:r>
            <a:endParaRPr/>
          </a:p>
          <a:p>
            <a:pPr indent="0" lvl="0" marL="0" rtl="0" algn="l">
              <a:spcBef>
                <a:spcPts val="0"/>
              </a:spcBef>
              <a:spcAft>
                <a:spcPts val="0"/>
              </a:spcAft>
              <a:buNone/>
            </a:pPr>
            <a:r>
              <a:rPr/>
              <a:t>新人スタッフにお客様への返信を頼む場面を想像してもらい、自然と伝えている5つのこと（前提・素材・お手本・制約・出力）を確認する。</a:t>
            </a:r>
            <a:endParaRPr/>
          </a:p>
          <a:p>
            <a:pPr indent="0" lvl="0" marL="0" rtl="0" algn="l">
              <a:spcBef>
                <a:spcPts val="0"/>
              </a:spcBef>
              <a:spcAft>
                <a:spcPts val="0"/>
              </a:spcAft>
              <a:buNone/>
            </a:pPr>
            <a:r>
              <a:rPr/>
              <a:t>このあと、何も伝えずに頼んだ場合と、段取りを伝えた場合をデモで比べる。</a:t>
            </a:r>
            <a:endParaRPr/>
          </a:p>
        </p:txBody>
      </p:sp>
      <p:sp>
        <p:nvSpPr>
          <p:cNvPr id="531" name="Google Shape;531;h603855749043a6f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259926ce4e4d5a8f_0_6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h259926ce4e4d5a8f_0_6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講師がデモする。文章なので、参加者もお手元で一緒に試してOK。</a:t>
            </a:r>
          </a:p>
          <a:p>
            <a:r>
              <a:t>新人に「これ、返しといて」とだけ頼んだ状態で、どんな答えが返ってくるかを見る。</a:t>
            </a:r>
          </a:p>
        </p:txBody>
      </p:sp>
      <p:sp>
        <p:nvSpPr>
          <p:cNvPr id="551" name="Google Shape;551;h259926ce4e4d5a8f_0_6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603855749043a6f2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6" name="Google Shape;566;h603855749043a6f2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決まり文句だけで、肝心の中身が「〇〇」や空欄のまま。</a:t>
            </a:r>
          </a:p>
        </p:txBody>
      </p:sp>
      <p:sp>
        <p:nvSpPr>
          <p:cNvPr id="567" name="Google Shape;567;h603855749043a6f2_0_1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h259926ce4e4d5a8f_0_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h259926ce4e4d5a8f_0_6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AIの性能が低いのではなく、仕事の段取りが伝わっていないだけ。AIは、お店を知らない新人と同じ。</a:t>
            </a:r>
          </a:p>
        </p:txBody>
      </p:sp>
      <p:sp>
        <p:nvSpPr>
          <p:cNvPr id="575" name="Google Shape;575;h259926ce4e4d5a8f_0_6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h603855749043a6f2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4" name="Google Shape;594;h603855749043a6f2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a:t>5つの要素を、AIに渡す「インプット」（前提・素材・お手本・制約）と、返してほしい「アウトプット」（出力）に分けて整理する。</a:t>
            </a:r>
            <a:endParaRPr/>
          </a:p>
          <a:p>
            <a:pPr indent="0" lvl="0" marL="0" rtl="0" algn="l">
              <a:spcBef>
                <a:spcPts val="0"/>
              </a:spcBef>
              <a:spcAft>
                <a:spcPts val="0"/>
              </a:spcAft>
              <a:buNone/>
            </a:pPr>
            <a:r>
              <a:rPr/>
              <a:t>このあとのワーク①で、自分の業務を同じ形で書き出すことにつなげる。</a:t>
            </a:r>
            <a:endParaRPr/>
          </a:p>
        </p:txBody>
      </p:sp>
      <p:sp>
        <p:nvSpPr>
          <p:cNvPr id="595" name="Google Shape;595;h603855749043a6f2_0_1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Iは、お店のルールやお客様とのやり取り、いつもの書き方を知らない。こちらから渡さない限り答えには反映されない（昨年度のRAGと同じ考え方）。素材を渡すときは、3つのルールの「機密情報」に注意し、お客様の氏名などは消してから貼る。</a:t>
            </a:r>
          </a:p>
          <a:p>
            <a:r>
              <a:t>順番は「前提 → 素材 → お手本 → 制約」。特に効果的なのは「素材」（実際のデータをそのまま渡す）。</a:t>
            </a:r>
          </a:p>
        </p:txBody>
      </p:sp>
      <p:sp>
        <p:nvSpPr>
          <p:cNvPr id="603" name="Google Shape;6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アウトプットは「形式・用途・案の数」の3つを伝える。</a:t>
            </a:r>
          </a:p>
          <a:p>
            <a:r>
              <a:t>案を複数もらって比べて選ぶと、たたき台の質が上がる。</a:t>
            </a:r>
          </a:p>
        </p:txBody>
      </p:sp>
      <p:sp>
        <p:nvSpPr>
          <p:cNvPr id="636" name="Google Shape;63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h259926ce4e4d5a8f_0_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h259926ce4e4d5a8f_0_6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最初と同じ依頼に、新人に頼むときと同じ段取り（前提・素材・お手本・制約・出力）を足して送り直す。お客様のメッセージ、店の買取ルール、以前の返信の例は、テキストを貼り付けても、ファイルを添付してもよい。「ルールにないことは書かない」と伝えているので、AIが推測で案内を作るのを防げる。送る前に、内容が店のルールどおりかを自分の目で確認する（3つのルールのファクトチェック）。</a:t>
            </a:r>
            <a:endParaRPr/>
          </a:p>
        </p:txBody>
      </p:sp>
      <p:sp>
        <p:nvSpPr>
          <p:cNvPr id="657" name="Google Shape;657;h259926ce4e4d5a8f_0_6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h603855749043a6f2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69" name="Google Shape;669;h603855749043a6f2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お客様の質問（スリーブのままで大丈夫か／予約は必要か）にすべて答え、土曜午後の混雑や持ち物まで、店のルールどおりに案内できている。</a:t>
            </a:r>
          </a:p>
        </p:txBody>
      </p:sp>
      <p:sp>
        <p:nvSpPr>
          <p:cNvPr id="670" name="Google Shape;670;h603855749043a6f2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259926ce4e4d5a8f_0_6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h259926ce4e4d5a8f_0_6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違いを生んだのはAIの性能ではなく、渡した段取り（情報）の量。改善後の返信も、送る前に店のルールどおりか自分の目で確認する。</a:t>
            </a:r>
            <a:endParaRPr/>
          </a:p>
        </p:txBody>
      </p:sp>
      <p:sp>
        <p:nvSpPr>
          <p:cNvPr id="678" name="Google Shape;678;h259926ce4e4d5a8f_0_6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h12a068dd872fd278_0_51: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h12a068dd872fd278_0_51: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一度にすべてを書かなくてよい。出てきた答えを見て、足りない情報を足していけばよい。</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4要素を自分で考えられなくても、AIに質問してもらえば、必要な情報がそろっていく。</a:t>
            </a:r>
          </a:p>
          <a:p>
            <a:r>
              <a:t>ワーク②で迷ったら、この一文から始めてよい。</a:t>
            </a:r>
          </a:p>
          <a:p>
            <a:r>
              <a:t>【13:50 目安】ワーク①へ。</a:t>
            </a:r>
          </a:p>
        </p:txBody>
      </p:sp>
      <p:sp>
        <p:nvSpPr>
          <p:cNvPr id="698" name="Google Shape;69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40a0daa3361_0_237: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40a0daa3361_0_237: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【13:50〜14:20】STEP1 個人（10分）→ STEP2 グループで共有（15分）。</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個人で書き出してからグループで共有する。書き出しは質より量。「これはAIに関係なさそう」と思う業務も、まずは書いてもらう。</a:t>
            </a:r>
          </a:p>
          <a:p>
            <a:r>
              <a:t>シートは、共有資料のExcel、またはプロンプト集の表をスプレッドシートに貼り付けて使う。紙に書いてもよい。</a:t>
            </a:r>
          </a:p>
          <a:p>
            <a:r>
              <a:t>10分計る（14:03ごろまで）。</a:t>
            </a:r>
          </a:p>
        </p:txBody>
      </p:sp>
      <p:sp>
        <p:nvSpPr>
          <p:cNvPr id="722" name="Google Shape;7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記入例を見せながら説明する。AI活用度は ◎ そのまま任せられそう／○ 一部なら／△ 難しそう の3段階。</a:t>
            </a:r>
          </a:p>
          <a:p>
            <a:r>
              <a:t>迷ったら、インプットとアウトプットが両方デジタルなら任せやすい。</a:t>
            </a:r>
          </a:p>
        </p:txBody>
      </p:sp>
      <p:sp>
        <p:nvSpPr>
          <p:cNvPr id="738" name="Google Shape;73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h12a068dd872fd27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h12a068dd872fd27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グループで一人ずつシートを紹介する（1人2〜3分）。15分計る（14:18ごろまで）。</a:t>
            </a:r>
          </a:p>
        </p:txBody>
      </p:sp>
      <p:sp>
        <p:nvSpPr>
          <p:cNvPr id="751" name="Google Shape;751;h12a068dd872fd27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紹介の順番の目安。最後に、ワーク②で取り組む業務を一人1つ決めておく。</a:t>
            </a:r>
          </a:p>
          <a:p>
            <a:r>
              <a:t>【14:20】休憩へ。</a:t>
            </a:r>
          </a:p>
        </p:txBody>
      </p:sp>
      <p:sp>
        <p:nvSpPr>
          <p:cNvPr id="767" name="Google Shape;76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【14:20〜14:30 休憩】Tipsは読み上げなくてよい（画面に出しておく）。</a:t>
            </a:r>
          </a:p>
        </p:txBody>
      </p:sp>
      <p:sp>
        <p:nvSpPr>
          <p:cNvPr id="791" name="Google Shape;79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40a0daa3361_0_26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40a0daa3361_0_26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【14:30〜15:00】ワーク②。個人で試す（〜14:50）→ 代表者の発表（14:50〜15:00）。</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① ワーク①で決めた業務を選ぶ ② まずは短く頼んでみる ③ 4要素で書き直す ④ 対話で直す ⑤ グループで発表するものを1つ選ぶ。</a:t>
            </a:r>
          </a:p>
          <a:p>
            <a:r>
              <a:t>14:45ごろに声をかけ、グループ内で発表者と発表するプロンプトを決めてもらう。14:50から代表者が発表（1グループ2分）。</a:t>
            </a:r>
          </a:p>
        </p:txBody>
      </p:sp>
      <p:sp>
        <p:nvSpPr>
          <p:cNvPr id="817" name="Google Shape;81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型はプロンプト集（04）からコピーできる。使わない行は消してよい。右の「修正のひと言」も参考に。</a:t>
            </a:r>
          </a:p>
        </p:txBody>
      </p:sp>
      <p:sp>
        <p:nvSpPr>
          <p:cNvPr id="848" name="Google Shape;84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【14:50〜】各グループの代表者が2分で発表：① 業務と困りごと ② プロンプトの中身 ③ どう変わったか。</a:t>
            </a:r>
          </a:p>
          <a:p>
            <a:r>
              <a:t>講師は、良かった点を1つずつ拾ってコメントする。</a:t>
            </a:r>
          </a:p>
          <a:p>
            <a:r>
              <a:t>【15:00】休憩へ。</a:t>
            </a:r>
          </a:p>
        </p:txBody>
      </p:sp>
      <p:sp>
        <p:nvSpPr>
          <p:cNvPr id="864" name="Google Shape;86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【15:00〜15:10 休憩】後半の準備（商品写真をPCへ送る、過去のPOPを撮る、作るものを考える）を声かけする。</a:t>
            </a:r>
          </a:p>
        </p:txBody>
      </p:sp>
      <p:sp>
        <p:nvSpPr>
          <p:cNvPr id="874" name="Google Shape;87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40a0daa3361_0_27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40a0daa3361_0_27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【15:10〜15:25】画像生成のデモと、Canvaでの仕上げ方。</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講師がデモする。無料版は画像を作れる回数が限られるので、参加者はワーク③まで回数を残しておいてもよいと伝える。</a:t>
            </a:r>
          </a:p>
        </p:txBody>
      </p:sp>
      <p:sp>
        <p:nvSpPr>
          <p:cNvPr id="898" name="Google Shape;89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h12a068dd872fd278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3" name="Google Shape;913;h12a068dd872fd278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ひと言だけだと、店名・期間・条件が入らず、どこの店でも使えるPOPになる。見た目はきれいでも、そのままでは使えない。</a:t>
            </a:r>
          </a:p>
        </p:txBody>
      </p:sp>
      <p:sp>
        <p:nvSpPr>
          <p:cNvPr id="914" name="Google Shape;914;h12a068dd872fd278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603855749043a6f2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0" name="Google Shape;920;h603855749043a6f2_0_1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画像も文章と同じ。ゼロから作らせるより、好評だった過去のデザインをお手本に渡し、今回の条件を書き足す。</a:t>
            </a:r>
          </a:p>
          <a:p>
            <a:r>
              <a:t>休憩前にお願いした「過去のPOPの写真」は、ここで使う。</a:t>
            </a:r>
          </a:p>
        </p:txBody>
      </p:sp>
      <p:sp>
        <p:nvSpPr>
          <p:cNvPr id="921" name="Google Shape;921;h603855749043a6f2_0_1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4要素で書き直したプロンプト。お手本は、前回好評だったPOPの見出し。</a:t>
            </a:r>
          </a:p>
          <a:p>
            <a:r>
              <a:t>制約で、断定表現と実在のキャラクター・ロゴを禁止している。出力はA4縦・3案。</a:t>
            </a:r>
          </a:p>
        </p:txBody>
      </p:sp>
      <p:sp>
        <p:nvSpPr>
          <p:cNvPr id="953" name="Google Shape;9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h12a068dd872fd278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65" name="Google Shape;965;h12a068dd872fd278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「3案」と頼むと、1枚のA4に3案がまとめて出ることがある。</a:t>
            </a:r>
          </a:p>
          <a:p>
            <a:r>
              <a:t>そのときは「別々のA4で作成してください」→「次のデザインもお願いします」。新しい案を頼むのは、同じチャットのままでよい。</a:t>
            </a:r>
          </a:p>
        </p:txBody>
      </p:sp>
      <p:sp>
        <p:nvSpPr>
          <p:cNvPr id="966" name="Google Shape;966;h12a068dd872fd278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h12a068dd872fd278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3" name="Google Shape;973;h12a068dd872fd278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店名・期間・条件・お店らしいトーンが入ったPOPが3案できた。</a:t>
            </a:r>
          </a:p>
        </p:txBody>
      </p:sp>
      <p:sp>
        <p:nvSpPr>
          <p:cNvPr id="974" name="Google Shape;974;h12a068dd872fd278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違いを生んだのはAIの性能ではなく、渡した情報の量。改善後も、日付や価格は掲示前に自分の目で確認する。</a:t>
            </a:r>
            <a:endParaRPr/>
          </a:p>
        </p:txBody>
      </p:sp>
      <p:sp>
        <p:nvSpPr>
          <p:cNvPr id="984" name="Google Shape;98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259926ce4e4d5a8f_0_6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5" name="Google Shape;995;h259926ce4e4d5a8f_0_6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日付や価格などの細かい文字は、AIでやり直すよりCanvaで直すほうが早く確実。</a:t>
            </a:r>
          </a:p>
          <a:p>
            <a:r>
              <a:t>例として、AIで作ったセミナー告知を、Canvaで仕上げた流れを見せる。</a:t>
            </a:r>
          </a:p>
        </p:txBody>
      </p:sp>
      <p:sp>
        <p:nvSpPr>
          <p:cNvPr id="996" name="Google Shape;996;h259926ce4e4d5a8f_0_6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h259926ce4e4d5a8f_0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h259926ce4e4d5a8f_0_6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AIが作った草案。日付・講師・会場などは仮の内容（2025年7月26日、架空の講師名など）。</a:t>
            </a:r>
          </a:p>
        </p:txBody>
      </p:sp>
      <p:sp>
        <p:nvSpPr>
          <p:cNvPr id="1003" name="Google Shape;1003;h259926ce4e4d5a8f_0_6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12a068dd872fd278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h12a068dd872fd278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方法①：画像の上にテキストを重ねて、文字を打ち直す。</a:t>
            </a:r>
          </a:p>
          <a:p>
            <a:r>
              <a:t>（Googleスライドでは動画がそのまま再生される。PowerPointで開いた場合は、黒い枠をクリックするとGoogleドライブの動画が開く）</a:t>
            </a:r>
          </a:p>
        </p:txBody>
      </p:sp>
      <p:sp>
        <p:nvSpPr>
          <p:cNvPr id="1011" name="Google Shape;1011;h12a068dd872fd278_0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h12a068dd872fd278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h12a068dd872fd278_0_1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方法②：マジックレイヤー。画像の中の文字や要素を、編集できるレイヤーに分けてくれる機能。</a:t>
            </a:r>
          </a:p>
          <a:p>
            <a:r>
              <a:t>無料プランでも使えるが、月ごとの利用回数に上限がある。</a:t>
            </a:r>
          </a:p>
        </p:txBody>
      </p:sp>
      <p:sp>
        <p:nvSpPr>
          <p:cNvPr id="1020" name="Google Shape;1020;h12a068dd872fd278_0_1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h10b5d30066dd11f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h10b5d30066dd11f8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草案から、日付・時間・会場・講師・主催のロゴ・申込用QRを差し替えた完成版。</a:t>
            </a:r>
          </a:p>
        </p:txBody>
      </p:sp>
      <p:sp>
        <p:nvSpPr>
          <p:cNvPr id="1030" name="Google Shape;1030;h10b5d30066dd11f8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2a068dd872fd278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h12a068dd872fd278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h12a068dd872fd278_0_1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h12a068dd872fd278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h12a068dd872fd278_0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h12a068dd872fd278_0_1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3つのルールのうち「権利への配慮」と「ファクトチェック」を販促物に当てはめたもの。店頭に出すものは社外の方の目にふれるので、掲示前に必ず人が確認する。</a:t>
            </a:r>
          </a:p>
          <a:p>
            <a:r>
              <a:t>【15:25 目安】ワーク③へ。</a:t>
            </a:r>
          </a:p>
        </p:txBody>
      </p:sp>
      <p:sp>
        <p:nvSpPr>
          <p:cNvPr id="1082" name="Google Shape;108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40a0daa3361_0_28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40a0daa3361_0_28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【15:25〜16:30】制作（〜16:05）→ 成果共有（16:05〜16:30）。</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① 題材を決める（〜15:30）② 文案をつくる（〜15:40）③ 画像を生成・修正（〜16:05）。</a:t>
            </a:r>
          </a:p>
          <a:p>
            <a:r>
              <a:t>無料版の制限で画像が作れなくなった方には、フライヤースタジオを案内する（リンクはプロンプト集のワーク③）。</a:t>
            </a:r>
          </a:p>
          <a:p>
            <a:r>
              <a:t>合言葉はここで口頭とホワイトボードで伝える。合言葉は公開の資料には載せない。</a:t>
            </a:r>
          </a:p>
          <a:p>
            <a:r>
              <a:t>POP・チラシ・SNS画像のどれか1点を完成させる。時間配分は目安。画像の作り込みに時間をかけすぎないよう、15:55ごろに一度声かけをする。</a:t>
            </a:r>
          </a:p>
        </p:txBody>
      </p:sp>
      <p:sp>
        <p:nvSpPr>
          <p:cNvPr id="1117" name="Google Shape;111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2" name="Google Shape;114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できるだけ実際の売場・業務で使う予定のあるものを題材にしてもらう。今日つくったものを、そのまま店頭やSNSで使える状態がゴール。</a:t>
            </a:r>
            <a:endParaRPr/>
          </a:p>
        </p:txBody>
      </p:sp>
      <p:sp>
        <p:nvSpPr>
          <p:cNvPr id="1143" name="Google Shape;114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h603855749043a6f2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h603855749043a6f2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直したい点が多いときは、同じチャットで注文を重ねるより、直したい点を書き足したプロンプトを新しいチャットで出すほうが早い。</a:t>
            </a:r>
          </a:p>
          <a:p>
            <a:r>
              <a:t>1か所だけの直しなら、同じチャットで「〇〇だけ変えて、ほかはそのまま」と伝えればよい。</a:t>
            </a:r>
          </a:p>
        </p:txBody>
      </p:sp>
      <p:sp>
        <p:nvSpPr>
          <p:cNvPr id="1178" name="Google Shape;1178;h603855749043a6f2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h603855749043a6f2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8" name="Google Shape;1198;h603855749043a6f2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同じチャットで注文を重ねると、指示が積み重なって矛盾したり、前の画像の見た目を引きずったりしやすい。</a:t>
            </a:r>
          </a:p>
        </p:txBody>
      </p:sp>
      <p:sp>
        <p:nvSpPr>
          <p:cNvPr id="1199" name="Google Shape;1199;h603855749043a6f2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h603855749043a6f2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0" name="Google Shape;1210;h603855749043a6f2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ChatGPTでは、画像の編集画面で範囲を選んでから指示できる（例：猫の目の部分だけを選んで「目をつぶらせて」）。</a:t>
            </a:r>
          </a:p>
          <a:p>
            <a:r>
              <a:t>選んだ場所だけが変わり、ほかはそのまま残る。</a:t>
            </a:r>
          </a:p>
        </p:txBody>
      </p:sp>
      <p:sp>
        <p:nvSpPr>
          <p:cNvPr id="1211" name="Google Shape;1211;h603855749043a6f2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1" name="Google Shape;122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【16:05〜16:30】</a:t>
            </a:r>
          </a:p>
          <a:p>
            <a:r>
              <a:t>グループ発表か個人発表かは当日の進み具合で決める。作品を見せながら、どんな指示を出したかを話してもらう。いちばん効果があった修正のひと言は、他の人もそのまま真似できる。</a:t>
            </a:r>
          </a:p>
        </p:txBody>
      </p:sp>
      <p:sp>
        <p:nvSpPr>
          <p:cNvPr id="1222" name="Google Shape;122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【16:30 目安】今日のまとめ。4つのポイントを読み上げる。</a:t>
            </a:r>
          </a:p>
        </p:txBody>
      </p:sp>
      <p:sp>
        <p:nvSpPr>
          <p:cNvPr id="1232" name="Google Shape;123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h259926ce4e4d5a8f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h259926ce4e4d5a8f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今日は「AIに手伝ってもらう」ところまで。次は「AIで自分たちの道具をつくる」。</a:t>
            </a:r>
          </a:p>
          <a:p>
            <a:r>
              <a:t>例：買取POPをまとめて作るアプリ。</a:t>
            </a:r>
          </a:p>
        </p:txBody>
      </p:sp>
      <p:sp>
        <p:nvSpPr>
          <p:cNvPr id="1256" name="Google Shape;1256;h259926ce4e4d5a8f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h259926ce4e4d5a8f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5" name="Google Shape;1275;h259926ce4e4d5a8f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ワーク①で書き出した「困っていること」が、そのまま題材になる。</a:t>
            </a:r>
          </a:p>
        </p:txBody>
      </p:sp>
      <p:sp>
        <p:nvSpPr>
          <p:cNvPr id="1276" name="Google Shape;1276;h259926ce4e4d5a8f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40a0daa3361_0_29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40a0daa3361_0_29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r>
              <a:t>本日の資料（GitHubのページ）は、このあとも見られる。17:00まで個別相談を受け付けている。</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皆さんは、自分たちの業務の流れや困りごとを誰よりもよく知っています。</a:t>
            </a:r>
            <a:endParaRPr/>
          </a:p>
          <a:p>
            <a:pPr indent="0" lvl="0" marL="0" rtl="0" algn="l">
              <a:lnSpc>
                <a:spcPct val="100000"/>
              </a:lnSpc>
              <a:spcBef>
                <a:spcPts val="0"/>
              </a:spcBef>
              <a:spcAft>
                <a:spcPts val="0"/>
              </a:spcAft>
              <a:buSzPts val="1400"/>
              <a:buNone/>
            </a:pPr>
            <a:r>
              <a:rPr lang="en-US"/>
              <a:t>これまでは、その知識を資料にまとめて外部に伝え、つくってもらう必要がありました。いまはAIと対話しながら、現場の人が自分たちで形にできるようになっています。</a:t>
            </a:r>
            <a:endParaRPr/>
          </a:p>
          <a:p>
            <a:pPr indent="0" lvl="0" marL="0" rtl="0" algn="l">
              <a:lnSpc>
                <a:spcPct val="100000"/>
              </a:lnSpc>
              <a:spcBef>
                <a:spcPts val="0"/>
              </a:spcBef>
              <a:spcAft>
                <a:spcPts val="0"/>
              </a:spcAft>
              <a:buSzPts val="1400"/>
              <a:buNone/>
            </a:pPr>
            <a:r>
              <a:rPr lang="en-US"/>
              <a:t>業務を知っている人がつくるからこそ、現場で本当に使える道具になる、という点を強調する。</a:t>
            </a:r>
            <a:endParaRPr/>
          </a:p>
        </p:txBody>
      </p:sp>
      <p:sp>
        <p:nvSpPr>
          <p:cNvPr id="603" name="Google Shape;6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次回のご提案として、ハッカソン形式の研修を紹介する。</a:t>
            </a:r>
            <a:endParaRPr/>
          </a:p>
          <a:p>
            <a:pPr indent="0" lvl="0" marL="0" rtl="0" algn="l">
              <a:lnSpc>
                <a:spcPct val="100000"/>
              </a:lnSpc>
              <a:spcBef>
                <a:spcPts val="0"/>
              </a:spcBef>
              <a:spcAft>
                <a:spcPts val="0"/>
              </a:spcAft>
              <a:buSzPts val="1400"/>
              <a:buNone/>
            </a:pPr>
            <a:r>
              <a:rPr lang="en-US"/>
              <a:t>今日のワーク①で書き出した困りごとを題材に、チームでアプリをつくり、発表まで行う実践型の研修。</a:t>
            </a:r>
            <a:endParaRPr/>
          </a:p>
          <a:p>
            <a:pPr indent="0" lvl="0" marL="0" rtl="0" algn="l">
              <a:lnSpc>
                <a:spcPct val="100000"/>
              </a:lnSpc>
              <a:spcBef>
                <a:spcPts val="0"/>
              </a:spcBef>
              <a:spcAft>
                <a:spcPts val="0"/>
              </a:spcAft>
              <a:buSzPts val="1400"/>
              <a:buNone/>
            </a:pPr>
            <a:r>
              <a:rPr lang="en-US"/>
              <a:t>内容や進め方は各社の業務に合わせて調整できるので、関心があれば、このあとの個別相談で声をかけてもらう。</a:t>
            </a:r>
            <a:endParaRPr/>
          </a:p>
        </p:txBody>
      </p:sp>
      <p:sp>
        <p:nvSpPr>
          <p:cNvPr id="603" name="Google Shape;6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個別相談の案内。「こんなことを聞いてもいいのかな」と遠慮しがちなので、例をいくつか読み上げて、気軽に来てもらえる雰囲気をつくる。</a:t>
            </a:r>
            <a:endParaRPr/>
          </a:p>
          <a:p>
            <a:pPr indent="0" lvl="0" marL="0" rtl="0" algn="l">
              <a:lnSpc>
                <a:spcPct val="100000"/>
              </a:lnSpc>
              <a:spcBef>
                <a:spcPts val="0"/>
              </a:spcBef>
              <a:spcAft>
                <a:spcPts val="0"/>
              </a:spcAft>
              <a:buSzPts val="1400"/>
              <a:buNone/>
            </a:pPr>
            <a:r>
              <a:rPr lang="en-US"/>
              <a:t>使い方の小さな疑問から、自分の業務への当てはめ方、次回研修の相談まで、どれでも受け付けることを伝える。</a:t>
            </a:r>
            <a:endParaRPr/>
          </a:p>
        </p:txBody>
      </p:sp>
      <p:sp>
        <p:nvSpPr>
          <p:cNvPr id="603" name="Google Shape;6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毎回同じルールや背景情報を貼っているなら、昨年度の研修で扱ったRAG（資料を渡して、それをもとに答えさせる仕組み）として登録しておける。</a:t>
            </a:r>
            <a:endParaRPr/>
          </a:p>
          <a:p>
            <a:pPr indent="0" lvl="0" marL="0" rtl="0" algn="l">
              <a:lnSpc>
                <a:spcPct val="100000"/>
              </a:lnSpc>
              <a:spcBef>
                <a:spcPts val="0"/>
              </a:spcBef>
              <a:spcAft>
                <a:spcPts val="0"/>
              </a:spcAft>
              <a:buSzPts val="1400"/>
              <a:buNone/>
            </a:pPr>
            <a:r>
              <a:rPr lang="en-US"/>
              <a:t>例えばChatGPTのプロジェクトやGPTs、GeminiのGemに、買取ルール・返信例・店の基本情報を入れておけば、毎回はお客様のメッセージだけ渡せばよい。ルールを更新すれば、全員が最新の情報で使える。</a:t>
            </a:r>
            <a:endParaRPr/>
          </a:p>
          <a:p>
            <a:pPr indent="0" lvl="0" marL="0" rtl="0" algn="l">
              <a:lnSpc>
                <a:spcPct val="100000"/>
              </a:lnSpc>
              <a:spcBef>
                <a:spcPts val="0"/>
              </a:spcBef>
              <a:spcAft>
                <a:spcPts val="0"/>
              </a:spcAft>
              <a:buSzPts val="1400"/>
              <a:buNone/>
            </a:pPr>
            <a:r>
              <a:rPr lang="en-US"/>
              <a:t>登録する情報も、3つのルールの「機密情報」に注意して選ぶ（お客様の個人情報などは登録しない）。</a:t>
            </a:r>
            <a:endParaRPr/>
          </a:p>
        </p:txBody>
      </p:sp>
      <p:sp>
        <p:nvSpPr>
          <p:cNvPr id="603" name="Google Shape;6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40a0daa3361_0_6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5" name="Google Shape;15;g40a0daa3361_0_60"/>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40a0daa3361_0_6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g40a0daa3361_0_21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9" name="Google Shape;19;g40a0daa3361_0_212"/>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g40a0daa3361_0_212"/>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h259926ce4e4d5a8f_0_42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4" name="Google Shape;24;h259926ce4e4d5a8f_0_423"/>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 name="Google Shape;25;h259926ce4e4d5a8f_0_423"/>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h259926ce4e4d5a8f_0_4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28" name="Google Shape;28;h259926ce4e4d5a8f_0_427"/>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h259926ce4e4d5a8f_0_43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 name="Google Shape;31;h259926ce4e4d5a8f_0_430"/>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2" name="Google Shape;32;h259926ce4e4d5a8f_0_430"/>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h259926ce4e4d5a8f_0_4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5" name="Google Shape;35;h259926ce4e4d5a8f_0_434"/>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h259926ce4e4d5a8f_0_434"/>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h259926ce4e4d5a8f_0_434"/>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h259926ce4e4d5a8f_0_43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 name="Google Shape;40;h259926ce4e4d5a8f_0_439"/>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h259926ce4e4d5a8f_0_4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43" name="Google Shape;43;h259926ce4e4d5a8f_0_442"/>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4" name="Google Shape;44;h259926ce4e4d5a8f_0_442"/>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h259926ce4e4d5a8f_0_4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47" name="Google Shape;47;h259926ce4e4d5a8f_0_446"/>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h259926ce4e4d5a8f_0_4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h259926ce4e4d5a8f_0_44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51" name="Google Shape;51;h259926ce4e4d5a8f_0_449"/>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h259926ce4e4d5a8f_0_44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3" name="Google Shape;53;h259926ce4e4d5a8f_0_449"/>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h259926ce4e4d5a8f_0_4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56" name="Google Shape;56;h259926ce4e4d5a8f_0_455"/>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7" name="Google Shape;57;h259926ce4e4d5a8f_0_455"/>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h259926ce4e4d5a8f_0_459"/>
          <p:cNvSpPr txBox="1"/>
          <p:nvPr>
            <p:ph idx="12" type="sldNum"/>
          </p:nvPr>
        </p:nvSpPr>
        <p:spPr>
          <a:xfrm>
            <a:off x="8472450" y="4733725"/>
            <a:ext cx="548700" cy="323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 name="Shape 2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8.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hyperlink" Target="https://github.com/style-arts-corp/ai-workshop-20260929" TargetMode="External"/><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7.png"/><Relationship Id="rId7" Type="http://schemas.openxmlformats.org/officeDocument/2006/relationships/notesSlide" Target="../notesSlides/notesSlide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49.png"/><Relationship Id="rId5" Type="http://schemas.openxmlformats.org/officeDocument/2006/relationships/image" Target="../media/image24.jpg"/><Relationship Id="rId6"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hyperlink" Target="https://www.gartner.com/en/newsroom/press-releases/2025-08-26-gartner-predicts-40-percent-of-enterprise-apps-will-feature-task-specific-ai-agents-by-2026-up-from-less-than-5-percent-in-202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soumu.go.jp/johotsusintokei/whitepaper/ja/r08/html/nd121110.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38.png"/><Relationship Id="rId6"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comments" Target="../comments/comment1.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51.png"/><Relationship Id="rId4" Type="http://schemas.openxmlformats.org/officeDocument/2006/relationships/image" Target="../media/image61.png"/><Relationship Id="rId5"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6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hyperlink" Target="http://drive.google.com/file/d/1hhHP5wrnkvjk_L-vb_r2-96i9_-Vp5W0/view" TargetMode="External"/><Relationship Id="rId4"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hyperlink" Target="http://drive.google.com/file/d/1Nf5b2GRxv8LSCMyAg2X3aEJoqzkSl6n-/view" TargetMode="External"/><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7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55.png"/><Relationship Id="rId4" Type="http://schemas.openxmlformats.org/officeDocument/2006/relationships/image" Target="../media/image43.png"/><Relationship Id="rId5" Type="http://schemas.openxmlformats.org/officeDocument/2006/relationships/image" Target="../media/image58.png"/><Relationship Id="rId6" Type="http://schemas.openxmlformats.org/officeDocument/2006/relationships/image" Target="../media/image5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59.png"/><Relationship Id="rId4" Type="http://schemas.openxmlformats.org/officeDocument/2006/relationships/image" Target="../media/image62.png"/><Relationship Id="rId5" Type="http://schemas.openxmlformats.org/officeDocument/2006/relationships/image" Target="../media/image60.png"/><Relationship Id="rId6" Type="http://schemas.openxmlformats.org/officeDocument/2006/relationships/image" Target="../media/image54.png"/><Relationship Id="rId7" Type="http://schemas.openxmlformats.org/officeDocument/2006/relationships/image" Target="../media/image56.png"/><Relationship Id="rId8" Type="http://schemas.openxmlformats.org/officeDocument/2006/relationships/image" Target="../media/image3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5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6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75.png"/><Relationship Id="rId4" Type="http://schemas.openxmlformats.org/officeDocument/2006/relationships/image" Target="../media/image7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7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71.png"/><Relationship Id="rId4" Type="http://schemas.openxmlformats.org/officeDocument/2006/relationships/image" Target="../media/image7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69.png"/><Relationship Id="rId4" Type="http://schemas.openxmlformats.org/officeDocument/2006/relationships/image" Target="../media/image74.png"/><Relationship Id="rId5" Type="http://schemas.openxmlformats.org/officeDocument/2006/relationships/image" Target="../media/image7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0.png"/><Relationship Id="rId4" Type="http://schemas.openxmlformats.org/officeDocument/2006/relationships/image" Target="../media/image74.png"/><Relationship Id="rId5" Type="http://schemas.openxmlformats.org/officeDocument/2006/relationships/image" Target="../media/image5.png"/><Relationship Id="rId6"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hyperlink" Target="https://github.com/style-arts-corp/ai-workshop-2026092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40a0daa3361_0_315"/>
          <p:cNvSpPr txBox="1"/>
          <p:nvPr/>
        </p:nvSpPr>
        <p:spPr>
          <a:xfrm>
            <a:off x="299900" y="468550"/>
            <a:ext cx="59712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本日使用するWi-Fiについて</a:t>
            </a:r>
            <a:endParaRPr b="1" sz="3600"/>
          </a:p>
        </p:txBody>
      </p:sp>
      <p:sp>
        <p:nvSpPr>
          <p:cNvPr id="66" name="Google Shape;66;g40a0daa3361_0_315"/>
          <p:cNvSpPr txBox="1"/>
          <p:nvPr/>
        </p:nvSpPr>
        <p:spPr>
          <a:xfrm>
            <a:off x="1426950" y="2299050"/>
            <a:ext cx="6290100" cy="54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000"/>
              <a:t>こちらからご案内します。</a:t>
            </a:r>
            <a:endParaRPr sz="3000"/>
          </a:p>
        </p:txBody>
      </p:sp>
      <p:sp>
        <p:nvSpPr>
          <p:cNvPr id="67" name="Google Shape;67;g40a0daa3361_0_3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40a0daa3361_0_1"/>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sp>
        <p:nvSpPr>
          <p:cNvPr id="73" name="Google Shape;73;g40a0daa3361_0_1"/>
          <p:cNvSpPr txBox="1"/>
          <p:nvPr/>
        </p:nvSpPr>
        <p:spPr>
          <a:xfrm>
            <a:off x="213000" y="2241900"/>
            <a:ext cx="8931000" cy="510900"/>
          </a:xfrm>
          <a:prstGeom prst="rect">
            <a:avLst/>
          </a:prstGeom>
          <a:noFill/>
          <a:ln>
            <a:noFill/>
          </a:ln>
        </p:spPr>
        <p:txBody>
          <a:bodyPr anchorCtr="0" anchor="t" bIns="34275" lIns="68575" spcFirstLastPara="1" rIns="68575" wrap="square" tIns="34275">
            <a:spAutoFit/>
          </a:bodyPr>
          <a:lstStyle/>
          <a:p>
            <a:pPr indent="0" lvl="0" marL="0" marR="0" rtl="0" algn="l">
              <a:lnSpc>
                <a:spcPct val="70000"/>
              </a:lnSpc>
              <a:spcBef>
                <a:spcPts val="0"/>
              </a:spcBef>
              <a:spcAft>
                <a:spcPts val="0"/>
              </a:spcAft>
              <a:buClr>
                <a:srgbClr val="000000"/>
              </a:buClr>
              <a:buSzPts val="9500"/>
              <a:buFont typeface="Arial"/>
              <a:buNone/>
            </a:pPr>
            <a:r>
              <a:rPr lang="en-US" sz="4100">
                <a:solidFill>
                  <a:srgbClr val="FFFFFF"/>
                </a:solidFill>
                <a:latin typeface="Host Grotesk ExtraBold"/>
                <a:ea typeface="Host Grotesk ExtraBold"/>
                <a:cs typeface="Host Grotesk ExtraBold"/>
                <a:sym typeface="Host Grotesk ExtraBold"/>
              </a:rPr>
              <a:t>生成A</a:t>
            </a:r>
            <a:r>
              <a:rPr lang="en-US" sz="4100">
                <a:solidFill>
                  <a:srgbClr val="FFFFFF"/>
                </a:solidFill>
                <a:latin typeface="Host Grotesk ExtraBold"/>
                <a:ea typeface="Host Grotesk ExtraBold"/>
                <a:cs typeface="Host Grotesk ExtraBold"/>
                <a:sym typeface="Host Grotesk ExtraBold"/>
              </a:rPr>
              <a:t>I定着ワークショップ</a:t>
            </a:r>
            <a:endParaRPr sz="4100">
              <a:solidFill>
                <a:srgbClr val="FFFFFF"/>
              </a:solidFill>
              <a:latin typeface="Host Grotesk ExtraBold"/>
              <a:ea typeface="Host Grotesk ExtraBold"/>
              <a:cs typeface="Host Grotesk ExtraBold"/>
              <a:sym typeface="Host Grotesk ExtraBold"/>
            </a:endParaRPr>
          </a:p>
        </p:txBody>
      </p:sp>
      <p:pic>
        <p:nvPicPr>
          <p:cNvPr id="74" name="Google Shape;74;g40a0daa3361_0_1"/>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sp>
        <p:nvSpPr>
          <p:cNvPr id="75" name="Google Shape;75;g40a0daa3361_0_1"/>
          <p:cNvSpPr txBox="1"/>
          <p:nvPr/>
        </p:nvSpPr>
        <p:spPr>
          <a:xfrm>
            <a:off x="430561" y="4645115"/>
            <a:ext cx="25173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Clr>
                <a:srgbClr val="FFFFFF"/>
              </a:buClr>
              <a:buSzPts val="1200"/>
              <a:buFont typeface="Raleway"/>
              <a:buNone/>
            </a:pPr>
            <a:r>
              <a:rPr lang="en-US" sz="1200">
                <a:solidFill>
                  <a:srgbClr val="FFFFFF"/>
                </a:solidFill>
                <a:latin typeface="Raleway"/>
                <a:ea typeface="Raleway"/>
                <a:cs typeface="Raleway"/>
                <a:sym typeface="Raleway"/>
              </a:rPr>
              <a:t>2026.09.29</a:t>
            </a:r>
            <a:endParaRPr b="0" i="0" sz="1100" u="none" cap="none" strike="noStrike">
              <a:solidFill>
                <a:srgbClr val="000000"/>
              </a:solidFill>
              <a:latin typeface="Arial"/>
              <a:ea typeface="Arial"/>
              <a:cs typeface="Arial"/>
              <a:sym typeface="Arial"/>
            </a:endParaRPr>
          </a:p>
        </p:txBody>
      </p:sp>
      <p:pic>
        <p:nvPicPr>
          <p:cNvPr id="76" name="Google Shape;76;g40a0daa3361_0_1"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77" name="Google Shape;77;g40a0daa3361_0_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40a0daa3361_0_164"/>
          <p:cNvSpPr txBox="1"/>
          <p:nvPr>
            <p:ph type="title"/>
          </p:nvPr>
        </p:nvSpPr>
        <p:spPr>
          <a:xfrm>
            <a:off x="564800" y="349150"/>
            <a:ext cx="4269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US" sz="2620"/>
              <a:t>講師紹介</a:t>
            </a:r>
            <a:endParaRPr b="1" sz="2620"/>
          </a:p>
        </p:txBody>
      </p:sp>
      <p:sp>
        <p:nvSpPr>
          <p:cNvPr id="83" name="Google Shape;83;g40a0daa3361_0_164"/>
          <p:cNvSpPr txBox="1"/>
          <p:nvPr>
            <p:ph idx="1" type="body"/>
          </p:nvPr>
        </p:nvSpPr>
        <p:spPr>
          <a:xfrm>
            <a:off x="862600" y="2637825"/>
            <a:ext cx="3558600" cy="1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400">
                <a:solidFill>
                  <a:schemeClr val="dk1"/>
                </a:solidFill>
              </a:rPr>
              <a:t>樋口 剛琉（Higuchi Takeru）</a:t>
            </a:r>
            <a:br>
              <a:rPr b="1" lang="en-US" sz="1400">
                <a:solidFill>
                  <a:schemeClr val="dk1"/>
                </a:solidFill>
              </a:rPr>
            </a:br>
            <a:endParaRPr b="1" sz="800">
              <a:solidFill>
                <a:schemeClr val="dk1"/>
              </a:solidFill>
            </a:endParaRPr>
          </a:p>
          <a:p>
            <a:pPr indent="0" lvl="0" marL="0" rtl="0" algn="l">
              <a:spcBef>
                <a:spcPts val="0"/>
              </a:spcBef>
              <a:spcAft>
                <a:spcPts val="0"/>
              </a:spcAft>
              <a:buNone/>
            </a:pPr>
            <a:r>
              <a:rPr lang="en-US" sz="1200">
                <a:solidFill>
                  <a:schemeClr val="dk1"/>
                </a:solidFill>
              </a:rPr>
              <a:t>新潟版未踏的人材育成事業 ETSUZAN 一期生</a:t>
            </a:r>
            <a:endParaRPr sz="1200">
              <a:solidFill>
                <a:schemeClr val="dk1"/>
              </a:solidFill>
            </a:endParaRPr>
          </a:p>
          <a:p>
            <a:pPr indent="0" lvl="0" marL="0" rtl="0" algn="l">
              <a:spcBef>
                <a:spcPts val="0"/>
              </a:spcBef>
              <a:spcAft>
                <a:spcPts val="0"/>
              </a:spcAft>
              <a:buNone/>
            </a:pPr>
            <a:r>
              <a:rPr lang="en-US" sz="1200">
                <a:solidFill>
                  <a:schemeClr val="dk1"/>
                </a:solidFill>
              </a:rPr>
              <a:t>2026 リーンローンチパッド長岡 TA</a:t>
            </a:r>
            <a:endParaRPr sz="1200">
              <a:solidFill>
                <a:schemeClr val="dk1"/>
              </a:solidFill>
            </a:endParaRPr>
          </a:p>
          <a:p>
            <a:pPr indent="0" lvl="0" marL="0" rtl="0" algn="l">
              <a:spcBef>
                <a:spcPts val="0"/>
              </a:spcBef>
              <a:spcAft>
                <a:spcPts val="0"/>
              </a:spcAft>
              <a:buNone/>
            </a:pPr>
            <a:r>
              <a:rPr lang="en-US" sz="1200">
                <a:solidFill>
                  <a:schemeClr val="dk1"/>
                </a:solidFill>
              </a:rPr>
              <a:t>ex- 株式会社nexfare 取締役 CTO</a:t>
            </a:r>
            <a:endParaRPr sz="1200">
              <a:solidFill>
                <a:schemeClr val="dk1"/>
              </a:solidFill>
            </a:endParaRPr>
          </a:p>
          <a:p>
            <a:pPr indent="0" lvl="0" marL="0" rtl="0" algn="l">
              <a:spcBef>
                <a:spcPts val="0"/>
              </a:spcBef>
              <a:spcAft>
                <a:spcPts val="0"/>
              </a:spcAft>
              <a:buNone/>
            </a:pPr>
            <a:r>
              <a:rPr lang="en-US" sz="1200">
                <a:solidFill>
                  <a:schemeClr val="dk1"/>
                </a:solidFill>
              </a:rPr>
              <a:t>株式会社スタイルアーツ 取締役 COO</a:t>
            </a:r>
            <a:endParaRPr sz="1200">
              <a:solidFill>
                <a:schemeClr val="dk1"/>
              </a:solidFill>
            </a:endParaRPr>
          </a:p>
        </p:txBody>
      </p:sp>
      <p:sp>
        <p:nvSpPr>
          <p:cNvPr id="84" name="Google Shape;84;g40a0daa3361_0_164"/>
          <p:cNvSpPr txBox="1"/>
          <p:nvPr>
            <p:ph idx="1" type="body"/>
          </p:nvPr>
        </p:nvSpPr>
        <p:spPr>
          <a:xfrm>
            <a:off x="4834700" y="2637825"/>
            <a:ext cx="3446700" cy="1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髙司</a:t>
            </a:r>
            <a:r>
              <a:rPr b="1" lang="en-US" sz="1400">
                <a:solidFill>
                  <a:schemeClr val="dk1"/>
                </a:solidFill>
              </a:rPr>
              <a:t> </a:t>
            </a:r>
            <a:r>
              <a:rPr b="1" lang="en-US">
                <a:solidFill>
                  <a:schemeClr val="dk1"/>
                </a:solidFill>
              </a:rPr>
              <a:t>康平</a:t>
            </a:r>
            <a:r>
              <a:rPr b="1" lang="en-US" sz="1400">
                <a:solidFill>
                  <a:schemeClr val="dk1"/>
                </a:solidFill>
              </a:rPr>
              <a:t>（</a:t>
            </a:r>
            <a:r>
              <a:rPr b="1" lang="en-US">
                <a:solidFill>
                  <a:schemeClr val="dk1"/>
                </a:solidFill>
              </a:rPr>
              <a:t>Takashi</a:t>
            </a:r>
            <a:r>
              <a:rPr b="1" lang="en-US" sz="1400">
                <a:solidFill>
                  <a:schemeClr val="dk1"/>
                </a:solidFill>
              </a:rPr>
              <a:t> </a:t>
            </a:r>
            <a:r>
              <a:rPr b="1" lang="en-US">
                <a:solidFill>
                  <a:schemeClr val="dk1"/>
                </a:solidFill>
              </a:rPr>
              <a:t>Kohei</a:t>
            </a:r>
            <a:r>
              <a:rPr b="1" lang="en-US" sz="1400">
                <a:solidFill>
                  <a:schemeClr val="dk1"/>
                </a:solidFill>
              </a:rPr>
              <a:t>）</a:t>
            </a:r>
            <a:br>
              <a:rPr b="1" lang="en-US" sz="1400">
                <a:solidFill>
                  <a:schemeClr val="dk1"/>
                </a:solidFill>
              </a:rPr>
            </a:br>
            <a:endParaRPr b="1" sz="800">
              <a:solidFill>
                <a:schemeClr val="dk1"/>
              </a:solidFill>
            </a:endParaRPr>
          </a:p>
          <a:p>
            <a:pPr indent="0" lvl="0" marL="0" rtl="0" algn="l">
              <a:spcBef>
                <a:spcPts val="0"/>
              </a:spcBef>
              <a:spcAft>
                <a:spcPts val="0"/>
              </a:spcAft>
              <a:buNone/>
            </a:pPr>
            <a:r>
              <a:rPr lang="en-US" sz="1200">
                <a:solidFill>
                  <a:schemeClr val="dk1"/>
                </a:solidFill>
              </a:rPr>
              <a:t>長岡技術科学大学 在学</a:t>
            </a:r>
            <a:br>
              <a:rPr lang="en-US" sz="1200">
                <a:solidFill>
                  <a:schemeClr val="dk1"/>
                </a:solidFill>
              </a:rPr>
            </a:br>
            <a:r>
              <a:rPr lang="en-US" sz="1200">
                <a:solidFill>
                  <a:schemeClr val="dk1"/>
                </a:solidFill>
              </a:rPr>
              <a:t>スタイルアーツ AIビジネスデザイン事業部</a:t>
            </a:r>
            <a:endParaRPr sz="1400">
              <a:solidFill>
                <a:schemeClr val="dk1"/>
              </a:solidFill>
            </a:endParaRPr>
          </a:p>
        </p:txBody>
      </p:sp>
      <p:sp>
        <p:nvSpPr>
          <p:cNvPr id="85" name="Google Shape;85;g40a0daa3361_0_164"/>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pic>
        <p:nvPicPr>
          <p:cNvPr id="86" name="Google Shape;86;g40a0daa3361_0_164"/>
          <p:cNvPicPr preferRelativeResize="0"/>
          <p:nvPr/>
        </p:nvPicPr>
        <p:blipFill rotWithShape="1">
          <a:blip r:embed="rId3">
            <a:alphaModFix/>
          </a:blip>
          <a:srcRect b="34666" l="0" r="0" t="0"/>
          <a:stretch/>
        </p:blipFill>
        <p:spPr>
          <a:xfrm>
            <a:off x="5205150" y="965850"/>
            <a:ext cx="1703225" cy="1671977"/>
          </a:xfrm>
          <a:prstGeom prst="rect">
            <a:avLst/>
          </a:prstGeom>
          <a:noFill/>
          <a:ln>
            <a:noFill/>
          </a:ln>
        </p:spPr>
      </p:pic>
      <p:pic>
        <p:nvPicPr>
          <p:cNvPr id="87" name="Google Shape;87;g40a0daa3361_0_164"/>
          <p:cNvPicPr preferRelativeResize="0"/>
          <p:nvPr/>
        </p:nvPicPr>
        <p:blipFill rotWithShape="1">
          <a:blip r:embed="rId4">
            <a:alphaModFix/>
          </a:blip>
          <a:srcRect b="14909" l="25402" r="19734" t="2630"/>
          <a:stretch/>
        </p:blipFill>
        <p:spPr>
          <a:xfrm>
            <a:off x="1343450" y="943850"/>
            <a:ext cx="1664466" cy="1671976"/>
          </a:xfrm>
          <a:prstGeom prst="rect">
            <a:avLst/>
          </a:prstGeom>
          <a:noFill/>
          <a:ln>
            <a:noFill/>
          </a:ln>
        </p:spPr>
      </p:pic>
      <p:sp>
        <p:nvSpPr>
          <p:cNvPr id="88" name="Google Shape;88;g40a0daa3361_0_164"/>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3"/>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本日のスケジュール</a:t>
            </a:r>
            <a:endParaRPr b="0" i="0" sz="2200" u="none" cap="none" strike="noStrike">
              <a:solidFill>
                <a:schemeClr val="dk1"/>
              </a:solidFill>
              <a:latin typeface="Calibri"/>
              <a:ea typeface="Calibri"/>
              <a:cs typeface="Calibri"/>
              <a:sym typeface="Calibri"/>
            </a:endParaRPr>
          </a:p>
        </p:txBody>
      </p:sp>
      <p:sp>
        <p:nvSpPr>
          <p:cNvPr id="95" name="Google Shape;95;p3"/>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96" name="Google Shape;96;p3"/>
          <p:cNvSpPr/>
          <p:nvPr/>
        </p:nvSpPr>
        <p:spPr>
          <a:xfrm>
            <a:off x="6492240" y="914400"/>
            <a:ext cx="2240280" cy="128016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
          <p:cNvSpPr txBox="1"/>
          <p:nvPr/>
        </p:nvSpPr>
        <p:spPr>
          <a:xfrm>
            <a:off x="6675120" y="1051560"/>
            <a:ext cx="1920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ワーク</a:t>
            </a:r>
            <a:endParaRPr b="0" i="0" sz="1100" u="none" cap="none" strike="noStrike">
              <a:solidFill>
                <a:schemeClr val="dk1"/>
              </a:solidFill>
              <a:latin typeface="Calibri"/>
              <a:ea typeface="Calibri"/>
              <a:cs typeface="Calibri"/>
              <a:sym typeface="Calibri"/>
            </a:endParaRPr>
          </a:p>
        </p:txBody>
      </p:sp>
      <p:sp>
        <p:nvSpPr>
          <p:cNvPr id="98" name="Google Shape;98;p3"/>
          <p:cNvSpPr txBox="1"/>
          <p:nvPr/>
        </p:nvSpPr>
        <p:spPr>
          <a:xfrm>
            <a:off x="6675120" y="1325880"/>
            <a:ext cx="19202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3600"/>
              <a:buFont typeface="Meiryo"/>
              <a:buNone/>
            </a:pPr>
            <a:r>
              <a:rPr b="1" i="0" lang="en-US" sz="3600" u="none" cap="none" strike="noStrike">
                <a:solidFill>
                  <a:srgbClr val="1F3A5F"/>
                </a:solidFill>
                <a:latin typeface="Meiryo"/>
                <a:ea typeface="Meiryo"/>
                <a:cs typeface="Meiryo"/>
                <a:sym typeface="Meiryo"/>
              </a:rPr>
              <a:t>3つ</a:t>
            </a:r>
            <a:endParaRPr b="0" i="0" sz="3600" u="none" cap="none" strike="noStrike">
              <a:solidFill>
                <a:schemeClr val="dk1"/>
              </a:solidFill>
              <a:latin typeface="Calibri"/>
              <a:ea typeface="Calibri"/>
              <a:cs typeface="Calibri"/>
              <a:sym typeface="Calibri"/>
            </a:endParaRPr>
          </a:p>
        </p:txBody>
      </p:sp>
      <p:sp>
        <p:nvSpPr>
          <p:cNvPr id="99" name="Google Shape;99;p3"/>
          <p:cNvSpPr/>
          <p:nvPr/>
        </p:nvSpPr>
        <p:spPr>
          <a:xfrm>
            <a:off x="6492240" y="2377440"/>
            <a:ext cx="2240280" cy="128016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txBox="1"/>
          <p:nvPr/>
        </p:nvSpPr>
        <p:spPr>
          <a:xfrm>
            <a:off x="6675120" y="2514600"/>
            <a:ext cx="1920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手を動かす時間</a:t>
            </a:r>
            <a:endParaRPr b="0" i="0" sz="1100" u="none" cap="none" strike="noStrike">
              <a:solidFill>
                <a:schemeClr val="dk1"/>
              </a:solidFill>
              <a:latin typeface="Calibri"/>
              <a:ea typeface="Calibri"/>
              <a:cs typeface="Calibri"/>
              <a:sym typeface="Calibri"/>
            </a:endParaRPr>
          </a:p>
        </p:txBody>
      </p:sp>
      <p:sp>
        <p:nvSpPr>
          <p:cNvPr id="101" name="Google Shape;101;p3"/>
          <p:cNvSpPr txBox="1"/>
          <p:nvPr/>
        </p:nvSpPr>
        <p:spPr>
          <a:xfrm>
            <a:off x="6675120" y="2788920"/>
            <a:ext cx="19202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3000"/>
              <a:buFont typeface="Meiryo"/>
              <a:buNone/>
            </a:pPr>
            <a:r>
              <a:rPr b="1" i="0" lang="en-US" sz="3000" u="none" cap="none" strike="noStrike">
                <a:solidFill>
                  <a:srgbClr val="E8702A"/>
                </a:solidFill>
                <a:latin typeface="Meiryo"/>
                <a:ea typeface="Meiryo"/>
                <a:cs typeface="Meiryo"/>
                <a:sym typeface="Meiryo"/>
              </a:rPr>
              <a:t>約2時間</a:t>
            </a:r>
            <a:endParaRPr b="0" i="0" sz="3000" u="none" cap="none" strike="noStrike">
              <a:solidFill>
                <a:schemeClr val="dk1"/>
              </a:solidFill>
              <a:latin typeface="Calibri"/>
              <a:ea typeface="Calibri"/>
              <a:cs typeface="Calibri"/>
              <a:sym typeface="Calibri"/>
            </a:endParaRPr>
          </a:p>
        </p:txBody>
      </p:sp>
      <p:sp>
        <p:nvSpPr>
          <p:cNvPr id="102" name="Google Shape;102;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03" name="Google Shape;103;p3"/>
          <p:cNvGraphicFramePr/>
          <p:nvPr/>
        </p:nvGraphicFramePr>
        <p:xfrm>
          <a:off x="411480" y="914400"/>
          <a:ext cx="3000000" cy="3000000"/>
        </p:xfrm>
        <a:graphic>
          <a:graphicData uri="http://schemas.openxmlformats.org/drawingml/2006/table">
            <a:tbl>
              <a:tblPr>
                <a:noFill/>
                <a:tableStyleId>{A5FF9485-15E4-4B45-BF75-814422209F04}</a:tableStyleId>
              </a:tblPr>
              <a:tblGrid>
                <a:gridCol w="914400"/>
                <a:gridCol w="4846325"/>
              </a:tblGrid>
              <a:tr h="265175">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13:10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オープニング／概要説明</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13:20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100"/>
                        <a:buFont typeface="Meiryo"/>
                        <a:buNone/>
                      </a:pPr>
                      <a:r>
                        <a:rPr lang="en-US" sz="1100">
                          <a:solidFill>
                            <a:srgbClr val="222222"/>
                          </a:solidFill>
                          <a:latin typeface="Meiryo"/>
                          <a:ea typeface="Meiryo"/>
                          <a:cs typeface="Meiryo"/>
                          <a:sym typeface="Meiryo"/>
                        </a:rPr>
                        <a:t>昨年度の振り返り</a:t>
                      </a:r>
                      <a:r>
                        <a:rPr lang="en-US" sz="1100" u="none" cap="none" strike="noStrike">
                          <a:solidFill>
                            <a:srgbClr val="222222"/>
                          </a:solidFill>
                          <a:latin typeface="Meiryo"/>
                          <a:ea typeface="Meiryo"/>
                          <a:cs typeface="Meiryo"/>
                          <a:sym typeface="Meiryo"/>
                        </a:rPr>
                        <a:t>＋この1年のAIアップデート</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13:35</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AIへのインプット・アウトプットの考え方講座</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13:50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ワーク① 業務課題の棚卸し</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r>
              <a:tr h="265175">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14:</a:t>
                      </a:r>
                      <a:r>
                        <a:rPr lang="en-US" sz="1100">
                          <a:solidFill>
                            <a:srgbClr val="6B7280"/>
                          </a:solidFill>
                          <a:latin typeface="Meiryo"/>
                          <a:ea typeface="Meiryo"/>
                          <a:cs typeface="Meiryo"/>
                          <a:sym typeface="Meiryo"/>
                        </a:rPr>
                        <a:t>20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休憩</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14:</a:t>
                      </a:r>
                      <a:r>
                        <a:rPr b="1" lang="en-US" sz="1100">
                          <a:solidFill>
                            <a:srgbClr val="222222"/>
                          </a:solidFill>
                          <a:latin typeface="Meiryo"/>
                          <a:ea typeface="Meiryo"/>
                          <a:cs typeface="Meiryo"/>
                          <a:sym typeface="Meiryo"/>
                        </a:rPr>
                        <a:t>30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ワーク② プロンプト作成・実行・改善</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r>
              <a:tr h="265175">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1</a:t>
                      </a:r>
                      <a:r>
                        <a:rPr lang="en-US" sz="1100">
                          <a:solidFill>
                            <a:srgbClr val="6B7280"/>
                          </a:solidFill>
                          <a:latin typeface="Meiryo"/>
                          <a:ea typeface="Meiryo"/>
                          <a:cs typeface="Meiryo"/>
                          <a:sym typeface="Meiryo"/>
                        </a:rPr>
                        <a:t>5</a:t>
                      </a:r>
                      <a:r>
                        <a:rPr lang="en-US" sz="1100" u="none" cap="none" strike="noStrike">
                          <a:solidFill>
                            <a:srgbClr val="6B7280"/>
                          </a:solidFill>
                          <a:latin typeface="Meiryo"/>
                          <a:ea typeface="Meiryo"/>
                          <a:cs typeface="Meiryo"/>
                          <a:sym typeface="Meiryo"/>
                        </a:rPr>
                        <a:t>:00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休憩</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15:</a:t>
                      </a:r>
                      <a:r>
                        <a:rPr lang="en-US" sz="1100">
                          <a:solidFill>
                            <a:srgbClr val="222222"/>
                          </a:solidFill>
                          <a:latin typeface="Meiryo"/>
                          <a:ea typeface="Meiryo"/>
                          <a:cs typeface="Meiryo"/>
                          <a:sym typeface="Meiryo"/>
                        </a:rPr>
                        <a:t>10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画像生成AI解説＋デモ</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15:</a:t>
                      </a:r>
                      <a:r>
                        <a:rPr b="1" lang="en-US" sz="1100">
                          <a:solidFill>
                            <a:srgbClr val="222222"/>
                          </a:solidFill>
                          <a:latin typeface="Meiryo"/>
                          <a:ea typeface="Meiryo"/>
                          <a:cs typeface="Meiryo"/>
                          <a:sym typeface="Meiryo"/>
                        </a:rPr>
                        <a:t>25</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ワーク③ 販促物制作</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r>
              <a:tr h="265175">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16:05</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c>
                  <a:txBody>
                    <a:bodyPr/>
                    <a:lstStyle/>
                    <a:p>
                      <a:pPr indent="0" lvl="0" marL="0" marR="0" rtl="0" algn="l">
                        <a:spcBef>
                          <a:spcPts val="0"/>
                        </a:spcBef>
                        <a:spcAft>
                          <a:spcPts val="0"/>
                        </a:spcAft>
                        <a:buClr>
                          <a:srgbClr val="222222"/>
                        </a:buClr>
                        <a:buSzPts val="1100"/>
                        <a:buFont typeface="Meiryo"/>
                        <a:buNone/>
                      </a:pPr>
                      <a:r>
                        <a:rPr b="1" lang="en-US" sz="1100" u="none" cap="none" strike="noStrike">
                          <a:solidFill>
                            <a:srgbClr val="222222"/>
                          </a:solidFill>
                          <a:latin typeface="Meiryo"/>
                          <a:ea typeface="Meiryo"/>
                          <a:cs typeface="Meiryo"/>
                          <a:sym typeface="Meiryo"/>
                        </a:rPr>
                        <a:t>ワーク③ 成果共有</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EEF3F8"/>
                    </a:solidFill>
                  </a:tcPr>
                </a:tc>
              </a:tr>
              <a:tr h="265175">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16:30</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222"/>
                        </a:buClr>
                        <a:buSzPts val="1100"/>
                        <a:buFont typeface="Meiryo"/>
                        <a:buNone/>
                      </a:pPr>
                      <a:r>
                        <a:rPr lang="en-US" sz="1100" u="none" cap="none" strike="noStrike">
                          <a:solidFill>
                            <a:srgbClr val="222222"/>
                          </a:solidFill>
                          <a:latin typeface="Meiryo"/>
                          <a:ea typeface="Meiryo"/>
                          <a:cs typeface="Meiryo"/>
                          <a:sym typeface="Meiryo"/>
                        </a:rPr>
                        <a:t>クロージング</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r h="265175">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16:35</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B7280"/>
                        </a:buClr>
                        <a:buSzPts val="1100"/>
                        <a:buFont typeface="Meiryo"/>
                        <a:buNone/>
                      </a:pPr>
                      <a:r>
                        <a:rPr lang="en-US" sz="1100" u="none" cap="none" strike="noStrike">
                          <a:solidFill>
                            <a:srgbClr val="6B7280"/>
                          </a:solidFill>
                          <a:latin typeface="Meiryo"/>
                          <a:ea typeface="Meiryo"/>
                          <a:cs typeface="Meiryo"/>
                          <a:sym typeface="Meiryo"/>
                        </a:rPr>
                        <a:t>自由解散・個別相談</a:t>
                      </a:r>
                      <a:endParaRPr sz="1100" u="none" cap="none" strike="noStrike">
                        <a:latin typeface="Meiryo"/>
                        <a:ea typeface="Meiryo"/>
                        <a:cs typeface="Meiryo"/>
                        <a:sym typeface="Meiryo"/>
                      </a:endParaRPr>
                    </a:p>
                  </a:txBody>
                  <a:tcPr marT="18300" marB="18300" marR="91450" marL="91450"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5"/>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今日の進め方</a:t>
            </a:r>
            <a:endParaRPr b="0" i="0" sz="2200" u="none" cap="none" strike="noStrike">
              <a:solidFill>
                <a:schemeClr val="dk1"/>
              </a:solidFill>
              <a:latin typeface="Calibri"/>
              <a:ea typeface="Calibri"/>
              <a:cs typeface="Calibri"/>
              <a:sym typeface="Calibri"/>
            </a:endParaRPr>
          </a:p>
        </p:txBody>
      </p:sp>
      <p:sp>
        <p:nvSpPr>
          <p:cNvPr id="110" name="Google Shape;110;p5"/>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11" name="Google Shape;111;p5"/>
          <p:cNvSpPr/>
          <p:nvPr/>
        </p:nvSpPr>
        <p:spPr>
          <a:xfrm>
            <a:off x="502920" y="1051560"/>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 name="Google Shape;112;p5"/>
          <p:cNvPicPr preferRelativeResize="0"/>
          <p:nvPr/>
        </p:nvPicPr>
        <p:blipFill rotWithShape="1">
          <a:blip r:embed="rId3">
            <a:alphaModFix/>
          </a:blip>
          <a:srcRect b="0" l="0" r="0" t="0"/>
          <a:stretch/>
        </p:blipFill>
        <p:spPr>
          <a:xfrm>
            <a:off x="627644" y="1176284"/>
            <a:ext cx="317480" cy="317480"/>
          </a:xfrm>
          <a:prstGeom prst="rect">
            <a:avLst/>
          </a:prstGeom>
          <a:noFill/>
          <a:ln>
            <a:noFill/>
          </a:ln>
        </p:spPr>
      </p:pic>
      <p:sp>
        <p:nvSpPr>
          <p:cNvPr id="113" name="Google Shape;113;p5"/>
          <p:cNvSpPr txBox="1"/>
          <p:nvPr/>
        </p:nvSpPr>
        <p:spPr>
          <a:xfrm>
            <a:off x="1280160" y="10332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手を動かす時間が中心です</a:t>
            </a:r>
            <a:endParaRPr b="0" i="0" sz="1500" u="none" cap="none" strike="noStrike">
              <a:solidFill>
                <a:schemeClr val="dk1"/>
              </a:solidFill>
              <a:latin typeface="Calibri"/>
              <a:ea typeface="Calibri"/>
              <a:cs typeface="Calibri"/>
              <a:sym typeface="Calibri"/>
            </a:endParaRPr>
          </a:p>
        </p:txBody>
      </p:sp>
      <p:sp>
        <p:nvSpPr>
          <p:cNvPr id="114" name="Google Shape;114;p5"/>
          <p:cNvSpPr txBox="1"/>
          <p:nvPr/>
        </p:nvSpPr>
        <p:spPr>
          <a:xfrm>
            <a:off x="1280160" y="1371600"/>
            <a:ext cx="73152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講義は短く区切り、すぐに自分の業務で試します</a:t>
            </a:r>
            <a:endParaRPr b="0" i="0" sz="1200" u="none" cap="none" strike="noStrike">
              <a:solidFill>
                <a:schemeClr val="dk1"/>
              </a:solidFill>
              <a:latin typeface="Calibri"/>
              <a:ea typeface="Calibri"/>
              <a:cs typeface="Calibri"/>
              <a:sym typeface="Calibri"/>
            </a:endParaRPr>
          </a:p>
        </p:txBody>
      </p:sp>
      <p:sp>
        <p:nvSpPr>
          <p:cNvPr id="115" name="Google Shape;115;p5"/>
          <p:cNvSpPr/>
          <p:nvPr/>
        </p:nvSpPr>
        <p:spPr>
          <a:xfrm>
            <a:off x="502920" y="1901952"/>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 name="Google Shape;116;p5"/>
          <p:cNvPicPr preferRelativeResize="0"/>
          <p:nvPr/>
        </p:nvPicPr>
        <p:blipFill rotWithShape="1">
          <a:blip r:embed="rId4">
            <a:alphaModFix/>
          </a:blip>
          <a:srcRect b="0" l="0" r="0" t="0"/>
          <a:stretch/>
        </p:blipFill>
        <p:spPr>
          <a:xfrm>
            <a:off x="627644" y="2026676"/>
            <a:ext cx="317480" cy="317480"/>
          </a:xfrm>
          <a:prstGeom prst="rect">
            <a:avLst/>
          </a:prstGeom>
          <a:noFill/>
          <a:ln>
            <a:noFill/>
          </a:ln>
        </p:spPr>
      </p:pic>
      <p:sp>
        <p:nvSpPr>
          <p:cNvPr id="117" name="Google Shape;117;p5"/>
          <p:cNvSpPr txBox="1"/>
          <p:nvPr/>
        </p:nvSpPr>
        <p:spPr>
          <a:xfrm>
            <a:off x="1280160" y="1883664"/>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困ったらすぐに聞いてください</a:t>
            </a:r>
            <a:endParaRPr b="0" i="0" sz="1500" u="none" cap="none" strike="noStrike">
              <a:solidFill>
                <a:schemeClr val="dk1"/>
              </a:solidFill>
              <a:latin typeface="Calibri"/>
              <a:ea typeface="Calibri"/>
              <a:cs typeface="Calibri"/>
              <a:sym typeface="Calibri"/>
            </a:endParaRPr>
          </a:p>
        </p:txBody>
      </p:sp>
      <p:sp>
        <p:nvSpPr>
          <p:cNvPr id="118" name="Google Shape;118;p5"/>
          <p:cNvSpPr txBox="1"/>
          <p:nvPr/>
        </p:nvSpPr>
        <p:spPr>
          <a:xfrm>
            <a:off x="1280160" y="2221992"/>
            <a:ext cx="73152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グループのメンバー、技術メンターが近くにいます</a:t>
            </a:r>
            <a:endParaRPr b="0" i="0" sz="1200" u="none" cap="none" strike="noStrike">
              <a:solidFill>
                <a:schemeClr val="dk1"/>
              </a:solidFill>
              <a:latin typeface="Calibri"/>
              <a:ea typeface="Calibri"/>
              <a:cs typeface="Calibri"/>
              <a:sym typeface="Calibri"/>
            </a:endParaRPr>
          </a:p>
        </p:txBody>
      </p:sp>
      <p:sp>
        <p:nvSpPr>
          <p:cNvPr id="119" name="Google Shape;119;p5"/>
          <p:cNvSpPr/>
          <p:nvPr/>
        </p:nvSpPr>
        <p:spPr>
          <a:xfrm>
            <a:off x="502920" y="2752344"/>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0" name="Google Shape;120;p5"/>
          <p:cNvPicPr preferRelativeResize="0"/>
          <p:nvPr/>
        </p:nvPicPr>
        <p:blipFill rotWithShape="1">
          <a:blip r:embed="rId5">
            <a:alphaModFix/>
          </a:blip>
          <a:srcRect b="0" l="0" r="0" t="0"/>
          <a:stretch/>
        </p:blipFill>
        <p:spPr>
          <a:xfrm>
            <a:off x="627644" y="2877068"/>
            <a:ext cx="317480" cy="317480"/>
          </a:xfrm>
          <a:prstGeom prst="rect">
            <a:avLst/>
          </a:prstGeom>
          <a:noFill/>
          <a:ln>
            <a:noFill/>
          </a:ln>
        </p:spPr>
      </p:pic>
      <p:sp>
        <p:nvSpPr>
          <p:cNvPr id="121" name="Google Shape;121;p5"/>
          <p:cNvSpPr txBox="1"/>
          <p:nvPr/>
        </p:nvSpPr>
        <p:spPr>
          <a:xfrm>
            <a:off x="1280160" y="2734056"/>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完璧を目指さなくて大丈夫です</a:t>
            </a:r>
            <a:endParaRPr b="0" i="0" sz="1500" u="none" cap="none" strike="noStrike">
              <a:solidFill>
                <a:schemeClr val="dk1"/>
              </a:solidFill>
              <a:latin typeface="Calibri"/>
              <a:ea typeface="Calibri"/>
              <a:cs typeface="Calibri"/>
              <a:sym typeface="Calibri"/>
            </a:endParaRPr>
          </a:p>
        </p:txBody>
      </p:sp>
      <p:sp>
        <p:nvSpPr>
          <p:cNvPr id="122" name="Google Shape;122;p5"/>
          <p:cNvSpPr txBox="1"/>
          <p:nvPr/>
        </p:nvSpPr>
        <p:spPr>
          <a:xfrm>
            <a:off x="1280160" y="3072384"/>
            <a:ext cx="73152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AIはゼロからたたき台をつくるのが得意です。対話で直しながら仕上げます</a:t>
            </a:r>
            <a:endParaRPr b="0" i="0" sz="1200" u="none" cap="none" strike="noStrike">
              <a:solidFill>
                <a:schemeClr val="dk1"/>
              </a:solidFill>
              <a:latin typeface="Calibri"/>
              <a:ea typeface="Calibri"/>
              <a:cs typeface="Calibri"/>
              <a:sym typeface="Calibri"/>
            </a:endParaRPr>
          </a:p>
        </p:txBody>
      </p:sp>
      <p:sp>
        <p:nvSpPr>
          <p:cNvPr id="123" name="Google Shape;123;p5"/>
          <p:cNvSpPr/>
          <p:nvPr/>
        </p:nvSpPr>
        <p:spPr>
          <a:xfrm>
            <a:off x="502920" y="3602736"/>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 name="Google Shape;124;p5"/>
          <p:cNvPicPr preferRelativeResize="0"/>
          <p:nvPr/>
        </p:nvPicPr>
        <p:blipFill rotWithShape="1">
          <a:blip r:embed="rId6">
            <a:alphaModFix/>
          </a:blip>
          <a:srcRect b="0" l="0" r="0" t="0"/>
          <a:stretch/>
        </p:blipFill>
        <p:spPr>
          <a:xfrm>
            <a:off x="627644" y="3727460"/>
            <a:ext cx="317480" cy="317480"/>
          </a:xfrm>
          <a:prstGeom prst="rect">
            <a:avLst/>
          </a:prstGeom>
          <a:noFill/>
          <a:ln>
            <a:noFill/>
          </a:ln>
        </p:spPr>
      </p:pic>
      <p:sp>
        <p:nvSpPr>
          <p:cNvPr id="125" name="Google Shape;125;p5"/>
          <p:cNvSpPr txBox="1"/>
          <p:nvPr/>
        </p:nvSpPr>
        <p:spPr>
          <a:xfrm>
            <a:off x="1280160" y="3584448"/>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業務情報の扱いは、ワークの前に確認します</a:t>
            </a:r>
            <a:endParaRPr b="0" i="0" sz="1500" u="none" cap="none" strike="noStrike">
              <a:solidFill>
                <a:schemeClr val="dk1"/>
              </a:solidFill>
              <a:latin typeface="Calibri"/>
              <a:ea typeface="Calibri"/>
              <a:cs typeface="Calibri"/>
              <a:sym typeface="Calibri"/>
            </a:endParaRPr>
          </a:p>
        </p:txBody>
      </p:sp>
      <p:sp>
        <p:nvSpPr>
          <p:cNvPr id="126" name="Google Shape;126;p5"/>
          <p:cNvSpPr txBox="1"/>
          <p:nvPr/>
        </p:nvSpPr>
        <p:spPr>
          <a:xfrm>
            <a:off x="1280160" y="3922776"/>
            <a:ext cx="73152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入力してよい情報・控えたい情報を、はじめにそろえます</a:t>
            </a:r>
            <a:endParaRPr b="0" i="0" sz="1200" u="none" cap="none" strike="noStrike">
              <a:solidFill>
                <a:schemeClr val="dk1"/>
              </a:solidFill>
              <a:latin typeface="Calibri"/>
              <a:ea typeface="Calibri"/>
              <a:cs typeface="Calibri"/>
              <a:sym typeface="Calibri"/>
            </a:endParaRPr>
          </a:p>
        </p:txBody>
      </p:sp>
      <p:sp>
        <p:nvSpPr>
          <p:cNvPr id="127" name="Google Shape;12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2" name="Google Shape;192;h259926ce4e4d5a8f_0_165"/>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94" name="Google Shape;194;h259926ce4e4d5a8f_0_1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95" name="Google Shape;195;h259926ce4e4d5a8f_0_165"/>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本日の資料（プロンプト集）</a:t>
            </a:r>
            <a:endParaRPr b="0" i="0" sz="2200" u="none" cap="none" strike="noStrike">
              <a:solidFill>
                <a:schemeClr val="dk1"/>
              </a:solidFill>
              <a:latin typeface="Calibri"/>
              <a:ea typeface="Calibri"/>
              <a:cs typeface="Calibri"/>
              <a:sym typeface="Calibri"/>
            </a:endParaRPr>
          </a:p>
        </p:txBody>
      </p:sp>
      <p:sp>
        <p:nvSpPr>
          <p:cNvPr id="196" name="Text"/>
          <p:cNvSpPr txBox="1"/>
          <p:nvPr/>
        </p:nvSpPr>
        <p:spPr>
          <a:xfrm>
            <a:off x="411480" y="868680"/>
            <a:ext cx="8321040" cy="36576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500" b="1" dirty="0">
                <a:solidFill>
                  <a:srgbClr val="1F3A5F"/>
                </a:solidFill>
                <a:latin typeface="Meiryo"/>
                <a:ea typeface="Meiryo"/>
                <a:cs typeface="Meiryo"/>
                <a:sym typeface="Meiryo"/>
              </a:rPr>
              <a:t>スライドのプロンプトは、ここからコピーして使えます。まずは開いておきましょう。</a:t>
            </a:r>
          </a:p>
        </p:txBody>
      </p:sp>
      <p:sp>
        <p:nvSpPr>
          <p:cNvPr id="197" name="QR Card"/>
          <p:cNvSpPr/>
          <p:nvPr/>
        </p:nvSpPr>
        <p:spPr>
          <a:xfrm>
            <a:off x="411480" y="1417320"/>
            <a:ext cx="2743200" cy="3063240"/>
          </a:xfrm>
          <a:prstGeom prst="rect">
            <a:avLst/>
          </a:prstGeom>
          <a:solidFill>
            <a:srgbClr val="F6F7F9"/>
          </a:solidFill>
          <a:ln w="12700">
            <a:solidFill>
              <a:srgbClr val="F6F7F9"/>
            </a:solidFill>
          </a:ln>
        </p:spPr>
        <p:txBody>
          <a:bodyPr wrap="square" lIns="0" tIns="0" rIns="0" bIns="0" anchor="t" anchorCtr="0">
            <a:noAutofit/>
          </a:bodyPr>
          <a:lstStyle/>
          <a:p>
            <a:pPr marL="0" indent="0">
              <a:buNone/>
            </a:pPr>
            <a:endParaRPr lang="ja-JP"/>
          </a:p>
        </p:txBody>
      </p:sp>
      <p:pic>
        <p:nvPicPr>
          <p:cNvPr id="198" name="Picture 197" descr="qr_repo.png"/>
          <p:cNvPicPr>
            <a:picLocks noChangeAspect="1"/>
          </p:cNvPicPr>
          <p:nvPr/>
        </p:nvPicPr>
        <p:blipFill>
          <a:blip r:embed="rId2"/>
          <a:stretch>
            <a:fillRect/>
          </a:stretch>
        </p:blipFill>
        <p:spPr>
          <a:xfrm>
            <a:off x="777240" y="1554480"/>
            <a:ext cx="2011680" cy="2011680"/>
          </a:xfrm>
          <a:prstGeom prst="rect">
            <a:avLst/>
          </a:prstGeom>
        </p:spPr>
      </p:pic>
      <p:sp>
        <p:nvSpPr>
          <p:cNvPr id="199" name="Text"/>
          <p:cNvSpPr txBox="1"/>
          <p:nvPr/>
        </p:nvSpPr>
        <p:spPr>
          <a:xfrm>
            <a:off x="502920" y="3657600"/>
            <a:ext cx="2560320" cy="685800"/>
          </a:xfrm>
          <a:prstGeom prst="rect">
            <a:avLst/>
          </a:prstGeom>
          <a:noFill/>
          <a:ln>
            <a:noFill/>
          </a:ln>
        </p:spPr>
        <p:txBody>
          <a:bodyPr wrap="square" lIns="0" tIns="0" rIns="0" bIns="0" anchor="t" anchorCtr="0">
            <a:noAutofit/>
          </a:bodyPr>
          <a:lstStyle/>
          <a:p>
            <a:pPr marL="0" indent="0" algn="ctr">
              <a:lnSpc>
                <a:spcPct val="100000"/>
              </a:lnSpc>
              <a:spcBef>
                <a:spcPts val="0"/>
              </a:spcBef>
              <a:spcAft>
                <a:spcPts val="0"/>
              </a:spcAft>
              <a:buNone/>
            </a:pPr>
            <a:r>
              <a:rPr lang="ja-JP" sz="1050" b="1" dirty="0">
                <a:solidFill>
                  <a:srgbClr val="1F3A5F"/>
                </a:solidFill>
                <a:latin typeface="Meiryo"/>
                <a:ea typeface="Meiryo"/>
                <a:cs typeface="Meiryo"/>
                <a:sym typeface="Meiryo"/>
                <a:hlinkClick r:id="rId3">
                  <a:extLst>
                    <a:ext uri="{A12FA001-AC4F-418D-AE19-62706E023703}">
                      <ahyp:hlinkClr xmlns:ahyp="http://schemas.microsoft.com/office/drawing/2018/hyperlinkcolor" val="tx"/>
                    </a:ext>
                  </a:extLst>
                </a:hlinkClick>
              </a:rPr>
              <a:t>github.com/style-arts-corp/</a:t>
            </a:r>
          </a:p>
          <a:p>
            <a:pPr marL="0" indent="0" algn="ctr">
              <a:lnSpc>
                <a:spcPct val="100000"/>
              </a:lnSpc>
              <a:spcBef>
                <a:spcPts val="0"/>
              </a:spcBef>
              <a:spcAft>
                <a:spcPts val="0"/>
              </a:spcAft>
              <a:buNone/>
            </a:pPr>
            <a:r>
              <a:rPr lang="ja-JP" sz="1050" b="1" dirty="0">
                <a:solidFill>
                  <a:srgbClr val="1F3A5F"/>
                </a:solidFill>
                <a:latin typeface="Meiryo"/>
                <a:ea typeface="Meiryo"/>
                <a:cs typeface="Meiryo"/>
                <a:sym typeface="Meiryo"/>
                <a:hlinkClick r:id="rId3">
                  <a:extLst>
                    <a:ext uri="{A12FA001-AC4F-418D-AE19-62706E023703}">
                      <ahyp:hlinkClr xmlns:ahyp="http://schemas.microsoft.com/office/drawing/2018/hyperlinkcolor" val="tx"/>
                    </a:ext>
                  </a:extLst>
                </a:hlinkClick>
              </a:rPr>
              <a:t>ai-workshop-20260929</a:t>
            </a:r>
          </a:p>
        </p:txBody>
      </p:sp>
      <p:sp>
        <p:nvSpPr>
          <p:cNvPr id="200" name="Icon Circle"/>
          <p:cNvSpPr/>
          <p:nvPr/>
        </p:nvSpPr>
        <p:spPr>
          <a:xfrm>
            <a:off x="3520440" y="1481328"/>
            <a:ext cx="521208" cy="521208"/>
          </a:xfrm>
          <a:prstGeom prst="ellipse">
            <a:avLst/>
          </a:prstGeom>
          <a:solidFill>
            <a:srgbClr val="1F3A5F"/>
          </a:solidFill>
          <a:ln w="12700">
            <a:solidFill>
              <a:srgbClr val="1F3A5F"/>
            </a:solidFill>
          </a:ln>
        </p:spPr>
        <p:txBody>
          <a:bodyPr wrap="square" lIns="0" tIns="0" rIns="0" bIns="0" anchor="t" anchorCtr="0">
            <a:noAutofit/>
          </a:bodyPr>
          <a:lstStyle/>
          <a:p>
            <a:pPr marL="0" indent="0">
              <a:buNone/>
            </a:pPr>
            <a:endParaRPr lang="ja-JP"/>
          </a:p>
        </p:txBody>
      </p:sp>
      <p:pic>
        <p:nvPicPr>
          <p:cNvPr id="201" name="Icon" descr="icon"/>
          <p:cNvPicPr preferRelativeResize="0"/>
          <p:nvPr/>
        </p:nvPicPr>
        <p:blipFill>
          <a:blip r:embed="rId4"/>
          <a:stretch>
            <a:fillRect/>
          </a:stretch>
        </p:blipFill>
        <p:spPr>
          <a:xfrm>
            <a:off x="3643884" y="1604772"/>
            <a:ext cx="274320" cy="274320"/>
          </a:xfrm>
          <a:prstGeom prst="rect">
            <a:avLst/>
          </a:prstGeom>
          <a:noFill/>
        </p:spPr>
      </p:pic>
      <p:sp>
        <p:nvSpPr>
          <p:cNvPr id="202" name="Text"/>
          <p:cNvSpPr txBox="1"/>
          <p:nvPr/>
        </p:nvSpPr>
        <p:spPr>
          <a:xfrm>
            <a:off x="4224528" y="1463040"/>
            <a:ext cx="4480560" cy="301752"/>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500" b="1" dirty="0">
                <a:solidFill>
                  <a:srgbClr val="222222"/>
                </a:solidFill>
                <a:latin typeface="Meiryo"/>
                <a:ea typeface="Meiryo"/>
                <a:cs typeface="Meiryo"/>
                <a:sym typeface="Meiryo"/>
              </a:rPr>
              <a:t>プロンプト集（README）</a:t>
            </a:r>
          </a:p>
        </p:txBody>
      </p:sp>
      <p:sp>
        <p:nvSpPr>
          <p:cNvPr id="203" name="Text"/>
          <p:cNvSpPr txBox="1"/>
          <p:nvPr/>
        </p:nvSpPr>
        <p:spPr>
          <a:xfrm>
            <a:off x="4224528" y="1783080"/>
            <a:ext cx="448056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0" dirty="0">
                <a:solidFill>
                  <a:srgbClr val="6B7280"/>
                </a:solidFill>
                <a:latin typeface="Meiryo"/>
                <a:ea typeface="Meiryo"/>
                <a:cs typeface="Meiryo"/>
                <a:sym typeface="Meiryo"/>
              </a:rPr>
              <a:t>講義・ワークのプロンプトを、スライドの順に掲載</a:t>
            </a:r>
          </a:p>
        </p:txBody>
      </p:sp>
      <p:sp>
        <p:nvSpPr>
          <p:cNvPr id="204" name="Icon Circle"/>
          <p:cNvSpPr/>
          <p:nvPr/>
        </p:nvSpPr>
        <p:spPr>
          <a:xfrm>
            <a:off x="3520440" y="2304288"/>
            <a:ext cx="521208" cy="521208"/>
          </a:xfrm>
          <a:prstGeom prst="ellipse">
            <a:avLst/>
          </a:prstGeom>
          <a:solidFill>
            <a:srgbClr val="1F3A5F"/>
          </a:solidFill>
          <a:ln w="12700">
            <a:solidFill>
              <a:srgbClr val="1F3A5F"/>
            </a:solidFill>
          </a:ln>
        </p:spPr>
        <p:txBody>
          <a:bodyPr wrap="square" lIns="0" tIns="0" rIns="0" bIns="0" anchor="t" anchorCtr="0">
            <a:noAutofit/>
          </a:bodyPr>
          <a:lstStyle/>
          <a:p>
            <a:pPr marL="0" indent="0">
              <a:buNone/>
            </a:pPr>
            <a:endParaRPr lang="ja-JP"/>
          </a:p>
        </p:txBody>
      </p:sp>
      <p:pic>
        <p:nvPicPr>
          <p:cNvPr id="205" name="Icon" descr="icon"/>
          <p:cNvPicPr preferRelativeResize="0"/>
          <p:nvPr/>
        </p:nvPicPr>
        <p:blipFill>
          <a:blip r:embed="rId5"/>
          <a:stretch>
            <a:fillRect/>
          </a:stretch>
        </p:blipFill>
        <p:spPr>
          <a:xfrm>
            <a:off x="3643884" y="2427732"/>
            <a:ext cx="274320" cy="274320"/>
          </a:xfrm>
          <a:prstGeom prst="rect">
            <a:avLst/>
          </a:prstGeom>
          <a:noFill/>
        </p:spPr>
      </p:pic>
      <p:sp>
        <p:nvSpPr>
          <p:cNvPr id="206" name="Text"/>
          <p:cNvSpPr txBox="1"/>
          <p:nvPr/>
        </p:nvSpPr>
        <p:spPr>
          <a:xfrm>
            <a:off x="4224528" y="2286000"/>
            <a:ext cx="4480560" cy="301752"/>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500" b="1" dirty="0">
                <a:solidFill>
                  <a:srgbClr val="222222"/>
                </a:solidFill>
                <a:latin typeface="Meiryo"/>
                <a:ea typeface="Meiryo"/>
                <a:cs typeface="Meiryo"/>
                <a:sym typeface="Meiryo"/>
              </a:rPr>
              <a:t>ワーク①シート（Excel）</a:t>
            </a:r>
          </a:p>
        </p:txBody>
      </p:sp>
      <p:sp>
        <p:nvSpPr>
          <p:cNvPr id="207" name="Text"/>
          <p:cNvSpPr txBox="1"/>
          <p:nvPr/>
        </p:nvSpPr>
        <p:spPr>
          <a:xfrm>
            <a:off x="4224528" y="2606040"/>
            <a:ext cx="448056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0" dirty="0">
                <a:solidFill>
                  <a:srgbClr val="6B7280"/>
                </a:solidFill>
                <a:latin typeface="Meiryo"/>
                <a:ea typeface="Meiryo"/>
                <a:cs typeface="Meiryo"/>
                <a:sym typeface="Meiryo"/>
              </a:rPr>
              <a:t>業務の棚卸しシートと、担当別の記入例3パターン</a:t>
            </a:r>
          </a:p>
        </p:txBody>
      </p:sp>
      <p:sp>
        <p:nvSpPr>
          <p:cNvPr id="208" name="Icon Circle"/>
          <p:cNvSpPr/>
          <p:nvPr/>
        </p:nvSpPr>
        <p:spPr>
          <a:xfrm>
            <a:off x="3520440" y="3127248"/>
            <a:ext cx="521208" cy="521208"/>
          </a:xfrm>
          <a:prstGeom prst="ellipse">
            <a:avLst/>
          </a:prstGeom>
          <a:solidFill>
            <a:srgbClr val="1F3A5F"/>
          </a:solidFill>
          <a:ln w="12700">
            <a:solidFill>
              <a:srgbClr val="1F3A5F"/>
            </a:solidFill>
          </a:ln>
        </p:spPr>
        <p:txBody>
          <a:bodyPr wrap="square" lIns="0" tIns="0" rIns="0" bIns="0" anchor="t" anchorCtr="0">
            <a:noAutofit/>
          </a:bodyPr>
          <a:lstStyle/>
          <a:p>
            <a:pPr marL="0" indent="0">
              <a:buNone/>
            </a:pPr>
            <a:endParaRPr lang="ja-JP"/>
          </a:p>
        </p:txBody>
      </p:sp>
      <p:pic>
        <p:nvPicPr>
          <p:cNvPr id="209" name="Icon" descr="icon"/>
          <p:cNvPicPr preferRelativeResize="0"/>
          <p:nvPr/>
        </p:nvPicPr>
        <p:blipFill>
          <a:blip r:embed="rId6"/>
          <a:stretch>
            <a:fillRect/>
          </a:stretch>
        </p:blipFill>
        <p:spPr>
          <a:xfrm>
            <a:off x="3643884" y="3250692"/>
            <a:ext cx="274320" cy="274320"/>
          </a:xfrm>
          <a:prstGeom prst="rect">
            <a:avLst/>
          </a:prstGeom>
          <a:noFill/>
        </p:spPr>
      </p:pic>
      <p:sp>
        <p:nvSpPr>
          <p:cNvPr id="210" name="Text"/>
          <p:cNvSpPr txBox="1"/>
          <p:nvPr/>
        </p:nvSpPr>
        <p:spPr>
          <a:xfrm>
            <a:off x="4224528" y="3108960"/>
            <a:ext cx="4480560" cy="301752"/>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500" b="1" dirty="0">
                <a:solidFill>
                  <a:srgbClr val="222222"/>
                </a:solidFill>
                <a:latin typeface="Meiryo"/>
                <a:ea typeface="Meiryo"/>
                <a:cs typeface="Meiryo"/>
                <a:sym typeface="Meiryo"/>
              </a:rPr>
              <a:t>ワーク③ 画像生成プロンプト集</a:t>
            </a:r>
          </a:p>
        </p:txBody>
      </p:sp>
      <p:sp>
        <p:nvSpPr>
          <p:cNvPr id="211" name="Text"/>
          <p:cNvSpPr txBox="1"/>
          <p:nvPr/>
        </p:nvSpPr>
        <p:spPr>
          <a:xfrm>
            <a:off x="4224528" y="3429000"/>
            <a:ext cx="448056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0" dirty="0">
                <a:solidFill>
                  <a:srgbClr val="6B7280"/>
                </a:solidFill>
                <a:latin typeface="Meiryo"/>
                <a:ea typeface="Meiryo"/>
                <a:cs typeface="Meiryo"/>
                <a:sym typeface="Meiryo"/>
              </a:rPr>
              <a:t>チラシの型と作例、仕上がりが変わる言い方の一覧</a:t>
            </a:r>
          </a:p>
        </p:txBody>
      </p:sp>
      <p:sp>
        <p:nvSpPr>
          <p:cNvPr id="212" name="Band"/>
          <p:cNvSpPr/>
          <p:nvPr/>
        </p:nvSpPr>
        <p:spPr>
          <a:xfrm>
            <a:off x="3520440" y="3931920"/>
            <a:ext cx="5212080" cy="548640"/>
          </a:xfrm>
          <a:prstGeom prst="rect">
            <a:avLst/>
          </a:prstGeom>
          <a:solidFill>
            <a:srgbClr val="EEF3F8"/>
          </a:solidFill>
          <a:ln w="12700">
            <a:solidFill>
              <a:srgbClr val="EEF3F8"/>
            </a:solidFill>
          </a:ln>
        </p:spPr>
        <p:txBody>
          <a:bodyPr wrap="square" lIns="0" tIns="0" rIns="0" bIns="0" anchor="t" anchorCtr="0">
            <a:noAutofit/>
          </a:bodyPr>
          <a:lstStyle/>
          <a:p>
            <a:pPr marL="0" indent="0">
              <a:buNone/>
            </a:pPr>
            <a:endParaRPr lang="ja-JP"/>
          </a:p>
        </p:txBody>
      </p:sp>
      <p:sp>
        <p:nvSpPr>
          <p:cNvPr id="213" name="Text"/>
          <p:cNvSpPr txBox="1"/>
          <p:nvPr/>
        </p:nvSpPr>
        <p:spPr>
          <a:xfrm>
            <a:off x="3703320" y="3931920"/>
            <a:ext cx="4937760" cy="54864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200" b="1" dirty="0">
                <a:solidFill>
                  <a:srgbClr val="1F3A5F"/>
                </a:solidFill>
                <a:latin typeface="Meiryo"/>
                <a:ea typeface="Meiryo"/>
                <a:cs typeface="Meiryo"/>
                <a:sym typeface="Meiryo"/>
              </a:rPr>
              <a:t>ワーク中は、このページを開いたままにしておくと便利です</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h259926ce4e4d5a8f_0_165"/>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94" name="Google Shape;194;h259926ce4e4d5a8f_0_1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95" name="Google Shape;195;h259926ce4e4d5a8f_0_165"/>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今日使うツールについて</a:t>
            </a:r>
            <a:endParaRPr b="0" i="0" sz="2200" u="none" cap="none" strike="noStrike">
              <a:solidFill>
                <a:schemeClr val="dk1"/>
              </a:solidFill>
              <a:latin typeface="Calibri"/>
              <a:ea typeface="Calibri"/>
              <a:cs typeface="Calibri"/>
              <a:sym typeface="Calibri"/>
            </a:endParaRPr>
          </a:p>
        </p:txBody>
      </p:sp>
      <p:sp>
        <p:nvSpPr>
          <p:cNvPr id="196" name="Text"/>
          <p:cNvSpPr txBox="1"/>
          <p:nvPr/>
        </p:nvSpPr>
        <p:spPr>
          <a:xfrm>
            <a:off x="411480" y="868680"/>
            <a:ext cx="8321040" cy="36576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500" b="1" dirty="0">
                <a:solidFill>
                  <a:srgbClr val="1F3A5F"/>
                </a:solidFill>
                <a:latin typeface="Meiryo"/>
                <a:ea typeface="Meiryo"/>
                <a:cs typeface="Meiryo"/>
                <a:sym typeface="Meiryo"/>
              </a:rPr>
              <a:t>ChatGPT／Gemini など、普段お使いのツールで進めます。</a:t>
            </a:r>
          </a:p>
        </p:txBody>
      </p:sp>
      <p:sp>
        <p:nvSpPr>
          <p:cNvPr id="197" name="Card"/>
          <p:cNvSpPr/>
          <p:nvPr/>
        </p:nvSpPr>
        <p:spPr>
          <a:xfrm>
            <a:off x="411480" y="1417320"/>
            <a:ext cx="3931920" cy="2697480"/>
          </a:xfrm>
          <a:prstGeom prst="rect">
            <a:avLst/>
          </a:prstGeom>
          <a:solidFill>
            <a:srgbClr val="F6F7F9"/>
          </a:solidFill>
          <a:ln w="12700">
            <a:solidFill>
              <a:srgbClr val="F6F7F9"/>
            </a:solidFill>
          </a:ln>
        </p:spPr>
        <p:txBody>
          <a:bodyPr wrap="square" lIns="0" tIns="0" rIns="0" bIns="0" anchor="t" anchorCtr="0">
            <a:noAutofit/>
          </a:bodyPr>
          <a:lstStyle/>
          <a:p>
            <a:pPr marL="0" indent="0">
              <a:buNone/>
            </a:pPr>
            <a:endParaRPr lang="ja-JP"/>
          </a:p>
        </p:txBody>
      </p:sp>
      <p:sp>
        <p:nvSpPr>
          <p:cNvPr id="198" name="Num"/>
          <p:cNvSpPr/>
          <p:nvPr/>
        </p:nvSpPr>
        <p:spPr>
          <a:xfrm>
            <a:off x="640080" y="1600200"/>
            <a:ext cx="457200" cy="457200"/>
          </a:xfrm>
          <a:prstGeom prst="ellipse">
            <a:avLst/>
          </a:prstGeom>
          <a:solidFill>
            <a:srgbClr val="1F3A5F"/>
          </a:solidFill>
          <a:ln w="12700">
            <a:solidFill>
              <a:srgbClr val="1F3A5F"/>
            </a:solidFill>
          </a:ln>
        </p:spPr>
        <p:txBody>
          <a:bodyPr wrap="square" lIns="0" tIns="0" rIns="0" bIns="0" anchor="ctr" anchorCtr="0">
            <a:noAutofit/>
          </a:bodyPr>
          <a:lstStyle/>
          <a:p>
            <a:pPr marL="0" indent="0" algn="ctr">
              <a:lnSpc>
                <a:spcPct val="100000"/>
              </a:lnSpc>
              <a:spcBef>
                <a:spcPts val="0"/>
              </a:spcBef>
              <a:spcAft>
                <a:spcPts val="0"/>
              </a:spcAft>
              <a:buNone/>
            </a:pPr>
            <a:r>
              <a:rPr lang="ja-JP" sz="1400" b="1" dirty="0">
                <a:solidFill>
                  <a:srgbClr val="FFFFFF"/>
                </a:solidFill>
                <a:latin typeface="Meiryo"/>
                <a:ea typeface="Meiryo"/>
                <a:cs typeface="Meiryo"/>
                <a:sym typeface="Meiryo"/>
              </a:rPr>
              <a:t>1</a:t>
            </a:r>
          </a:p>
        </p:txBody>
      </p:sp>
      <p:sp>
        <p:nvSpPr>
          <p:cNvPr id="199" name="Text"/>
          <p:cNvSpPr txBox="1"/>
          <p:nvPr/>
        </p:nvSpPr>
        <p:spPr>
          <a:xfrm>
            <a:off x="1234440" y="1600200"/>
            <a:ext cx="2971800" cy="45720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600" b="1" dirty="0">
                <a:solidFill>
                  <a:srgbClr val="222222"/>
                </a:solidFill>
                <a:latin typeface="Meiryo"/>
                <a:ea typeface="Meiryo"/>
                <a:cs typeface="Meiryo"/>
                <a:sym typeface="Meiryo"/>
              </a:rPr>
              <a:t>無料版は途中で制限がかかる</a:t>
            </a:r>
          </a:p>
        </p:txBody>
      </p:sp>
      <p:sp>
        <p:nvSpPr>
          <p:cNvPr id="200" name="Text"/>
          <p:cNvSpPr txBox="1"/>
          <p:nvPr/>
        </p:nvSpPr>
        <p:spPr>
          <a:xfrm>
            <a:off x="685800" y="2286000"/>
            <a:ext cx="3474720" cy="1737360"/>
          </a:xfrm>
          <a:prstGeom prst="rect">
            <a:avLst/>
          </a:prstGeom>
          <a:noFill/>
          <a:ln>
            <a:noFill/>
          </a:ln>
        </p:spPr>
        <p:txBody>
          <a:bodyPr wrap="square" lIns="0" tIns="0" rIns="0" bIns="0" anchor="t" anchorCtr="0">
            <a:noAutofit/>
          </a:bodyPr>
          <a:lstStyle/>
          <a:p>
            <a:pPr marL="177800" indent="-177800" algn="l">
              <a:lnSpc>
                <a:spcPct val="100000"/>
              </a:lnSpc>
              <a:spcBef>
                <a:spcPts val="0"/>
              </a:spcBef>
              <a:spcAft>
                <a:spcPts val="0"/>
              </a:spcAft>
              <a:buFont typeface="Meiryo"/>
              <a:buChar char="•"/>
            </a:pPr>
            <a:r>
              <a:rPr lang="ja-JP" sz="1200" b="0" dirty="0">
                <a:solidFill>
                  <a:srgbClr val="222222"/>
                </a:solidFill>
                <a:latin typeface="Meiryo"/>
                <a:ea typeface="Meiryo"/>
                <a:cs typeface="Meiryo"/>
                <a:sym typeface="Meiryo"/>
              </a:rPr>
              <a:t>ChatGPTの無料版は、特に画像生成の回数が限られています</a:t>
            </a:r>
          </a:p>
          <a:p>
            <a:pPr marL="177800" indent="-177800" algn="l">
              <a:lnSpc>
                <a:spcPct val="100000"/>
              </a:lnSpc>
              <a:spcBef>
                <a:spcPts val="600"/>
              </a:spcBef>
              <a:spcAft>
                <a:spcPts val="0"/>
              </a:spcAft>
              <a:buFont typeface="Meiryo"/>
              <a:buChar char="•"/>
            </a:pPr>
            <a:r>
              <a:rPr lang="ja-JP" sz="1200" b="0" dirty="0">
                <a:solidFill>
                  <a:srgbClr val="222222"/>
                </a:solidFill>
                <a:latin typeface="Meiryo"/>
                <a:ea typeface="Meiryo"/>
                <a:cs typeface="Meiryo"/>
                <a:sym typeface="Meiryo"/>
              </a:rPr>
              <a:t>事前の検証では、画像を5枚ほど作ったところで上限に達しました</a:t>
            </a:r>
          </a:p>
          <a:p>
            <a:pPr marL="177800" indent="-177800" algn="l">
              <a:lnSpc>
                <a:spcPct val="100000"/>
              </a:lnSpc>
              <a:spcBef>
                <a:spcPts val="600"/>
              </a:spcBef>
              <a:spcAft>
                <a:spcPts val="0"/>
              </a:spcAft>
              <a:buFont typeface="Meiryo"/>
              <a:buChar char="•"/>
            </a:pPr>
            <a:r>
              <a:rPr lang="ja-JP" sz="1200" b="0" dirty="0">
                <a:solidFill>
                  <a:srgbClr val="222222"/>
                </a:solidFill>
                <a:latin typeface="Meiryo"/>
                <a:ea typeface="Meiryo"/>
                <a:cs typeface="Meiryo"/>
                <a:sym typeface="Meiryo"/>
              </a:rPr>
              <a:t>途中で制限がかかる前提で進めましょう</a:t>
            </a:r>
          </a:p>
        </p:txBody>
      </p:sp>
      <p:sp>
        <p:nvSpPr>
          <p:cNvPr id="201" name="Card"/>
          <p:cNvSpPr/>
          <p:nvPr/>
        </p:nvSpPr>
        <p:spPr>
          <a:xfrm>
            <a:off x="4800600" y="1417320"/>
            <a:ext cx="3931920" cy="2697480"/>
          </a:xfrm>
          <a:prstGeom prst="rect">
            <a:avLst/>
          </a:prstGeom>
          <a:solidFill>
            <a:srgbClr val="FDEBDD"/>
          </a:solidFill>
          <a:ln w="12700">
            <a:solidFill>
              <a:srgbClr val="FDEBDD"/>
            </a:solidFill>
          </a:ln>
        </p:spPr>
        <p:txBody>
          <a:bodyPr wrap="square" lIns="0" tIns="0" rIns="0" bIns="0" anchor="t" anchorCtr="0">
            <a:noAutofit/>
          </a:bodyPr>
          <a:lstStyle/>
          <a:p>
            <a:pPr marL="0" indent="0">
              <a:buNone/>
            </a:pPr>
            <a:endParaRPr lang="ja-JP"/>
          </a:p>
        </p:txBody>
      </p:sp>
      <p:sp>
        <p:nvSpPr>
          <p:cNvPr id="202" name="Num"/>
          <p:cNvSpPr/>
          <p:nvPr/>
        </p:nvSpPr>
        <p:spPr>
          <a:xfrm>
            <a:off x="5029200" y="1600200"/>
            <a:ext cx="457200" cy="457200"/>
          </a:xfrm>
          <a:prstGeom prst="ellipse">
            <a:avLst/>
          </a:prstGeom>
          <a:solidFill>
            <a:srgbClr val="E8702A"/>
          </a:solidFill>
          <a:ln w="12700">
            <a:solidFill>
              <a:srgbClr val="E8702A"/>
            </a:solidFill>
          </a:ln>
        </p:spPr>
        <p:txBody>
          <a:bodyPr wrap="square" lIns="0" tIns="0" rIns="0" bIns="0" anchor="ctr" anchorCtr="0">
            <a:noAutofit/>
          </a:bodyPr>
          <a:lstStyle/>
          <a:p>
            <a:pPr marL="0" indent="0" algn="ctr">
              <a:lnSpc>
                <a:spcPct val="100000"/>
              </a:lnSpc>
              <a:spcBef>
                <a:spcPts val="0"/>
              </a:spcBef>
              <a:spcAft>
                <a:spcPts val="0"/>
              </a:spcAft>
              <a:buNone/>
            </a:pPr>
            <a:r>
              <a:rPr lang="ja-JP" sz="1400" b="1" dirty="0">
                <a:solidFill>
                  <a:srgbClr val="FFFFFF"/>
                </a:solidFill>
                <a:latin typeface="Meiryo"/>
                <a:ea typeface="Meiryo"/>
                <a:cs typeface="Meiryo"/>
                <a:sym typeface="Meiryo"/>
              </a:rPr>
              <a:t>2</a:t>
            </a:r>
          </a:p>
        </p:txBody>
      </p:sp>
      <p:sp>
        <p:nvSpPr>
          <p:cNvPr id="203" name="Text"/>
          <p:cNvSpPr txBox="1"/>
          <p:nvPr/>
        </p:nvSpPr>
        <p:spPr>
          <a:xfrm>
            <a:off x="5623560" y="1600200"/>
            <a:ext cx="2971800" cy="45720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600" b="1" dirty="0">
                <a:solidFill>
                  <a:srgbClr val="222222"/>
                </a:solidFill>
                <a:latin typeface="Meiryo"/>
                <a:ea typeface="Meiryo"/>
                <a:cs typeface="Meiryo"/>
                <a:sym typeface="Meiryo"/>
              </a:rPr>
              <a:t>止まったら、別のツールへ</a:t>
            </a:r>
          </a:p>
        </p:txBody>
      </p:sp>
      <p:sp>
        <p:nvSpPr>
          <p:cNvPr id="204" name="Text"/>
          <p:cNvSpPr txBox="1"/>
          <p:nvPr/>
        </p:nvSpPr>
        <p:spPr>
          <a:xfrm>
            <a:off x="5074920" y="2286000"/>
            <a:ext cx="3474720" cy="1737360"/>
          </a:xfrm>
          <a:prstGeom prst="rect">
            <a:avLst/>
          </a:prstGeom>
          <a:noFill/>
          <a:ln>
            <a:noFill/>
          </a:ln>
        </p:spPr>
        <p:txBody>
          <a:bodyPr wrap="square" lIns="0" tIns="0" rIns="0" bIns="0" anchor="t" anchorCtr="0">
            <a:noAutofit/>
          </a:bodyPr>
          <a:lstStyle/>
          <a:p>
            <a:pPr marL="177800" indent="-177800" algn="l">
              <a:lnSpc>
                <a:spcPct val="100000"/>
              </a:lnSpc>
              <a:spcBef>
                <a:spcPts val="0"/>
              </a:spcBef>
              <a:spcAft>
                <a:spcPts val="0"/>
              </a:spcAft>
              <a:buFont typeface="Meiryo"/>
              <a:buChar char="•"/>
            </a:pPr>
            <a:r>
              <a:rPr lang="ja-JP" sz="1200" b="0" dirty="0">
                <a:solidFill>
                  <a:srgbClr val="222222"/>
                </a:solidFill>
                <a:latin typeface="Meiryo"/>
                <a:ea typeface="Meiryo"/>
                <a:cs typeface="Meiryo"/>
                <a:sym typeface="Meiryo"/>
              </a:rPr>
              <a:t>Copilot や Gemini（Nano Banana）でも、同じように画像を作れます</a:t>
            </a:r>
          </a:p>
          <a:p>
            <a:pPr marL="177800" indent="-177800" algn="l">
              <a:lnSpc>
                <a:spcPct val="100000"/>
              </a:lnSpc>
              <a:spcBef>
                <a:spcPts val="600"/>
              </a:spcBef>
              <a:spcAft>
                <a:spcPts val="0"/>
              </a:spcAft>
              <a:buFont typeface="Meiryo"/>
              <a:buChar char="•"/>
            </a:pPr>
            <a:r>
              <a:rPr lang="ja-JP" sz="1200" b="0" dirty="0">
                <a:solidFill>
                  <a:srgbClr val="222222"/>
                </a:solidFill>
                <a:latin typeface="Meiryo"/>
                <a:ea typeface="Meiryo"/>
                <a:cs typeface="Meiryo"/>
                <a:sym typeface="Meiryo"/>
              </a:rPr>
              <a:t>手順や仕上がりは多少異なります</a:t>
            </a:r>
          </a:p>
          <a:p>
            <a:pPr marL="177800" indent="-177800" algn="l">
              <a:lnSpc>
                <a:spcPct val="100000"/>
              </a:lnSpc>
              <a:spcBef>
                <a:spcPts val="600"/>
              </a:spcBef>
              <a:spcAft>
                <a:spcPts val="0"/>
              </a:spcAft>
              <a:buFont typeface="Meiryo"/>
              <a:buChar char="•"/>
            </a:pPr>
            <a:r>
              <a:rPr lang="ja-JP" sz="1200" b="0" dirty="0">
                <a:solidFill>
                  <a:srgbClr val="222222"/>
                </a:solidFill>
                <a:latin typeface="Meiryo"/>
                <a:ea typeface="Meiryo"/>
                <a:cs typeface="Meiryo"/>
                <a:sym typeface="Meiryo"/>
              </a:rPr>
              <a:t>書いたプロンプトは、そのまま使えます</a:t>
            </a:r>
          </a:p>
        </p:txBody>
      </p:sp>
      <p:sp>
        <p:nvSpPr>
          <p:cNvPr id="205" name="Arrow"/>
          <p:cNvSpPr/>
          <p:nvPr/>
        </p:nvSpPr>
        <p:spPr>
          <a:xfrm>
            <a:off x="4416552" y="2560320"/>
            <a:ext cx="310896" cy="402336"/>
          </a:xfrm>
          <a:prstGeom prst="rightArrow">
            <a:avLst/>
          </a:prstGeom>
          <a:solidFill>
            <a:srgbClr val="C9D3E0"/>
          </a:solidFill>
          <a:ln w="12700">
            <a:solidFill>
              <a:srgbClr val="C9D3E0"/>
            </a:solidFill>
          </a:ln>
        </p:spPr>
        <p:txBody>
          <a:bodyPr wrap="square" lIns="0" tIns="0" rIns="0" bIns="0" anchor="t" anchorCtr="0">
            <a:noAutofit/>
          </a:bodyPr>
          <a:lstStyle/>
          <a:p>
            <a:pPr marL="0" indent="0">
              <a:buNone/>
            </a:pPr>
            <a:endParaRPr lang="ja-JP"/>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h259926ce4e4d5a8f_0_136"/>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AI</a:t>
            </a:r>
            <a:r>
              <a:rPr b="1" i="0" lang="en-US" sz="2200" u="none" cap="none" strike="noStrike">
                <a:solidFill>
                  <a:srgbClr val="222222"/>
                </a:solidFill>
                <a:latin typeface="Meiryo"/>
                <a:ea typeface="Meiryo"/>
                <a:cs typeface="Meiryo"/>
                <a:sym typeface="Meiryo"/>
              </a:rPr>
              <a:t>ニュース①　AIが「パソコンを操作する」段階へ</a:t>
            </a:r>
            <a:endParaRPr b="0" i="0" sz="2200" u="none" cap="none" strike="noStrike">
              <a:solidFill>
                <a:schemeClr val="dk1"/>
              </a:solidFill>
              <a:latin typeface="Calibri"/>
              <a:ea typeface="Calibri"/>
              <a:cs typeface="Calibri"/>
              <a:sym typeface="Calibri"/>
            </a:endParaRPr>
          </a:p>
        </p:txBody>
      </p:sp>
      <p:sp>
        <p:nvSpPr>
          <p:cNvPr id="134" name="Google Shape;134;h259926ce4e4d5a8f_0_136"/>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35" name="Google Shape;135;h259926ce4e4d5a8f_0_1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36" name="Google Shape;136;h259926ce4e4d5a8f_0_136"/>
          <p:cNvPicPr preferRelativeResize="0"/>
          <p:nvPr/>
        </p:nvPicPr>
        <p:blipFill>
          <a:blip r:embed="rId3">
            <a:alphaModFix/>
          </a:blip>
          <a:stretch>
            <a:fillRect/>
          </a:stretch>
        </p:blipFill>
        <p:spPr>
          <a:xfrm>
            <a:off x="152400" y="929520"/>
            <a:ext cx="8517751" cy="36679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h259926ce4e4d5a8f_0_3"/>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AI</a:t>
            </a:r>
            <a:r>
              <a:rPr b="1" i="0" lang="en-US" sz="2200" u="none" cap="none" strike="noStrike">
                <a:solidFill>
                  <a:srgbClr val="222222"/>
                </a:solidFill>
                <a:latin typeface="Meiryo"/>
                <a:ea typeface="Meiryo"/>
                <a:cs typeface="Meiryo"/>
                <a:sym typeface="Meiryo"/>
              </a:rPr>
              <a:t>ニュース①　AIが「パソコンを操作する」段階へ</a:t>
            </a:r>
            <a:endParaRPr b="0" i="0" sz="2200" u="none" cap="none" strike="noStrike">
              <a:solidFill>
                <a:schemeClr val="dk1"/>
              </a:solidFill>
              <a:latin typeface="Calibri"/>
              <a:ea typeface="Calibri"/>
              <a:cs typeface="Calibri"/>
              <a:sym typeface="Calibri"/>
            </a:endParaRPr>
          </a:p>
        </p:txBody>
      </p:sp>
      <p:sp>
        <p:nvSpPr>
          <p:cNvPr id="143" name="Google Shape;143;h259926ce4e4d5a8f_0_3"/>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44" name="Google Shape;144;h259926ce4e4d5a8f_0_3"/>
          <p:cNvSpPr/>
          <p:nvPr/>
        </p:nvSpPr>
        <p:spPr>
          <a:xfrm>
            <a:off x="411480" y="914400"/>
            <a:ext cx="8321100" cy="7314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h259926ce4e4d5a8f_0_3"/>
          <p:cNvSpPr txBox="1"/>
          <p:nvPr/>
        </p:nvSpPr>
        <p:spPr>
          <a:xfrm>
            <a:off x="594360" y="914400"/>
            <a:ext cx="79554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Meiryo"/>
              <a:buNone/>
            </a:pPr>
            <a:r>
              <a:rPr b="1" lang="en-US" sz="2200">
                <a:solidFill>
                  <a:srgbClr val="222222"/>
                </a:solidFill>
                <a:latin typeface="Meiryo"/>
                <a:ea typeface="Meiryo"/>
                <a:cs typeface="Meiryo"/>
                <a:sym typeface="Meiryo"/>
              </a:rPr>
              <a:t>GPT-6 Astra が登場（2026年9月3日）</a:t>
            </a:r>
            <a:endParaRPr b="1" sz="2200">
              <a:solidFill>
                <a:srgbClr val="1F3A5F"/>
              </a:solidFill>
              <a:latin typeface="Meiryo"/>
              <a:ea typeface="Meiryo"/>
              <a:cs typeface="Meiryo"/>
              <a:sym typeface="Meiryo"/>
            </a:endParaRPr>
          </a:p>
        </p:txBody>
      </p:sp>
      <p:sp>
        <p:nvSpPr>
          <p:cNvPr id="146" name="Google Shape;146;h259926ce4e4d5a8f_0_3"/>
          <p:cNvSpPr/>
          <p:nvPr/>
        </p:nvSpPr>
        <p:spPr>
          <a:xfrm>
            <a:off x="502920" y="1828800"/>
            <a:ext cx="457200" cy="4572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7" name="Google Shape;147;h259926ce4e4d5a8f_0_3"/>
          <p:cNvPicPr preferRelativeResize="0"/>
          <p:nvPr/>
        </p:nvPicPr>
        <p:blipFill rotWithShape="1">
          <a:blip r:embed="rId3">
            <a:alphaModFix/>
          </a:blip>
          <a:srcRect b="0" l="0" r="0" t="0"/>
          <a:stretch/>
        </p:blipFill>
        <p:spPr>
          <a:xfrm>
            <a:off x="603504" y="1929384"/>
            <a:ext cx="256032" cy="256032"/>
          </a:xfrm>
          <a:prstGeom prst="rect">
            <a:avLst/>
          </a:prstGeom>
          <a:noFill/>
          <a:ln>
            <a:noFill/>
          </a:ln>
        </p:spPr>
      </p:pic>
      <p:sp>
        <p:nvSpPr>
          <p:cNvPr id="148" name="Google Shape;148;h259926ce4e4d5a8f_0_3"/>
          <p:cNvSpPr txBox="1"/>
          <p:nvPr/>
        </p:nvSpPr>
        <p:spPr>
          <a:xfrm>
            <a:off x="1143000" y="1920312"/>
            <a:ext cx="74982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F3A5F"/>
              </a:buClr>
              <a:buSzPts val="1600"/>
              <a:buFont typeface="Meiryo"/>
              <a:buNone/>
            </a:pPr>
            <a:r>
              <a:rPr b="1" lang="en-US" sz="1600">
                <a:solidFill>
                  <a:srgbClr val="1F3A5F"/>
                </a:solidFill>
                <a:latin typeface="Meiryo"/>
                <a:ea typeface="Meiryo"/>
                <a:cs typeface="Meiryo"/>
                <a:sym typeface="Meiryo"/>
              </a:rPr>
              <a:t>「質問に答えるAI」から「パソコンを操作して仕事を終わらせるAI」へ</a:t>
            </a:r>
            <a:endParaRPr b="0" i="0" sz="1800" u="none" cap="none" strike="noStrike">
              <a:solidFill>
                <a:schemeClr val="dk1"/>
              </a:solidFill>
              <a:latin typeface="Calibri"/>
              <a:ea typeface="Calibri"/>
              <a:cs typeface="Calibri"/>
              <a:sym typeface="Calibri"/>
            </a:endParaRPr>
          </a:p>
        </p:txBody>
      </p:sp>
      <p:sp>
        <p:nvSpPr>
          <p:cNvPr id="149" name="Google Shape;149;h259926ce4e4d5a8f_0_3"/>
          <p:cNvSpPr/>
          <p:nvPr/>
        </p:nvSpPr>
        <p:spPr>
          <a:xfrm>
            <a:off x="502907" y="2617829"/>
            <a:ext cx="457200" cy="4572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h259926ce4e4d5a8f_0_3"/>
          <p:cNvPicPr preferRelativeResize="0"/>
          <p:nvPr/>
        </p:nvPicPr>
        <p:blipFill rotWithShape="1">
          <a:blip r:embed="rId4">
            <a:alphaModFix/>
          </a:blip>
          <a:srcRect b="0" l="0" r="0" t="0"/>
          <a:stretch/>
        </p:blipFill>
        <p:spPr>
          <a:xfrm>
            <a:off x="603491" y="2718413"/>
            <a:ext cx="256032" cy="256032"/>
          </a:xfrm>
          <a:prstGeom prst="rect">
            <a:avLst/>
          </a:prstGeom>
          <a:noFill/>
          <a:ln>
            <a:noFill/>
          </a:ln>
        </p:spPr>
      </p:pic>
      <p:sp>
        <p:nvSpPr>
          <p:cNvPr id="151" name="Google Shape;151;h259926ce4e4d5a8f_0_3"/>
          <p:cNvSpPr txBox="1"/>
          <p:nvPr/>
        </p:nvSpPr>
        <p:spPr>
          <a:xfrm>
            <a:off x="1142988" y="2599541"/>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できること：画面を見て操作する</a:t>
            </a:r>
            <a:endParaRPr b="0" i="0" sz="1300" u="none" cap="none" strike="noStrike">
              <a:solidFill>
                <a:schemeClr val="dk1"/>
              </a:solidFill>
              <a:latin typeface="Calibri"/>
              <a:ea typeface="Calibri"/>
              <a:cs typeface="Calibri"/>
              <a:sym typeface="Calibri"/>
            </a:endParaRPr>
          </a:p>
        </p:txBody>
      </p:sp>
      <p:sp>
        <p:nvSpPr>
          <p:cNvPr id="152" name="Google Shape;152;h259926ce4e4d5a8f_0_3"/>
          <p:cNvSpPr txBox="1"/>
          <p:nvPr/>
        </p:nvSpPr>
        <p:spPr>
          <a:xfrm>
            <a:off x="1142988" y="2873861"/>
            <a:ext cx="74982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Webフォームの入力、社内システムへの登録、調べもの、資料づくりまで</a:t>
            </a:r>
            <a:endParaRPr b="0" i="0" sz="1050" u="none" cap="none" strike="noStrike">
              <a:solidFill>
                <a:schemeClr val="dk1"/>
              </a:solidFill>
              <a:latin typeface="Calibri"/>
              <a:ea typeface="Calibri"/>
              <a:cs typeface="Calibri"/>
              <a:sym typeface="Calibri"/>
            </a:endParaRPr>
          </a:p>
        </p:txBody>
      </p:sp>
      <p:sp>
        <p:nvSpPr>
          <p:cNvPr id="153" name="Google Shape;153;h259926ce4e4d5a8f_0_3"/>
          <p:cNvSpPr/>
          <p:nvPr/>
        </p:nvSpPr>
        <p:spPr>
          <a:xfrm>
            <a:off x="502907" y="3443308"/>
            <a:ext cx="457200" cy="4572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h259926ce4e4d5a8f_0_3"/>
          <p:cNvPicPr preferRelativeResize="0"/>
          <p:nvPr/>
        </p:nvPicPr>
        <p:blipFill rotWithShape="1">
          <a:blip r:embed="rId5">
            <a:alphaModFix/>
          </a:blip>
          <a:srcRect b="0" l="0" r="0" t="0"/>
          <a:stretch/>
        </p:blipFill>
        <p:spPr>
          <a:xfrm>
            <a:off x="603491" y="3543892"/>
            <a:ext cx="256032" cy="256032"/>
          </a:xfrm>
          <a:prstGeom prst="rect">
            <a:avLst/>
          </a:prstGeom>
          <a:noFill/>
          <a:ln>
            <a:noFill/>
          </a:ln>
        </p:spPr>
      </p:pic>
      <p:sp>
        <p:nvSpPr>
          <p:cNvPr id="155" name="Google Shape;155;h259926ce4e4d5a8f_0_3"/>
          <p:cNvSpPr txBox="1"/>
          <p:nvPr/>
        </p:nvSpPr>
        <p:spPr>
          <a:xfrm>
            <a:off x="1142988" y="3425020"/>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古いシステムにも使える</a:t>
            </a:r>
            <a:endParaRPr b="0" i="0" sz="1300" u="none" cap="none" strike="noStrike">
              <a:solidFill>
                <a:schemeClr val="dk1"/>
              </a:solidFill>
              <a:latin typeface="Calibri"/>
              <a:ea typeface="Calibri"/>
              <a:cs typeface="Calibri"/>
              <a:sym typeface="Calibri"/>
            </a:endParaRPr>
          </a:p>
        </p:txBody>
      </p:sp>
      <p:sp>
        <p:nvSpPr>
          <p:cNvPr id="156" name="Google Shape;156;h259926ce4e4d5a8f_0_3"/>
          <p:cNvSpPr txBox="1"/>
          <p:nvPr/>
        </p:nvSpPr>
        <p:spPr>
          <a:xfrm>
            <a:off x="1142988" y="3699340"/>
            <a:ext cx="74982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連携のしくみ（API）がないソフトでも、画面から操作できる点が実務での大きな違いです</a:t>
            </a:r>
            <a:endParaRPr b="0" i="0" sz="1050" u="none" cap="none" strike="noStrike">
              <a:solidFill>
                <a:schemeClr val="dk1"/>
              </a:solidFill>
              <a:latin typeface="Calibri"/>
              <a:ea typeface="Calibri"/>
              <a:cs typeface="Calibri"/>
              <a:sym typeface="Calibri"/>
            </a:endParaRPr>
          </a:p>
        </p:txBody>
      </p:sp>
      <p:sp>
        <p:nvSpPr>
          <p:cNvPr id="157" name="Google Shape;157;h259926ce4e4d5a8f_0_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h259926ce4e4d5a8f_0_112"/>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AI</a:t>
            </a:r>
            <a:r>
              <a:rPr b="1" i="0" lang="en-US" sz="2200" u="none" cap="none" strike="noStrike">
                <a:solidFill>
                  <a:srgbClr val="222222"/>
                </a:solidFill>
                <a:latin typeface="Meiryo"/>
                <a:ea typeface="Meiryo"/>
                <a:cs typeface="Meiryo"/>
                <a:sym typeface="Meiryo"/>
              </a:rPr>
              <a:t>ニュース②　AIと著作権をめぐる動き</a:t>
            </a:r>
            <a:endParaRPr b="0" i="0" sz="2200" u="none" cap="none" strike="noStrike">
              <a:solidFill>
                <a:schemeClr val="dk1"/>
              </a:solidFill>
              <a:latin typeface="Calibri"/>
              <a:ea typeface="Calibri"/>
              <a:cs typeface="Calibri"/>
              <a:sym typeface="Calibri"/>
            </a:endParaRPr>
          </a:p>
        </p:txBody>
      </p:sp>
      <p:sp>
        <p:nvSpPr>
          <p:cNvPr id="164" name="Google Shape;164;h259926ce4e4d5a8f_0_112"/>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65" name="Google Shape;165;h259926ce4e4d5a8f_0_1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66" name="Google Shape;166;h259926ce4e4d5a8f_0_112"/>
          <p:cNvPicPr preferRelativeResize="0"/>
          <p:nvPr/>
        </p:nvPicPr>
        <p:blipFill>
          <a:blip r:embed="rId3">
            <a:alphaModFix/>
          </a:blip>
          <a:stretch>
            <a:fillRect/>
          </a:stretch>
        </p:blipFill>
        <p:spPr>
          <a:xfrm>
            <a:off x="1915625" y="957150"/>
            <a:ext cx="5312799" cy="353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h259926ce4e4d5a8f_0_28"/>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AI</a:t>
            </a:r>
            <a:r>
              <a:rPr b="1" i="0" lang="en-US" sz="2200" u="none" cap="none" strike="noStrike">
                <a:solidFill>
                  <a:srgbClr val="222222"/>
                </a:solidFill>
                <a:latin typeface="Meiryo"/>
                <a:ea typeface="Meiryo"/>
                <a:cs typeface="Meiryo"/>
                <a:sym typeface="Meiryo"/>
              </a:rPr>
              <a:t>ニュース②　AIと著作権をめぐる動き</a:t>
            </a:r>
            <a:endParaRPr b="0" i="0" sz="2200" u="none" cap="none" strike="noStrike">
              <a:solidFill>
                <a:schemeClr val="dk1"/>
              </a:solidFill>
              <a:latin typeface="Calibri"/>
              <a:ea typeface="Calibri"/>
              <a:cs typeface="Calibri"/>
              <a:sym typeface="Calibri"/>
            </a:endParaRPr>
          </a:p>
        </p:txBody>
      </p:sp>
      <p:sp>
        <p:nvSpPr>
          <p:cNvPr id="173" name="Google Shape;173;h259926ce4e4d5a8f_0_28"/>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74" name="Google Shape;174;h259926ce4e4d5a8f_0_28"/>
          <p:cNvSpPr/>
          <p:nvPr/>
        </p:nvSpPr>
        <p:spPr>
          <a:xfrm>
            <a:off x="411480" y="914400"/>
            <a:ext cx="8321100" cy="7314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h259926ce4e4d5a8f_0_28"/>
          <p:cNvSpPr txBox="1"/>
          <p:nvPr/>
        </p:nvSpPr>
        <p:spPr>
          <a:xfrm>
            <a:off x="594360" y="914400"/>
            <a:ext cx="79554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600"/>
              <a:buFont typeface="Meiryo"/>
              <a:buNone/>
            </a:pPr>
            <a:r>
              <a:rPr b="1" lang="en-US" sz="1800">
                <a:solidFill>
                  <a:srgbClr val="222222"/>
                </a:solidFill>
                <a:latin typeface="Meiryo"/>
                <a:ea typeface="Meiryo"/>
                <a:cs typeface="Meiryo"/>
                <a:sym typeface="Meiryo"/>
              </a:rPr>
              <a:t>著作権法違反（複製権侵害）の疑いで書類送検</a:t>
            </a:r>
            <a:endParaRPr b="0" i="0" sz="1800" u="none" cap="none" strike="noStrike">
              <a:solidFill>
                <a:schemeClr val="dk1"/>
              </a:solidFill>
              <a:latin typeface="Calibri"/>
              <a:ea typeface="Calibri"/>
              <a:cs typeface="Calibri"/>
              <a:sym typeface="Calibri"/>
            </a:endParaRPr>
          </a:p>
        </p:txBody>
      </p:sp>
      <p:sp>
        <p:nvSpPr>
          <p:cNvPr id="176" name="Google Shape;176;h259926ce4e4d5a8f_0_28"/>
          <p:cNvSpPr/>
          <p:nvPr/>
        </p:nvSpPr>
        <p:spPr>
          <a:xfrm>
            <a:off x="502920" y="1874520"/>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 name="Google Shape;177;h259926ce4e4d5a8f_0_28"/>
          <p:cNvPicPr preferRelativeResize="0"/>
          <p:nvPr/>
        </p:nvPicPr>
        <p:blipFill rotWithShape="1">
          <a:blip r:embed="rId3">
            <a:alphaModFix/>
          </a:blip>
          <a:srcRect b="0" l="0" r="0" t="0"/>
          <a:stretch/>
        </p:blipFill>
        <p:spPr>
          <a:xfrm>
            <a:off x="613562" y="1985162"/>
            <a:ext cx="281635" cy="281635"/>
          </a:xfrm>
          <a:prstGeom prst="rect">
            <a:avLst/>
          </a:prstGeom>
          <a:noFill/>
          <a:ln>
            <a:noFill/>
          </a:ln>
        </p:spPr>
      </p:pic>
      <p:sp>
        <p:nvSpPr>
          <p:cNvPr id="178" name="Google Shape;178;h259926ce4e4d5a8f_0_28"/>
          <p:cNvSpPr txBox="1"/>
          <p:nvPr/>
        </p:nvSpPr>
        <p:spPr>
          <a:xfrm>
            <a:off x="1188720" y="1856232"/>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50"/>
              <a:buFont typeface="Meiryo"/>
              <a:buNone/>
            </a:pPr>
            <a:r>
              <a:rPr b="1" lang="en-US" sz="1350">
                <a:solidFill>
                  <a:srgbClr val="222222"/>
                </a:solidFill>
                <a:latin typeface="Meiryo"/>
                <a:ea typeface="Meiryo"/>
                <a:cs typeface="Meiryo"/>
                <a:sym typeface="Meiryo"/>
              </a:rPr>
              <a:t>生成AIで制作し、SNSに投稿した画像を無断で複製　→　販売した電子書籍の表紙に使用</a:t>
            </a:r>
            <a:endParaRPr b="0" i="0" sz="1350" u="none" cap="none" strike="noStrike">
              <a:solidFill>
                <a:schemeClr val="dk1"/>
              </a:solidFill>
              <a:latin typeface="Calibri"/>
              <a:ea typeface="Calibri"/>
              <a:cs typeface="Calibri"/>
              <a:sym typeface="Calibri"/>
            </a:endParaRPr>
          </a:p>
        </p:txBody>
      </p:sp>
      <p:sp>
        <p:nvSpPr>
          <p:cNvPr id="179" name="Google Shape;179;h259926ce4e4d5a8f_0_28"/>
          <p:cNvSpPr txBox="1"/>
          <p:nvPr/>
        </p:nvSpPr>
        <p:spPr>
          <a:xfrm>
            <a:off x="1188720" y="2148840"/>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50"/>
              <a:buFont typeface="Meiryo"/>
              <a:buNone/>
            </a:pPr>
            <a:r>
              <a:rPr lang="en-US" sz="1050">
                <a:solidFill>
                  <a:srgbClr val="6B7280"/>
                </a:solidFill>
                <a:latin typeface="Meiryo"/>
                <a:ea typeface="Meiryo"/>
                <a:cs typeface="Meiryo"/>
                <a:sym typeface="Meiryo"/>
              </a:rPr>
              <a:t>生成AIで具体的な指示や入力を繰り返し、作成した生成物が「著作物」と判断された</a:t>
            </a:r>
            <a:endParaRPr b="0" i="0" sz="1050" u="none" cap="none" strike="noStrike">
              <a:solidFill>
                <a:schemeClr val="dk1"/>
              </a:solidFill>
              <a:latin typeface="Calibri"/>
              <a:ea typeface="Calibri"/>
              <a:cs typeface="Calibri"/>
              <a:sym typeface="Calibri"/>
            </a:endParaRPr>
          </a:p>
        </p:txBody>
      </p:sp>
      <p:sp>
        <p:nvSpPr>
          <p:cNvPr id="180" name="Google Shape;180;h259926ce4e4d5a8f_0_28"/>
          <p:cNvSpPr/>
          <p:nvPr/>
        </p:nvSpPr>
        <p:spPr>
          <a:xfrm>
            <a:off x="479995" y="2901428"/>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h259926ce4e4d5a8f_0_28"/>
          <p:cNvPicPr preferRelativeResize="0"/>
          <p:nvPr/>
        </p:nvPicPr>
        <p:blipFill rotWithShape="1">
          <a:blip r:embed="rId4">
            <a:alphaModFix/>
          </a:blip>
          <a:srcRect b="0" l="0" r="0" t="0"/>
          <a:stretch/>
        </p:blipFill>
        <p:spPr>
          <a:xfrm>
            <a:off x="590637" y="3012070"/>
            <a:ext cx="281635" cy="281635"/>
          </a:xfrm>
          <a:prstGeom prst="rect">
            <a:avLst/>
          </a:prstGeom>
          <a:noFill/>
          <a:ln>
            <a:noFill/>
          </a:ln>
        </p:spPr>
      </p:pic>
      <p:sp>
        <p:nvSpPr>
          <p:cNvPr id="182" name="Google Shape;182;h259926ce4e4d5a8f_0_28"/>
          <p:cNvSpPr txBox="1"/>
          <p:nvPr/>
        </p:nvSpPr>
        <p:spPr>
          <a:xfrm>
            <a:off x="1165795" y="2883140"/>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50"/>
              <a:buFont typeface="Meiryo"/>
              <a:buNone/>
            </a:pPr>
            <a:r>
              <a:rPr b="1" i="0" lang="en-US" sz="1350" u="none" cap="none" strike="noStrike">
                <a:solidFill>
                  <a:srgbClr val="222222"/>
                </a:solidFill>
                <a:latin typeface="Meiryo"/>
                <a:ea typeface="Meiryo"/>
                <a:cs typeface="Meiryo"/>
                <a:sym typeface="Meiryo"/>
              </a:rPr>
              <a:t>AI画像で日本初の書類送検（2025年11月）</a:t>
            </a:r>
            <a:endParaRPr b="0" i="0" sz="1350" u="none" cap="none" strike="noStrike">
              <a:solidFill>
                <a:schemeClr val="dk1"/>
              </a:solidFill>
              <a:latin typeface="Calibri"/>
              <a:ea typeface="Calibri"/>
              <a:cs typeface="Calibri"/>
              <a:sym typeface="Calibri"/>
            </a:endParaRPr>
          </a:p>
        </p:txBody>
      </p:sp>
      <p:sp>
        <p:nvSpPr>
          <p:cNvPr id="183" name="Google Shape;183;h259926ce4e4d5a8f_0_28"/>
          <p:cNvSpPr txBox="1"/>
          <p:nvPr/>
        </p:nvSpPr>
        <p:spPr>
          <a:xfrm>
            <a:off x="1165795" y="3175748"/>
            <a:ext cx="7498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千葉県警が書類送検。他人がAIでつくった画像も、無断で使えば権利侵害になり得ることを示した事例</a:t>
            </a:r>
            <a:endParaRPr b="0" i="0" sz="1050" u="none" cap="none" strike="noStrike">
              <a:solidFill>
                <a:schemeClr val="dk1"/>
              </a:solidFill>
              <a:latin typeface="Calibri"/>
              <a:ea typeface="Calibri"/>
              <a:cs typeface="Calibri"/>
              <a:sym typeface="Calibri"/>
            </a:endParaRPr>
          </a:p>
        </p:txBody>
      </p:sp>
      <p:sp>
        <p:nvSpPr>
          <p:cNvPr id="184" name="Google Shape;184;h259926ce4e4d5a8f_0_28"/>
          <p:cNvSpPr/>
          <p:nvPr/>
        </p:nvSpPr>
        <p:spPr>
          <a:xfrm>
            <a:off x="411480" y="4114800"/>
            <a:ext cx="8321100" cy="5028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h259926ce4e4d5a8f_0_28"/>
          <p:cNvSpPr txBox="1"/>
          <p:nvPr/>
        </p:nvSpPr>
        <p:spPr>
          <a:xfrm>
            <a:off x="594360" y="4114800"/>
            <a:ext cx="7955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250"/>
              <a:buFont typeface="Meiryo"/>
              <a:buNone/>
            </a:pPr>
            <a:r>
              <a:rPr b="1" i="0" lang="en-US" sz="1250" u="none" cap="none" strike="noStrike">
                <a:solidFill>
                  <a:srgbClr val="1F3A5F"/>
                </a:solidFill>
                <a:latin typeface="Meiryo"/>
                <a:ea typeface="Meiryo"/>
                <a:cs typeface="Meiryo"/>
                <a:sym typeface="Meiryo"/>
              </a:rPr>
              <a:t>必要以上にこわがらなくて大丈夫です。気をつける点は、このあと「3つのルール」でお伝えします。</a:t>
            </a:r>
            <a:endParaRPr b="0" i="0" sz="1250" u="none" cap="none" strike="noStrike">
              <a:solidFill>
                <a:schemeClr val="dk1"/>
              </a:solidFill>
              <a:latin typeface="Calibri"/>
              <a:ea typeface="Calibri"/>
              <a:cs typeface="Calibri"/>
              <a:sym typeface="Calibri"/>
            </a:endParaRPr>
          </a:p>
        </p:txBody>
      </p:sp>
      <p:sp>
        <p:nvSpPr>
          <p:cNvPr id="186" name="Google Shape;186;h259926ce4e4d5a8f_0_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40a0daa3361_0_225"/>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201" name="Google Shape;201;g40a0daa3361_0_225"/>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202" name="Google Shape;202;g40a0daa3361_0_225"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203" name="Google Shape;203;g40a0daa3361_0_2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g40a0daa3361_0_225"/>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01</a:t>
            </a:r>
            <a:endParaRPr b="0" i="0" sz="2800" u="none" cap="none" strike="noStrike">
              <a:solidFill>
                <a:schemeClr val="dk1"/>
              </a:solidFill>
              <a:latin typeface="Calibri"/>
              <a:ea typeface="Calibri"/>
              <a:cs typeface="Calibri"/>
              <a:sym typeface="Calibri"/>
            </a:endParaRPr>
          </a:p>
        </p:txBody>
      </p:sp>
      <p:sp>
        <p:nvSpPr>
          <p:cNvPr id="205" name="Google Shape;205;g40a0daa3361_0_225"/>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lang="en-US" sz="3000">
                <a:solidFill>
                  <a:srgbClr val="FFFFFF"/>
                </a:solidFill>
                <a:latin typeface="Meiryo"/>
                <a:ea typeface="Meiryo"/>
                <a:cs typeface="Meiryo"/>
                <a:sym typeface="Meiryo"/>
              </a:rPr>
              <a:t>昨年度の振り返り</a:t>
            </a:r>
            <a:endParaRPr b="1" sz="3000">
              <a:solidFill>
                <a:srgbClr val="FFFFFF"/>
              </a:solidFill>
              <a:latin typeface="Meiryo"/>
              <a:ea typeface="Meiryo"/>
              <a:cs typeface="Meiryo"/>
              <a:sym typeface="Meiryo"/>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＋この1年のAIアップデート</a:t>
            </a:r>
            <a:endParaRPr b="0" i="0" sz="3000" u="none" cap="none" strike="noStrike">
              <a:solidFill>
                <a:schemeClr val="dk1"/>
              </a:solidFill>
              <a:latin typeface="Calibri"/>
              <a:ea typeface="Calibri"/>
              <a:cs typeface="Calibri"/>
              <a:sym typeface="Calibri"/>
            </a:endParaRPr>
          </a:p>
        </p:txBody>
      </p:sp>
      <p:sp>
        <p:nvSpPr>
          <p:cNvPr id="206" name="Google Shape;206;g40a0daa3361_0_225"/>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13:20 – 13:35</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h12a068dd872fd278_0_25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13" name="Google Shape;213;h12a068dd872fd278_0_259" title="20251204_132257.jpg"/>
          <p:cNvPicPr preferRelativeResize="0"/>
          <p:nvPr/>
        </p:nvPicPr>
        <p:blipFill>
          <a:blip r:embed="rId3">
            <a:alphaModFix/>
          </a:blip>
          <a:stretch>
            <a:fillRect/>
          </a:stretch>
        </p:blipFill>
        <p:spPr>
          <a:xfrm>
            <a:off x="152400" y="584225"/>
            <a:ext cx="8839204" cy="3975052"/>
          </a:xfrm>
          <a:prstGeom prst="rect">
            <a:avLst/>
          </a:prstGeom>
          <a:noFill/>
          <a:ln>
            <a:noFill/>
          </a:ln>
        </p:spPr>
      </p:pic>
      <p:sp>
        <p:nvSpPr>
          <p:cNvPr id="214" name="Text"/>
          <p:cNvSpPr txBox="1"/>
          <p:nvPr/>
        </p:nvSpPr>
        <p:spPr>
          <a:xfrm>
            <a:off x="411480" y="118872"/>
            <a:ext cx="5486400" cy="41148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600" b="1" dirty="0">
                <a:solidFill>
                  <a:srgbClr val="222222"/>
                </a:solidFill>
                <a:latin typeface="Meiryo"/>
                <a:ea typeface="Meiryo"/>
                <a:cs typeface="Meiryo"/>
                <a:sym typeface="Meiryo"/>
              </a:rPr>
              <a:t>昨年度の研修の様子</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7"/>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昨年度の振り返り</a:t>
            </a:r>
            <a:endParaRPr b="0" i="0" sz="2200" u="none" cap="none" strike="noStrike">
              <a:solidFill>
                <a:schemeClr val="dk1"/>
              </a:solidFill>
              <a:latin typeface="Calibri"/>
              <a:ea typeface="Calibri"/>
              <a:cs typeface="Calibri"/>
              <a:sym typeface="Calibri"/>
            </a:endParaRPr>
          </a:p>
        </p:txBody>
      </p:sp>
      <p:sp>
        <p:nvSpPr>
          <p:cNvPr id="220" name="Google Shape;220;p7"/>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221" name="Google Shape;221;p7"/>
          <p:cNvSpPr txBox="1"/>
          <p:nvPr/>
        </p:nvSpPr>
        <p:spPr>
          <a:xfrm>
            <a:off x="411480" y="868680"/>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昨年度の研修では、生成AIを「知る」ところから、業務で使う入口までを扱いました。</a:t>
            </a:r>
            <a:endParaRPr b="0" i="0" sz="1200" u="none" cap="none" strike="noStrike">
              <a:solidFill>
                <a:schemeClr val="dk1"/>
              </a:solidFill>
              <a:latin typeface="Calibri"/>
              <a:ea typeface="Calibri"/>
              <a:cs typeface="Calibri"/>
              <a:sym typeface="Calibri"/>
            </a:endParaRPr>
          </a:p>
        </p:txBody>
      </p:sp>
      <p:sp>
        <p:nvSpPr>
          <p:cNvPr id="222" name="Google Shape;222;p7"/>
          <p:cNvSpPr/>
          <p:nvPr/>
        </p:nvSpPr>
        <p:spPr>
          <a:xfrm>
            <a:off x="411480" y="1325880"/>
            <a:ext cx="4069080" cy="12344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7"/>
          <p:cNvSpPr/>
          <p:nvPr/>
        </p:nvSpPr>
        <p:spPr>
          <a:xfrm>
            <a:off x="594360" y="1508760"/>
            <a:ext cx="502920" cy="50292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4" name="Google Shape;224;p7"/>
          <p:cNvPicPr preferRelativeResize="0"/>
          <p:nvPr/>
        </p:nvPicPr>
        <p:blipFill rotWithShape="1">
          <a:blip r:embed="rId3">
            <a:alphaModFix/>
          </a:blip>
          <a:srcRect b="0" l="0" r="0" t="0"/>
          <a:stretch/>
        </p:blipFill>
        <p:spPr>
          <a:xfrm>
            <a:off x="705002" y="1619402"/>
            <a:ext cx="281635" cy="281635"/>
          </a:xfrm>
          <a:prstGeom prst="rect">
            <a:avLst/>
          </a:prstGeom>
          <a:noFill/>
          <a:ln>
            <a:noFill/>
          </a:ln>
        </p:spPr>
      </p:pic>
      <p:sp>
        <p:nvSpPr>
          <p:cNvPr id="225" name="Google Shape;225;p7"/>
          <p:cNvSpPr txBox="1"/>
          <p:nvPr/>
        </p:nvSpPr>
        <p:spPr>
          <a:xfrm>
            <a:off x="1280160" y="1490472"/>
            <a:ext cx="3063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仕事で使う3つのポイント</a:t>
            </a:r>
            <a:endParaRPr b="0" i="0" sz="1300" u="none" cap="none" strike="noStrike">
              <a:solidFill>
                <a:schemeClr val="dk1"/>
              </a:solidFill>
              <a:latin typeface="Calibri"/>
              <a:ea typeface="Calibri"/>
              <a:cs typeface="Calibri"/>
              <a:sym typeface="Calibri"/>
            </a:endParaRPr>
          </a:p>
        </p:txBody>
      </p:sp>
      <p:sp>
        <p:nvSpPr>
          <p:cNvPr id="226" name="Google Shape;226;p7"/>
          <p:cNvSpPr txBox="1"/>
          <p:nvPr/>
        </p:nvSpPr>
        <p:spPr>
          <a:xfrm>
            <a:off x="1280160" y="1801368"/>
            <a:ext cx="306324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①学習（例を見せる）</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②変換（文章・形式を変える）</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③抽出（必要な情報を抜き出す）</a:t>
            </a:r>
            <a:endParaRPr b="0" i="0" sz="1050" u="none" cap="none" strike="noStrike">
              <a:solidFill>
                <a:schemeClr val="dk1"/>
              </a:solidFill>
              <a:latin typeface="Calibri"/>
              <a:ea typeface="Calibri"/>
              <a:cs typeface="Calibri"/>
              <a:sym typeface="Calibri"/>
            </a:endParaRPr>
          </a:p>
        </p:txBody>
      </p:sp>
      <p:sp>
        <p:nvSpPr>
          <p:cNvPr id="227" name="Google Shape;227;p7"/>
          <p:cNvSpPr/>
          <p:nvPr/>
        </p:nvSpPr>
        <p:spPr>
          <a:xfrm>
            <a:off x="4617720" y="1325880"/>
            <a:ext cx="4069080" cy="12344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7"/>
          <p:cNvSpPr/>
          <p:nvPr/>
        </p:nvSpPr>
        <p:spPr>
          <a:xfrm>
            <a:off x="4800600" y="1508760"/>
            <a:ext cx="502920" cy="50292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9" name="Google Shape;229;p7"/>
          <p:cNvPicPr preferRelativeResize="0"/>
          <p:nvPr/>
        </p:nvPicPr>
        <p:blipFill rotWithShape="1">
          <a:blip r:embed="rId4">
            <a:alphaModFix/>
          </a:blip>
          <a:srcRect b="0" l="0" r="0" t="0"/>
          <a:stretch/>
        </p:blipFill>
        <p:spPr>
          <a:xfrm>
            <a:off x="4911242" y="1619402"/>
            <a:ext cx="281635" cy="281635"/>
          </a:xfrm>
          <a:prstGeom prst="rect">
            <a:avLst/>
          </a:prstGeom>
          <a:noFill/>
          <a:ln>
            <a:noFill/>
          </a:ln>
        </p:spPr>
      </p:pic>
      <p:sp>
        <p:nvSpPr>
          <p:cNvPr id="230" name="Google Shape;230;p7"/>
          <p:cNvSpPr txBox="1"/>
          <p:nvPr/>
        </p:nvSpPr>
        <p:spPr>
          <a:xfrm>
            <a:off x="5486400" y="1490472"/>
            <a:ext cx="3063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複雑なタスクへの対応</a:t>
            </a:r>
            <a:endParaRPr b="0" i="0" sz="1300" u="none" cap="none" strike="noStrike">
              <a:solidFill>
                <a:schemeClr val="dk1"/>
              </a:solidFill>
              <a:latin typeface="Calibri"/>
              <a:ea typeface="Calibri"/>
              <a:cs typeface="Calibri"/>
              <a:sym typeface="Calibri"/>
            </a:endParaRPr>
          </a:p>
        </p:txBody>
      </p:sp>
      <p:sp>
        <p:nvSpPr>
          <p:cNvPr id="231" name="Google Shape;231;p7"/>
          <p:cNvSpPr txBox="1"/>
          <p:nvPr/>
        </p:nvSpPr>
        <p:spPr>
          <a:xfrm>
            <a:off x="5486400" y="1801368"/>
            <a:ext cx="306324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役割を与える／進め方を指定する</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出力のフォーマットを指定する</a:t>
            </a:r>
            <a:endParaRPr b="0" i="0" sz="1050" u="none" cap="none" strike="noStrike">
              <a:solidFill>
                <a:schemeClr val="dk1"/>
              </a:solidFill>
              <a:latin typeface="Calibri"/>
              <a:ea typeface="Calibri"/>
              <a:cs typeface="Calibri"/>
              <a:sym typeface="Calibri"/>
            </a:endParaRPr>
          </a:p>
        </p:txBody>
      </p:sp>
      <p:sp>
        <p:nvSpPr>
          <p:cNvPr id="232" name="Google Shape;232;p7"/>
          <p:cNvSpPr/>
          <p:nvPr/>
        </p:nvSpPr>
        <p:spPr>
          <a:xfrm>
            <a:off x="411480" y="2697480"/>
            <a:ext cx="4069080" cy="12344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594360" y="2880360"/>
            <a:ext cx="502920" cy="50292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4" name="Google Shape;234;p7"/>
          <p:cNvPicPr preferRelativeResize="0"/>
          <p:nvPr/>
        </p:nvPicPr>
        <p:blipFill rotWithShape="1">
          <a:blip r:embed="rId5">
            <a:alphaModFix/>
          </a:blip>
          <a:srcRect b="0" l="0" r="0" t="0"/>
          <a:stretch/>
        </p:blipFill>
        <p:spPr>
          <a:xfrm>
            <a:off x="705002" y="2991002"/>
            <a:ext cx="281635" cy="281635"/>
          </a:xfrm>
          <a:prstGeom prst="rect">
            <a:avLst/>
          </a:prstGeom>
          <a:noFill/>
          <a:ln>
            <a:noFill/>
          </a:ln>
        </p:spPr>
      </p:pic>
      <p:sp>
        <p:nvSpPr>
          <p:cNvPr id="235" name="Google Shape;235;p7"/>
          <p:cNvSpPr txBox="1"/>
          <p:nvPr/>
        </p:nvSpPr>
        <p:spPr>
          <a:xfrm>
            <a:off x="1280160" y="2862072"/>
            <a:ext cx="3063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RAG・AIエージェント</a:t>
            </a:r>
            <a:endParaRPr b="0" i="0" sz="1300" u="none" cap="none" strike="noStrike">
              <a:solidFill>
                <a:schemeClr val="dk1"/>
              </a:solidFill>
              <a:latin typeface="Calibri"/>
              <a:ea typeface="Calibri"/>
              <a:cs typeface="Calibri"/>
              <a:sym typeface="Calibri"/>
            </a:endParaRPr>
          </a:p>
        </p:txBody>
      </p:sp>
      <p:sp>
        <p:nvSpPr>
          <p:cNvPr id="236" name="Google Shape;236;p7"/>
          <p:cNvSpPr txBox="1"/>
          <p:nvPr/>
        </p:nvSpPr>
        <p:spPr>
          <a:xfrm>
            <a:off x="1280160" y="3172968"/>
            <a:ext cx="306324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資料を渡して答えさせる（RAG）</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自分で調べて動くAI（エージェント）</a:t>
            </a:r>
            <a:endParaRPr b="0" i="0" sz="1050" u="none" cap="none" strike="noStrike">
              <a:solidFill>
                <a:schemeClr val="dk1"/>
              </a:solidFill>
              <a:latin typeface="Calibri"/>
              <a:ea typeface="Calibri"/>
              <a:cs typeface="Calibri"/>
              <a:sym typeface="Calibri"/>
            </a:endParaRPr>
          </a:p>
        </p:txBody>
      </p:sp>
      <p:sp>
        <p:nvSpPr>
          <p:cNvPr id="237" name="Google Shape;237;p7"/>
          <p:cNvSpPr/>
          <p:nvPr/>
        </p:nvSpPr>
        <p:spPr>
          <a:xfrm>
            <a:off x="4617720" y="2697480"/>
            <a:ext cx="4069080" cy="123444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7"/>
          <p:cNvSpPr/>
          <p:nvPr/>
        </p:nvSpPr>
        <p:spPr>
          <a:xfrm>
            <a:off x="4800600" y="2880360"/>
            <a:ext cx="502920" cy="50292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9" name="Google Shape;239;p7"/>
          <p:cNvPicPr preferRelativeResize="0"/>
          <p:nvPr/>
        </p:nvPicPr>
        <p:blipFill rotWithShape="1">
          <a:blip r:embed="rId6">
            <a:alphaModFix/>
          </a:blip>
          <a:srcRect b="0" l="0" r="0" t="0"/>
          <a:stretch/>
        </p:blipFill>
        <p:spPr>
          <a:xfrm>
            <a:off x="4911242" y="2991002"/>
            <a:ext cx="281635" cy="281635"/>
          </a:xfrm>
          <a:prstGeom prst="rect">
            <a:avLst/>
          </a:prstGeom>
          <a:noFill/>
          <a:ln>
            <a:noFill/>
          </a:ln>
        </p:spPr>
      </p:pic>
      <p:sp>
        <p:nvSpPr>
          <p:cNvPr id="240" name="Google Shape;240;p7"/>
          <p:cNvSpPr txBox="1"/>
          <p:nvPr/>
        </p:nvSpPr>
        <p:spPr>
          <a:xfrm>
            <a:off x="5486400" y="2862072"/>
            <a:ext cx="3063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1日の業務の洗い出し</a:t>
            </a:r>
            <a:endParaRPr b="0" i="0" sz="1300" u="none" cap="none" strike="noStrike">
              <a:solidFill>
                <a:schemeClr val="dk1"/>
              </a:solidFill>
              <a:latin typeface="Calibri"/>
              <a:ea typeface="Calibri"/>
              <a:cs typeface="Calibri"/>
              <a:sym typeface="Calibri"/>
            </a:endParaRPr>
          </a:p>
        </p:txBody>
      </p:sp>
      <p:sp>
        <p:nvSpPr>
          <p:cNvPr id="241" name="Google Shape;241;p7"/>
          <p:cNvSpPr txBox="1"/>
          <p:nvPr/>
        </p:nvSpPr>
        <p:spPr>
          <a:xfrm>
            <a:off x="5486400" y="3172968"/>
            <a:ext cx="306324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業務ごとのインプットと</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アウトプットを書き出す</a:t>
            </a:r>
            <a:endParaRPr b="0" i="0" sz="1050" u="none" cap="none" strike="noStrike">
              <a:solidFill>
                <a:schemeClr val="dk1"/>
              </a:solidFill>
              <a:latin typeface="Calibri"/>
              <a:ea typeface="Calibri"/>
              <a:cs typeface="Calibri"/>
              <a:sym typeface="Calibri"/>
            </a:endParaRPr>
          </a:p>
        </p:txBody>
      </p:sp>
      <p:sp>
        <p:nvSpPr>
          <p:cNvPr id="242" name="Google Shape;242;p7"/>
          <p:cNvSpPr txBox="1"/>
          <p:nvPr/>
        </p:nvSpPr>
        <p:spPr>
          <a:xfrm>
            <a:off x="411480" y="4206240"/>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300"/>
              <a:buFont typeface="Meiryo"/>
              <a:buNone/>
            </a:pPr>
            <a:r>
              <a:rPr b="1" i="0" lang="en-US" sz="1300" u="none" cap="none" strike="noStrike">
                <a:solidFill>
                  <a:srgbClr val="E8702A"/>
                </a:solidFill>
                <a:latin typeface="Meiryo"/>
                <a:ea typeface="Meiryo"/>
                <a:cs typeface="Meiryo"/>
                <a:sym typeface="Meiryo"/>
              </a:rPr>
              <a:t>今日は「業務の洗い出し」の続きから、自分の業務で実際に使うところまで進めます。</a:t>
            </a:r>
            <a:endParaRPr b="0" i="0" sz="1300" u="none" cap="none" strike="noStrike">
              <a:solidFill>
                <a:schemeClr val="dk1"/>
              </a:solidFill>
              <a:latin typeface="Calibri"/>
              <a:ea typeface="Calibri"/>
              <a:cs typeface="Calibri"/>
              <a:sym typeface="Calibri"/>
            </a:endParaRPr>
          </a:p>
        </p:txBody>
      </p:sp>
      <p:sp>
        <p:nvSpPr>
          <p:cNvPr id="243" name="Google Shape;243;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h259926ce4e4d5a8f_0_298"/>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sp>
        <p:nvSpPr>
          <p:cNvPr id="249" name="Google Shape;249;h259926ce4e4d5a8f_0_298"/>
          <p:cNvSpPr txBox="1"/>
          <p:nvPr>
            <p:ph idx="1" type="body"/>
          </p:nvPr>
        </p:nvSpPr>
        <p:spPr>
          <a:xfrm>
            <a:off x="562075" y="2483525"/>
            <a:ext cx="8370600" cy="1907700"/>
          </a:xfrm>
          <a:prstGeom prst="rect">
            <a:avLst/>
          </a:prstGeom>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US">
                <a:solidFill>
                  <a:schemeClr val="dk1"/>
                </a:solidFill>
              </a:rPr>
              <a:t>最近の生成AIは性能が高く、厳密なプロンプトがなくても精度の高い回答を返してくれることが増えました。</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US">
                <a:solidFill>
                  <a:schemeClr val="dk1"/>
                </a:solidFill>
              </a:rPr>
              <a:t>一方で、出力の形式を指定したり、回答の精度をもう一段高めたりしたい場合には、プロンプトの工夫が今も効果的です。</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US">
                <a:solidFill>
                  <a:schemeClr val="dk1"/>
                </a:solidFill>
              </a:rPr>
              <a:t>まずは難しく考えず、気軽にAIに話しかけてみることから始めましょう。</a:t>
            </a:r>
            <a:endParaRPr>
              <a:solidFill>
                <a:schemeClr val="dk1"/>
              </a:solidFill>
            </a:endParaRPr>
          </a:p>
        </p:txBody>
      </p:sp>
      <p:sp>
        <p:nvSpPr>
          <p:cNvPr id="250" name="Google Shape;250;h259926ce4e4d5a8f_0_298"/>
          <p:cNvSpPr txBox="1"/>
          <p:nvPr/>
        </p:nvSpPr>
        <p:spPr>
          <a:xfrm>
            <a:off x="1622250" y="1937163"/>
            <a:ext cx="5899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1"/>
                </a:solidFill>
              </a:rPr>
              <a:t>・・・</a:t>
            </a:r>
            <a:r>
              <a:rPr b="1" lang="en-US" sz="2000" u="sng">
                <a:solidFill>
                  <a:schemeClr val="dk1"/>
                </a:solidFill>
              </a:rPr>
              <a:t>AIに与える指示文</a:t>
            </a:r>
            <a:r>
              <a:rPr b="1" lang="en-US" sz="2000">
                <a:solidFill>
                  <a:schemeClr val="dk1"/>
                </a:solidFill>
              </a:rPr>
              <a:t>のこと</a:t>
            </a:r>
            <a:endParaRPr b="1" sz="2000">
              <a:solidFill>
                <a:schemeClr val="dk1"/>
              </a:solidFill>
            </a:endParaRPr>
          </a:p>
        </p:txBody>
      </p:sp>
      <p:pic>
        <p:nvPicPr>
          <p:cNvPr id="251" name="Google Shape;251;h259926ce4e4d5a8f_0_298" title="nayami_question_42375-300x300.jpg"/>
          <p:cNvPicPr preferRelativeResize="0"/>
          <p:nvPr/>
        </p:nvPicPr>
        <p:blipFill>
          <a:blip r:embed="rId3">
            <a:alphaModFix/>
          </a:blip>
          <a:stretch>
            <a:fillRect/>
          </a:stretch>
        </p:blipFill>
        <p:spPr>
          <a:xfrm>
            <a:off x="902850" y="491800"/>
            <a:ext cx="1686725" cy="1686725"/>
          </a:xfrm>
          <a:prstGeom prst="rect">
            <a:avLst/>
          </a:prstGeom>
          <a:noFill/>
          <a:ln>
            <a:noFill/>
          </a:ln>
        </p:spPr>
      </p:pic>
      <p:sp>
        <p:nvSpPr>
          <p:cNvPr id="252" name="Google Shape;252;h259926ce4e4d5a8f_0_298"/>
          <p:cNvSpPr/>
          <p:nvPr/>
        </p:nvSpPr>
        <p:spPr>
          <a:xfrm>
            <a:off x="2901600" y="491800"/>
            <a:ext cx="3340800" cy="572700"/>
          </a:xfrm>
          <a:prstGeom prst="wedgeRoundRectCallout">
            <a:avLst>
              <a:gd fmla="val -52260" name="adj1"/>
              <a:gd fmla="val 86778" name="adj2"/>
              <a:gd fmla="val 0" name="adj3"/>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a:t>
            </a:r>
            <a:r>
              <a:rPr b="1" lang="en-US"/>
              <a:t>プロンプト</a:t>
            </a:r>
            <a:r>
              <a:rPr lang="en-US"/>
              <a:t>」ってなに？</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h259926ce4e4d5a8f_0_403"/>
          <p:cNvSpPr txBox="1"/>
          <p:nvPr>
            <p:ph idx="1" type="body"/>
          </p:nvPr>
        </p:nvSpPr>
        <p:spPr>
          <a:xfrm>
            <a:off x="1594000" y="2358038"/>
            <a:ext cx="6256800" cy="16422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chemeClr val="dk1"/>
                </a:solidFill>
              </a:rPr>
              <a:t>　新潟県長岡駅から群馬県高崎駅への交通手段と所要時間をまとめて。</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　</a:t>
            </a:r>
            <a:r>
              <a:rPr b="1" lang="en-US" sz="1400">
                <a:solidFill>
                  <a:schemeClr val="dk1"/>
                </a:solidFill>
              </a:rPr>
              <a:t>例） </a:t>
            </a:r>
            <a:endParaRPr b="1" sz="1400">
              <a:solidFill>
                <a:schemeClr val="dk1"/>
              </a:solidFill>
            </a:endParaRPr>
          </a:p>
          <a:p>
            <a:pPr indent="0" lvl="0" marL="0" rtl="0" algn="l">
              <a:spcBef>
                <a:spcPts val="0"/>
              </a:spcBef>
              <a:spcAft>
                <a:spcPts val="0"/>
              </a:spcAft>
              <a:buNone/>
            </a:pPr>
            <a:r>
              <a:rPr b="1" lang="en-US">
                <a:solidFill>
                  <a:schemeClr val="dk1"/>
                </a:solidFill>
              </a:rPr>
              <a:t>　　手段：自動車</a:t>
            </a:r>
            <a:endParaRPr b="1">
              <a:solidFill>
                <a:schemeClr val="dk1"/>
              </a:solidFill>
            </a:endParaRPr>
          </a:p>
          <a:p>
            <a:pPr indent="0" lvl="0" marL="0" rtl="0" algn="l">
              <a:spcBef>
                <a:spcPts val="0"/>
              </a:spcBef>
              <a:spcAft>
                <a:spcPts val="0"/>
              </a:spcAft>
              <a:buNone/>
            </a:pPr>
            <a:r>
              <a:rPr b="1" lang="en-US">
                <a:solidFill>
                  <a:schemeClr val="dk1"/>
                </a:solidFill>
              </a:rPr>
              <a:t>　　所要時間：〇〇分</a:t>
            </a:r>
            <a:endParaRPr b="1">
              <a:solidFill>
                <a:schemeClr val="dk1"/>
              </a:solidFill>
            </a:endParaRPr>
          </a:p>
          <a:p>
            <a:pPr indent="0" lvl="0" marL="0" rtl="0" algn="l">
              <a:spcBef>
                <a:spcPts val="0"/>
              </a:spcBef>
              <a:spcAft>
                <a:spcPts val="0"/>
              </a:spcAft>
              <a:buNone/>
            </a:pPr>
            <a:r>
              <a:rPr b="1" lang="en-US">
                <a:solidFill>
                  <a:schemeClr val="dk1"/>
                </a:solidFill>
              </a:rPr>
              <a:t>　　備考：△△△△△△△△</a:t>
            </a:r>
            <a:endParaRPr b="1">
              <a:solidFill>
                <a:schemeClr val="dk1"/>
              </a:solidFill>
            </a:endParaRPr>
          </a:p>
        </p:txBody>
      </p:sp>
      <p:sp>
        <p:nvSpPr>
          <p:cNvPr id="258" name="Google Shape;258;h259926ce4e4d5a8f_0_403"/>
          <p:cNvSpPr txBox="1"/>
          <p:nvPr>
            <p:ph type="title"/>
          </p:nvPr>
        </p:nvSpPr>
        <p:spPr>
          <a:xfrm>
            <a:off x="302175" y="283100"/>
            <a:ext cx="6422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US" sz="2500"/>
              <a:t>①その場で学習させる（Few-shot）</a:t>
            </a:r>
            <a:endParaRPr b="1" sz="2500"/>
          </a:p>
        </p:txBody>
      </p:sp>
      <p:sp>
        <p:nvSpPr>
          <p:cNvPr id="259" name="Google Shape;259;h259926ce4e4d5a8f_0_403"/>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sp>
        <p:nvSpPr>
          <p:cNvPr id="260" name="Google Shape;260;h259926ce4e4d5a8f_0_403"/>
          <p:cNvSpPr/>
          <p:nvPr/>
        </p:nvSpPr>
        <p:spPr>
          <a:xfrm>
            <a:off x="6038400" y="283100"/>
            <a:ext cx="2793900" cy="637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a:t>昨年度の資料より</a:t>
            </a:r>
            <a:endParaRPr b="1"/>
          </a:p>
        </p:txBody>
      </p:sp>
      <p:sp>
        <p:nvSpPr>
          <p:cNvPr id="261" name="Google Shape;261;h259926ce4e4d5a8f_0_403"/>
          <p:cNvSpPr txBox="1"/>
          <p:nvPr>
            <p:ph idx="1" type="body"/>
          </p:nvPr>
        </p:nvSpPr>
        <p:spPr>
          <a:xfrm>
            <a:off x="1594000" y="1368388"/>
            <a:ext cx="6256800" cy="5727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chemeClr val="dk1"/>
                </a:solidFill>
              </a:rPr>
              <a:t>　新潟県</a:t>
            </a:r>
            <a:r>
              <a:rPr lang="en-US" sz="1400">
                <a:solidFill>
                  <a:schemeClr val="dk1"/>
                </a:solidFill>
              </a:rPr>
              <a:t>長岡駅から</a:t>
            </a:r>
            <a:r>
              <a:rPr lang="en-US">
                <a:solidFill>
                  <a:schemeClr val="dk1"/>
                </a:solidFill>
              </a:rPr>
              <a:t>群馬県高崎</a:t>
            </a:r>
            <a:r>
              <a:rPr lang="en-US" sz="1400">
                <a:solidFill>
                  <a:schemeClr val="dk1"/>
                </a:solidFill>
              </a:rPr>
              <a:t>駅への</a:t>
            </a:r>
            <a:r>
              <a:rPr lang="en-US">
                <a:solidFill>
                  <a:schemeClr val="dk1"/>
                </a:solidFill>
              </a:rPr>
              <a:t>交通手段と</a:t>
            </a:r>
            <a:r>
              <a:rPr lang="en-US" sz="1400">
                <a:solidFill>
                  <a:schemeClr val="dk1"/>
                </a:solidFill>
              </a:rPr>
              <a:t>所要時間をまとめて</a:t>
            </a:r>
            <a:r>
              <a:rPr lang="en-US">
                <a:solidFill>
                  <a:schemeClr val="dk1"/>
                </a:solidFill>
              </a:rPr>
              <a:t>。</a:t>
            </a:r>
            <a:endParaRPr sz="1400">
              <a:solidFill>
                <a:schemeClr val="dk1"/>
              </a:solidFill>
            </a:endParaRPr>
          </a:p>
        </p:txBody>
      </p:sp>
      <p:sp>
        <p:nvSpPr>
          <p:cNvPr id="262" name="Google Shape;262;h259926ce4e4d5a8f_0_403"/>
          <p:cNvSpPr txBox="1"/>
          <p:nvPr/>
        </p:nvSpPr>
        <p:spPr>
          <a:xfrm>
            <a:off x="1093900" y="1368400"/>
            <a:ext cx="50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a:t>
            </a:r>
            <a:endParaRPr/>
          </a:p>
        </p:txBody>
      </p:sp>
      <p:sp>
        <p:nvSpPr>
          <p:cNvPr id="263" name="Google Shape;263;h259926ce4e4d5a8f_0_403"/>
          <p:cNvSpPr txBox="1"/>
          <p:nvPr/>
        </p:nvSpPr>
        <p:spPr>
          <a:xfrm>
            <a:off x="1093900" y="2358050"/>
            <a:ext cx="50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h259926ce4e4d5a8f_0_413"/>
          <p:cNvSpPr txBox="1"/>
          <p:nvPr>
            <p:ph idx="1" type="body"/>
          </p:nvPr>
        </p:nvSpPr>
        <p:spPr>
          <a:xfrm>
            <a:off x="1245300" y="1153013"/>
            <a:ext cx="7153500" cy="17202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chemeClr val="dk1"/>
                </a:solidFill>
              </a:rPr>
              <a:t>　企業のイベント告知文を作成してください。</a:t>
            </a:r>
            <a:endParaRPr>
              <a:solidFill>
                <a:schemeClr val="dk1"/>
              </a:solidFill>
            </a:endParaRPr>
          </a:p>
          <a:p>
            <a:pPr indent="0" lvl="0" marL="0" rtl="0" algn="l">
              <a:lnSpc>
                <a:spcPct val="115000"/>
              </a:lnSpc>
              <a:spcBef>
                <a:spcPts val="0"/>
              </a:spcBef>
              <a:spcAft>
                <a:spcPts val="0"/>
              </a:spcAft>
              <a:buNone/>
            </a:pPr>
            <a:r>
              <a:rPr lang="en-US">
                <a:solidFill>
                  <a:schemeClr val="dk1"/>
                </a:solidFill>
              </a:rPr>
              <a:t> 　例） </a:t>
            </a:r>
            <a:endParaRPr>
              <a:solidFill>
                <a:schemeClr val="dk1"/>
              </a:solidFill>
            </a:endParaRPr>
          </a:p>
          <a:p>
            <a:pPr indent="0" lvl="0" marL="0" rtl="0" algn="l">
              <a:lnSpc>
                <a:spcPct val="115000"/>
              </a:lnSpc>
              <a:spcBef>
                <a:spcPts val="0"/>
              </a:spcBef>
              <a:spcAft>
                <a:spcPts val="0"/>
              </a:spcAft>
              <a:buNone/>
            </a:pPr>
            <a:r>
              <a:rPr lang="en-US">
                <a:solidFill>
                  <a:schemeClr val="dk1"/>
                </a:solidFill>
              </a:rPr>
              <a:t>　イベント名：業務効率化DXセミナー </a:t>
            </a:r>
            <a:endParaRPr>
              <a:solidFill>
                <a:schemeClr val="dk1"/>
              </a:solidFill>
            </a:endParaRPr>
          </a:p>
          <a:p>
            <a:pPr indent="0" lvl="0" marL="0" rtl="0" algn="l">
              <a:lnSpc>
                <a:spcPct val="115000"/>
              </a:lnSpc>
              <a:spcBef>
                <a:spcPts val="0"/>
              </a:spcBef>
              <a:spcAft>
                <a:spcPts val="0"/>
              </a:spcAft>
              <a:buNone/>
            </a:pPr>
            <a:r>
              <a:rPr lang="en-US">
                <a:solidFill>
                  <a:schemeClr val="dk1"/>
                </a:solidFill>
              </a:rPr>
              <a:t>　日時：2025年12月4日(木) 14:00～15:00 </a:t>
            </a:r>
            <a:endParaRPr>
              <a:solidFill>
                <a:schemeClr val="dk1"/>
              </a:solidFill>
            </a:endParaRPr>
          </a:p>
          <a:p>
            <a:pPr indent="0" lvl="0" marL="0" rtl="0" algn="l">
              <a:lnSpc>
                <a:spcPct val="115000"/>
              </a:lnSpc>
              <a:spcBef>
                <a:spcPts val="0"/>
              </a:spcBef>
              <a:spcAft>
                <a:spcPts val="0"/>
              </a:spcAft>
              <a:buNone/>
            </a:pPr>
            <a:r>
              <a:rPr lang="en-US">
                <a:solidFill>
                  <a:schemeClr val="dk1"/>
                </a:solidFill>
              </a:rPr>
              <a:t>　形式：オンライン（Zoom） </a:t>
            </a:r>
            <a:endParaRPr>
              <a:solidFill>
                <a:schemeClr val="dk1"/>
              </a:solidFill>
            </a:endParaRPr>
          </a:p>
          <a:p>
            <a:pPr indent="0" lvl="0" marL="0" rtl="0" algn="l">
              <a:lnSpc>
                <a:spcPct val="115000"/>
              </a:lnSpc>
              <a:spcBef>
                <a:spcPts val="0"/>
              </a:spcBef>
              <a:spcAft>
                <a:spcPts val="0"/>
              </a:spcAft>
              <a:buNone/>
            </a:pPr>
            <a:r>
              <a:rPr lang="en-US">
                <a:solidFill>
                  <a:schemeClr val="dk1"/>
                </a:solidFill>
              </a:rPr>
              <a:t>　ポイント：最新のAI活用事例を紹介、参加費無料 </a:t>
            </a:r>
            <a:endParaRPr sz="1400">
              <a:solidFill>
                <a:schemeClr val="dk1"/>
              </a:solidFill>
            </a:endParaRPr>
          </a:p>
        </p:txBody>
      </p:sp>
      <p:sp>
        <p:nvSpPr>
          <p:cNvPr id="269" name="Google Shape;269;h259926ce4e4d5a8f_0_413"/>
          <p:cNvSpPr txBox="1"/>
          <p:nvPr>
            <p:ph idx="1" type="body"/>
          </p:nvPr>
        </p:nvSpPr>
        <p:spPr>
          <a:xfrm>
            <a:off x="1245300" y="2970536"/>
            <a:ext cx="7153500" cy="1593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chemeClr val="dk1"/>
                </a:solidFill>
              </a:rPr>
              <a:t>　顧客からの問い合わせに対する返信メールを作成してください。 </a:t>
            </a:r>
            <a:endParaRPr>
              <a:solidFill>
                <a:schemeClr val="dk1"/>
              </a:solidFill>
            </a:endParaRPr>
          </a:p>
          <a:p>
            <a:pPr indent="0" lvl="0" marL="0" rtl="0" algn="l">
              <a:spcBef>
                <a:spcPts val="0"/>
              </a:spcBef>
              <a:spcAft>
                <a:spcPts val="0"/>
              </a:spcAft>
              <a:buNone/>
            </a:pPr>
            <a:r>
              <a:rPr lang="en-US">
                <a:solidFill>
                  <a:schemeClr val="dk1"/>
                </a:solidFill>
              </a:rPr>
              <a:t>　入力された状況に基づき、謝罪と解決策を含む丁寧な文面にしてください。 </a:t>
            </a:r>
            <a:endParaRPr>
              <a:solidFill>
                <a:schemeClr val="dk1"/>
              </a:solidFill>
            </a:endParaRPr>
          </a:p>
          <a:p>
            <a:pPr indent="0" lvl="0" marL="0" rtl="0" algn="l">
              <a:spcBef>
                <a:spcPts val="0"/>
              </a:spcBef>
              <a:spcAft>
                <a:spcPts val="0"/>
              </a:spcAft>
              <a:buNone/>
            </a:pPr>
            <a:r>
              <a:rPr lang="en-US">
                <a:solidFill>
                  <a:schemeClr val="dk1"/>
                </a:solidFill>
              </a:rPr>
              <a:t>　例） </a:t>
            </a:r>
            <a:endParaRPr>
              <a:solidFill>
                <a:schemeClr val="dk1"/>
              </a:solidFill>
            </a:endParaRPr>
          </a:p>
          <a:p>
            <a:pPr indent="0" lvl="0" marL="0" rtl="0" algn="l">
              <a:spcBef>
                <a:spcPts val="0"/>
              </a:spcBef>
              <a:spcAft>
                <a:spcPts val="0"/>
              </a:spcAft>
              <a:buNone/>
            </a:pPr>
            <a:r>
              <a:rPr lang="en-US">
                <a:solidFill>
                  <a:schemeClr val="dk1"/>
                </a:solidFill>
              </a:rPr>
              <a:t>　状況：注文した商品（型番A-01）が届かない </a:t>
            </a:r>
            <a:endParaRPr>
              <a:solidFill>
                <a:schemeClr val="dk1"/>
              </a:solidFill>
            </a:endParaRPr>
          </a:p>
          <a:p>
            <a:pPr indent="0" lvl="0" marL="0" rtl="0" algn="l">
              <a:spcBef>
                <a:spcPts val="0"/>
              </a:spcBef>
              <a:spcAft>
                <a:spcPts val="0"/>
              </a:spcAft>
              <a:buNone/>
            </a:pPr>
            <a:r>
              <a:rPr lang="en-US">
                <a:solidFill>
                  <a:schemeClr val="dk1"/>
                </a:solidFill>
              </a:rPr>
              <a:t>　原因：配送業者の手配ミス </a:t>
            </a:r>
            <a:endParaRPr>
              <a:solidFill>
                <a:schemeClr val="dk1"/>
              </a:solidFill>
            </a:endParaRPr>
          </a:p>
          <a:p>
            <a:pPr indent="0" lvl="0" marL="0" rtl="0" algn="l">
              <a:spcBef>
                <a:spcPts val="0"/>
              </a:spcBef>
              <a:spcAft>
                <a:spcPts val="0"/>
              </a:spcAft>
              <a:buNone/>
            </a:pPr>
            <a:r>
              <a:rPr lang="en-US">
                <a:solidFill>
                  <a:schemeClr val="dk1"/>
                </a:solidFill>
              </a:rPr>
              <a:t>　対応：本日速達で再送、明日到着予定</a:t>
            </a:r>
            <a:endParaRPr>
              <a:solidFill>
                <a:schemeClr val="dk1"/>
              </a:solidFill>
            </a:endParaRPr>
          </a:p>
        </p:txBody>
      </p:sp>
      <p:sp>
        <p:nvSpPr>
          <p:cNvPr id="270" name="Google Shape;270;h259926ce4e4d5a8f_0_413"/>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sp>
        <p:nvSpPr>
          <p:cNvPr id="271" name="Google Shape;271;h259926ce4e4d5a8f_0_413"/>
          <p:cNvSpPr txBox="1"/>
          <p:nvPr/>
        </p:nvSpPr>
        <p:spPr>
          <a:xfrm>
            <a:off x="745200" y="1153025"/>
            <a:ext cx="50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(例)</a:t>
            </a:r>
            <a:endParaRPr/>
          </a:p>
        </p:txBody>
      </p:sp>
      <p:sp>
        <p:nvSpPr>
          <p:cNvPr id="272" name="Google Shape;272;h259926ce4e4d5a8f_0_413"/>
          <p:cNvSpPr txBox="1"/>
          <p:nvPr/>
        </p:nvSpPr>
        <p:spPr>
          <a:xfrm>
            <a:off x="745200" y="2980825"/>
            <a:ext cx="50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(例)</a:t>
            </a:r>
            <a:endParaRPr/>
          </a:p>
        </p:txBody>
      </p:sp>
      <p:sp>
        <p:nvSpPr>
          <p:cNvPr id="273" name="Google Shape;273;h259926ce4e4d5a8f_0_413"/>
          <p:cNvSpPr txBox="1"/>
          <p:nvPr>
            <p:ph type="title"/>
          </p:nvPr>
        </p:nvSpPr>
        <p:spPr>
          <a:xfrm>
            <a:off x="302175" y="283100"/>
            <a:ext cx="6422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US" sz="2500"/>
              <a:t>Few-shotの例</a:t>
            </a:r>
            <a:endParaRPr b="1" sz="2500"/>
          </a:p>
        </p:txBody>
      </p:sp>
      <p:sp>
        <p:nvSpPr>
          <p:cNvPr id="274" name="Google Shape;260;h259926ce4e4d5a8f_0_403"/>
          <p:cNvSpPr/>
          <p:nvPr/>
        </p:nvSpPr>
        <p:spPr>
          <a:xfrm>
            <a:off x="6038400" y="283100"/>
            <a:ext cx="2793900" cy="637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a:t>昨年度の資料より</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h259926ce4e4d5a8f_0_461"/>
          <p:cNvSpPr txBox="1"/>
          <p:nvPr>
            <p:ph idx="1" type="body"/>
          </p:nvPr>
        </p:nvSpPr>
        <p:spPr>
          <a:xfrm>
            <a:off x="748475" y="1346700"/>
            <a:ext cx="8520600" cy="2835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rPr>
              <a:t>①役割を与える</a:t>
            </a:r>
            <a:endParaRPr b="1" sz="3000">
              <a:solidFill>
                <a:schemeClr val="dk1"/>
              </a:solidFill>
            </a:endParaRPr>
          </a:p>
          <a:p>
            <a:pPr indent="0" lvl="0" marL="0" rtl="0" algn="l">
              <a:lnSpc>
                <a:spcPct val="150000"/>
              </a:lnSpc>
              <a:spcBef>
                <a:spcPts val="0"/>
              </a:spcBef>
              <a:spcAft>
                <a:spcPts val="0"/>
              </a:spcAft>
              <a:buNone/>
            </a:pPr>
            <a:r>
              <a:rPr b="1" lang="en-US" sz="3000">
                <a:solidFill>
                  <a:schemeClr val="dk1"/>
                </a:solidFill>
              </a:rPr>
              <a:t>②タスクの進め方を指定する</a:t>
            </a:r>
            <a:endParaRPr b="1" sz="3000">
              <a:solidFill>
                <a:schemeClr val="dk1"/>
              </a:solidFill>
            </a:endParaRPr>
          </a:p>
          <a:p>
            <a:pPr indent="0" lvl="0" marL="0" rtl="0" algn="l">
              <a:lnSpc>
                <a:spcPct val="150000"/>
              </a:lnSpc>
              <a:spcBef>
                <a:spcPts val="0"/>
              </a:spcBef>
              <a:spcAft>
                <a:spcPts val="0"/>
              </a:spcAft>
              <a:buNone/>
            </a:pPr>
            <a:r>
              <a:rPr b="1" lang="en-US" sz="3000">
                <a:solidFill>
                  <a:schemeClr val="dk1"/>
                </a:solidFill>
              </a:rPr>
              <a:t>③フォーマットを指定する</a:t>
            </a:r>
            <a:endParaRPr b="1" sz="3000">
              <a:solidFill>
                <a:schemeClr val="dk1"/>
              </a:solidFill>
            </a:endParaRPr>
          </a:p>
        </p:txBody>
      </p:sp>
      <p:sp>
        <p:nvSpPr>
          <p:cNvPr id="279" name="Google Shape;279;h259926ce4e4d5a8f_0_461"/>
          <p:cNvSpPr txBox="1"/>
          <p:nvPr>
            <p:ph type="title"/>
          </p:nvPr>
        </p:nvSpPr>
        <p:spPr>
          <a:xfrm>
            <a:off x="311700" y="417250"/>
            <a:ext cx="6422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600"/>
              <a:t>複雑なタスクへの対応</a:t>
            </a:r>
            <a:endParaRPr b="1" sz="2600"/>
          </a:p>
        </p:txBody>
      </p:sp>
      <p:sp>
        <p:nvSpPr>
          <p:cNvPr id="280" name="Google Shape;280;h259926ce4e4d5a8f_0_461"/>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sp>
        <p:nvSpPr>
          <p:cNvPr id="281" name="Google Shape;260;h259926ce4e4d5a8f_0_403"/>
          <p:cNvSpPr/>
          <p:nvPr/>
        </p:nvSpPr>
        <p:spPr>
          <a:xfrm>
            <a:off x="6038400" y="283100"/>
            <a:ext cx="2793900" cy="637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a:t>昨年度の資料より</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h259926ce4e4d5a8f_0_506"/>
          <p:cNvSpPr txBox="1"/>
          <p:nvPr>
            <p:ph idx="1" type="body"/>
          </p:nvPr>
        </p:nvSpPr>
        <p:spPr>
          <a:xfrm>
            <a:off x="938750" y="1009775"/>
            <a:ext cx="7430100" cy="12930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chemeClr val="dk1"/>
                </a:solidFill>
              </a:rPr>
              <a:t>ユーザーからの質問や指示に対し、</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外部データを検索して回答を生成する技術です。 </a:t>
            </a:r>
            <a:endParaRPr sz="1800">
              <a:solidFill>
                <a:schemeClr val="dk1"/>
              </a:solidFill>
            </a:endParaRPr>
          </a:p>
          <a:p>
            <a:pPr indent="0" lvl="0" marL="0" rtl="0" algn="l">
              <a:spcBef>
                <a:spcPts val="0"/>
              </a:spcBef>
              <a:spcAft>
                <a:spcPts val="0"/>
              </a:spcAft>
              <a:buNone/>
            </a:pPr>
            <a:r>
              <a:rPr lang="en-US" sz="1800">
                <a:solidFill>
                  <a:schemeClr val="dk1"/>
                </a:solidFill>
              </a:rPr>
              <a:t>これにより、AIは自身の学習データにない最新情報や、</a:t>
            </a:r>
            <a:endParaRPr sz="1800">
              <a:solidFill>
                <a:schemeClr val="dk1"/>
              </a:solidFill>
            </a:endParaRPr>
          </a:p>
          <a:p>
            <a:pPr indent="0" lvl="0" marL="0" rtl="0" algn="l">
              <a:spcBef>
                <a:spcPts val="0"/>
              </a:spcBef>
              <a:spcAft>
                <a:spcPts val="0"/>
              </a:spcAft>
              <a:buNone/>
            </a:pPr>
            <a:r>
              <a:rPr lang="en-US" sz="1800">
                <a:solidFill>
                  <a:schemeClr val="dk1"/>
                </a:solidFill>
              </a:rPr>
              <a:t>特定のドメイン知識を取り入れた回答が可能となります。</a:t>
            </a:r>
            <a:endParaRPr sz="1800">
              <a:solidFill>
                <a:schemeClr val="dk1"/>
              </a:solidFill>
            </a:endParaRPr>
          </a:p>
        </p:txBody>
      </p:sp>
      <p:sp>
        <p:nvSpPr>
          <p:cNvPr id="286" name="Google Shape;286;h259926ce4e4d5a8f_0_506"/>
          <p:cNvSpPr txBox="1"/>
          <p:nvPr>
            <p:ph type="title"/>
          </p:nvPr>
        </p:nvSpPr>
        <p:spPr>
          <a:xfrm>
            <a:off x="302175" y="283100"/>
            <a:ext cx="6422400" cy="572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500"/>
              <a:t>RAG</a:t>
            </a:r>
            <a:endParaRPr b="1" sz="2500"/>
          </a:p>
        </p:txBody>
      </p:sp>
      <p:pic>
        <p:nvPicPr>
          <p:cNvPr id="287" name="Google Shape;287;h259926ce4e4d5a8f_0_506"/>
          <p:cNvPicPr preferRelativeResize="0"/>
          <p:nvPr/>
        </p:nvPicPr>
        <p:blipFill>
          <a:blip r:embed="rId3">
            <a:alphaModFix/>
          </a:blip>
          <a:stretch>
            <a:fillRect/>
          </a:stretch>
        </p:blipFill>
        <p:spPr>
          <a:xfrm>
            <a:off x="4489975" y="2953439"/>
            <a:ext cx="1033851" cy="1033851"/>
          </a:xfrm>
          <a:prstGeom prst="rect">
            <a:avLst/>
          </a:prstGeom>
          <a:noFill/>
          <a:ln>
            <a:noFill/>
          </a:ln>
        </p:spPr>
      </p:pic>
      <p:sp>
        <p:nvSpPr>
          <p:cNvPr id="288" name="Google Shape;288;h259926ce4e4d5a8f_0_506"/>
          <p:cNvSpPr/>
          <p:nvPr/>
        </p:nvSpPr>
        <p:spPr>
          <a:xfrm rot="2700000">
            <a:off x="5535104" y="3275423"/>
            <a:ext cx="422991" cy="422991"/>
          </a:xfrm>
          <a:prstGeom prst="plus">
            <a:avLst>
              <a:gd fmla="val 42388" name="adj"/>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89" name="Google Shape;289;h259926ce4e4d5a8f_0_506"/>
          <p:cNvGrpSpPr/>
          <p:nvPr/>
        </p:nvGrpSpPr>
        <p:grpSpPr>
          <a:xfrm>
            <a:off x="6225500" y="2938025"/>
            <a:ext cx="1725600" cy="1064700"/>
            <a:chOff x="5640925" y="2874450"/>
            <a:chExt cx="1725600" cy="1064700"/>
          </a:xfrm>
        </p:grpSpPr>
        <p:sp>
          <p:nvSpPr>
            <p:cNvPr id="290" name="Google Shape;290;h259926ce4e4d5a8f_0_506"/>
            <p:cNvSpPr/>
            <p:nvPr/>
          </p:nvSpPr>
          <p:spPr>
            <a:xfrm>
              <a:off x="5640925" y="2874450"/>
              <a:ext cx="1725600" cy="1064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h259926ce4e4d5a8f_0_506"/>
            <p:cNvSpPr/>
            <p:nvPr/>
          </p:nvSpPr>
          <p:spPr>
            <a:xfrm>
              <a:off x="5817975" y="3580925"/>
              <a:ext cx="422925" cy="165500"/>
            </a:xfrm>
            <a:prstGeom prst="flowChartMagneticDisk">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h259926ce4e4d5a8f_0_506"/>
            <p:cNvSpPr/>
            <p:nvPr/>
          </p:nvSpPr>
          <p:spPr>
            <a:xfrm>
              <a:off x="5817975" y="3472025"/>
              <a:ext cx="422925" cy="165500"/>
            </a:xfrm>
            <a:prstGeom prst="flowChartMagneticDisk">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h259926ce4e4d5a8f_0_506"/>
            <p:cNvSpPr/>
            <p:nvPr/>
          </p:nvSpPr>
          <p:spPr>
            <a:xfrm>
              <a:off x="5817975" y="3364450"/>
              <a:ext cx="422925" cy="165500"/>
            </a:xfrm>
            <a:prstGeom prst="flowChartMagneticDisk">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4" name="Google Shape;294;h259926ce4e4d5a8f_0_506"/>
            <p:cNvPicPr preferRelativeResize="0"/>
            <p:nvPr/>
          </p:nvPicPr>
          <p:blipFill>
            <a:blip r:embed="rId4">
              <a:alphaModFix/>
            </a:blip>
            <a:stretch>
              <a:fillRect/>
            </a:stretch>
          </p:blipFill>
          <p:spPr>
            <a:xfrm>
              <a:off x="6318825" y="3263850"/>
              <a:ext cx="391982" cy="342300"/>
            </a:xfrm>
            <a:prstGeom prst="rect">
              <a:avLst/>
            </a:prstGeom>
            <a:noFill/>
            <a:ln>
              <a:noFill/>
            </a:ln>
          </p:spPr>
        </p:pic>
        <p:pic>
          <p:nvPicPr>
            <p:cNvPr id="295" name="Google Shape;295;h259926ce4e4d5a8f_0_506"/>
            <p:cNvPicPr preferRelativeResize="0"/>
            <p:nvPr/>
          </p:nvPicPr>
          <p:blipFill>
            <a:blip r:embed="rId4">
              <a:alphaModFix/>
            </a:blip>
            <a:stretch>
              <a:fillRect/>
            </a:stretch>
          </p:blipFill>
          <p:spPr>
            <a:xfrm>
              <a:off x="6660893" y="3263850"/>
              <a:ext cx="391982" cy="342300"/>
            </a:xfrm>
            <a:prstGeom prst="rect">
              <a:avLst/>
            </a:prstGeom>
            <a:noFill/>
            <a:ln>
              <a:noFill/>
            </a:ln>
          </p:spPr>
        </p:pic>
        <p:pic>
          <p:nvPicPr>
            <p:cNvPr id="296" name="Google Shape;296;h259926ce4e4d5a8f_0_506"/>
            <p:cNvPicPr preferRelativeResize="0"/>
            <p:nvPr/>
          </p:nvPicPr>
          <p:blipFill>
            <a:blip r:embed="rId4">
              <a:alphaModFix/>
            </a:blip>
            <a:stretch>
              <a:fillRect/>
            </a:stretch>
          </p:blipFill>
          <p:spPr>
            <a:xfrm>
              <a:off x="6489863" y="3459825"/>
              <a:ext cx="391982" cy="342300"/>
            </a:xfrm>
            <a:prstGeom prst="rect">
              <a:avLst/>
            </a:prstGeom>
            <a:noFill/>
            <a:ln>
              <a:noFill/>
            </a:ln>
          </p:spPr>
        </p:pic>
        <p:pic>
          <p:nvPicPr>
            <p:cNvPr id="297" name="Google Shape;297;h259926ce4e4d5a8f_0_506"/>
            <p:cNvPicPr preferRelativeResize="0"/>
            <p:nvPr/>
          </p:nvPicPr>
          <p:blipFill>
            <a:blip r:embed="rId4">
              <a:alphaModFix/>
            </a:blip>
            <a:stretch>
              <a:fillRect/>
            </a:stretch>
          </p:blipFill>
          <p:spPr>
            <a:xfrm>
              <a:off x="6831931" y="3459825"/>
              <a:ext cx="391982" cy="342300"/>
            </a:xfrm>
            <a:prstGeom prst="rect">
              <a:avLst/>
            </a:prstGeom>
            <a:noFill/>
            <a:ln>
              <a:noFill/>
            </a:ln>
          </p:spPr>
        </p:pic>
        <p:sp>
          <p:nvSpPr>
            <p:cNvPr id="298" name="Google Shape;298;h259926ce4e4d5a8f_0_506"/>
            <p:cNvSpPr txBox="1"/>
            <p:nvPr/>
          </p:nvSpPr>
          <p:spPr>
            <a:xfrm>
              <a:off x="5674150" y="2874450"/>
              <a:ext cx="1451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2"/>
                  </a:solidFill>
                </a:rPr>
                <a:t>参照データ</a:t>
              </a:r>
              <a:endParaRPr b="1" sz="1200">
                <a:solidFill>
                  <a:schemeClr val="dk2"/>
                </a:solidFill>
              </a:endParaRPr>
            </a:p>
          </p:txBody>
        </p:sp>
      </p:grpSp>
      <p:sp>
        <p:nvSpPr>
          <p:cNvPr id="299" name="Google Shape;299;h259926ce4e4d5a8f_0_506"/>
          <p:cNvSpPr/>
          <p:nvPr/>
        </p:nvSpPr>
        <p:spPr>
          <a:xfrm>
            <a:off x="3187350" y="3371425"/>
            <a:ext cx="493500" cy="2310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h259926ce4e4d5a8f_0_506"/>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pic>
        <p:nvPicPr>
          <p:cNvPr id="301" name="Google Shape;301;h259926ce4e4d5a8f_0_506"/>
          <p:cNvPicPr preferRelativeResize="0"/>
          <p:nvPr/>
        </p:nvPicPr>
        <p:blipFill>
          <a:blip r:embed="rId5">
            <a:alphaModFix/>
          </a:blip>
          <a:stretch>
            <a:fillRect/>
          </a:stretch>
        </p:blipFill>
        <p:spPr>
          <a:xfrm>
            <a:off x="1109813" y="2814025"/>
            <a:ext cx="1268426" cy="1250508"/>
          </a:xfrm>
          <a:prstGeom prst="rect">
            <a:avLst/>
          </a:prstGeom>
          <a:noFill/>
          <a:ln>
            <a:noFill/>
          </a:ln>
        </p:spPr>
      </p:pic>
      <p:sp>
        <p:nvSpPr>
          <p:cNvPr id="302" name="Google Shape;302;h259926ce4e4d5a8f_0_506"/>
          <p:cNvSpPr txBox="1"/>
          <p:nvPr/>
        </p:nvSpPr>
        <p:spPr>
          <a:xfrm>
            <a:off x="1180775" y="4174125"/>
            <a:ext cx="112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ユーザー</a:t>
            </a:r>
            <a:endParaRPr sz="1800">
              <a:solidFill>
                <a:schemeClr val="dk1"/>
              </a:solidFill>
            </a:endParaRPr>
          </a:p>
        </p:txBody>
      </p:sp>
      <p:sp>
        <p:nvSpPr>
          <p:cNvPr id="303" name="Google Shape;303;h259926ce4e4d5a8f_0_506"/>
          <p:cNvSpPr txBox="1"/>
          <p:nvPr/>
        </p:nvSpPr>
        <p:spPr>
          <a:xfrm>
            <a:off x="5730313" y="4174125"/>
            <a:ext cx="11265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chemeClr val="dk1"/>
                </a:solidFill>
              </a:rPr>
              <a:t>RAG</a:t>
            </a:r>
            <a:endParaRPr sz="1800">
              <a:solidFill>
                <a:schemeClr val="dk1"/>
              </a:solidFill>
            </a:endParaRPr>
          </a:p>
        </p:txBody>
      </p:sp>
      <p:sp>
        <p:nvSpPr>
          <p:cNvPr id="304" name="Google Shape;304;h259926ce4e4d5a8f_0_506"/>
          <p:cNvSpPr/>
          <p:nvPr/>
        </p:nvSpPr>
        <p:spPr>
          <a:xfrm>
            <a:off x="965688" y="2821225"/>
            <a:ext cx="1556700" cy="1331400"/>
          </a:xfrm>
          <a:prstGeom prst="roundRect">
            <a:avLst>
              <a:gd fmla="val 16667" name="adj"/>
            </a:avLst>
          </a:prstGeom>
          <a:noFill/>
          <a:ln cap="flat" cmpd="sng" w="1905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h259926ce4e4d5a8f_0_506"/>
          <p:cNvSpPr/>
          <p:nvPr/>
        </p:nvSpPr>
        <p:spPr>
          <a:xfrm>
            <a:off x="4218321" y="2821225"/>
            <a:ext cx="4150500" cy="1331400"/>
          </a:xfrm>
          <a:prstGeom prst="roundRect">
            <a:avLst>
              <a:gd fmla="val 16667" name="adj"/>
            </a:avLst>
          </a:prstGeom>
          <a:noFill/>
          <a:ln cap="flat" cmpd="sng" w="1905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260;h259926ce4e4d5a8f_0_403"/>
          <p:cNvSpPr/>
          <p:nvPr/>
        </p:nvSpPr>
        <p:spPr>
          <a:xfrm>
            <a:off x="6038400" y="283100"/>
            <a:ext cx="2793900" cy="637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a:t>昨年度の資料より</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h259926ce4e4d5a8f_0_569"/>
          <p:cNvSpPr txBox="1"/>
          <p:nvPr>
            <p:ph type="title"/>
          </p:nvPr>
        </p:nvSpPr>
        <p:spPr>
          <a:xfrm>
            <a:off x="302175" y="283100"/>
            <a:ext cx="6422400" cy="572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2500"/>
              <a:t>1日の業務の洗い出し</a:t>
            </a:r>
            <a:endParaRPr b="1" sz="2500"/>
          </a:p>
        </p:txBody>
      </p:sp>
      <p:graphicFrame>
        <p:nvGraphicFramePr>
          <p:cNvPr id="311" name="Google Shape;311;h259926ce4e4d5a8f_0_569"/>
          <p:cNvGraphicFramePr/>
          <p:nvPr/>
        </p:nvGraphicFramePr>
        <p:xfrm>
          <a:off x="346750" y="1398500"/>
          <a:ext cx="3000000" cy="3000000"/>
        </p:xfrm>
        <a:graphic>
          <a:graphicData uri="http://schemas.openxmlformats.org/drawingml/2006/table">
            <a:tbl>
              <a:tblPr>
                <a:noFill/>
                <a:tableStyleId>{CF9E1BD5-D0E9-458E-A40D-ABFE00257524}</a:tableStyleId>
              </a:tblPr>
              <a:tblGrid>
                <a:gridCol w="1128275"/>
                <a:gridCol w="1461450"/>
                <a:gridCol w="1654500"/>
                <a:gridCol w="1498575"/>
                <a:gridCol w="1557725"/>
                <a:gridCol w="1149975"/>
              </a:tblGrid>
              <a:tr h="381000">
                <a:tc>
                  <a:txBody>
                    <a:bodyPr/>
                    <a:lstStyle/>
                    <a:p>
                      <a:pPr indent="0" lvl="0" marL="0" rtl="0" algn="l">
                        <a:spcBef>
                          <a:spcPts val="0"/>
                        </a:spcBef>
                        <a:spcAft>
                          <a:spcPts val="0"/>
                        </a:spcAft>
                        <a:buNone/>
                      </a:pPr>
                      <a:r>
                        <a:rPr b="1" lang="en-US"/>
                        <a:t>時間帯</a:t>
                      </a:r>
                      <a:endParaRPr b="1"/>
                    </a:p>
                  </a:txBody>
                  <a:tcPr marT="91425" marB="91425" marR="91425" marL="91425"/>
                </a:tc>
                <a:tc>
                  <a:txBody>
                    <a:bodyPr/>
                    <a:lstStyle/>
                    <a:p>
                      <a:pPr indent="0" lvl="0" marL="0" rtl="0" algn="l">
                        <a:spcBef>
                          <a:spcPts val="0"/>
                        </a:spcBef>
                        <a:spcAft>
                          <a:spcPts val="0"/>
                        </a:spcAft>
                        <a:buNone/>
                      </a:pPr>
                      <a:r>
                        <a:rPr b="1" lang="en-US"/>
                        <a:t>業務</a:t>
                      </a:r>
                      <a:endParaRPr b="1"/>
                    </a:p>
                  </a:txBody>
                  <a:tcPr marT="91425" marB="91425" marR="91425" marL="91425"/>
                </a:tc>
                <a:tc>
                  <a:txBody>
                    <a:bodyPr/>
                    <a:lstStyle/>
                    <a:p>
                      <a:pPr indent="0" lvl="0" marL="0" rtl="0" algn="l">
                        <a:spcBef>
                          <a:spcPts val="0"/>
                        </a:spcBef>
                        <a:spcAft>
                          <a:spcPts val="0"/>
                        </a:spcAft>
                        <a:buNone/>
                      </a:pPr>
                      <a:r>
                        <a:rPr b="1" lang="en-US"/>
                        <a:t>インプット</a:t>
                      </a:r>
                      <a:endParaRPr b="1"/>
                    </a:p>
                  </a:txBody>
                  <a:tcPr marT="91425" marB="91425" marR="91425" marL="91425"/>
                </a:tc>
                <a:tc>
                  <a:txBody>
                    <a:bodyPr/>
                    <a:lstStyle/>
                    <a:p>
                      <a:pPr indent="0" lvl="0" marL="0" rtl="0" algn="l">
                        <a:spcBef>
                          <a:spcPts val="0"/>
                        </a:spcBef>
                        <a:spcAft>
                          <a:spcPts val="0"/>
                        </a:spcAft>
                        <a:buNone/>
                      </a:pPr>
                      <a:r>
                        <a:rPr b="1" lang="en-US"/>
                        <a:t>アウトプット</a:t>
                      </a:r>
                      <a:endParaRPr b="1"/>
                    </a:p>
                  </a:txBody>
                  <a:tcPr marT="91425" marB="91425" marR="91425" marL="91425"/>
                </a:tc>
                <a:tc>
                  <a:txBody>
                    <a:bodyPr/>
                    <a:lstStyle/>
                    <a:p>
                      <a:pPr indent="0" lvl="0" marL="0" rtl="0" algn="l">
                        <a:spcBef>
                          <a:spcPts val="0"/>
                        </a:spcBef>
                        <a:spcAft>
                          <a:spcPts val="0"/>
                        </a:spcAft>
                        <a:buNone/>
                      </a:pPr>
                      <a:r>
                        <a:rPr b="1" lang="en-US"/>
                        <a:t>備考</a:t>
                      </a:r>
                      <a:endParaRPr b="1"/>
                    </a:p>
                  </a:txBody>
                  <a:tcPr marT="91425" marB="91425" marR="91425" marL="91425"/>
                </a:tc>
                <a:tc>
                  <a:txBody>
                    <a:bodyPr/>
                    <a:lstStyle/>
                    <a:p>
                      <a:pPr indent="0" lvl="0" marL="0" rtl="0" algn="l">
                        <a:spcBef>
                          <a:spcPts val="0"/>
                        </a:spcBef>
                        <a:spcAft>
                          <a:spcPts val="0"/>
                        </a:spcAft>
                        <a:buNone/>
                      </a:pPr>
                      <a:r>
                        <a:rPr b="1" lang="en-US"/>
                        <a:t>生成AI Flag</a:t>
                      </a:r>
                      <a:endParaRPr b="1"/>
                    </a:p>
                  </a:txBody>
                  <a:tcPr marT="91425" marB="91425" marR="91425" marL="91425"/>
                </a:tc>
              </a:tr>
              <a:tr h="381000">
                <a:tc>
                  <a:txBody>
                    <a:bodyPr/>
                    <a:lstStyle/>
                    <a:p>
                      <a:pPr indent="0" lvl="0" marL="0" rtl="0" algn="l">
                        <a:spcBef>
                          <a:spcPts val="0"/>
                        </a:spcBef>
                        <a:spcAft>
                          <a:spcPts val="0"/>
                        </a:spcAft>
                        <a:buNone/>
                      </a:pPr>
                      <a:r>
                        <a:rPr lang="en-US"/>
                        <a:t>8:00-9:00</a:t>
                      </a:r>
                      <a:endParaRPr/>
                    </a:p>
                  </a:txBody>
                  <a:tcPr marT="91425" marB="91425" marR="91425" marL="91425" anchor="ctr"/>
                </a:tc>
                <a:tc>
                  <a:txBody>
                    <a:bodyPr/>
                    <a:lstStyle/>
                    <a:p>
                      <a:pPr indent="0" lvl="0" marL="0" rtl="0" algn="l">
                        <a:spcBef>
                          <a:spcPts val="0"/>
                        </a:spcBef>
                        <a:spcAft>
                          <a:spcPts val="0"/>
                        </a:spcAft>
                        <a:buNone/>
                      </a:pPr>
                      <a:r>
                        <a:rPr lang="en-US"/>
                        <a:t>メールチェック</a:t>
                      </a:r>
                      <a:endParaRPr/>
                    </a:p>
                  </a:txBody>
                  <a:tcPr marT="91425" marB="91425" marR="91425" marL="91425"/>
                </a:tc>
                <a:tc>
                  <a:txBody>
                    <a:bodyPr/>
                    <a:lstStyle/>
                    <a:p>
                      <a:pPr indent="0" lvl="0" marL="0" rtl="0" algn="l">
                        <a:spcBef>
                          <a:spcPts val="0"/>
                        </a:spcBef>
                        <a:spcAft>
                          <a:spcPts val="0"/>
                        </a:spcAft>
                        <a:buNone/>
                      </a:pPr>
                      <a:r>
                        <a:rPr lang="en-US"/>
                        <a:t>メールボックス</a:t>
                      </a:r>
                      <a:endParaRPr/>
                    </a:p>
                  </a:txBody>
                  <a:tcPr marT="91425" marB="91425" marR="91425" marL="91425"/>
                </a:tc>
                <a:tc>
                  <a:txBody>
                    <a:bodyPr/>
                    <a:lstStyle/>
                    <a:p>
                      <a:pPr indent="0" lvl="0" marL="0" rtl="0" algn="l">
                        <a:spcBef>
                          <a:spcPts val="0"/>
                        </a:spcBef>
                        <a:spcAft>
                          <a:spcPts val="0"/>
                        </a:spcAft>
                        <a:buNone/>
                      </a:pPr>
                      <a:r>
                        <a:rPr lang="en-US"/>
                        <a:t>返信が必要なメールに返信</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US"/>
                        <a:t>△</a:t>
                      </a:r>
                      <a:endParaRPr/>
                    </a:p>
                  </a:txBody>
                  <a:tcPr marT="91425" marB="91425" marR="91425" marL="91425" anchor="ctr"/>
                </a:tc>
              </a:tr>
              <a:tr h="381000">
                <a:tc>
                  <a:txBody>
                    <a:bodyPr/>
                    <a:lstStyle/>
                    <a:p>
                      <a:pPr indent="0" lvl="0" marL="0" rtl="0" algn="l">
                        <a:spcBef>
                          <a:spcPts val="0"/>
                        </a:spcBef>
                        <a:spcAft>
                          <a:spcPts val="0"/>
                        </a:spcAft>
                        <a:buNone/>
                      </a:pPr>
                      <a:r>
                        <a:rPr lang="en-US"/>
                        <a:t>9:00-10:00</a:t>
                      </a:r>
                      <a:endParaRPr/>
                    </a:p>
                  </a:txBody>
                  <a:tcPr marT="91425" marB="91425" marR="91425" marL="91425" anchor="ctr"/>
                </a:tc>
                <a:tc>
                  <a:txBody>
                    <a:bodyPr/>
                    <a:lstStyle/>
                    <a:p>
                      <a:pPr indent="0" lvl="0" marL="0" rtl="0" algn="l">
                        <a:spcBef>
                          <a:spcPts val="0"/>
                        </a:spcBef>
                        <a:spcAft>
                          <a:spcPts val="0"/>
                        </a:spcAft>
                        <a:buNone/>
                      </a:pPr>
                      <a:r>
                        <a:rPr lang="en-US"/>
                        <a:t>資料作成</a:t>
                      </a:r>
                      <a:endParaRPr/>
                    </a:p>
                  </a:txBody>
                  <a:tcPr marT="91425" marB="91425" marR="91425" marL="91425"/>
                </a:tc>
                <a:tc>
                  <a:txBody>
                    <a:bodyPr/>
                    <a:lstStyle/>
                    <a:p>
                      <a:pPr indent="0" lvl="0" marL="0" rtl="0" algn="l">
                        <a:spcBef>
                          <a:spcPts val="0"/>
                        </a:spcBef>
                        <a:spcAft>
                          <a:spcPts val="0"/>
                        </a:spcAft>
                        <a:buNone/>
                      </a:pPr>
                      <a:r>
                        <a:rPr lang="en-US"/>
                        <a:t>昨日ヒアリングした情報</a:t>
                      </a:r>
                      <a:endParaRPr/>
                    </a:p>
                  </a:txBody>
                  <a:tcPr marT="91425" marB="91425" marR="91425" marL="91425"/>
                </a:tc>
                <a:tc>
                  <a:txBody>
                    <a:bodyPr/>
                    <a:lstStyle/>
                    <a:p>
                      <a:pPr indent="0" lvl="0" marL="0" rtl="0" algn="l">
                        <a:spcBef>
                          <a:spcPts val="0"/>
                        </a:spcBef>
                        <a:spcAft>
                          <a:spcPts val="0"/>
                        </a:spcAft>
                        <a:buNone/>
                      </a:pPr>
                      <a:r>
                        <a:rPr lang="en-US"/>
                        <a:t>企画書</a:t>
                      </a:r>
                      <a:endParaRPr/>
                    </a:p>
                  </a:txBody>
                  <a:tcPr marT="91425" marB="91425" marR="91425" marL="91425"/>
                </a:tc>
                <a:tc>
                  <a:txBody>
                    <a:bodyPr/>
                    <a:lstStyle/>
                    <a:p>
                      <a:pPr indent="0" lvl="0" marL="0" rtl="0" algn="l">
                        <a:spcBef>
                          <a:spcPts val="0"/>
                        </a:spcBef>
                        <a:spcAft>
                          <a:spcPts val="0"/>
                        </a:spcAft>
                        <a:buNone/>
                      </a:pPr>
                      <a:r>
                        <a:rPr lang="en-US"/>
                        <a:t>ヒアリングした情報はWordに殴り書きしてある</a:t>
                      </a:r>
                      <a:endParaRPr/>
                    </a:p>
                  </a:txBody>
                  <a:tcPr marT="91425" marB="91425" marR="91425" marL="91425"/>
                </a:tc>
                <a:tc>
                  <a:txBody>
                    <a:bodyPr/>
                    <a:lstStyle/>
                    <a:p>
                      <a:pPr indent="0" lvl="0" marL="0" rtl="0" algn="ctr">
                        <a:spcBef>
                          <a:spcPts val="0"/>
                        </a:spcBef>
                        <a:spcAft>
                          <a:spcPts val="0"/>
                        </a:spcAft>
                        <a:buNone/>
                      </a:pPr>
                      <a:r>
                        <a:rPr lang="en-US"/>
                        <a:t>◯</a:t>
                      </a:r>
                      <a:endParaRPr/>
                    </a:p>
                  </a:txBody>
                  <a:tcPr marT="91425" marB="91425" marR="91425" marL="91425" anchor="ctr"/>
                </a:tc>
              </a:tr>
              <a:tr h="381000">
                <a:tc>
                  <a:txBody>
                    <a:bodyPr/>
                    <a:lstStyle/>
                    <a:p>
                      <a:pPr indent="0" lvl="0" marL="0" rtl="0" algn="l">
                        <a:spcBef>
                          <a:spcPts val="0"/>
                        </a:spcBef>
                        <a:spcAft>
                          <a:spcPts val="0"/>
                        </a:spcAft>
                        <a:buNone/>
                      </a:pPr>
                      <a:r>
                        <a:rPr lang="en-US"/>
                        <a:t>10:00-</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12" name="Google Shape;312;h259926ce4e4d5a8f_0_569"/>
          <p:cNvSpPr txBox="1"/>
          <p:nvPr/>
        </p:nvSpPr>
        <p:spPr>
          <a:xfrm>
            <a:off x="0" y="4862982"/>
            <a:ext cx="553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2"/>
                </a:solidFill>
              </a:rPr>
              <a:t>©2026 | STYLE ARTS Inc. All Rights Reserved. | CONFIDENTIAL</a:t>
            </a:r>
            <a:endParaRPr sz="900">
              <a:solidFill>
                <a:schemeClr val="dk2"/>
              </a:solidFill>
            </a:endParaRPr>
          </a:p>
        </p:txBody>
      </p:sp>
      <p:sp>
        <p:nvSpPr>
          <p:cNvPr id="313" name="Google Shape;313;h259926ce4e4d5a8f_0_569"/>
          <p:cNvSpPr/>
          <p:nvPr/>
        </p:nvSpPr>
        <p:spPr>
          <a:xfrm>
            <a:off x="6038400" y="283100"/>
            <a:ext cx="2793900" cy="637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a:t>昨年度の資料より</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40a0daa3361_0_361"/>
          <p:cNvSpPr txBox="1"/>
          <p:nvPr>
            <p:ph type="title"/>
          </p:nvPr>
        </p:nvSpPr>
        <p:spPr>
          <a:xfrm>
            <a:off x="-50" y="2285400"/>
            <a:ext cx="914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いま、AI活用で困っていることは？</a:t>
            </a:r>
            <a:endParaRPr b="1" sz="3600"/>
          </a:p>
        </p:txBody>
      </p:sp>
      <p:sp>
        <p:nvSpPr>
          <p:cNvPr id="319" name="Google Shape;319;g40a0daa3361_0_361"/>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320" name="Google Shape;320;g40a0daa3361_0_361"/>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g40a0daa3361_0_342"/>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事前アンケート結果 AI活用で困っていること</a:t>
            </a:r>
            <a:endParaRPr b="0" i="0" sz="2200" u="none" cap="none" strike="noStrike">
              <a:solidFill>
                <a:schemeClr val="dk1"/>
              </a:solidFill>
              <a:latin typeface="Calibri"/>
              <a:ea typeface="Calibri"/>
              <a:cs typeface="Calibri"/>
              <a:sym typeface="Calibri"/>
            </a:endParaRPr>
          </a:p>
        </p:txBody>
      </p:sp>
      <p:sp>
        <p:nvSpPr>
          <p:cNvPr id="327" name="Google Shape;327;g40a0daa3361_0_342"/>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328" name="Google Shape;328;g40a0daa3361_0_342"/>
          <p:cNvSpPr txBox="1"/>
          <p:nvPr/>
        </p:nvSpPr>
        <p:spPr>
          <a:xfrm>
            <a:off x="411475" y="100842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欲しい答えが返ってこない</a:t>
            </a:r>
            <a:endParaRPr b="0" i="0" sz="1162" u="none" cap="none" strike="noStrike">
              <a:solidFill>
                <a:srgbClr val="000000"/>
              </a:solidFill>
              <a:latin typeface="Calibri"/>
              <a:ea typeface="Calibri"/>
              <a:cs typeface="Calibri"/>
              <a:sym typeface="Calibri"/>
            </a:endParaRPr>
          </a:p>
        </p:txBody>
      </p:sp>
      <p:sp>
        <p:nvSpPr>
          <p:cNvPr id="329" name="Google Shape;329;g40a0daa3361_0_342"/>
          <p:cNvSpPr/>
          <p:nvPr/>
        </p:nvSpPr>
        <p:spPr>
          <a:xfrm>
            <a:off x="3261000" y="1037403"/>
            <a:ext cx="3347700" cy="289800"/>
          </a:xfrm>
          <a:prstGeom prst="rect">
            <a:avLst/>
          </a:prstGeom>
          <a:solidFill>
            <a:srgbClr val="E8702A"/>
          </a:solidFill>
          <a:ln cap="flat" cmpd="sng" w="13425">
            <a:solidFill>
              <a:srgbClr val="E8702A"/>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30" name="Google Shape;330;g40a0daa3361_0_342"/>
          <p:cNvSpPr txBox="1"/>
          <p:nvPr/>
        </p:nvSpPr>
        <p:spPr>
          <a:xfrm>
            <a:off x="6736063" y="1008425"/>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7名</a:t>
            </a:r>
            <a:endParaRPr b="0" i="0" sz="1268" u="none" cap="none" strike="noStrike">
              <a:solidFill>
                <a:srgbClr val="000000"/>
              </a:solidFill>
              <a:latin typeface="Calibri"/>
              <a:ea typeface="Calibri"/>
              <a:cs typeface="Calibri"/>
              <a:sym typeface="Calibri"/>
            </a:endParaRPr>
          </a:p>
        </p:txBody>
      </p:sp>
      <p:sp>
        <p:nvSpPr>
          <p:cNvPr id="331" name="Google Shape;331;g40a0daa3361_0_342"/>
          <p:cNvSpPr txBox="1"/>
          <p:nvPr/>
        </p:nvSpPr>
        <p:spPr>
          <a:xfrm>
            <a:off x="411475" y="148173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出力内容の正確性が不安</a:t>
            </a:r>
            <a:endParaRPr b="0" i="0" sz="1162" u="none" cap="none" strike="noStrike">
              <a:solidFill>
                <a:srgbClr val="000000"/>
              </a:solidFill>
              <a:latin typeface="Calibri"/>
              <a:ea typeface="Calibri"/>
              <a:cs typeface="Calibri"/>
              <a:sym typeface="Calibri"/>
            </a:endParaRPr>
          </a:p>
        </p:txBody>
      </p:sp>
      <p:sp>
        <p:nvSpPr>
          <p:cNvPr id="332" name="Google Shape;332;g40a0daa3361_0_342"/>
          <p:cNvSpPr/>
          <p:nvPr/>
        </p:nvSpPr>
        <p:spPr>
          <a:xfrm>
            <a:off x="3261000" y="1510711"/>
            <a:ext cx="23913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33" name="Google Shape;333;g40a0daa3361_0_342"/>
          <p:cNvSpPr txBox="1"/>
          <p:nvPr/>
        </p:nvSpPr>
        <p:spPr>
          <a:xfrm>
            <a:off x="5779624" y="1481733"/>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5名</a:t>
            </a:r>
            <a:endParaRPr b="0" i="0" sz="1268" u="none" cap="none" strike="noStrike">
              <a:solidFill>
                <a:srgbClr val="000000"/>
              </a:solidFill>
              <a:latin typeface="Calibri"/>
              <a:ea typeface="Calibri"/>
              <a:cs typeface="Calibri"/>
              <a:sym typeface="Calibri"/>
            </a:endParaRPr>
          </a:p>
        </p:txBody>
      </p:sp>
      <p:sp>
        <p:nvSpPr>
          <p:cNvPr id="334" name="Google Shape;334;g40a0daa3361_0_342"/>
          <p:cNvSpPr txBox="1"/>
          <p:nvPr/>
        </p:nvSpPr>
        <p:spPr>
          <a:xfrm>
            <a:off x="411475" y="195504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機密情報の扱いが不安</a:t>
            </a:r>
            <a:endParaRPr b="0" i="0" sz="1162" u="none" cap="none" strike="noStrike">
              <a:solidFill>
                <a:srgbClr val="000000"/>
              </a:solidFill>
              <a:latin typeface="Calibri"/>
              <a:ea typeface="Calibri"/>
              <a:cs typeface="Calibri"/>
              <a:sym typeface="Calibri"/>
            </a:endParaRPr>
          </a:p>
        </p:txBody>
      </p:sp>
      <p:sp>
        <p:nvSpPr>
          <p:cNvPr id="335" name="Google Shape;335;g40a0daa3361_0_342"/>
          <p:cNvSpPr/>
          <p:nvPr/>
        </p:nvSpPr>
        <p:spPr>
          <a:xfrm>
            <a:off x="3261000" y="1984020"/>
            <a:ext cx="19131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36" name="Google Shape;336;g40a0daa3361_0_342"/>
          <p:cNvSpPr txBox="1"/>
          <p:nvPr/>
        </p:nvSpPr>
        <p:spPr>
          <a:xfrm>
            <a:off x="5301404" y="1955042"/>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4名</a:t>
            </a:r>
            <a:endParaRPr b="0" i="0" sz="1268" u="none" cap="none" strike="noStrike">
              <a:solidFill>
                <a:srgbClr val="000000"/>
              </a:solidFill>
              <a:latin typeface="Calibri"/>
              <a:ea typeface="Calibri"/>
              <a:cs typeface="Calibri"/>
              <a:sym typeface="Calibri"/>
            </a:endParaRPr>
          </a:p>
        </p:txBody>
      </p:sp>
      <p:sp>
        <p:nvSpPr>
          <p:cNvPr id="337" name="Google Shape;337;g40a0daa3361_0_342"/>
          <p:cNvSpPr txBox="1"/>
          <p:nvPr/>
        </p:nvSpPr>
        <p:spPr>
          <a:xfrm>
            <a:off x="411475" y="242835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プロンプトの書き方がわからない</a:t>
            </a:r>
            <a:endParaRPr b="0" i="0" sz="1162" u="none" cap="none" strike="noStrike">
              <a:solidFill>
                <a:srgbClr val="000000"/>
              </a:solidFill>
              <a:latin typeface="Calibri"/>
              <a:ea typeface="Calibri"/>
              <a:cs typeface="Calibri"/>
              <a:sym typeface="Calibri"/>
            </a:endParaRPr>
          </a:p>
        </p:txBody>
      </p:sp>
      <p:sp>
        <p:nvSpPr>
          <p:cNvPr id="338" name="Google Shape;338;g40a0daa3361_0_342"/>
          <p:cNvSpPr/>
          <p:nvPr/>
        </p:nvSpPr>
        <p:spPr>
          <a:xfrm>
            <a:off x="3261000" y="2457328"/>
            <a:ext cx="9564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39" name="Google Shape;339;g40a0daa3361_0_342"/>
          <p:cNvSpPr txBox="1"/>
          <p:nvPr/>
        </p:nvSpPr>
        <p:spPr>
          <a:xfrm>
            <a:off x="4344964" y="2428350"/>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2名</a:t>
            </a:r>
            <a:endParaRPr b="0" i="0" sz="1268" u="none" cap="none" strike="noStrike">
              <a:solidFill>
                <a:srgbClr val="000000"/>
              </a:solidFill>
              <a:latin typeface="Calibri"/>
              <a:ea typeface="Calibri"/>
              <a:cs typeface="Calibri"/>
              <a:sym typeface="Calibri"/>
            </a:endParaRPr>
          </a:p>
        </p:txBody>
      </p:sp>
      <p:sp>
        <p:nvSpPr>
          <p:cNvPr id="340" name="Google Shape;340;g40a0daa3361_0_342"/>
          <p:cNvSpPr txBox="1"/>
          <p:nvPr/>
        </p:nvSpPr>
        <p:spPr>
          <a:xfrm>
            <a:off x="411475" y="290166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社内で使える人が限られている</a:t>
            </a:r>
            <a:endParaRPr b="0" i="0" sz="1162" u="none" cap="none" strike="noStrike">
              <a:solidFill>
                <a:srgbClr val="000000"/>
              </a:solidFill>
              <a:latin typeface="Calibri"/>
              <a:ea typeface="Calibri"/>
              <a:cs typeface="Calibri"/>
              <a:sym typeface="Calibri"/>
            </a:endParaRPr>
          </a:p>
        </p:txBody>
      </p:sp>
      <p:sp>
        <p:nvSpPr>
          <p:cNvPr id="341" name="Google Shape;341;g40a0daa3361_0_342"/>
          <p:cNvSpPr/>
          <p:nvPr/>
        </p:nvSpPr>
        <p:spPr>
          <a:xfrm>
            <a:off x="3261000" y="2930636"/>
            <a:ext cx="4782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42" name="Google Shape;342;g40a0daa3361_0_342"/>
          <p:cNvSpPr txBox="1"/>
          <p:nvPr/>
        </p:nvSpPr>
        <p:spPr>
          <a:xfrm>
            <a:off x="3866745" y="2901658"/>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1名</a:t>
            </a:r>
            <a:endParaRPr b="0" i="0" sz="1268" u="none" cap="none" strike="noStrike">
              <a:solidFill>
                <a:srgbClr val="000000"/>
              </a:solidFill>
              <a:latin typeface="Calibri"/>
              <a:ea typeface="Calibri"/>
              <a:cs typeface="Calibri"/>
              <a:sym typeface="Calibri"/>
            </a:endParaRPr>
          </a:p>
        </p:txBody>
      </p:sp>
      <p:sp>
        <p:nvSpPr>
          <p:cNvPr id="343" name="Google Shape;343;g40a0daa3361_0_342"/>
          <p:cNvSpPr txBox="1"/>
          <p:nvPr/>
        </p:nvSpPr>
        <p:spPr>
          <a:xfrm>
            <a:off x="411475" y="337497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AIで仕事が減ることへの懸念</a:t>
            </a:r>
            <a:endParaRPr b="0" i="0" sz="1162" u="none" cap="none" strike="noStrike">
              <a:solidFill>
                <a:srgbClr val="000000"/>
              </a:solidFill>
              <a:latin typeface="Calibri"/>
              <a:ea typeface="Calibri"/>
              <a:cs typeface="Calibri"/>
              <a:sym typeface="Calibri"/>
            </a:endParaRPr>
          </a:p>
        </p:txBody>
      </p:sp>
      <p:sp>
        <p:nvSpPr>
          <p:cNvPr id="344" name="Google Shape;344;g40a0daa3361_0_342"/>
          <p:cNvSpPr/>
          <p:nvPr/>
        </p:nvSpPr>
        <p:spPr>
          <a:xfrm>
            <a:off x="3261000" y="3403945"/>
            <a:ext cx="4782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45" name="Google Shape;345;g40a0daa3361_0_342"/>
          <p:cNvSpPr txBox="1"/>
          <p:nvPr/>
        </p:nvSpPr>
        <p:spPr>
          <a:xfrm>
            <a:off x="3866745" y="3374967"/>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1名</a:t>
            </a:r>
            <a:endParaRPr b="0" i="0" sz="1268" u="none" cap="none" strike="noStrike">
              <a:solidFill>
                <a:srgbClr val="000000"/>
              </a:solidFill>
              <a:latin typeface="Calibri"/>
              <a:ea typeface="Calibri"/>
              <a:cs typeface="Calibri"/>
              <a:sym typeface="Calibri"/>
            </a:endParaRPr>
          </a:p>
        </p:txBody>
      </p:sp>
      <p:sp>
        <p:nvSpPr>
          <p:cNvPr id="346" name="Google Shape;346;g40a0daa3361_0_342"/>
          <p:cNvSpPr txBox="1"/>
          <p:nvPr/>
        </p:nvSpPr>
        <p:spPr>
          <a:xfrm>
            <a:off x="411475" y="3848282"/>
            <a:ext cx="2753100" cy="347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33333"/>
              </a:buClr>
              <a:buSzPts val="1162"/>
              <a:buFont typeface="Meiryo"/>
              <a:buNone/>
            </a:pPr>
            <a:r>
              <a:rPr b="0" i="0" lang="en-US" sz="1162" u="none" cap="none" strike="noStrike">
                <a:solidFill>
                  <a:srgbClr val="333333"/>
                </a:solidFill>
                <a:latin typeface="Meiryo"/>
                <a:ea typeface="Meiryo"/>
                <a:cs typeface="Meiryo"/>
                <a:sym typeface="Meiryo"/>
              </a:rPr>
              <a:t>特に困っていない</a:t>
            </a:r>
            <a:endParaRPr b="0" i="0" sz="1162" u="none" cap="none" strike="noStrike">
              <a:solidFill>
                <a:srgbClr val="000000"/>
              </a:solidFill>
              <a:latin typeface="Calibri"/>
              <a:ea typeface="Calibri"/>
              <a:cs typeface="Calibri"/>
              <a:sym typeface="Calibri"/>
            </a:endParaRPr>
          </a:p>
        </p:txBody>
      </p:sp>
      <p:sp>
        <p:nvSpPr>
          <p:cNvPr id="347" name="Google Shape;347;g40a0daa3361_0_342"/>
          <p:cNvSpPr/>
          <p:nvPr/>
        </p:nvSpPr>
        <p:spPr>
          <a:xfrm>
            <a:off x="3261000" y="3877253"/>
            <a:ext cx="478200" cy="289800"/>
          </a:xfrm>
          <a:prstGeom prst="rect">
            <a:avLst/>
          </a:prstGeom>
          <a:solidFill>
            <a:srgbClr val="1F3A5F"/>
          </a:solidFill>
          <a:ln cap="flat" cmpd="sng" w="13425">
            <a:solidFill>
              <a:srgbClr val="1F3A5F"/>
            </a:solidFill>
            <a:prstDash val="solid"/>
            <a:round/>
            <a:headEnd len="sm" w="sm" type="none"/>
            <a:tailEnd len="sm" w="sm" type="none"/>
          </a:ln>
        </p:spPr>
        <p:txBody>
          <a:bodyPr anchorCtr="0" anchor="ctr" bIns="96575" lIns="96575" spcFirstLastPara="1" rIns="96575" wrap="square" tIns="96575">
            <a:noAutofit/>
          </a:bodyPr>
          <a:lstStyle/>
          <a:p>
            <a:pPr indent="0" lvl="0" marL="0" marR="0" rtl="0" algn="l">
              <a:lnSpc>
                <a:spcPct val="100000"/>
              </a:lnSpc>
              <a:spcBef>
                <a:spcPts val="0"/>
              </a:spcBef>
              <a:spcAft>
                <a:spcPts val="0"/>
              </a:spcAft>
              <a:buClr>
                <a:srgbClr val="000000"/>
              </a:buClr>
              <a:buSzPts val="1479"/>
              <a:buFont typeface="Arial"/>
              <a:buNone/>
            </a:pPr>
            <a:r>
              <a:t/>
            </a:r>
            <a:endParaRPr b="0" i="0" sz="1479" u="none" cap="none" strike="noStrike">
              <a:solidFill>
                <a:srgbClr val="000000"/>
              </a:solidFill>
              <a:latin typeface="Arial"/>
              <a:ea typeface="Arial"/>
              <a:cs typeface="Arial"/>
              <a:sym typeface="Arial"/>
            </a:endParaRPr>
          </a:p>
        </p:txBody>
      </p:sp>
      <p:sp>
        <p:nvSpPr>
          <p:cNvPr id="348" name="Google Shape;348;g40a0daa3361_0_342"/>
          <p:cNvSpPr txBox="1"/>
          <p:nvPr/>
        </p:nvSpPr>
        <p:spPr>
          <a:xfrm>
            <a:off x="3866745" y="3848275"/>
            <a:ext cx="876300" cy="3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68"/>
              <a:buFont typeface="Meiryo"/>
              <a:buNone/>
            </a:pPr>
            <a:r>
              <a:rPr b="1" i="0" lang="en-US" sz="1268" u="none" cap="none" strike="noStrike">
                <a:solidFill>
                  <a:srgbClr val="222222"/>
                </a:solidFill>
                <a:latin typeface="Meiryo"/>
                <a:ea typeface="Meiryo"/>
                <a:cs typeface="Meiryo"/>
                <a:sym typeface="Meiryo"/>
              </a:rPr>
              <a:t>1名</a:t>
            </a:r>
            <a:endParaRPr b="0" i="0" sz="1268" u="none" cap="none" strike="noStrike">
              <a:solidFill>
                <a:srgbClr val="000000"/>
              </a:solidFill>
              <a:latin typeface="Calibri"/>
              <a:ea typeface="Calibri"/>
              <a:cs typeface="Calibri"/>
              <a:sym typeface="Calibri"/>
            </a:endParaRPr>
          </a:p>
        </p:txBody>
      </p:sp>
      <p:cxnSp>
        <p:nvCxnSpPr>
          <p:cNvPr id="349" name="Google Shape;349;g40a0daa3361_0_342"/>
          <p:cNvCxnSpPr/>
          <p:nvPr/>
        </p:nvCxnSpPr>
        <p:spPr>
          <a:xfrm>
            <a:off x="3260991" y="960125"/>
            <a:ext cx="0" cy="3332700"/>
          </a:xfrm>
          <a:prstGeom prst="straightConnector1">
            <a:avLst/>
          </a:prstGeom>
          <a:noFill/>
          <a:ln cap="flat" cmpd="sng" w="13425">
            <a:solidFill>
              <a:srgbClr val="B8C2CF"/>
            </a:solidFill>
            <a:prstDash val="solid"/>
            <a:round/>
            <a:headEnd len="sm" w="sm" type="none"/>
            <a:tailEnd len="sm" w="sm" type="none"/>
          </a:ln>
        </p:spPr>
      </p:cxnSp>
      <p:sp>
        <p:nvSpPr>
          <p:cNvPr id="350" name="Google Shape;350;g40a0daa3361_0_342"/>
          <p:cNvSpPr txBox="1"/>
          <p:nvPr/>
        </p:nvSpPr>
        <p:spPr>
          <a:xfrm>
            <a:off x="841500" y="4400407"/>
            <a:ext cx="2897700" cy="24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951"/>
              <a:buFont typeface="Meiryo"/>
              <a:buNone/>
            </a:pPr>
            <a:r>
              <a:rPr b="0" i="0" lang="en-US" sz="951" u="none" cap="none" strike="noStrike">
                <a:solidFill>
                  <a:srgbClr val="6B7280"/>
                </a:solidFill>
                <a:latin typeface="Meiryo"/>
                <a:ea typeface="Meiryo"/>
                <a:cs typeface="Meiryo"/>
                <a:sym typeface="Meiryo"/>
              </a:rPr>
              <a:t>複数回答／n=14</a:t>
            </a:r>
            <a:endParaRPr b="0" i="0" sz="951" u="none" cap="none" strike="noStrike">
              <a:solidFill>
                <a:srgbClr val="000000"/>
              </a:solidFill>
              <a:latin typeface="Calibri"/>
              <a:ea typeface="Calibri"/>
              <a:cs typeface="Calibri"/>
              <a:sym typeface="Calibri"/>
            </a:endParaRPr>
          </a:p>
        </p:txBody>
      </p:sp>
      <p:sp>
        <p:nvSpPr>
          <p:cNvPr id="351" name="Google Shape;351;g40a0daa3361_0_3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g40a0daa3361_0_406"/>
          <p:cNvSpPr/>
          <p:nvPr/>
        </p:nvSpPr>
        <p:spPr>
          <a:xfrm>
            <a:off x="411480" y="1600200"/>
            <a:ext cx="4069080" cy="1600200"/>
          </a:xfrm>
          <a:prstGeom prst="rect">
            <a:avLst/>
          </a:prstGeom>
          <a:solidFill>
            <a:srgbClr val="FDEBDD"/>
          </a:solidFill>
          <a:ln cap="flat" cmpd="sng" w="17675">
            <a:solidFill>
              <a:srgbClr val="FDEBDD"/>
            </a:solidFill>
            <a:prstDash val="solid"/>
            <a:round/>
            <a:headEnd len="sm" w="sm" type="none"/>
            <a:tailEnd len="sm" w="sm" type="none"/>
          </a:ln>
        </p:spPr>
        <p:txBody>
          <a:bodyPr anchorCtr="0" anchor="ctr" bIns="127150" lIns="127150" spcFirstLastPara="1" rIns="127150" wrap="square" tIns="127150">
            <a:noAutofit/>
          </a:bodyPr>
          <a:lstStyle/>
          <a:p>
            <a:pPr indent="0" lvl="0" marL="0" marR="0" rtl="0" algn="l">
              <a:lnSpc>
                <a:spcPct val="100000"/>
              </a:lnSpc>
              <a:spcBef>
                <a:spcPts val="0"/>
              </a:spcBef>
              <a:spcAft>
                <a:spcPts val="0"/>
              </a:spcAft>
              <a:buClr>
                <a:srgbClr val="000000"/>
              </a:buClr>
              <a:buSzPts val="1947"/>
              <a:buFont typeface="Arial"/>
              <a:buNone/>
            </a:pPr>
            <a:r>
              <a:t/>
            </a:r>
            <a:endParaRPr b="0" i="0" sz="1947" u="none" cap="none" strike="noStrike">
              <a:solidFill>
                <a:srgbClr val="000000"/>
              </a:solidFill>
              <a:latin typeface="Arial"/>
              <a:ea typeface="Arial"/>
              <a:cs typeface="Arial"/>
              <a:sym typeface="Arial"/>
            </a:endParaRPr>
          </a:p>
        </p:txBody>
      </p:sp>
      <p:sp>
        <p:nvSpPr>
          <p:cNvPr id="358" name="Google Shape;358;g40a0daa3361_0_406"/>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事前アンケート結果 AI活用で困っていること</a:t>
            </a:r>
            <a:endParaRPr b="0" i="0" sz="2200" u="none" cap="none" strike="noStrike">
              <a:solidFill>
                <a:schemeClr val="dk1"/>
              </a:solidFill>
              <a:latin typeface="Calibri"/>
              <a:ea typeface="Calibri"/>
              <a:cs typeface="Calibri"/>
              <a:sym typeface="Calibri"/>
            </a:endParaRPr>
          </a:p>
        </p:txBody>
      </p:sp>
      <p:sp>
        <p:nvSpPr>
          <p:cNvPr id="359" name="Google Shape;359;g40a0daa3361_0_406"/>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360" name="Google Shape;360;g40a0daa3361_0_406"/>
          <p:cNvSpPr txBox="1"/>
          <p:nvPr/>
        </p:nvSpPr>
        <p:spPr>
          <a:xfrm>
            <a:off x="411480" y="980103"/>
            <a:ext cx="43071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300"/>
              <a:buFont typeface="Meiryo"/>
              <a:buNone/>
            </a:pPr>
            <a:r>
              <a:rPr b="1" lang="en-US" sz="1800">
                <a:solidFill>
                  <a:srgbClr val="1F3A5F"/>
                </a:solidFill>
                <a:latin typeface="Meiryo"/>
                <a:ea typeface="Meiryo"/>
                <a:cs typeface="Meiryo"/>
                <a:sym typeface="Meiryo"/>
              </a:rPr>
              <a:t>本日のプログラムで取り上げます</a:t>
            </a:r>
            <a:endParaRPr b="0" i="0" sz="1800" u="none" cap="none" strike="noStrike">
              <a:solidFill>
                <a:schemeClr val="dk1"/>
              </a:solidFill>
              <a:latin typeface="Calibri"/>
              <a:ea typeface="Calibri"/>
              <a:cs typeface="Calibri"/>
              <a:sym typeface="Calibri"/>
            </a:endParaRPr>
          </a:p>
        </p:txBody>
      </p:sp>
      <p:sp>
        <p:nvSpPr>
          <p:cNvPr id="361" name="Google Shape;361;g40a0daa3361_0_406"/>
          <p:cNvSpPr/>
          <p:nvPr/>
        </p:nvSpPr>
        <p:spPr>
          <a:xfrm>
            <a:off x="4663440" y="1600200"/>
            <a:ext cx="4069080" cy="1600200"/>
          </a:xfrm>
          <a:prstGeom prst="rect">
            <a:avLst/>
          </a:prstGeom>
          <a:solidFill>
            <a:srgbClr val="EEF3F8"/>
          </a:solidFill>
          <a:ln cap="flat" cmpd="sng" w="17850">
            <a:solidFill>
              <a:srgbClr val="EEF3F8"/>
            </a:solidFill>
            <a:prstDash val="solid"/>
            <a:round/>
            <a:headEnd len="sm" w="sm" type="none"/>
            <a:tailEnd len="sm" w="sm" type="none"/>
          </a:ln>
        </p:spPr>
        <p:txBody>
          <a:bodyPr anchorCtr="0" anchor="ctr" bIns="128550" lIns="128550" spcFirstLastPara="1" rIns="128550" wrap="square" tIns="128550">
            <a:noAutofit/>
          </a:bodyPr>
          <a:lstStyle/>
          <a:p>
            <a:pPr indent="0" lvl="0" marL="0" marR="0" rtl="0" algn="l">
              <a:lnSpc>
                <a:spcPct val="100000"/>
              </a:lnSpc>
              <a:spcBef>
                <a:spcPts val="0"/>
              </a:spcBef>
              <a:spcAft>
                <a:spcPts val="0"/>
              </a:spcAft>
              <a:buClr>
                <a:srgbClr val="000000"/>
              </a:buClr>
              <a:buSzPts val="1968"/>
              <a:buFont typeface="Arial"/>
              <a:buNone/>
            </a:pPr>
            <a:r>
              <a:t/>
            </a:r>
            <a:endParaRPr b="0" i="0" sz="1968" u="none" cap="none" strike="noStrike">
              <a:solidFill>
                <a:srgbClr val="000000"/>
              </a:solidFill>
              <a:latin typeface="Arial"/>
              <a:ea typeface="Arial"/>
              <a:cs typeface="Arial"/>
              <a:sym typeface="Arial"/>
            </a:endParaRPr>
          </a:p>
        </p:txBody>
      </p:sp>
      <p:sp>
        <p:nvSpPr>
          <p:cNvPr id="362" name="Google Shape;362;g40a0daa3361_0_406"/>
          <p:cNvSpPr txBox="1"/>
          <p:nvPr/>
        </p:nvSpPr>
        <p:spPr>
          <a:xfrm>
            <a:off x="640080" y="1874520"/>
            <a:ext cx="3857100" cy="83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547"/>
              <a:buFont typeface="Meiryo"/>
              <a:buNone/>
            </a:pPr>
            <a:r>
              <a:rPr b="0" i="0" lang="en-US" sz="1547" u="none" cap="none" strike="noStrike">
                <a:solidFill>
                  <a:srgbClr val="444444"/>
                </a:solidFill>
                <a:latin typeface="Meiryo"/>
                <a:ea typeface="Meiryo"/>
                <a:cs typeface="Meiryo"/>
                <a:sym typeface="Meiryo"/>
              </a:rPr>
              <a:t>欲しい答えが返ってこない</a:t>
            </a:r>
            <a:endParaRPr b="0" i="0" sz="1547"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547"/>
              <a:buFont typeface="Meiryo"/>
              <a:buNone/>
            </a:pPr>
            <a:r>
              <a:rPr b="0" i="0" lang="en-US" sz="1547" u="none" cap="none" strike="noStrike">
                <a:solidFill>
                  <a:srgbClr val="444444"/>
                </a:solidFill>
                <a:latin typeface="Meiryo"/>
                <a:ea typeface="Meiryo"/>
                <a:cs typeface="Meiryo"/>
                <a:sym typeface="Meiryo"/>
              </a:rPr>
              <a:t>プロンプトの書き方がわからない</a:t>
            </a:r>
            <a:endParaRPr b="0" i="0" sz="1547" u="none" cap="none" strike="noStrike">
              <a:solidFill>
                <a:schemeClr val="dk1"/>
              </a:solidFill>
              <a:latin typeface="Calibri"/>
              <a:ea typeface="Calibri"/>
              <a:cs typeface="Calibri"/>
              <a:sym typeface="Calibri"/>
            </a:endParaRPr>
          </a:p>
        </p:txBody>
      </p:sp>
      <p:sp>
        <p:nvSpPr>
          <p:cNvPr id="363" name="Google Shape;363;g40a0daa3361_0_406"/>
          <p:cNvSpPr txBox="1"/>
          <p:nvPr/>
        </p:nvSpPr>
        <p:spPr>
          <a:xfrm>
            <a:off x="640080" y="2697480"/>
            <a:ext cx="3857100" cy="38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758"/>
              <a:buFont typeface="Meiryo"/>
              <a:buNone/>
            </a:pPr>
            <a:r>
              <a:rPr b="1" i="0" lang="en-US" sz="1758" u="none" cap="none" strike="noStrike">
                <a:solidFill>
                  <a:schemeClr val="accent2"/>
                </a:solidFill>
                <a:latin typeface="Meiryo"/>
                <a:ea typeface="Meiryo"/>
                <a:cs typeface="Meiryo"/>
                <a:sym typeface="Meiryo"/>
              </a:rPr>
              <a:t>→ 考え方講座・ワーク②</a:t>
            </a:r>
            <a:endParaRPr b="0" i="0" sz="1758" u="none" cap="none" strike="noStrike">
              <a:solidFill>
                <a:schemeClr val="accent2"/>
              </a:solidFill>
              <a:latin typeface="Calibri"/>
              <a:ea typeface="Calibri"/>
              <a:cs typeface="Calibri"/>
              <a:sym typeface="Calibri"/>
            </a:endParaRPr>
          </a:p>
        </p:txBody>
      </p:sp>
      <p:sp>
        <p:nvSpPr>
          <p:cNvPr id="364" name="Google Shape;364;g40a0daa3361_0_406"/>
          <p:cNvSpPr txBox="1"/>
          <p:nvPr/>
        </p:nvSpPr>
        <p:spPr>
          <a:xfrm>
            <a:off x="4892040" y="1874520"/>
            <a:ext cx="3815100" cy="826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44444"/>
              </a:buClr>
              <a:buSzPts val="1530"/>
              <a:buFont typeface="Meiryo"/>
              <a:buNone/>
            </a:pPr>
            <a:r>
              <a:rPr b="0" i="0" lang="en-US" sz="1530" u="none" cap="none" strike="noStrike">
                <a:solidFill>
                  <a:srgbClr val="444444"/>
                </a:solidFill>
                <a:latin typeface="Meiryo"/>
                <a:ea typeface="Meiryo"/>
                <a:cs typeface="Meiryo"/>
                <a:sym typeface="Meiryo"/>
              </a:rPr>
              <a:t>正確性が不安</a:t>
            </a:r>
            <a:endParaRPr b="0" i="0" sz="153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44444"/>
              </a:buClr>
              <a:buSzPts val="1530"/>
              <a:buFont typeface="Meiryo"/>
              <a:buNone/>
            </a:pPr>
            <a:r>
              <a:rPr b="0" i="0" lang="en-US" sz="1530" u="none" cap="none" strike="noStrike">
                <a:solidFill>
                  <a:srgbClr val="444444"/>
                </a:solidFill>
                <a:latin typeface="Meiryo"/>
                <a:ea typeface="Meiryo"/>
                <a:cs typeface="Meiryo"/>
                <a:sym typeface="Meiryo"/>
              </a:rPr>
              <a:t>機密情報の扱いが不安</a:t>
            </a:r>
            <a:endParaRPr b="0" i="0" sz="1530" u="none" cap="none" strike="noStrike">
              <a:solidFill>
                <a:schemeClr val="dk1"/>
              </a:solidFill>
              <a:latin typeface="Calibri"/>
              <a:ea typeface="Calibri"/>
              <a:cs typeface="Calibri"/>
              <a:sym typeface="Calibri"/>
            </a:endParaRPr>
          </a:p>
        </p:txBody>
      </p:sp>
      <p:sp>
        <p:nvSpPr>
          <p:cNvPr id="365" name="Google Shape;365;g40a0daa3361_0_406"/>
          <p:cNvSpPr txBox="1"/>
          <p:nvPr/>
        </p:nvSpPr>
        <p:spPr>
          <a:xfrm>
            <a:off x="4892040" y="2697480"/>
            <a:ext cx="38151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738"/>
              <a:buFont typeface="Meiryo"/>
              <a:buNone/>
            </a:pPr>
            <a:r>
              <a:rPr b="1" i="0" lang="en-US" sz="1738" u="none" cap="none" strike="noStrike">
                <a:solidFill>
                  <a:srgbClr val="1F3A5F"/>
                </a:solidFill>
                <a:latin typeface="Meiryo"/>
                <a:ea typeface="Meiryo"/>
                <a:cs typeface="Meiryo"/>
                <a:sym typeface="Meiryo"/>
              </a:rPr>
              <a:t>→ このパートの最後にご紹介します</a:t>
            </a:r>
            <a:endParaRPr b="0" i="0" sz="1738" u="none" cap="none" strike="noStrike">
              <a:solidFill>
                <a:srgbClr val="1F3A5F"/>
              </a:solidFill>
              <a:latin typeface="Calibri"/>
              <a:ea typeface="Calibri"/>
              <a:cs typeface="Calibri"/>
              <a:sym typeface="Calibri"/>
            </a:endParaRPr>
          </a:p>
        </p:txBody>
      </p:sp>
      <p:sp>
        <p:nvSpPr>
          <p:cNvPr id="366" name="Google Shape;366;g40a0daa3361_0_40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9"/>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最新動向① AIモデルは数か月ごとに新しくなる</a:t>
            </a:r>
            <a:endParaRPr b="0" i="0" sz="2200" u="none" cap="none" strike="noStrike">
              <a:solidFill>
                <a:schemeClr val="dk1"/>
              </a:solidFill>
              <a:latin typeface="Calibri"/>
              <a:ea typeface="Calibri"/>
              <a:cs typeface="Calibri"/>
              <a:sym typeface="Calibri"/>
            </a:endParaRPr>
          </a:p>
        </p:txBody>
      </p:sp>
      <p:sp>
        <p:nvSpPr>
          <p:cNvPr id="373" name="Google Shape;373;p9"/>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374" name="Google Shape;374;p9"/>
          <p:cNvSpPr txBox="1"/>
          <p:nvPr/>
        </p:nvSpPr>
        <p:spPr>
          <a:xfrm>
            <a:off x="2148840" y="960120"/>
            <a:ext cx="26517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昨年度の資料</a:t>
            </a:r>
            <a:endParaRPr b="0" i="0" sz="1100" u="none" cap="none" strike="noStrike">
              <a:solidFill>
                <a:schemeClr val="dk1"/>
              </a:solidFill>
              <a:latin typeface="Calibri"/>
              <a:ea typeface="Calibri"/>
              <a:cs typeface="Calibri"/>
              <a:sym typeface="Calibri"/>
            </a:endParaRPr>
          </a:p>
        </p:txBody>
      </p:sp>
      <p:sp>
        <p:nvSpPr>
          <p:cNvPr id="375" name="Google Shape;375;p9"/>
          <p:cNvSpPr txBox="1"/>
          <p:nvPr/>
        </p:nvSpPr>
        <p:spPr>
          <a:xfrm>
            <a:off x="5715000" y="960120"/>
            <a:ext cx="301752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2026年9月 現在</a:t>
            </a:r>
            <a:endParaRPr b="0" i="0" sz="1100" u="none" cap="none" strike="noStrike">
              <a:solidFill>
                <a:schemeClr val="dk1"/>
              </a:solidFill>
              <a:latin typeface="Calibri"/>
              <a:ea typeface="Calibri"/>
              <a:cs typeface="Calibri"/>
              <a:sym typeface="Calibri"/>
            </a:endParaRPr>
          </a:p>
        </p:txBody>
      </p:sp>
      <p:sp>
        <p:nvSpPr>
          <p:cNvPr id="376" name="Google Shape;376;p9"/>
          <p:cNvSpPr/>
          <p:nvPr/>
        </p:nvSpPr>
        <p:spPr>
          <a:xfrm>
            <a:off x="2148840" y="1325880"/>
            <a:ext cx="2651760" cy="731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9"/>
          <p:cNvSpPr txBox="1"/>
          <p:nvPr/>
        </p:nvSpPr>
        <p:spPr>
          <a:xfrm>
            <a:off x="2240280" y="1417320"/>
            <a:ext cx="246888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55555"/>
              </a:buClr>
              <a:buSzPts val="1400"/>
              <a:buFont typeface="Meiryo"/>
              <a:buNone/>
            </a:pPr>
            <a:r>
              <a:rPr b="1" i="0" lang="en-US" sz="1400" u="none" cap="none" strike="noStrike">
                <a:solidFill>
                  <a:srgbClr val="555555"/>
                </a:solidFill>
                <a:latin typeface="Meiryo"/>
                <a:ea typeface="Meiryo"/>
                <a:cs typeface="Meiryo"/>
                <a:sym typeface="Meiryo"/>
              </a:rPr>
              <a:t>GPT-5</a:t>
            </a:r>
            <a:endParaRPr b="0" i="0" sz="1400" u="none" cap="none" strike="noStrike">
              <a:solidFill>
                <a:schemeClr val="dk1"/>
              </a:solidFill>
              <a:latin typeface="Calibri"/>
              <a:ea typeface="Calibri"/>
              <a:cs typeface="Calibri"/>
              <a:sym typeface="Calibri"/>
            </a:endParaRPr>
          </a:p>
        </p:txBody>
      </p:sp>
      <p:sp>
        <p:nvSpPr>
          <p:cNvPr id="378" name="Google Shape;378;p9"/>
          <p:cNvSpPr txBox="1"/>
          <p:nvPr/>
        </p:nvSpPr>
        <p:spPr>
          <a:xfrm>
            <a:off x="2240280" y="1737360"/>
            <a:ext cx="24688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2025年8月</a:t>
            </a:r>
            <a:endParaRPr b="0" i="0" sz="1000" u="none" cap="none" strike="noStrike">
              <a:solidFill>
                <a:schemeClr val="dk1"/>
              </a:solidFill>
              <a:latin typeface="Calibri"/>
              <a:ea typeface="Calibri"/>
              <a:cs typeface="Calibri"/>
              <a:sym typeface="Calibri"/>
            </a:endParaRPr>
          </a:p>
        </p:txBody>
      </p:sp>
      <p:sp>
        <p:nvSpPr>
          <p:cNvPr id="379" name="Google Shape;379;p9"/>
          <p:cNvSpPr/>
          <p:nvPr/>
        </p:nvSpPr>
        <p:spPr>
          <a:xfrm>
            <a:off x="4983480" y="1554480"/>
            <a:ext cx="548640" cy="27432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9"/>
          <p:cNvSpPr/>
          <p:nvPr/>
        </p:nvSpPr>
        <p:spPr>
          <a:xfrm>
            <a:off x="5715000" y="1325880"/>
            <a:ext cx="3017520" cy="73152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9"/>
          <p:cNvSpPr txBox="1"/>
          <p:nvPr/>
        </p:nvSpPr>
        <p:spPr>
          <a:xfrm>
            <a:off x="5806440" y="1417320"/>
            <a:ext cx="28346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GPT-6 Astra</a:t>
            </a:r>
            <a:endParaRPr b="0" i="0" sz="1400" u="none" cap="none" strike="noStrike">
              <a:solidFill>
                <a:schemeClr val="dk1"/>
              </a:solidFill>
              <a:latin typeface="Calibri"/>
              <a:ea typeface="Calibri"/>
              <a:cs typeface="Calibri"/>
              <a:sym typeface="Calibri"/>
            </a:endParaRPr>
          </a:p>
        </p:txBody>
      </p:sp>
      <p:sp>
        <p:nvSpPr>
          <p:cNvPr id="382" name="Google Shape;382;p9"/>
          <p:cNvSpPr txBox="1"/>
          <p:nvPr/>
        </p:nvSpPr>
        <p:spPr>
          <a:xfrm>
            <a:off x="5806440" y="1737360"/>
            <a:ext cx="283464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2026年9月</a:t>
            </a:r>
            <a:endParaRPr b="0" i="0" sz="1000" u="none" cap="none" strike="noStrike">
              <a:solidFill>
                <a:schemeClr val="dk1"/>
              </a:solidFill>
              <a:latin typeface="Calibri"/>
              <a:ea typeface="Calibri"/>
              <a:cs typeface="Calibri"/>
              <a:sym typeface="Calibri"/>
            </a:endParaRPr>
          </a:p>
        </p:txBody>
      </p:sp>
      <p:sp>
        <p:nvSpPr>
          <p:cNvPr id="383" name="Google Shape;383;p9"/>
          <p:cNvSpPr/>
          <p:nvPr/>
        </p:nvSpPr>
        <p:spPr>
          <a:xfrm>
            <a:off x="2148840" y="2194560"/>
            <a:ext cx="2651760" cy="731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9"/>
          <p:cNvSpPr txBox="1"/>
          <p:nvPr/>
        </p:nvSpPr>
        <p:spPr>
          <a:xfrm>
            <a:off x="2240280" y="2286000"/>
            <a:ext cx="246888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55555"/>
              </a:buClr>
              <a:buSzPts val="1400"/>
              <a:buFont typeface="Meiryo"/>
              <a:buNone/>
            </a:pPr>
            <a:r>
              <a:rPr b="1" i="0" lang="en-US" sz="1400" u="none" cap="none" strike="noStrike">
                <a:solidFill>
                  <a:srgbClr val="555555"/>
                </a:solidFill>
                <a:latin typeface="Meiryo"/>
                <a:ea typeface="Meiryo"/>
                <a:cs typeface="Meiryo"/>
                <a:sym typeface="Meiryo"/>
              </a:rPr>
              <a:t>Gemini 3</a:t>
            </a:r>
            <a:endParaRPr b="0" i="0" sz="1400" u="none" cap="none" strike="noStrike">
              <a:solidFill>
                <a:schemeClr val="dk1"/>
              </a:solidFill>
              <a:latin typeface="Calibri"/>
              <a:ea typeface="Calibri"/>
              <a:cs typeface="Calibri"/>
              <a:sym typeface="Calibri"/>
            </a:endParaRPr>
          </a:p>
        </p:txBody>
      </p:sp>
      <p:sp>
        <p:nvSpPr>
          <p:cNvPr id="385" name="Google Shape;385;p9"/>
          <p:cNvSpPr txBox="1"/>
          <p:nvPr/>
        </p:nvSpPr>
        <p:spPr>
          <a:xfrm>
            <a:off x="2240280" y="2606040"/>
            <a:ext cx="24688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2025年11月</a:t>
            </a:r>
            <a:endParaRPr b="0" i="0" sz="1000" u="none" cap="none" strike="noStrike">
              <a:solidFill>
                <a:schemeClr val="dk1"/>
              </a:solidFill>
              <a:latin typeface="Calibri"/>
              <a:ea typeface="Calibri"/>
              <a:cs typeface="Calibri"/>
              <a:sym typeface="Calibri"/>
            </a:endParaRPr>
          </a:p>
        </p:txBody>
      </p:sp>
      <p:sp>
        <p:nvSpPr>
          <p:cNvPr id="386" name="Google Shape;386;p9"/>
          <p:cNvSpPr/>
          <p:nvPr/>
        </p:nvSpPr>
        <p:spPr>
          <a:xfrm>
            <a:off x="4983480" y="2423160"/>
            <a:ext cx="548640" cy="27432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9"/>
          <p:cNvSpPr/>
          <p:nvPr/>
        </p:nvSpPr>
        <p:spPr>
          <a:xfrm>
            <a:off x="5715000" y="2194560"/>
            <a:ext cx="3017520" cy="73152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9"/>
          <p:cNvSpPr txBox="1"/>
          <p:nvPr/>
        </p:nvSpPr>
        <p:spPr>
          <a:xfrm>
            <a:off x="5806440" y="2286000"/>
            <a:ext cx="28346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Gemini 3.</a:t>
            </a:r>
            <a:r>
              <a:rPr b="1" lang="en-US">
                <a:solidFill>
                  <a:srgbClr val="1F3A5F"/>
                </a:solidFill>
                <a:latin typeface="Meiryo"/>
                <a:ea typeface="Meiryo"/>
                <a:cs typeface="Meiryo"/>
                <a:sym typeface="Meiryo"/>
              </a:rPr>
              <a:t>8</a:t>
            </a:r>
            <a:r>
              <a:rPr b="1" i="0" lang="en-US" sz="1400" u="none" cap="none" strike="noStrike">
                <a:solidFill>
                  <a:srgbClr val="1F3A5F"/>
                </a:solidFill>
                <a:latin typeface="Meiryo"/>
                <a:ea typeface="Meiryo"/>
                <a:cs typeface="Meiryo"/>
                <a:sym typeface="Meiryo"/>
              </a:rPr>
              <a:t> Flash など</a:t>
            </a:r>
            <a:endParaRPr b="0" i="0" sz="1400" u="none" cap="none" strike="noStrike">
              <a:solidFill>
                <a:schemeClr val="dk1"/>
              </a:solidFill>
              <a:latin typeface="Calibri"/>
              <a:ea typeface="Calibri"/>
              <a:cs typeface="Calibri"/>
              <a:sym typeface="Calibri"/>
            </a:endParaRPr>
          </a:p>
        </p:txBody>
      </p:sp>
      <p:sp>
        <p:nvSpPr>
          <p:cNvPr id="389" name="Google Shape;389;p9"/>
          <p:cNvSpPr txBox="1"/>
          <p:nvPr/>
        </p:nvSpPr>
        <p:spPr>
          <a:xfrm>
            <a:off x="5806440" y="2606040"/>
            <a:ext cx="283464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2026年</a:t>
            </a:r>
            <a:r>
              <a:rPr lang="en-US" sz="1000">
                <a:solidFill>
                  <a:srgbClr val="6B7280"/>
                </a:solidFill>
                <a:latin typeface="Meiryo"/>
                <a:ea typeface="Meiryo"/>
                <a:cs typeface="Meiryo"/>
                <a:sym typeface="Meiryo"/>
              </a:rPr>
              <a:t>9</a:t>
            </a:r>
            <a:r>
              <a:rPr b="0" i="0" lang="en-US" sz="1000" u="none" cap="none" strike="noStrike">
                <a:solidFill>
                  <a:srgbClr val="6B7280"/>
                </a:solidFill>
                <a:latin typeface="Meiryo"/>
                <a:ea typeface="Meiryo"/>
                <a:cs typeface="Meiryo"/>
                <a:sym typeface="Meiryo"/>
              </a:rPr>
              <a:t>月</a:t>
            </a:r>
            <a:endParaRPr b="0" i="0" sz="1000" u="none" cap="none" strike="noStrike">
              <a:solidFill>
                <a:schemeClr val="dk1"/>
              </a:solidFill>
              <a:latin typeface="Calibri"/>
              <a:ea typeface="Calibri"/>
              <a:cs typeface="Calibri"/>
              <a:sym typeface="Calibri"/>
            </a:endParaRPr>
          </a:p>
        </p:txBody>
      </p:sp>
      <p:sp>
        <p:nvSpPr>
          <p:cNvPr id="390" name="Google Shape;390;p9"/>
          <p:cNvSpPr/>
          <p:nvPr/>
        </p:nvSpPr>
        <p:spPr>
          <a:xfrm>
            <a:off x="2148840" y="3063240"/>
            <a:ext cx="2651760" cy="731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9"/>
          <p:cNvSpPr txBox="1"/>
          <p:nvPr/>
        </p:nvSpPr>
        <p:spPr>
          <a:xfrm>
            <a:off x="2240280" y="3154680"/>
            <a:ext cx="246888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55555"/>
              </a:buClr>
              <a:buSzPts val="1400"/>
              <a:buFont typeface="Meiryo"/>
              <a:buNone/>
            </a:pPr>
            <a:r>
              <a:rPr b="1" i="0" lang="en-US" sz="1400" u="none" cap="none" strike="noStrike">
                <a:solidFill>
                  <a:srgbClr val="555555"/>
                </a:solidFill>
                <a:latin typeface="Meiryo"/>
                <a:ea typeface="Meiryo"/>
                <a:cs typeface="Meiryo"/>
                <a:sym typeface="Meiryo"/>
              </a:rPr>
              <a:t>Claude Sonnet 4.5</a:t>
            </a:r>
            <a:endParaRPr b="0" i="0" sz="1400" u="none" cap="none" strike="noStrike">
              <a:solidFill>
                <a:schemeClr val="dk1"/>
              </a:solidFill>
              <a:latin typeface="Calibri"/>
              <a:ea typeface="Calibri"/>
              <a:cs typeface="Calibri"/>
              <a:sym typeface="Calibri"/>
            </a:endParaRPr>
          </a:p>
        </p:txBody>
      </p:sp>
      <p:sp>
        <p:nvSpPr>
          <p:cNvPr id="392" name="Google Shape;392;p9"/>
          <p:cNvSpPr txBox="1"/>
          <p:nvPr/>
        </p:nvSpPr>
        <p:spPr>
          <a:xfrm>
            <a:off x="2240280" y="3474720"/>
            <a:ext cx="24688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2025年9月</a:t>
            </a:r>
            <a:endParaRPr b="0" i="0" sz="1000" u="none" cap="none" strike="noStrike">
              <a:solidFill>
                <a:schemeClr val="dk1"/>
              </a:solidFill>
              <a:latin typeface="Calibri"/>
              <a:ea typeface="Calibri"/>
              <a:cs typeface="Calibri"/>
              <a:sym typeface="Calibri"/>
            </a:endParaRPr>
          </a:p>
        </p:txBody>
      </p:sp>
      <p:sp>
        <p:nvSpPr>
          <p:cNvPr id="393" name="Google Shape;393;p9"/>
          <p:cNvSpPr/>
          <p:nvPr/>
        </p:nvSpPr>
        <p:spPr>
          <a:xfrm>
            <a:off x="4983480" y="3291840"/>
            <a:ext cx="548640" cy="27432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9"/>
          <p:cNvSpPr/>
          <p:nvPr/>
        </p:nvSpPr>
        <p:spPr>
          <a:xfrm>
            <a:off x="5715000" y="3063240"/>
            <a:ext cx="3017520" cy="73152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9"/>
          <p:cNvSpPr txBox="1"/>
          <p:nvPr/>
        </p:nvSpPr>
        <p:spPr>
          <a:xfrm>
            <a:off x="5806440" y="3154680"/>
            <a:ext cx="28346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Claude Opus 5.5</a:t>
            </a:r>
            <a:endParaRPr b="0" i="0" sz="1400" u="none" cap="none" strike="noStrike">
              <a:solidFill>
                <a:schemeClr val="dk1"/>
              </a:solidFill>
              <a:latin typeface="Calibri"/>
              <a:ea typeface="Calibri"/>
              <a:cs typeface="Calibri"/>
              <a:sym typeface="Calibri"/>
            </a:endParaRPr>
          </a:p>
        </p:txBody>
      </p:sp>
      <p:sp>
        <p:nvSpPr>
          <p:cNvPr id="396" name="Google Shape;396;p9"/>
          <p:cNvSpPr txBox="1"/>
          <p:nvPr/>
        </p:nvSpPr>
        <p:spPr>
          <a:xfrm>
            <a:off x="5806440" y="3474720"/>
            <a:ext cx="283464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2026年</a:t>
            </a:r>
            <a:r>
              <a:rPr lang="en-US" sz="1000">
                <a:solidFill>
                  <a:srgbClr val="6B7280"/>
                </a:solidFill>
                <a:latin typeface="Meiryo"/>
                <a:ea typeface="Meiryo"/>
                <a:cs typeface="Meiryo"/>
                <a:sym typeface="Meiryo"/>
              </a:rPr>
              <a:t>9</a:t>
            </a:r>
            <a:r>
              <a:rPr b="0" i="0" lang="en-US" sz="1000" u="none" cap="none" strike="noStrike">
                <a:solidFill>
                  <a:srgbClr val="6B7280"/>
                </a:solidFill>
                <a:latin typeface="Meiryo"/>
                <a:ea typeface="Meiryo"/>
                <a:cs typeface="Meiryo"/>
                <a:sym typeface="Meiryo"/>
              </a:rPr>
              <a:t>月</a:t>
            </a:r>
            <a:endParaRPr b="0" i="0" sz="1000" u="none" cap="none" strike="noStrike">
              <a:solidFill>
                <a:schemeClr val="dk1"/>
              </a:solidFill>
              <a:latin typeface="Calibri"/>
              <a:ea typeface="Calibri"/>
              <a:cs typeface="Calibri"/>
              <a:sym typeface="Calibri"/>
            </a:endParaRPr>
          </a:p>
        </p:txBody>
      </p:sp>
      <p:sp>
        <p:nvSpPr>
          <p:cNvPr id="397" name="Google Shape;397;p9"/>
          <p:cNvSpPr txBox="1"/>
          <p:nvPr/>
        </p:nvSpPr>
        <p:spPr>
          <a:xfrm>
            <a:off x="411480" y="4069080"/>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300"/>
              <a:buFont typeface="Meiryo"/>
              <a:buNone/>
            </a:pPr>
            <a:r>
              <a:rPr b="1" i="0" lang="en-US" sz="1300" u="none" cap="none" strike="noStrike">
                <a:solidFill>
                  <a:srgbClr val="E8702A"/>
                </a:solidFill>
                <a:latin typeface="Meiryo"/>
                <a:ea typeface="Meiryo"/>
                <a:cs typeface="Meiryo"/>
                <a:sym typeface="Meiryo"/>
              </a:rPr>
              <a:t>バージョン名をすべて追う必要はありません。どのモデルでも「何を渡すか」で結果が大きく変わります。</a:t>
            </a:r>
            <a:endParaRPr b="0" i="0" sz="1300" u="none" cap="none" strike="noStrike">
              <a:solidFill>
                <a:schemeClr val="dk1"/>
              </a:solidFill>
              <a:latin typeface="Calibri"/>
              <a:ea typeface="Calibri"/>
              <a:cs typeface="Calibri"/>
              <a:sym typeface="Calibri"/>
            </a:endParaRPr>
          </a:p>
        </p:txBody>
      </p:sp>
      <p:grpSp>
        <p:nvGrpSpPr>
          <p:cNvPr id="398" name="Google Shape;398;p9"/>
          <p:cNvGrpSpPr/>
          <p:nvPr/>
        </p:nvGrpSpPr>
        <p:grpSpPr>
          <a:xfrm>
            <a:off x="127508" y="1554473"/>
            <a:ext cx="1645873" cy="361154"/>
            <a:chOff x="676600" y="1458575"/>
            <a:chExt cx="1941574" cy="425990"/>
          </a:xfrm>
        </p:grpSpPr>
        <p:pic>
          <p:nvPicPr>
            <p:cNvPr id="399" name="Google Shape;399;p9" title="cgpt.png"/>
            <p:cNvPicPr preferRelativeResize="0"/>
            <p:nvPr/>
          </p:nvPicPr>
          <p:blipFill>
            <a:blip r:embed="rId3">
              <a:alphaModFix/>
            </a:blip>
            <a:stretch>
              <a:fillRect/>
            </a:stretch>
          </p:blipFill>
          <p:spPr>
            <a:xfrm>
              <a:off x="676600" y="1458575"/>
              <a:ext cx="397350" cy="397350"/>
            </a:xfrm>
            <a:prstGeom prst="rect">
              <a:avLst/>
            </a:prstGeom>
            <a:noFill/>
            <a:ln>
              <a:noFill/>
            </a:ln>
          </p:spPr>
        </p:pic>
        <p:pic>
          <p:nvPicPr>
            <p:cNvPr id="400" name="Google Shape;400;p9" title="65a762d88d34c9b08de34039_659f1e3a57ce506fbcc81b42_who20chatgpt_logo.png"/>
            <p:cNvPicPr preferRelativeResize="0"/>
            <p:nvPr/>
          </p:nvPicPr>
          <p:blipFill rotWithShape="1">
            <a:blip r:embed="rId4">
              <a:alphaModFix/>
            </a:blip>
            <a:srcRect b="33308" l="33395" r="0" t="32797"/>
            <a:stretch/>
          </p:blipFill>
          <p:spPr>
            <a:xfrm>
              <a:off x="1111450" y="1458575"/>
              <a:ext cx="1506724" cy="425990"/>
            </a:xfrm>
            <a:prstGeom prst="rect">
              <a:avLst/>
            </a:prstGeom>
            <a:noFill/>
            <a:ln>
              <a:noFill/>
            </a:ln>
          </p:spPr>
        </p:pic>
      </p:grpSp>
      <p:pic>
        <p:nvPicPr>
          <p:cNvPr id="401" name="Google Shape;401;p9" title="25Apr11_gemini_000.jpg"/>
          <p:cNvPicPr preferRelativeResize="0"/>
          <p:nvPr/>
        </p:nvPicPr>
        <p:blipFill rotWithShape="1">
          <a:blip r:embed="rId5">
            <a:alphaModFix/>
          </a:blip>
          <a:srcRect b="30760" l="0" r="0" t="27469"/>
          <a:stretch/>
        </p:blipFill>
        <p:spPr>
          <a:xfrm>
            <a:off x="147775" y="2320287"/>
            <a:ext cx="1605315" cy="502925"/>
          </a:xfrm>
          <a:prstGeom prst="rect">
            <a:avLst/>
          </a:prstGeom>
          <a:noFill/>
          <a:ln>
            <a:noFill/>
          </a:ln>
        </p:spPr>
      </p:pic>
      <p:pic>
        <p:nvPicPr>
          <p:cNvPr id="402" name="Google Shape;402;p9" title="スクリーンショット 2025-07-03 113128.png"/>
          <p:cNvPicPr preferRelativeResize="0"/>
          <p:nvPr/>
        </p:nvPicPr>
        <p:blipFill>
          <a:blip r:embed="rId6">
            <a:alphaModFix/>
          </a:blip>
          <a:stretch>
            <a:fillRect/>
          </a:stretch>
        </p:blipFill>
        <p:spPr>
          <a:xfrm>
            <a:off x="127500" y="3241090"/>
            <a:ext cx="1645876" cy="410104"/>
          </a:xfrm>
          <a:prstGeom prst="rect">
            <a:avLst/>
          </a:prstGeom>
          <a:noFill/>
          <a:ln>
            <a:noFill/>
          </a:ln>
        </p:spPr>
      </p:pic>
      <p:sp>
        <p:nvSpPr>
          <p:cNvPr id="403" name="Google Shape;403;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10"/>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最新動向② </a:t>
            </a:r>
            <a:r>
              <a:rPr b="1" lang="en-US" sz="2200">
                <a:solidFill>
                  <a:srgbClr val="222222"/>
                </a:solidFill>
                <a:latin typeface="Meiryo"/>
                <a:ea typeface="Meiryo"/>
                <a:cs typeface="Meiryo"/>
                <a:sym typeface="Meiryo"/>
              </a:rPr>
              <a:t>AIエージェントは「元年」から「普及」へ</a:t>
            </a:r>
            <a:endParaRPr b="0" i="0" sz="2200" u="none" cap="none" strike="noStrike">
              <a:solidFill>
                <a:schemeClr val="dk1"/>
              </a:solidFill>
              <a:latin typeface="Calibri"/>
              <a:ea typeface="Calibri"/>
              <a:cs typeface="Calibri"/>
              <a:sym typeface="Calibri"/>
            </a:endParaRPr>
          </a:p>
        </p:txBody>
      </p:sp>
      <p:sp>
        <p:nvSpPr>
          <p:cNvPr id="410" name="Google Shape;410;p10"/>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411" name="Google Shape;411;p10"/>
          <p:cNvSpPr/>
          <p:nvPr/>
        </p:nvSpPr>
        <p:spPr>
          <a:xfrm>
            <a:off x="411480" y="1005840"/>
            <a:ext cx="3931920" cy="214884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0"/>
          <p:cNvSpPr txBox="1"/>
          <p:nvPr/>
        </p:nvSpPr>
        <p:spPr>
          <a:xfrm>
            <a:off x="640080" y="1143000"/>
            <a:ext cx="34747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1" i="0" lang="en-US" sz="1100" u="none" cap="none" strike="noStrike">
                <a:solidFill>
                  <a:srgbClr val="6B7280"/>
                </a:solidFill>
                <a:latin typeface="Meiryo"/>
                <a:ea typeface="Meiryo"/>
                <a:cs typeface="Meiryo"/>
                <a:sym typeface="Meiryo"/>
              </a:rPr>
              <a:t>2025年</a:t>
            </a:r>
            <a:endParaRPr b="0" i="0" sz="1100" u="none" cap="none" strike="noStrike">
              <a:solidFill>
                <a:schemeClr val="dk1"/>
              </a:solidFill>
              <a:latin typeface="Calibri"/>
              <a:ea typeface="Calibri"/>
              <a:cs typeface="Calibri"/>
              <a:sym typeface="Calibri"/>
            </a:endParaRPr>
          </a:p>
        </p:txBody>
      </p:sp>
      <p:sp>
        <p:nvSpPr>
          <p:cNvPr id="413" name="Google Shape;413;p10"/>
          <p:cNvSpPr/>
          <p:nvPr/>
        </p:nvSpPr>
        <p:spPr>
          <a:xfrm>
            <a:off x="640080" y="1508760"/>
            <a:ext cx="548640" cy="548640"/>
          </a:xfrm>
          <a:prstGeom prst="ellipse">
            <a:avLst/>
          </a:prstGeom>
          <a:solidFill>
            <a:srgbClr val="9CA3AF"/>
          </a:solidFill>
          <a:ln cap="flat" cmpd="sng" w="12700">
            <a:solidFill>
              <a:srgbClr val="9CA3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0"/>
          <p:cNvSpPr txBox="1"/>
          <p:nvPr/>
        </p:nvSpPr>
        <p:spPr>
          <a:xfrm>
            <a:off x="1371600" y="1554480"/>
            <a:ext cx="27432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55555"/>
              </a:buClr>
              <a:buSzPts val="2000"/>
              <a:buFont typeface="Meiryo"/>
              <a:buNone/>
            </a:pPr>
            <a:r>
              <a:rPr b="1" lang="en-US" sz="2000">
                <a:solidFill>
                  <a:srgbClr val="555555"/>
                </a:solidFill>
                <a:latin typeface="Meiryo"/>
                <a:ea typeface="Meiryo"/>
                <a:cs typeface="Meiryo"/>
                <a:sym typeface="Meiryo"/>
              </a:rPr>
              <a:t>エージェント元年</a:t>
            </a:r>
            <a:endParaRPr b="0" i="0" sz="2000" u="none" cap="none" strike="noStrike">
              <a:solidFill>
                <a:schemeClr val="dk1"/>
              </a:solidFill>
              <a:latin typeface="Calibri"/>
              <a:ea typeface="Calibri"/>
              <a:cs typeface="Calibri"/>
              <a:sym typeface="Calibri"/>
            </a:endParaRPr>
          </a:p>
        </p:txBody>
      </p:sp>
      <p:sp>
        <p:nvSpPr>
          <p:cNvPr id="415" name="Google Shape;415;p10"/>
          <p:cNvSpPr txBox="1"/>
          <p:nvPr/>
        </p:nvSpPr>
        <p:spPr>
          <a:xfrm>
            <a:off x="640080" y="2240280"/>
            <a:ext cx="3474600" cy="731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44444"/>
              </a:buClr>
              <a:buSzPts val="1200"/>
              <a:buFont typeface="Meiryo"/>
              <a:buNone/>
            </a:pPr>
            <a:r>
              <a:rPr lang="en-US" sz="1200">
                <a:solidFill>
                  <a:srgbClr val="444444"/>
                </a:solidFill>
                <a:latin typeface="Meiryo"/>
                <a:ea typeface="Meiryo"/>
                <a:cs typeface="Meiryo"/>
                <a:sym typeface="Meiryo"/>
              </a:rPr>
              <a:t>調べもの・開発など一部の業務から登場</a:t>
            </a:r>
            <a:endParaRPr sz="1200">
              <a:solidFill>
                <a:srgbClr val="444444"/>
              </a:solidFill>
              <a:latin typeface="Meiryo"/>
              <a:ea typeface="Meiryo"/>
              <a:cs typeface="Meiryo"/>
              <a:sym typeface="Meiryo"/>
            </a:endParaRPr>
          </a:p>
          <a:p>
            <a:pPr indent="0" lvl="0" marL="0" marR="0" rtl="0" algn="l">
              <a:lnSpc>
                <a:spcPct val="120000"/>
              </a:lnSpc>
              <a:spcBef>
                <a:spcPts val="0"/>
              </a:spcBef>
              <a:spcAft>
                <a:spcPts val="0"/>
              </a:spcAft>
              <a:buClr>
                <a:srgbClr val="444444"/>
              </a:buClr>
              <a:buSzPts val="1200"/>
              <a:buFont typeface="Meiryo"/>
              <a:buNone/>
            </a:pPr>
            <a:r>
              <a:rPr lang="en-US" sz="1200">
                <a:solidFill>
                  <a:srgbClr val="444444"/>
                </a:solidFill>
                <a:latin typeface="Meiryo"/>
                <a:ea typeface="Meiryo"/>
                <a:cs typeface="Meiryo"/>
                <a:sym typeface="Meiryo"/>
              </a:rPr>
              <a:t>AIと外部ツールをつなぐ標準化（MCPなど）</a:t>
            </a:r>
            <a:endParaRPr sz="1200">
              <a:solidFill>
                <a:srgbClr val="444444"/>
              </a:solidFill>
              <a:latin typeface="Meiryo"/>
              <a:ea typeface="Meiryo"/>
              <a:cs typeface="Meiryo"/>
              <a:sym typeface="Meiryo"/>
            </a:endParaRPr>
          </a:p>
          <a:p>
            <a:pPr indent="0" lvl="0" marL="0" marR="0" rtl="0" algn="l">
              <a:lnSpc>
                <a:spcPct val="120000"/>
              </a:lnSpc>
              <a:spcBef>
                <a:spcPts val="0"/>
              </a:spcBef>
              <a:spcAft>
                <a:spcPts val="0"/>
              </a:spcAft>
              <a:buClr>
                <a:srgbClr val="444444"/>
              </a:buClr>
              <a:buSzPts val="1200"/>
              <a:buFont typeface="Meiryo"/>
              <a:buNone/>
            </a:pPr>
            <a:r>
              <a:t/>
            </a:r>
            <a:endParaRPr sz="1200">
              <a:solidFill>
                <a:srgbClr val="444444"/>
              </a:solidFill>
              <a:latin typeface="Meiryo"/>
              <a:ea typeface="Meiryo"/>
              <a:cs typeface="Meiryo"/>
              <a:sym typeface="Meiryo"/>
            </a:endParaRPr>
          </a:p>
        </p:txBody>
      </p:sp>
      <p:sp>
        <p:nvSpPr>
          <p:cNvPr id="416" name="Google Shape;416;p10"/>
          <p:cNvSpPr/>
          <p:nvPr/>
        </p:nvSpPr>
        <p:spPr>
          <a:xfrm>
            <a:off x="4434840" y="1874520"/>
            <a:ext cx="320040" cy="41148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0"/>
          <p:cNvSpPr/>
          <p:nvPr/>
        </p:nvSpPr>
        <p:spPr>
          <a:xfrm>
            <a:off x="4846320" y="1005840"/>
            <a:ext cx="3886200" cy="21488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0"/>
          <p:cNvSpPr txBox="1"/>
          <p:nvPr/>
        </p:nvSpPr>
        <p:spPr>
          <a:xfrm>
            <a:off x="5074920" y="1143000"/>
            <a:ext cx="34747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2026年</a:t>
            </a:r>
            <a:endParaRPr b="0" i="0" sz="1100" u="none" cap="none" strike="noStrike">
              <a:solidFill>
                <a:schemeClr val="dk1"/>
              </a:solidFill>
              <a:latin typeface="Calibri"/>
              <a:ea typeface="Calibri"/>
              <a:cs typeface="Calibri"/>
              <a:sym typeface="Calibri"/>
            </a:endParaRPr>
          </a:p>
        </p:txBody>
      </p:sp>
      <p:sp>
        <p:nvSpPr>
          <p:cNvPr id="419" name="Google Shape;419;p10"/>
          <p:cNvSpPr/>
          <p:nvPr/>
        </p:nvSpPr>
        <p:spPr>
          <a:xfrm>
            <a:off x="5074920" y="150876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0" name="Google Shape;420;p10"/>
          <p:cNvPicPr preferRelativeResize="0"/>
          <p:nvPr/>
        </p:nvPicPr>
        <p:blipFill rotWithShape="1">
          <a:blip r:embed="rId3">
            <a:alphaModFix/>
          </a:blip>
          <a:srcRect b="0" l="0" r="0" t="0"/>
          <a:stretch/>
        </p:blipFill>
        <p:spPr>
          <a:xfrm>
            <a:off x="5195621" y="1629461"/>
            <a:ext cx="307238" cy="307238"/>
          </a:xfrm>
          <a:prstGeom prst="rect">
            <a:avLst/>
          </a:prstGeom>
          <a:noFill/>
          <a:ln>
            <a:noFill/>
          </a:ln>
        </p:spPr>
      </p:pic>
      <p:sp>
        <p:nvSpPr>
          <p:cNvPr id="421" name="Google Shape;421;p10"/>
          <p:cNvSpPr txBox="1"/>
          <p:nvPr/>
        </p:nvSpPr>
        <p:spPr>
          <a:xfrm>
            <a:off x="5806440" y="1554480"/>
            <a:ext cx="27432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2000"/>
              <a:buFont typeface="Meiryo"/>
              <a:buNone/>
            </a:pPr>
            <a:r>
              <a:rPr b="1" lang="en-US" sz="2000">
                <a:solidFill>
                  <a:srgbClr val="1F3A5F"/>
                </a:solidFill>
                <a:latin typeface="Meiryo"/>
                <a:ea typeface="Meiryo"/>
                <a:cs typeface="Meiryo"/>
                <a:sym typeface="Meiryo"/>
              </a:rPr>
              <a:t>業務での普及</a:t>
            </a:r>
            <a:endParaRPr b="0" i="0" sz="2000" u="none" cap="none" strike="noStrike">
              <a:solidFill>
                <a:schemeClr val="dk1"/>
              </a:solidFill>
              <a:latin typeface="Calibri"/>
              <a:ea typeface="Calibri"/>
              <a:cs typeface="Calibri"/>
              <a:sym typeface="Calibri"/>
            </a:endParaRPr>
          </a:p>
        </p:txBody>
      </p:sp>
      <p:sp>
        <p:nvSpPr>
          <p:cNvPr id="422" name="Google Shape;422;p10"/>
          <p:cNvSpPr txBox="1"/>
          <p:nvPr/>
        </p:nvSpPr>
        <p:spPr>
          <a:xfrm>
            <a:off x="5074920" y="2240280"/>
            <a:ext cx="347472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33333"/>
              </a:buClr>
              <a:buSzPts val="1200"/>
              <a:buFont typeface="Meiryo"/>
              <a:buNone/>
            </a:pPr>
            <a:r>
              <a:rPr b="0" i="0" lang="en-US" sz="1200" u="none" cap="none" strike="noStrike">
                <a:solidFill>
                  <a:srgbClr val="333333"/>
                </a:solidFill>
                <a:latin typeface="Meiryo"/>
                <a:ea typeface="Meiryo"/>
                <a:cs typeface="Meiryo"/>
                <a:sym typeface="Meiryo"/>
              </a:rPr>
              <a:t>ブラウザや業務ソフトを操作して</a:t>
            </a: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33333"/>
              </a:buClr>
              <a:buSzPts val="1200"/>
              <a:buFont typeface="Meiryo"/>
              <a:buNone/>
            </a:pPr>
            <a:r>
              <a:rPr b="0" i="0" lang="en-US" sz="1200" u="none" cap="none" strike="noStrike">
                <a:solidFill>
                  <a:srgbClr val="333333"/>
                </a:solidFill>
                <a:latin typeface="Meiryo"/>
                <a:ea typeface="Meiryo"/>
                <a:cs typeface="Meiryo"/>
                <a:sym typeface="Meiryo"/>
              </a:rPr>
              <a:t>複数の工程を最後まで進める</a:t>
            </a:r>
            <a:endParaRPr b="0" i="0" sz="1200" u="none" cap="none" strike="noStrike">
              <a:solidFill>
                <a:schemeClr val="dk1"/>
              </a:solidFill>
              <a:latin typeface="Calibri"/>
              <a:ea typeface="Calibri"/>
              <a:cs typeface="Calibri"/>
              <a:sym typeface="Calibri"/>
            </a:endParaRPr>
          </a:p>
        </p:txBody>
      </p:sp>
      <p:sp>
        <p:nvSpPr>
          <p:cNvPr id="423" name="Google Shape;423;p10"/>
          <p:cNvSpPr txBox="1"/>
          <p:nvPr/>
        </p:nvSpPr>
        <p:spPr>
          <a:xfrm>
            <a:off x="411480" y="3383280"/>
            <a:ext cx="8321040" cy="109728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OpenAIの最上位モデル「GPT-6 Astra」（2026年9月）は、PC操作の精度と速度を強化</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Gartnerは、2026年に企業アプリの40%へAIエージェントが組み込まれると予測</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任せる範囲が広がるほど、「何を渡すか」と「人が確認すること」が重要になります</a:t>
            </a:r>
            <a:endParaRPr b="0" i="0" sz="1200" u="none" cap="none" strike="noStrike">
              <a:solidFill>
                <a:schemeClr val="dk1"/>
              </a:solidFill>
              <a:latin typeface="Calibri"/>
              <a:ea typeface="Calibri"/>
              <a:cs typeface="Calibri"/>
              <a:sym typeface="Calibri"/>
            </a:endParaRPr>
          </a:p>
          <a:p>
            <a:pPr lvl="0" marR="0" rtl="0" algn="l" indent="0" marL="0">
              <a:lnSpc>
                <a:spcPct val="100000"/>
              </a:lnSpc>
              <a:spcBef>
                <a:spcPts val="600"/>
              </a:spcBef>
              <a:spcAft>
                <a:spcPts val="0"/>
              </a:spcAft>
              <a:buClr>
                <a:srgbClr val="222222"/>
              </a:buClr>
              <a:buSzPts val="1200"/>
              <a:buFont typeface="Meiryo"/>
              <a:buNone/>
            </a:pPr>
            <a:r>
              <a:rPr b="0" i="0" lang="en-US" sz="900" u="none" cap="none" strike="noStrike">
                <a:solidFill>
                  <a:srgbClr val="6B7280"/>
                </a:solidFill>
                <a:latin typeface="Meiryo"/>
                <a:ea typeface="Meiryo"/>
                <a:cs typeface="Meiryo"/>
                <a:sym typeface="Meiryo"/>
              </a:rPr>
              <a:t>出典：</a:t>
            </a:r>
            <a:r>
              <a:rPr b="0" i="0" lang="en-US" sz="900" u="sng" cap="none" strike="noStrike">
                <a:solidFill>
                  <a:schemeClr val="hlink"/>
                </a:solidFill>
                <a:latin typeface="Meiryo"/>
                <a:ea typeface="Meiryo"/>
                <a:cs typeface="Meiryo"/>
                <a:sym typeface="Meiryo"/>
                <a:hlinkClick r:id="rId6"/>
              </a:rPr>
              <a:t>Gartner プレスリリース（2025年8月26日）</a:t>
            </a:r>
            <a:endParaRPr b="0" i="0" sz="1200" u="none" cap="none" strike="noStrike">
              <a:solidFill>
                <a:schemeClr val="dk1"/>
              </a:solidFill>
              <a:latin typeface="Calibri"/>
              <a:ea typeface="Calibri"/>
              <a:cs typeface="Calibri"/>
              <a:sym typeface="Calibri"/>
            </a:endParaRPr>
          </a:p>
        </p:txBody>
      </p:sp>
      <p:pic>
        <p:nvPicPr>
          <p:cNvPr id="424" name="Google Shape;424;p10"/>
          <p:cNvPicPr preferRelativeResize="0"/>
          <p:nvPr/>
        </p:nvPicPr>
        <p:blipFill>
          <a:blip r:embed="rId5">
            <a:alphaModFix/>
          </a:blip>
          <a:stretch>
            <a:fillRect/>
          </a:stretch>
        </p:blipFill>
        <p:spPr>
          <a:xfrm>
            <a:off x="724790" y="1604010"/>
            <a:ext cx="379207" cy="358140"/>
          </a:xfrm>
          <a:prstGeom prst="rect">
            <a:avLst/>
          </a:prstGeom>
          <a:noFill/>
          <a:ln>
            <a:noFill/>
          </a:ln>
        </p:spPr>
      </p:pic>
      <p:sp>
        <p:nvSpPr>
          <p:cNvPr id="425" name="Google Shape;425;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11"/>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最新動向③ 画像生成で日本語の文字が崩れ</a:t>
            </a:r>
            <a:r>
              <a:rPr b="1" lang="en-US" sz="2200">
                <a:solidFill>
                  <a:srgbClr val="222222"/>
                </a:solidFill>
                <a:latin typeface="Meiryo"/>
                <a:ea typeface="Meiryo"/>
                <a:cs typeface="Meiryo"/>
                <a:sym typeface="Meiryo"/>
              </a:rPr>
              <a:t>にくく</a:t>
            </a:r>
            <a:r>
              <a:rPr b="1" i="0" lang="en-US" sz="2200" u="none" cap="none" strike="noStrike">
                <a:solidFill>
                  <a:srgbClr val="222222"/>
                </a:solidFill>
                <a:latin typeface="Meiryo"/>
                <a:ea typeface="Meiryo"/>
                <a:cs typeface="Meiryo"/>
                <a:sym typeface="Meiryo"/>
              </a:rPr>
              <a:t>なった</a:t>
            </a:r>
            <a:endParaRPr b="0" i="0" sz="2200" u="none" cap="none" strike="noStrike">
              <a:solidFill>
                <a:schemeClr val="dk1"/>
              </a:solidFill>
              <a:latin typeface="Calibri"/>
              <a:ea typeface="Calibri"/>
              <a:cs typeface="Calibri"/>
              <a:sym typeface="Calibri"/>
            </a:endParaRPr>
          </a:p>
        </p:txBody>
      </p:sp>
      <p:sp>
        <p:nvSpPr>
          <p:cNvPr id="432" name="Google Shape;432;p11"/>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433" name="Google Shape;433;p11"/>
          <p:cNvSpPr/>
          <p:nvPr/>
        </p:nvSpPr>
        <p:spPr>
          <a:xfrm>
            <a:off x="411480" y="1005840"/>
            <a:ext cx="3931920" cy="16002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1"/>
          <p:cNvSpPr txBox="1"/>
          <p:nvPr/>
        </p:nvSpPr>
        <p:spPr>
          <a:xfrm>
            <a:off x="640080" y="1143000"/>
            <a:ext cx="34747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1" i="0" lang="en-US" sz="1100" u="none" cap="none" strike="noStrike">
                <a:solidFill>
                  <a:srgbClr val="6B7280"/>
                </a:solidFill>
                <a:latin typeface="Meiryo"/>
                <a:ea typeface="Meiryo"/>
                <a:cs typeface="Meiryo"/>
                <a:sym typeface="Meiryo"/>
              </a:rPr>
              <a:t>これまで</a:t>
            </a:r>
            <a:endParaRPr b="0" i="0" sz="1100" u="none" cap="none" strike="noStrike">
              <a:solidFill>
                <a:schemeClr val="dk1"/>
              </a:solidFill>
              <a:latin typeface="Calibri"/>
              <a:ea typeface="Calibri"/>
              <a:cs typeface="Calibri"/>
              <a:sym typeface="Calibri"/>
            </a:endParaRPr>
          </a:p>
        </p:txBody>
      </p:sp>
      <p:sp>
        <p:nvSpPr>
          <p:cNvPr id="435" name="Google Shape;435;p11"/>
          <p:cNvSpPr txBox="1"/>
          <p:nvPr/>
        </p:nvSpPr>
        <p:spPr>
          <a:xfrm>
            <a:off x="640080" y="1508760"/>
            <a:ext cx="3474720"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55555"/>
              </a:buClr>
              <a:buSzPts val="1400"/>
              <a:buFont typeface="Meiryo"/>
              <a:buNone/>
            </a:pPr>
            <a:r>
              <a:rPr b="1" i="0" lang="en-US" sz="1400" u="none" cap="none" strike="noStrike">
                <a:solidFill>
                  <a:srgbClr val="555555"/>
                </a:solidFill>
                <a:latin typeface="Meiryo"/>
                <a:ea typeface="Meiryo"/>
                <a:cs typeface="Meiryo"/>
                <a:sym typeface="Meiryo"/>
              </a:rPr>
              <a:t>日本語の文字は崩れやすく</a:t>
            </a:r>
            <a:endParaRPr b="0" i="0" sz="14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55555"/>
              </a:buClr>
              <a:buSzPts val="1400"/>
              <a:buFont typeface="Meiryo"/>
              <a:buNone/>
            </a:pPr>
            <a:r>
              <a:rPr b="1" i="0" lang="en-US" sz="1400" u="none" cap="none" strike="noStrike">
                <a:solidFill>
                  <a:srgbClr val="555555"/>
                </a:solidFill>
                <a:latin typeface="Meiryo"/>
                <a:ea typeface="Meiryo"/>
                <a:cs typeface="Meiryo"/>
                <a:sym typeface="Meiryo"/>
              </a:rPr>
              <a:t>文字は後から別ツールで入れるのが定番</a:t>
            </a:r>
            <a:endParaRPr b="0" i="0" sz="1400" u="none" cap="none" strike="noStrike">
              <a:solidFill>
                <a:schemeClr val="dk1"/>
              </a:solidFill>
              <a:latin typeface="Calibri"/>
              <a:ea typeface="Calibri"/>
              <a:cs typeface="Calibri"/>
              <a:sym typeface="Calibri"/>
            </a:endParaRPr>
          </a:p>
        </p:txBody>
      </p:sp>
      <p:sp>
        <p:nvSpPr>
          <p:cNvPr id="436" name="Google Shape;436;p11"/>
          <p:cNvSpPr/>
          <p:nvPr/>
        </p:nvSpPr>
        <p:spPr>
          <a:xfrm>
            <a:off x="4434840" y="1600200"/>
            <a:ext cx="320040" cy="41148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1"/>
          <p:cNvSpPr/>
          <p:nvPr/>
        </p:nvSpPr>
        <p:spPr>
          <a:xfrm>
            <a:off x="4846320" y="1005840"/>
            <a:ext cx="3886200" cy="16002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1"/>
          <p:cNvSpPr txBox="1"/>
          <p:nvPr/>
        </p:nvSpPr>
        <p:spPr>
          <a:xfrm>
            <a:off x="5074920" y="1143000"/>
            <a:ext cx="34747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いま</a:t>
            </a:r>
            <a:endParaRPr b="0" i="0" sz="1100" u="none" cap="none" strike="noStrike">
              <a:solidFill>
                <a:schemeClr val="dk1"/>
              </a:solidFill>
              <a:latin typeface="Calibri"/>
              <a:ea typeface="Calibri"/>
              <a:cs typeface="Calibri"/>
              <a:sym typeface="Calibri"/>
            </a:endParaRPr>
          </a:p>
        </p:txBody>
      </p:sp>
      <p:sp>
        <p:nvSpPr>
          <p:cNvPr id="439" name="Google Shape;439;p11"/>
          <p:cNvSpPr txBox="1"/>
          <p:nvPr/>
        </p:nvSpPr>
        <p:spPr>
          <a:xfrm>
            <a:off x="5074920" y="1508760"/>
            <a:ext cx="3474720"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POPや看板の文字も</a:t>
            </a:r>
            <a:endParaRPr b="0" i="0" sz="14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そのまま画像の中に生成できる水準に</a:t>
            </a:r>
            <a:endParaRPr b="0" i="0" sz="1400" u="none" cap="none" strike="noStrike">
              <a:solidFill>
                <a:schemeClr val="dk1"/>
              </a:solidFill>
              <a:latin typeface="Calibri"/>
              <a:ea typeface="Calibri"/>
              <a:cs typeface="Calibri"/>
              <a:sym typeface="Calibri"/>
            </a:endParaRPr>
          </a:p>
        </p:txBody>
      </p:sp>
      <p:sp>
        <p:nvSpPr>
          <p:cNvPr id="440" name="Google Shape;440;p11"/>
          <p:cNvSpPr/>
          <p:nvPr/>
        </p:nvSpPr>
        <p:spPr>
          <a:xfrm>
            <a:off x="502920" y="2834640"/>
            <a:ext cx="502920" cy="50292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1" name="Google Shape;441;p11"/>
          <p:cNvPicPr preferRelativeResize="0"/>
          <p:nvPr/>
        </p:nvPicPr>
        <p:blipFill rotWithShape="1">
          <a:blip r:embed="rId3">
            <a:alphaModFix/>
          </a:blip>
          <a:srcRect b="0" l="0" r="0" t="0"/>
          <a:stretch/>
        </p:blipFill>
        <p:spPr>
          <a:xfrm>
            <a:off x="613562" y="2945282"/>
            <a:ext cx="281635" cy="281635"/>
          </a:xfrm>
          <a:prstGeom prst="rect">
            <a:avLst/>
          </a:prstGeom>
          <a:noFill/>
          <a:ln>
            <a:noFill/>
          </a:ln>
        </p:spPr>
      </p:pic>
      <p:sp>
        <p:nvSpPr>
          <p:cNvPr id="442" name="Google Shape;442;p11"/>
          <p:cNvSpPr txBox="1"/>
          <p:nvPr/>
        </p:nvSpPr>
        <p:spPr>
          <a:xfrm>
            <a:off x="1188720" y="2816352"/>
            <a:ext cx="74980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Nano Banana Pro（Google／2025年11月）</a:t>
            </a:r>
            <a:endParaRPr b="0" i="0" sz="1300" u="none" cap="none" strike="noStrike">
              <a:solidFill>
                <a:schemeClr val="dk1"/>
              </a:solidFill>
              <a:latin typeface="Calibri"/>
              <a:ea typeface="Calibri"/>
              <a:cs typeface="Calibri"/>
              <a:sym typeface="Calibri"/>
            </a:endParaRPr>
          </a:p>
        </p:txBody>
      </p:sp>
      <p:sp>
        <p:nvSpPr>
          <p:cNvPr id="443" name="Google Shape;443;p11"/>
          <p:cNvSpPr txBox="1"/>
          <p:nvPr/>
        </p:nvSpPr>
        <p:spPr>
          <a:xfrm>
            <a:off x="1188720" y="3108960"/>
            <a:ext cx="74980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日本語の文字入れ精度が大きく向上。情報量の多い資料風の画像も作成可能に</a:t>
            </a:r>
            <a:endParaRPr b="0" i="0" sz="1100" u="none" cap="none" strike="noStrike">
              <a:solidFill>
                <a:schemeClr val="dk1"/>
              </a:solidFill>
              <a:latin typeface="Calibri"/>
              <a:ea typeface="Calibri"/>
              <a:cs typeface="Calibri"/>
              <a:sym typeface="Calibri"/>
            </a:endParaRPr>
          </a:p>
        </p:txBody>
      </p:sp>
      <p:sp>
        <p:nvSpPr>
          <p:cNvPr id="444" name="Google Shape;444;p11"/>
          <p:cNvSpPr/>
          <p:nvPr/>
        </p:nvSpPr>
        <p:spPr>
          <a:xfrm>
            <a:off x="502920" y="3566160"/>
            <a:ext cx="502920" cy="50292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5" name="Google Shape;445;p11"/>
          <p:cNvPicPr preferRelativeResize="0"/>
          <p:nvPr/>
        </p:nvPicPr>
        <p:blipFill rotWithShape="1">
          <a:blip r:embed="rId4">
            <a:alphaModFix/>
          </a:blip>
          <a:srcRect b="0" l="0" r="0" t="0"/>
          <a:stretch/>
        </p:blipFill>
        <p:spPr>
          <a:xfrm>
            <a:off x="613562" y="3676802"/>
            <a:ext cx="281635" cy="281635"/>
          </a:xfrm>
          <a:prstGeom prst="rect">
            <a:avLst/>
          </a:prstGeom>
          <a:noFill/>
          <a:ln>
            <a:noFill/>
          </a:ln>
        </p:spPr>
      </p:pic>
      <p:sp>
        <p:nvSpPr>
          <p:cNvPr id="446" name="Google Shape;446;p11"/>
          <p:cNvSpPr txBox="1"/>
          <p:nvPr/>
        </p:nvSpPr>
        <p:spPr>
          <a:xfrm>
            <a:off x="1188720" y="3547872"/>
            <a:ext cx="74980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ChatGPT Images 2.5（OpenAI／2026年9月）</a:t>
            </a:r>
            <a:endParaRPr b="0" i="0" sz="1300" u="none" cap="none" strike="noStrike">
              <a:solidFill>
                <a:schemeClr val="dk1"/>
              </a:solidFill>
              <a:latin typeface="Calibri"/>
              <a:ea typeface="Calibri"/>
              <a:cs typeface="Calibri"/>
              <a:sym typeface="Calibri"/>
            </a:endParaRPr>
          </a:p>
        </p:txBody>
      </p:sp>
      <p:sp>
        <p:nvSpPr>
          <p:cNvPr id="447" name="Google Shape;447;p11"/>
          <p:cNvSpPr txBox="1"/>
          <p:nvPr/>
        </p:nvSpPr>
        <p:spPr>
          <a:xfrm>
            <a:off x="1188720" y="3840480"/>
            <a:ext cx="74980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手描きスケッチから画像を生成する機能を追加。生成時間は最大で約半分に</a:t>
            </a:r>
            <a:endParaRPr b="0" i="0" sz="1100" u="none" cap="none" strike="noStrike">
              <a:solidFill>
                <a:schemeClr val="dk1"/>
              </a:solidFill>
              <a:latin typeface="Calibri"/>
              <a:ea typeface="Calibri"/>
              <a:cs typeface="Calibri"/>
              <a:sym typeface="Calibri"/>
            </a:endParaRPr>
          </a:p>
        </p:txBody>
      </p:sp>
      <p:sp>
        <p:nvSpPr>
          <p:cNvPr id="448" name="Google Shape;448;p11"/>
          <p:cNvSpPr txBox="1"/>
          <p:nvPr/>
        </p:nvSpPr>
        <p:spPr>
          <a:xfrm>
            <a:off x="5943600" y="4343400"/>
            <a:ext cx="278892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 後半のワーク③で体験します</a:t>
            </a:r>
            <a:endParaRPr b="0" i="0" sz="1100" u="none" cap="none" strike="noStrike">
              <a:solidFill>
                <a:schemeClr val="dk1"/>
              </a:solidFill>
              <a:latin typeface="Calibri"/>
              <a:ea typeface="Calibri"/>
              <a:cs typeface="Calibri"/>
              <a:sym typeface="Calibri"/>
            </a:endParaRPr>
          </a:p>
        </p:txBody>
      </p:sp>
      <p:sp>
        <p:nvSpPr>
          <p:cNvPr id="449" name="Google Shape;449;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 name="Shape 454"/>
        <p:cNvGrpSpPr/>
        <p:nvPr/>
      </p:nvGrpSpPr>
      <p:grpSpPr>
        <a:xfrm>
          <a:off x="0" y="0"/>
          <a:ext cx="0" cy="0"/>
          <a:chOff x="0" y="0"/>
          <a:chExt cx="0" cy="0"/>
        </a:xfrm>
      </p:grpSpPr>
      <p:sp>
        <p:nvSpPr>
          <p:cNvPr id="455" name="Google Shape;455;p12"/>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最新動向④ 日本の現在地</a:t>
            </a:r>
            <a:endParaRPr b="0" i="0" sz="2200" u="none" cap="none" strike="noStrike">
              <a:solidFill>
                <a:schemeClr val="dk1"/>
              </a:solidFill>
              <a:latin typeface="Calibri"/>
              <a:ea typeface="Calibri"/>
              <a:cs typeface="Calibri"/>
              <a:sym typeface="Calibri"/>
            </a:endParaRPr>
          </a:p>
        </p:txBody>
      </p:sp>
      <p:sp>
        <p:nvSpPr>
          <p:cNvPr id="456" name="Google Shape;456;p12"/>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457" name="Google Shape;457;p12"/>
          <p:cNvSpPr/>
          <p:nvPr/>
        </p:nvSpPr>
        <p:spPr>
          <a:xfrm>
            <a:off x="411480" y="1005840"/>
            <a:ext cx="2606040" cy="233172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2"/>
          <p:cNvSpPr txBox="1"/>
          <p:nvPr/>
        </p:nvSpPr>
        <p:spPr>
          <a:xfrm>
            <a:off x="548640" y="1188720"/>
            <a:ext cx="2331720" cy="7772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F3A5F"/>
              </a:buClr>
              <a:buSzPts val="3800"/>
              <a:buFont typeface="Meiryo"/>
              <a:buNone/>
            </a:pPr>
            <a:r>
              <a:rPr b="1" i="0" lang="en-US" sz="3800" u="none" cap="none" strike="noStrike">
                <a:solidFill>
                  <a:srgbClr val="1F3A5F"/>
                </a:solidFill>
                <a:latin typeface="Meiryo"/>
                <a:ea typeface="Meiryo"/>
                <a:cs typeface="Meiryo"/>
                <a:sym typeface="Meiryo"/>
              </a:rPr>
              <a:t>86.4%</a:t>
            </a:r>
            <a:endParaRPr b="0" i="0" sz="3800" u="none" cap="none" strike="noStrike">
              <a:solidFill>
                <a:schemeClr val="dk1"/>
              </a:solidFill>
              <a:latin typeface="Calibri"/>
              <a:ea typeface="Calibri"/>
              <a:cs typeface="Calibri"/>
              <a:sym typeface="Calibri"/>
            </a:endParaRPr>
          </a:p>
        </p:txBody>
      </p:sp>
      <p:sp>
        <p:nvSpPr>
          <p:cNvPr id="459" name="Google Shape;459;p12"/>
          <p:cNvSpPr txBox="1"/>
          <p:nvPr/>
        </p:nvSpPr>
        <p:spPr>
          <a:xfrm>
            <a:off x="548640" y="2057400"/>
            <a:ext cx="233172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業務で生成AIを</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利用している企業</a:t>
            </a:r>
            <a:endParaRPr b="0" i="0" sz="1200" u="none" cap="none" strike="noStrike">
              <a:solidFill>
                <a:schemeClr val="dk1"/>
              </a:solidFill>
              <a:latin typeface="Calibri"/>
              <a:ea typeface="Calibri"/>
              <a:cs typeface="Calibri"/>
              <a:sym typeface="Calibri"/>
            </a:endParaRPr>
          </a:p>
        </p:txBody>
      </p:sp>
      <p:sp>
        <p:nvSpPr>
          <p:cNvPr id="460" name="Google Shape;460;p12"/>
          <p:cNvSpPr txBox="1"/>
          <p:nvPr/>
        </p:nvSpPr>
        <p:spPr>
          <a:xfrm>
            <a:off x="548640" y="2834640"/>
            <a:ext cx="233172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前年度 55.2%</a:t>
            </a:r>
            <a:endParaRPr b="0" i="0" sz="1050" u="none" cap="none" strike="noStrike">
              <a:solidFill>
                <a:schemeClr val="dk1"/>
              </a:solidFill>
              <a:latin typeface="Calibri"/>
              <a:ea typeface="Calibri"/>
              <a:cs typeface="Calibri"/>
              <a:sym typeface="Calibri"/>
            </a:endParaRPr>
          </a:p>
        </p:txBody>
      </p:sp>
      <p:sp>
        <p:nvSpPr>
          <p:cNvPr id="461" name="Google Shape;461;p12"/>
          <p:cNvSpPr/>
          <p:nvPr/>
        </p:nvSpPr>
        <p:spPr>
          <a:xfrm>
            <a:off x="3246120" y="1005840"/>
            <a:ext cx="2606040" cy="23317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2"/>
          <p:cNvSpPr txBox="1"/>
          <p:nvPr/>
        </p:nvSpPr>
        <p:spPr>
          <a:xfrm>
            <a:off x="3383280" y="1188720"/>
            <a:ext cx="2331720" cy="7772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8702A"/>
              </a:buClr>
              <a:buSzPts val="3800"/>
              <a:buFont typeface="Meiryo"/>
              <a:buNone/>
            </a:pPr>
            <a:r>
              <a:rPr b="1" i="0" lang="en-US" sz="3800" u="none" cap="none" strike="noStrike">
                <a:solidFill>
                  <a:srgbClr val="E8702A"/>
                </a:solidFill>
                <a:latin typeface="Meiryo"/>
                <a:ea typeface="Meiryo"/>
                <a:cs typeface="Meiryo"/>
                <a:sym typeface="Meiryo"/>
              </a:rPr>
              <a:t>約27%</a:t>
            </a:r>
            <a:endParaRPr b="0" i="0" sz="3800" u="none" cap="none" strike="noStrike">
              <a:solidFill>
                <a:schemeClr val="dk1"/>
              </a:solidFill>
              <a:latin typeface="Calibri"/>
              <a:ea typeface="Calibri"/>
              <a:cs typeface="Calibri"/>
              <a:sym typeface="Calibri"/>
            </a:endParaRPr>
          </a:p>
        </p:txBody>
      </p:sp>
      <p:sp>
        <p:nvSpPr>
          <p:cNvPr id="463" name="Google Shape;463;p12"/>
          <p:cNvSpPr txBox="1"/>
          <p:nvPr/>
        </p:nvSpPr>
        <p:spPr>
          <a:xfrm>
            <a:off x="3383280" y="2057400"/>
            <a:ext cx="233172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「組織的な取組はない」</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企業</a:t>
            </a:r>
            <a:endParaRPr b="0" i="0" sz="1200" u="none" cap="none" strike="noStrike">
              <a:solidFill>
                <a:schemeClr val="dk1"/>
              </a:solidFill>
              <a:latin typeface="Calibri"/>
              <a:ea typeface="Calibri"/>
              <a:cs typeface="Calibri"/>
              <a:sym typeface="Calibri"/>
            </a:endParaRPr>
          </a:p>
        </p:txBody>
      </p:sp>
      <p:sp>
        <p:nvSpPr>
          <p:cNvPr id="464" name="Google Shape;464;p12"/>
          <p:cNvSpPr txBox="1"/>
          <p:nvPr/>
        </p:nvSpPr>
        <p:spPr>
          <a:xfrm>
            <a:off x="3383280" y="2834640"/>
            <a:ext cx="233172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米国は 1.4%</a:t>
            </a:r>
            <a:endParaRPr b="0" i="0" sz="1050" u="none" cap="none" strike="noStrike">
              <a:solidFill>
                <a:schemeClr val="dk1"/>
              </a:solidFill>
              <a:latin typeface="Calibri"/>
              <a:ea typeface="Calibri"/>
              <a:cs typeface="Calibri"/>
              <a:sym typeface="Calibri"/>
            </a:endParaRPr>
          </a:p>
        </p:txBody>
      </p:sp>
      <p:sp>
        <p:nvSpPr>
          <p:cNvPr id="465" name="Google Shape;465;p12"/>
          <p:cNvSpPr/>
          <p:nvPr/>
        </p:nvSpPr>
        <p:spPr>
          <a:xfrm>
            <a:off x="6080760" y="1005840"/>
            <a:ext cx="2606040" cy="23317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2"/>
          <p:cNvSpPr txBox="1"/>
          <p:nvPr/>
        </p:nvSpPr>
        <p:spPr>
          <a:xfrm>
            <a:off x="6217920" y="1188720"/>
            <a:ext cx="2331720" cy="7772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8702A"/>
              </a:buClr>
              <a:buSzPts val="3800"/>
              <a:buFont typeface="Meiryo"/>
              <a:buNone/>
            </a:pPr>
            <a:r>
              <a:rPr b="1" i="0" lang="en-US" sz="3800" u="none" cap="none" strike="noStrike">
                <a:solidFill>
                  <a:srgbClr val="E8702A"/>
                </a:solidFill>
                <a:latin typeface="Meiryo"/>
                <a:ea typeface="Meiryo"/>
                <a:cs typeface="Meiryo"/>
                <a:sym typeface="Meiryo"/>
              </a:rPr>
              <a:t>39.9%</a:t>
            </a:r>
            <a:endParaRPr b="0" i="0" sz="3800" u="none" cap="none" strike="noStrike">
              <a:solidFill>
                <a:schemeClr val="dk1"/>
              </a:solidFill>
              <a:latin typeface="Calibri"/>
              <a:ea typeface="Calibri"/>
              <a:cs typeface="Calibri"/>
              <a:sym typeface="Calibri"/>
            </a:endParaRPr>
          </a:p>
        </p:txBody>
      </p:sp>
      <p:sp>
        <p:nvSpPr>
          <p:cNvPr id="467" name="Google Shape;467;p12"/>
          <p:cNvSpPr txBox="1"/>
          <p:nvPr/>
        </p:nvSpPr>
        <p:spPr>
          <a:xfrm>
            <a:off x="6217920" y="2057400"/>
            <a:ext cx="233172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活用スキルを学ぶ</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200"/>
              <a:buFont typeface="Meiryo"/>
              <a:buNone/>
            </a:pPr>
            <a:r>
              <a:rPr b="1" i="0" lang="en-US" sz="1200" u="none" cap="none" strike="noStrike">
                <a:solidFill>
                  <a:srgbClr val="222222"/>
                </a:solidFill>
                <a:latin typeface="Meiryo"/>
                <a:ea typeface="Meiryo"/>
                <a:cs typeface="Meiryo"/>
                <a:sym typeface="Meiryo"/>
              </a:rPr>
              <a:t>環境がある企業</a:t>
            </a:r>
            <a:endParaRPr b="0" i="0" sz="1200" u="none" cap="none" strike="noStrike">
              <a:solidFill>
                <a:schemeClr val="dk1"/>
              </a:solidFill>
              <a:latin typeface="Calibri"/>
              <a:ea typeface="Calibri"/>
              <a:cs typeface="Calibri"/>
              <a:sym typeface="Calibri"/>
            </a:endParaRPr>
          </a:p>
        </p:txBody>
      </p:sp>
      <p:sp>
        <p:nvSpPr>
          <p:cNvPr id="468" name="Google Shape;468;p12"/>
          <p:cNvSpPr txBox="1"/>
          <p:nvPr/>
        </p:nvSpPr>
        <p:spPr>
          <a:xfrm>
            <a:off x="6217920" y="2834640"/>
            <a:ext cx="233172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米国は 62.7%</a:t>
            </a:r>
            <a:endParaRPr b="0" i="0" sz="1050" u="none" cap="none" strike="noStrike">
              <a:solidFill>
                <a:schemeClr val="dk1"/>
              </a:solidFill>
              <a:latin typeface="Calibri"/>
              <a:ea typeface="Calibri"/>
              <a:cs typeface="Calibri"/>
              <a:sym typeface="Calibri"/>
            </a:endParaRPr>
          </a:p>
        </p:txBody>
      </p:sp>
      <p:sp>
        <p:nvSpPr>
          <p:cNvPr id="469" name="Google Shape;469;p12"/>
          <p:cNvSpPr txBox="1"/>
          <p:nvPr/>
        </p:nvSpPr>
        <p:spPr>
          <a:xfrm>
            <a:off x="411480" y="3429000"/>
            <a:ext cx="83210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Meiryo"/>
              <a:buNone/>
            </a:pPr>
            <a:r>
              <a:rPr b="0" i="0" lang="en-US" sz="900" u="none" cap="none" strike="noStrike">
                <a:solidFill>
                  <a:srgbClr val="6B7280"/>
                </a:solidFill>
                <a:latin typeface="Meiryo"/>
                <a:ea typeface="Meiryo"/>
                <a:cs typeface="Meiryo"/>
                <a:sym typeface="Meiryo"/>
              </a:rPr>
              <a:t>出典：総務省「令和8年版 情報通信白書」（2026年7月）</a:t>
            </a:r>
            <a:r>
              <a:rPr b="0" i="0" lang="en-US" sz="900" u="sng" cap="none" strike="noStrike">
                <a:solidFill>
                  <a:schemeClr val="hlink"/>
                </a:solidFill>
                <a:latin typeface="Meiryo"/>
                <a:ea typeface="Meiryo"/>
                <a:cs typeface="Meiryo"/>
                <a:sym typeface="Meiryo"/>
                <a:hlinkClick r:id="rId3"/>
              </a:rPr>
              <a:t>https://www.soumu.go.jp/johotsusintokei/whitepaper/ja/r08/html/nd121110.html</a:t>
            </a:r>
            <a:endParaRPr b="0" i="0" sz="900" u="none" cap="none" strike="noStrike">
              <a:solidFill>
                <a:srgbClr val="6B7280"/>
              </a:solidFill>
              <a:latin typeface="Meiryo"/>
              <a:ea typeface="Meiryo"/>
              <a:cs typeface="Meiryo"/>
              <a:sym typeface="Meiryo"/>
            </a:endParaRPr>
          </a:p>
          <a:p>
            <a:pPr indent="0" lvl="0" marL="0" marR="0" rtl="0" algn="l">
              <a:lnSpc>
                <a:spcPct val="100000"/>
              </a:lnSpc>
              <a:spcBef>
                <a:spcPts val="0"/>
              </a:spcBef>
              <a:spcAft>
                <a:spcPts val="0"/>
              </a:spcAft>
              <a:buClr>
                <a:srgbClr val="6B7280"/>
              </a:buClr>
              <a:buSzPts val="900"/>
              <a:buFont typeface="Meiryo"/>
              <a:buNone/>
            </a:pPr>
            <a:r>
              <a:t/>
            </a:r>
            <a:endParaRPr sz="900">
              <a:solidFill>
                <a:srgbClr val="6B7280"/>
              </a:solidFill>
              <a:latin typeface="Meiryo"/>
              <a:ea typeface="Meiryo"/>
              <a:cs typeface="Meiryo"/>
              <a:sym typeface="Meiryo"/>
            </a:endParaRPr>
          </a:p>
        </p:txBody>
      </p:sp>
      <p:sp>
        <p:nvSpPr>
          <p:cNvPr id="470" name="Google Shape;470;p12"/>
          <p:cNvSpPr/>
          <p:nvPr/>
        </p:nvSpPr>
        <p:spPr>
          <a:xfrm>
            <a:off x="411480" y="3749040"/>
            <a:ext cx="8321040" cy="73152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2"/>
          <p:cNvSpPr txBox="1"/>
          <p:nvPr/>
        </p:nvSpPr>
        <p:spPr>
          <a:xfrm>
            <a:off x="594360" y="3749040"/>
            <a:ext cx="795528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1600"/>
              <a:buFont typeface="Meiryo"/>
              <a:buNone/>
            </a:pPr>
            <a:r>
              <a:rPr b="1" i="0" lang="en-US" sz="1600" u="none" cap="none" strike="noStrike">
                <a:solidFill>
                  <a:srgbClr val="222222"/>
                </a:solidFill>
                <a:latin typeface="Meiryo"/>
                <a:ea typeface="Meiryo"/>
                <a:cs typeface="Meiryo"/>
                <a:sym typeface="Meiryo"/>
              </a:rPr>
              <a:t>これからの差は、「使っているか」よりも「業務に定着しているか」で生まれます</a:t>
            </a:r>
            <a:endParaRPr b="0" i="0" sz="1600" u="none" cap="none" strike="noStrike">
              <a:solidFill>
                <a:schemeClr val="dk1"/>
              </a:solidFill>
              <a:latin typeface="Calibri"/>
              <a:ea typeface="Calibri"/>
              <a:cs typeface="Calibri"/>
              <a:sym typeface="Calibri"/>
            </a:endParaRPr>
          </a:p>
        </p:txBody>
      </p:sp>
      <p:sp>
        <p:nvSpPr>
          <p:cNvPr id="472" name="Google Shape;472;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h12a068dd872fd278_0_3"/>
          <p:cNvSpPr txBox="1"/>
          <p:nvPr>
            <p:ph type="title"/>
          </p:nvPr>
        </p:nvSpPr>
        <p:spPr>
          <a:xfrm>
            <a:off x="0" y="1421100"/>
            <a:ext cx="9144000" cy="230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業務に定着させるために、</a:t>
            </a:r>
            <a:endParaRPr b="1" sz="3600"/>
          </a:p>
          <a:p>
            <a:pPr indent="0" lvl="0" marL="0" rtl="0" algn="ctr">
              <a:spcBef>
                <a:spcPts val="0"/>
              </a:spcBef>
              <a:spcAft>
                <a:spcPts val="0"/>
              </a:spcAft>
              <a:buNone/>
            </a:pPr>
            <a:r>
              <a:rPr b="1" lang="en-US" sz="3600"/>
              <a:t>まず押さえておきたい3つのルール</a:t>
            </a:r>
            <a:endParaRPr b="1" sz="3600"/>
          </a:p>
        </p:txBody>
      </p:sp>
      <p:sp>
        <p:nvSpPr>
          <p:cNvPr id="478" name="Google Shape;478;h12a068dd872fd278_0_3"/>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479" name="Google Shape;479;h12a068dd872fd278_0_3"/>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8"/>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AIを安心して使うための3つのルール</a:t>
            </a:r>
            <a:endParaRPr b="0" i="0" sz="2200" u="none" cap="none" strike="noStrike">
              <a:solidFill>
                <a:schemeClr val="dk1"/>
              </a:solidFill>
              <a:latin typeface="Calibri"/>
              <a:ea typeface="Calibri"/>
              <a:cs typeface="Calibri"/>
              <a:sym typeface="Calibri"/>
            </a:endParaRPr>
          </a:p>
        </p:txBody>
      </p:sp>
      <p:sp>
        <p:nvSpPr>
          <p:cNvPr id="504" name="Google Shape;504;p8"/>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05" name="Google Shape;505;p8"/>
          <p:cNvSpPr/>
          <p:nvPr/>
        </p:nvSpPr>
        <p:spPr>
          <a:xfrm>
            <a:off x="411480" y="1417320"/>
            <a:ext cx="2606040" cy="3017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8"/>
          <p:cNvSpPr/>
          <p:nvPr/>
        </p:nvSpPr>
        <p:spPr>
          <a:xfrm>
            <a:off x="594360" y="160020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7" name="Google Shape;507;p8"/>
          <p:cNvPicPr preferRelativeResize="0"/>
          <p:nvPr/>
        </p:nvPicPr>
        <p:blipFill rotWithShape="1">
          <a:blip r:embed="rId3">
            <a:alphaModFix/>
          </a:blip>
          <a:srcRect b="0" l="0" r="0" t="0"/>
          <a:stretch/>
        </p:blipFill>
        <p:spPr>
          <a:xfrm>
            <a:off x="715061" y="1720901"/>
            <a:ext cx="307238" cy="307238"/>
          </a:xfrm>
          <a:prstGeom prst="rect">
            <a:avLst/>
          </a:prstGeom>
          <a:noFill/>
          <a:ln>
            <a:noFill/>
          </a:ln>
        </p:spPr>
      </p:pic>
      <p:sp>
        <p:nvSpPr>
          <p:cNvPr id="508" name="Google Shape;508;p8"/>
          <p:cNvSpPr txBox="1"/>
          <p:nvPr/>
        </p:nvSpPr>
        <p:spPr>
          <a:xfrm>
            <a:off x="1234440" y="169164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① ファクトチェック</a:t>
            </a:r>
            <a:endParaRPr b="0" i="0" sz="1400" u="none" cap="none" strike="noStrike">
              <a:solidFill>
                <a:schemeClr val="dk1"/>
              </a:solidFill>
              <a:latin typeface="Calibri"/>
              <a:ea typeface="Calibri"/>
              <a:cs typeface="Calibri"/>
              <a:sym typeface="Calibri"/>
            </a:endParaRPr>
          </a:p>
        </p:txBody>
      </p:sp>
      <p:sp>
        <p:nvSpPr>
          <p:cNvPr id="509" name="Google Shape;509;p8"/>
          <p:cNvSpPr txBox="1"/>
          <p:nvPr/>
        </p:nvSpPr>
        <p:spPr>
          <a:xfrm>
            <a:off x="594360" y="2331720"/>
            <a:ext cx="2286000" cy="19659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AIは、もっともらしい誤りを含むことがあります</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価格・相場・日付・固有名詞は、元の情報で確認しましょう</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最後の判断は人が行います</a:t>
            </a:r>
            <a:endParaRPr b="0" i="0" sz="1300" u="none" cap="none" strike="noStrike">
              <a:solidFill>
                <a:schemeClr val="dk1"/>
              </a:solidFill>
              <a:latin typeface="Calibri"/>
              <a:ea typeface="Calibri"/>
              <a:cs typeface="Calibri"/>
              <a:sym typeface="Calibri"/>
            </a:endParaRPr>
          </a:p>
        </p:txBody>
      </p:sp>
      <p:sp>
        <p:nvSpPr>
          <p:cNvPr id="510" name="Google Shape;510;p8"/>
          <p:cNvSpPr/>
          <p:nvPr/>
        </p:nvSpPr>
        <p:spPr>
          <a:xfrm>
            <a:off x="3246120" y="1417320"/>
            <a:ext cx="2606040" cy="3017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8"/>
          <p:cNvSpPr/>
          <p:nvPr/>
        </p:nvSpPr>
        <p:spPr>
          <a:xfrm>
            <a:off x="3429000" y="160020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2" name="Google Shape;512;p8"/>
          <p:cNvPicPr preferRelativeResize="0"/>
          <p:nvPr/>
        </p:nvPicPr>
        <p:blipFill rotWithShape="1">
          <a:blip r:embed="rId4">
            <a:alphaModFix/>
          </a:blip>
          <a:srcRect b="0" l="0" r="0" t="0"/>
          <a:stretch/>
        </p:blipFill>
        <p:spPr>
          <a:xfrm>
            <a:off x="3549701" y="1720901"/>
            <a:ext cx="307238" cy="307238"/>
          </a:xfrm>
          <a:prstGeom prst="rect">
            <a:avLst/>
          </a:prstGeom>
          <a:noFill/>
          <a:ln>
            <a:noFill/>
          </a:ln>
        </p:spPr>
      </p:pic>
      <p:sp>
        <p:nvSpPr>
          <p:cNvPr id="513" name="Google Shape;513;p8"/>
          <p:cNvSpPr txBox="1"/>
          <p:nvPr/>
        </p:nvSpPr>
        <p:spPr>
          <a:xfrm>
            <a:off x="4069080" y="169164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② 権利への配慮</a:t>
            </a:r>
            <a:endParaRPr b="0" i="0" sz="1400" u="none" cap="none" strike="noStrike">
              <a:solidFill>
                <a:schemeClr val="dk1"/>
              </a:solidFill>
              <a:latin typeface="Calibri"/>
              <a:ea typeface="Calibri"/>
              <a:cs typeface="Calibri"/>
              <a:sym typeface="Calibri"/>
            </a:endParaRPr>
          </a:p>
        </p:txBody>
      </p:sp>
      <p:sp>
        <p:nvSpPr>
          <p:cNvPr id="514" name="Google Shape;514;p8"/>
          <p:cNvSpPr txBox="1"/>
          <p:nvPr/>
        </p:nvSpPr>
        <p:spPr>
          <a:xfrm>
            <a:off x="3429000" y="2331720"/>
            <a:ext cx="2286000" cy="19659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実在のキャラクター・他社のロゴ・著名人は生成しないようにしましょう</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「〇〇風に」など、既存の作品に似せる指示は避けましょう</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社外に出す前に、人の目で確認しましょう</a:t>
            </a:r>
            <a:endParaRPr b="0" i="0" sz="1300" u="none" cap="none" strike="noStrike">
              <a:solidFill>
                <a:schemeClr val="dk1"/>
              </a:solidFill>
              <a:latin typeface="Calibri"/>
              <a:ea typeface="Calibri"/>
              <a:cs typeface="Calibri"/>
              <a:sym typeface="Calibri"/>
            </a:endParaRPr>
          </a:p>
        </p:txBody>
      </p:sp>
      <p:sp>
        <p:nvSpPr>
          <p:cNvPr id="515" name="Google Shape;515;p8"/>
          <p:cNvSpPr/>
          <p:nvPr/>
        </p:nvSpPr>
        <p:spPr>
          <a:xfrm>
            <a:off x="6080760" y="1417320"/>
            <a:ext cx="2606040" cy="301752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8"/>
          <p:cNvSpPr/>
          <p:nvPr/>
        </p:nvSpPr>
        <p:spPr>
          <a:xfrm>
            <a:off x="6263640" y="160020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7" name="Google Shape;517;p8"/>
          <p:cNvPicPr preferRelativeResize="0"/>
          <p:nvPr/>
        </p:nvPicPr>
        <p:blipFill rotWithShape="1">
          <a:blip r:embed="rId5">
            <a:alphaModFix/>
          </a:blip>
          <a:srcRect b="0" l="0" r="0" t="0"/>
          <a:stretch/>
        </p:blipFill>
        <p:spPr>
          <a:xfrm>
            <a:off x="6384341" y="1720901"/>
            <a:ext cx="307238" cy="307238"/>
          </a:xfrm>
          <a:prstGeom prst="rect">
            <a:avLst/>
          </a:prstGeom>
          <a:noFill/>
          <a:ln>
            <a:noFill/>
          </a:ln>
        </p:spPr>
      </p:pic>
      <p:sp>
        <p:nvSpPr>
          <p:cNvPr id="518" name="Google Shape;518;p8"/>
          <p:cNvSpPr txBox="1"/>
          <p:nvPr/>
        </p:nvSpPr>
        <p:spPr>
          <a:xfrm>
            <a:off x="6903720" y="169164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③ 機密情報</a:t>
            </a:r>
            <a:endParaRPr b="0" i="0" sz="1400" u="none" cap="none" strike="noStrike">
              <a:solidFill>
                <a:schemeClr val="dk1"/>
              </a:solidFill>
              <a:latin typeface="Calibri"/>
              <a:ea typeface="Calibri"/>
              <a:cs typeface="Calibri"/>
              <a:sym typeface="Calibri"/>
            </a:endParaRPr>
          </a:p>
        </p:txBody>
      </p:sp>
      <p:sp>
        <p:nvSpPr>
          <p:cNvPr id="519" name="Google Shape;519;p8"/>
          <p:cNvSpPr txBox="1"/>
          <p:nvPr/>
        </p:nvSpPr>
        <p:spPr>
          <a:xfrm>
            <a:off x="6263640" y="2331720"/>
            <a:ext cx="2286000" cy="19659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お客様の氏名・連絡先・査定情報は入力しないようにしましょう</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会社で認められたツール・設定で使いましょう</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迷ったら「〇〇」などに置き換えて入力しましょう</a:t>
            </a:r>
            <a:endParaRPr b="0" i="0" sz="1300" u="none" cap="none" strike="noStrike">
              <a:solidFill>
                <a:schemeClr val="dk1"/>
              </a:solidFill>
              <a:latin typeface="Calibri"/>
              <a:ea typeface="Calibri"/>
              <a:cs typeface="Calibri"/>
              <a:sym typeface="Calibri"/>
            </a:endParaRPr>
          </a:p>
        </p:txBody>
      </p:sp>
      <p:sp>
        <p:nvSpPr>
          <p:cNvPr id="520" name="Google Shape;520;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21" name="Lead 521"/>
          <p:cNvSpPr txBox="1"/>
          <p:nvPr/>
        </p:nvSpPr>
        <p:spPr>
          <a:xfrm>
            <a:off x="411480" y="896112"/>
            <a:ext cx="8321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500" b="1">
                <a:solidFill>
                  <a:srgbClr val="1F3A5F"/>
                </a:solidFill>
                <a:latin typeface="Meiryo"/>
                <a:ea typeface="Meiryo"/>
                <a:cs typeface="Meiryo"/>
                <a:sym typeface="Meiryo"/>
              </a:rPr>
              <a:t>事前アンケートで多かった「正確性」「機密情報」の不安にも、この3つで備えられます</a:t>
            </a:r>
            <a:endParaRPr lang="ja-JP" sz="1500" b="1">
              <a:solidFill>
                <a:srgbClr val="1F3A5F"/>
              </a:solidFill>
              <a:latin typeface="Meiryo"/>
              <a:ea typeface="Meiryo"/>
              <a:cs typeface="Meiryo"/>
              <a:sym typeface="Meiry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h603855749043a6f2_0_141"/>
          <p:cNvSpPr txBox="1"/>
          <p:nvPr>
            <p:ph type="title"/>
          </p:nvPr>
        </p:nvSpPr>
        <p:spPr>
          <a:xfrm>
            <a:off x="0" y="1421100"/>
            <a:ext cx="9144000" cy="230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ルールを押さえたら、</a:t>
            </a:r>
            <a:endParaRPr b="1" sz="3600"/>
          </a:p>
          <a:p>
            <a:pPr indent="0" lvl="0" marL="0" rtl="0" algn="ctr">
              <a:spcBef>
                <a:spcPts val="0"/>
              </a:spcBef>
              <a:spcAft>
                <a:spcPts val="0"/>
              </a:spcAft>
              <a:buNone/>
            </a:pPr>
            <a:r>
              <a:rPr b="1" lang="en-US" sz="3600"/>
              <a:t>次は「AIに何を渡すか」を考えます</a:t>
            </a:r>
            <a:endParaRPr b="1" sz="3600"/>
          </a:p>
        </p:txBody>
      </p:sp>
      <p:sp>
        <p:nvSpPr>
          <p:cNvPr id="526" name="Google Shape;526;h603855749043a6f2_0_141"/>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27" name="Google Shape;527;h603855749043a6f2_0_141"/>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40a0daa3361_0_250"/>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485" name="Google Shape;485;g40a0daa3361_0_250"/>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486" name="Google Shape;486;g40a0daa3361_0_250"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487" name="Google Shape;487;g40a0daa3361_0_25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88" name="Google Shape;488;g40a0daa3361_0_250"/>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a:t>
            </a:r>
            <a:r>
              <a:rPr b="1" lang="en-US" sz="2800">
                <a:solidFill>
                  <a:srgbClr val="F4A261"/>
                </a:solidFill>
                <a:latin typeface="Meiryo"/>
                <a:ea typeface="Meiryo"/>
                <a:cs typeface="Meiryo"/>
                <a:sym typeface="Meiryo"/>
              </a:rPr>
              <a:t>2</a:t>
            </a:r>
            <a:endParaRPr b="0" i="0" sz="2800" u="none" cap="none" strike="noStrike">
              <a:solidFill>
                <a:schemeClr val="dk1"/>
              </a:solidFill>
              <a:latin typeface="Calibri"/>
              <a:ea typeface="Calibri"/>
              <a:cs typeface="Calibri"/>
              <a:sym typeface="Calibri"/>
            </a:endParaRPr>
          </a:p>
        </p:txBody>
      </p:sp>
      <p:sp>
        <p:nvSpPr>
          <p:cNvPr id="489" name="Google Shape;489;g40a0daa3361_0_250"/>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AIへのインプット・</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アウトプットの考え方</a:t>
            </a:r>
            <a:endParaRPr b="0" i="0" sz="3000" u="none" cap="none" strike="noStrike">
              <a:solidFill>
                <a:schemeClr val="dk1"/>
              </a:solidFill>
              <a:latin typeface="Calibri"/>
              <a:ea typeface="Calibri"/>
              <a:cs typeface="Calibri"/>
              <a:sym typeface="Calibri"/>
            </a:endParaRPr>
          </a:p>
        </p:txBody>
      </p:sp>
      <p:sp>
        <p:nvSpPr>
          <p:cNvPr id="490" name="Google Shape;490;g40a0daa3361_0_250"/>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a:t>
            </a:r>
            <a:r>
              <a:rPr lang="en-US">
                <a:solidFill>
                  <a:srgbClr val="C9D3E0"/>
                </a:solidFill>
                <a:latin typeface="Meiryo"/>
                <a:ea typeface="Meiryo"/>
                <a:cs typeface="Meiryo"/>
                <a:sym typeface="Meiryo"/>
              </a:rPr>
              <a:t>3</a:t>
            </a:r>
            <a:r>
              <a:rPr b="0" i="0" lang="en-US" sz="1400" u="none" cap="none" strike="noStrike">
                <a:solidFill>
                  <a:srgbClr val="C9D3E0"/>
                </a:solidFill>
                <a:latin typeface="Meiryo"/>
                <a:ea typeface="Meiryo"/>
                <a:cs typeface="Meiryo"/>
                <a:sym typeface="Meiryo"/>
              </a:rPr>
              <a:t>:</a:t>
            </a:r>
            <a:r>
              <a:rPr lang="en-US">
                <a:solidFill>
                  <a:srgbClr val="C9D3E0"/>
                </a:solidFill>
                <a:latin typeface="Meiryo"/>
                <a:ea typeface="Meiryo"/>
                <a:cs typeface="Meiryo"/>
                <a:sym typeface="Meiryo"/>
              </a:rPr>
              <a:t>35</a:t>
            </a:r>
            <a:r>
              <a:rPr b="0" i="0" lang="en-US" sz="1400" u="none" cap="none" strike="noStrike">
                <a:solidFill>
                  <a:srgbClr val="C9D3E0"/>
                </a:solidFill>
                <a:latin typeface="Meiryo"/>
                <a:ea typeface="Meiryo"/>
                <a:cs typeface="Meiryo"/>
                <a:sym typeface="Meiryo"/>
              </a:rPr>
              <a:t> – 1</a:t>
            </a:r>
            <a:r>
              <a:rPr lang="en-US">
                <a:solidFill>
                  <a:srgbClr val="C9D3E0"/>
                </a:solidFill>
                <a:latin typeface="Meiryo"/>
                <a:ea typeface="Meiryo"/>
                <a:cs typeface="Meiryo"/>
                <a:sym typeface="Meiryo"/>
              </a:rPr>
              <a:t>3</a:t>
            </a:r>
            <a:r>
              <a:rPr b="0" i="0" lang="en-US" sz="1400" u="none" cap="none" strike="noStrike">
                <a:solidFill>
                  <a:srgbClr val="C9D3E0"/>
                </a:solidFill>
                <a:latin typeface="Meiryo"/>
                <a:ea typeface="Meiryo"/>
                <a:cs typeface="Meiryo"/>
                <a:sym typeface="Meiryo"/>
              </a:rPr>
              <a:t>:</a:t>
            </a:r>
            <a:r>
              <a:rPr lang="en-US">
                <a:solidFill>
                  <a:srgbClr val="C9D3E0"/>
                </a:solidFill>
                <a:latin typeface="Meiryo"/>
                <a:ea typeface="Meiryo"/>
                <a:cs typeface="Meiryo"/>
                <a:sym typeface="Meiryo"/>
              </a:rPr>
              <a:t>50</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2" name="Shape 532"/>
        <p:cNvGrpSpPr/>
        <p:nvPr/>
      </p:nvGrpSpPr>
      <p:grpSpPr>
        <a:xfrm>
          <a:off x="0" y="0"/>
          <a:ext cx="0" cy="0"/>
          <a:chOff x="0" y="0"/>
          <a:chExt cx="0" cy="0"/>
        </a:xfrm>
      </p:grpSpPr>
      <p:sp>
        <p:nvSpPr>
          <p:cNvPr id="533" name="Google Shape;533;h603855749043a6f2_0_0"/>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仕事を頼むとき、何を伝えていますか？</a:t>
            </a:r>
            <a:endParaRPr b="0" i="0" sz="2200" u="none" cap="none" strike="noStrike">
              <a:solidFill>
                <a:schemeClr val="dk1"/>
              </a:solidFill>
              <a:latin typeface="Calibri"/>
              <a:ea typeface="Calibri"/>
              <a:cs typeface="Calibri"/>
              <a:sym typeface="Calibri"/>
            </a:endParaRPr>
          </a:p>
        </p:txBody>
      </p:sp>
      <p:sp>
        <p:nvSpPr>
          <p:cNvPr id="534" name="Google Shape;534;h603855749043a6f2_0_0"/>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35" name="Google Shape;535;h603855749043a6f2_0_0"/>
          <p:cNvSpPr txBox="1"/>
          <p:nvPr/>
        </p:nvSpPr>
        <p:spPr>
          <a:xfrm>
            <a:off x="411475" y="914400"/>
            <a:ext cx="83211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500"/>
              <a:buFont typeface="Meiryo"/>
              <a:buNone/>
            </a:pPr>
            <a:r>
              <a:rPr b="1" i="0" lang="en-US" u="none" cap="none" strike="noStrike">
                <a:solidFill>
                  <a:srgbClr val="1F3A5F"/>
                </a:solidFill>
                <a:latin typeface="Meiryo"/>
                <a:ea typeface="Meiryo"/>
                <a:cs typeface="Meiryo"/>
                <a:sym typeface="Meiryo"/>
              </a:rPr>
              <a:t>AIへの指示は、人に仕事を頼むときと同じです。</a:t>
            </a:r>
            <a:endParaRPr b="1" i="0" u="none" cap="none" strike="noStrike">
              <a:solidFill>
                <a:srgbClr val="1F3A5F"/>
              </a:solidFill>
              <a:latin typeface="Meiryo"/>
              <a:ea typeface="Meiryo"/>
              <a:cs typeface="Meiryo"/>
              <a:sym typeface="Meiryo"/>
            </a:endParaRPr>
          </a:p>
          <a:p>
            <a:pPr indent="0" lvl="0" marL="0" marR="0" rtl="0" algn="l">
              <a:spcBef>
                <a:spcPts val="0"/>
              </a:spcBef>
              <a:spcAft>
                <a:spcPts val="0"/>
              </a:spcAft>
              <a:buClr>
                <a:srgbClr val="1F3A5F"/>
              </a:buClr>
              <a:buSzPts val="1500"/>
              <a:buFont typeface="Meiryo"/>
              <a:buNone/>
            </a:pPr>
            <a:r>
              <a:rPr b="1" lang="en-US">
                <a:solidFill>
                  <a:srgbClr val="1F3A5F"/>
                </a:solidFill>
                <a:latin typeface="Meiryo"/>
                <a:ea typeface="Meiryo"/>
                <a:cs typeface="Meiryo"/>
                <a:sym typeface="Meiryo"/>
              </a:rPr>
              <a:t>業務でいつも整理している段取りが、そのままAIへのインプットになります。</a:t>
            </a:r>
            <a:endParaRPr b="0" i="0" u="none" cap="none" strike="noStrike">
              <a:solidFill>
                <a:schemeClr val="dk1"/>
              </a:solidFill>
              <a:latin typeface="Calibri"/>
              <a:ea typeface="Calibri"/>
              <a:cs typeface="Calibri"/>
              <a:sym typeface="Calibri"/>
            </a:endParaRPr>
          </a:p>
        </p:txBody>
      </p:sp>
      <p:sp>
        <p:nvSpPr>
          <p:cNvPr id="536" name="Google Shape;536;h603855749043a6f2_0_0"/>
          <p:cNvSpPr txBox="1"/>
          <p:nvPr/>
        </p:nvSpPr>
        <p:spPr>
          <a:xfrm>
            <a:off x="411480" y="1633795"/>
            <a:ext cx="83211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200"/>
              <a:buFont typeface="Meiryo"/>
              <a:buNone/>
            </a:pPr>
            <a:r>
              <a:rPr b="1" i="0" lang="en-US" sz="1200" u="none" cap="none" strike="noStrike">
                <a:solidFill>
                  <a:srgbClr val="6B7280"/>
                </a:solidFill>
                <a:latin typeface="Meiryo"/>
                <a:ea typeface="Meiryo"/>
                <a:cs typeface="Meiryo"/>
                <a:sym typeface="Meiryo"/>
              </a:rPr>
              <a:t>例：新人スタッフに「お客様への返信」を頼むとき</a:t>
            </a:r>
            <a:endParaRPr b="0" i="0" sz="1200" u="none" cap="none" strike="noStrike">
              <a:solidFill>
                <a:schemeClr val="dk1"/>
              </a:solidFill>
              <a:latin typeface="Calibri"/>
              <a:ea typeface="Calibri"/>
              <a:cs typeface="Calibri"/>
              <a:sym typeface="Calibri"/>
            </a:endParaRPr>
          </a:p>
        </p:txBody>
      </p:sp>
      <p:sp>
        <p:nvSpPr>
          <p:cNvPr id="537" name="Google Shape;537;h603855749043a6f2_0_0"/>
          <p:cNvSpPr txBox="1"/>
          <p:nvPr/>
        </p:nvSpPr>
        <p:spPr>
          <a:xfrm>
            <a:off x="768500" y="1811288"/>
            <a:ext cx="10104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iryo"/>
              <a:buNone/>
            </a:pPr>
            <a:r>
              <a:rPr b="1" i="0" lang="en-US" sz="1400" u="none" cap="none" strike="noStrike">
                <a:solidFill>
                  <a:schemeClr val="dk1"/>
                </a:solidFill>
                <a:latin typeface="Meiryo"/>
                <a:ea typeface="Meiryo"/>
                <a:cs typeface="Meiryo"/>
                <a:sym typeface="Meiryo"/>
              </a:rPr>
              <a:t>前提</a:t>
            </a:r>
            <a:endParaRPr b="0" i="0" sz="1400" u="none" cap="none" strike="noStrike">
              <a:solidFill>
                <a:schemeClr val="dk1"/>
              </a:solidFill>
              <a:latin typeface="Calibri"/>
              <a:ea typeface="Calibri"/>
              <a:cs typeface="Calibri"/>
              <a:sym typeface="Calibri"/>
            </a:endParaRPr>
          </a:p>
        </p:txBody>
      </p:sp>
      <p:sp>
        <p:nvSpPr>
          <p:cNvPr id="538" name="Google Shape;538;h603855749043a6f2_0_0"/>
          <p:cNvSpPr txBox="1"/>
          <p:nvPr/>
        </p:nvSpPr>
        <p:spPr>
          <a:xfrm>
            <a:off x="1707935" y="1801325"/>
            <a:ext cx="6309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「LINEで買取の問い合わせが来ているから、今日中に返してほしい」</a:t>
            </a:r>
            <a:endParaRPr b="0" i="0" sz="1400" u="none" cap="none" strike="noStrike">
              <a:solidFill>
                <a:schemeClr val="dk1"/>
              </a:solidFill>
              <a:latin typeface="Calibri"/>
              <a:ea typeface="Calibri"/>
              <a:cs typeface="Calibri"/>
              <a:sym typeface="Calibri"/>
            </a:endParaRPr>
          </a:p>
        </p:txBody>
      </p:sp>
      <p:sp>
        <p:nvSpPr>
          <p:cNvPr id="539" name="Google Shape;539;h603855749043a6f2_0_0"/>
          <p:cNvSpPr txBox="1"/>
          <p:nvPr/>
        </p:nvSpPr>
        <p:spPr>
          <a:xfrm>
            <a:off x="768500" y="2357666"/>
            <a:ext cx="10104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iryo"/>
              <a:buNone/>
            </a:pPr>
            <a:r>
              <a:rPr b="1" i="0" lang="en-US" sz="1400" u="none" cap="none" strike="noStrike">
                <a:solidFill>
                  <a:schemeClr val="dk1"/>
                </a:solidFill>
                <a:latin typeface="Meiryo"/>
                <a:ea typeface="Meiryo"/>
                <a:cs typeface="Meiryo"/>
                <a:sym typeface="Meiryo"/>
              </a:rPr>
              <a:t>素材</a:t>
            </a:r>
            <a:endParaRPr b="0" i="0" sz="1400" u="none" cap="none" strike="noStrike">
              <a:solidFill>
                <a:schemeClr val="dk1"/>
              </a:solidFill>
              <a:latin typeface="Calibri"/>
              <a:ea typeface="Calibri"/>
              <a:cs typeface="Calibri"/>
              <a:sym typeface="Calibri"/>
            </a:endParaRPr>
          </a:p>
        </p:txBody>
      </p:sp>
      <p:sp>
        <p:nvSpPr>
          <p:cNvPr id="540" name="Google Shape;540;h603855749043a6f2_0_0"/>
          <p:cNvSpPr txBox="1"/>
          <p:nvPr/>
        </p:nvSpPr>
        <p:spPr>
          <a:xfrm>
            <a:off x="1707935" y="2349965"/>
            <a:ext cx="6309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「お客様のメッセージはこれ。店の買取ルールはこれ」</a:t>
            </a:r>
            <a:endParaRPr b="0" i="0" sz="1400" u="none" cap="none" strike="noStrike">
              <a:solidFill>
                <a:schemeClr val="dk1"/>
              </a:solidFill>
              <a:latin typeface="Calibri"/>
              <a:ea typeface="Calibri"/>
              <a:cs typeface="Calibri"/>
              <a:sym typeface="Calibri"/>
            </a:endParaRPr>
          </a:p>
        </p:txBody>
      </p:sp>
      <p:sp>
        <p:nvSpPr>
          <p:cNvPr id="541" name="Google Shape;541;h603855749043a6f2_0_0"/>
          <p:cNvSpPr txBox="1"/>
          <p:nvPr/>
        </p:nvSpPr>
        <p:spPr>
          <a:xfrm>
            <a:off x="768500" y="2904031"/>
            <a:ext cx="10104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iryo"/>
              <a:buNone/>
            </a:pPr>
            <a:r>
              <a:rPr b="1" i="0" lang="en-US" sz="1400" u="none" cap="none" strike="noStrike">
                <a:solidFill>
                  <a:schemeClr val="dk1"/>
                </a:solidFill>
                <a:latin typeface="Meiryo"/>
                <a:ea typeface="Meiryo"/>
                <a:cs typeface="Meiryo"/>
                <a:sym typeface="Meiryo"/>
              </a:rPr>
              <a:t>お手本</a:t>
            </a:r>
            <a:endParaRPr b="0" i="0" sz="1400" u="none" cap="none" strike="noStrike">
              <a:solidFill>
                <a:schemeClr val="dk1"/>
              </a:solidFill>
              <a:latin typeface="Calibri"/>
              <a:ea typeface="Calibri"/>
              <a:cs typeface="Calibri"/>
              <a:sym typeface="Calibri"/>
            </a:endParaRPr>
          </a:p>
        </p:txBody>
      </p:sp>
      <p:sp>
        <p:nvSpPr>
          <p:cNvPr id="542" name="Google Shape;542;h603855749043a6f2_0_0"/>
          <p:cNvSpPr txBox="1"/>
          <p:nvPr/>
        </p:nvSpPr>
        <p:spPr>
          <a:xfrm>
            <a:off x="1707935" y="2898605"/>
            <a:ext cx="6309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「前にこう返したことがあるから、この感じで」</a:t>
            </a:r>
            <a:endParaRPr b="0" i="0" sz="1400" u="none" cap="none" strike="noStrike">
              <a:solidFill>
                <a:schemeClr val="dk1"/>
              </a:solidFill>
              <a:latin typeface="Calibri"/>
              <a:ea typeface="Calibri"/>
              <a:cs typeface="Calibri"/>
              <a:sym typeface="Calibri"/>
            </a:endParaRPr>
          </a:p>
        </p:txBody>
      </p:sp>
      <p:sp>
        <p:nvSpPr>
          <p:cNvPr id="543" name="Google Shape;543;h603855749043a6f2_0_0"/>
          <p:cNvSpPr txBox="1"/>
          <p:nvPr/>
        </p:nvSpPr>
        <p:spPr>
          <a:xfrm>
            <a:off x="768500" y="3451559"/>
            <a:ext cx="10104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iryo"/>
              <a:buNone/>
            </a:pPr>
            <a:r>
              <a:rPr b="1" i="0" lang="en-US" sz="1400" u="none" cap="none" strike="noStrike">
                <a:solidFill>
                  <a:schemeClr val="dk1"/>
                </a:solidFill>
                <a:latin typeface="Meiryo"/>
                <a:ea typeface="Meiryo"/>
                <a:cs typeface="Meiryo"/>
                <a:sym typeface="Meiryo"/>
              </a:rPr>
              <a:t>制約</a:t>
            </a:r>
            <a:endParaRPr b="0" i="0" sz="1400" u="none" cap="none" strike="noStrike">
              <a:solidFill>
                <a:schemeClr val="dk1"/>
              </a:solidFill>
              <a:latin typeface="Calibri"/>
              <a:ea typeface="Calibri"/>
              <a:cs typeface="Calibri"/>
              <a:sym typeface="Calibri"/>
            </a:endParaRPr>
          </a:p>
        </p:txBody>
      </p:sp>
      <p:sp>
        <p:nvSpPr>
          <p:cNvPr id="544" name="Google Shape;544;h603855749043a6f2_0_0"/>
          <p:cNvSpPr txBox="1"/>
          <p:nvPr/>
        </p:nvSpPr>
        <p:spPr>
          <a:xfrm>
            <a:off x="1707935" y="3447245"/>
            <a:ext cx="6309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「査定額はまだ言わないでね。短めにね」</a:t>
            </a:r>
            <a:endParaRPr b="0" i="0" sz="1400" u="none" cap="none" strike="noStrike">
              <a:solidFill>
                <a:schemeClr val="dk1"/>
              </a:solidFill>
              <a:latin typeface="Calibri"/>
              <a:ea typeface="Calibri"/>
              <a:cs typeface="Calibri"/>
              <a:sym typeface="Calibri"/>
            </a:endParaRPr>
          </a:p>
        </p:txBody>
      </p:sp>
      <p:sp>
        <p:nvSpPr>
          <p:cNvPr id="545" name="Google Shape;545;h603855749043a6f2_0_0"/>
          <p:cNvSpPr txBox="1"/>
          <p:nvPr/>
        </p:nvSpPr>
        <p:spPr>
          <a:xfrm>
            <a:off x="768500" y="3985912"/>
            <a:ext cx="10104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iryo"/>
              <a:buNone/>
            </a:pPr>
            <a:r>
              <a:rPr b="1" i="0" lang="en-US" sz="1400" u="none" cap="none" strike="noStrike">
                <a:solidFill>
                  <a:schemeClr val="dk1"/>
                </a:solidFill>
                <a:latin typeface="Meiryo"/>
                <a:ea typeface="Meiryo"/>
                <a:cs typeface="Meiryo"/>
                <a:sym typeface="Meiryo"/>
              </a:rPr>
              <a:t>出力</a:t>
            </a:r>
            <a:endParaRPr b="0" i="0" sz="1400" u="none" cap="none" strike="noStrike">
              <a:solidFill>
                <a:schemeClr val="dk1"/>
              </a:solidFill>
              <a:latin typeface="Calibri"/>
              <a:ea typeface="Calibri"/>
              <a:cs typeface="Calibri"/>
              <a:sym typeface="Calibri"/>
            </a:endParaRPr>
          </a:p>
        </p:txBody>
      </p:sp>
      <p:sp>
        <p:nvSpPr>
          <p:cNvPr id="546" name="Google Shape;546;h603855749043a6f2_0_0"/>
          <p:cNvSpPr txBox="1"/>
          <p:nvPr/>
        </p:nvSpPr>
        <p:spPr>
          <a:xfrm>
            <a:off x="1707935" y="3995885"/>
            <a:ext cx="6309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「そのまま送れる文章にしてね」</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h259926ce4e4d5a8f_0_635"/>
          <p:cNvSpPr txBox="1"/>
          <p:nvPr/>
        </p:nvSpPr>
        <p:spPr>
          <a:xfrm>
            <a:off x="411480" y="274320"/>
            <a:ext cx="6309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まずは試してみましょう</a:t>
            </a:r>
            <a:endParaRPr b="0" i="0" sz="2200" u="none" cap="none" strike="noStrike">
              <a:solidFill>
                <a:schemeClr val="dk1"/>
              </a:solidFill>
              <a:latin typeface="Calibri"/>
              <a:ea typeface="Calibri"/>
              <a:cs typeface="Calibri"/>
              <a:sym typeface="Calibri"/>
            </a:endParaRPr>
          </a:p>
        </p:txBody>
      </p:sp>
      <p:sp>
        <p:nvSpPr>
          <p:cNvPr id="554" name="Google Shape;554;h259926ce4e4d5a8f_0_635"/>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55" name="Slide Number 5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56" name="Google Shape;556;h259926ce4e4d5a8f_0_635"/>
          <p:cNvSpPr txBox="1"/>
          <p:nvPr/>
        </p:nvSpPr>
        <p:spPr>
          <a:xfrm>
            <a:off x="411480" y="960120"/>
            <a:ext cx="8321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次の文を、そのままAIに入力してみてください。</a:t>
            </a:r>
            <a:endParaRPr b="0" i="0" sz="1400" u="none" cap="none" strike="noStrike">
              <a:solidFill>
                <a:schemeClr val="dk1"/>
              </a:solidFill>
              <a:latin typeface="Calibri"/>
              <a:ea typeface="Calibri"/>
              <a:cs typeface="Calibri"/>
              <a:sym typeface="Calibri"/>
            </a:endParaRPr>
          </a:p>
        </p:txBody>
      </p:sp>
      <p:sp>
        <p:nvSpPr>
          <p:cNvPr id="557" name="Google Shape;557;h259926ce4e4d5a8f_0_635"/>
          <p:cNvSpPr txBox="1"/>
          <p:nvPr/>
        </p:nvSpPr>
        <p:spPr>
          <a:xfrm>
            <a:off x="1353312" y="1508760"/>
            <a:ext cx="137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入力する文</a:t>
            </a:r>
            <a:endParaRPr b="0" i="0" sz="1000" u="none" cap="none" strike="noStrike">
              <a:solidFill>
                <a:schemeClr val="dk1"/>
              </a:solidFill>
              <a:latin typeface="Calibri"/>
              <a:ea typeface="Calibri"/>
              <a:cs typeface="Calibri"/>
              <a:sym typeface="Calibri"/>
            </a:endParaRPr>
          </a:p>
        </p:txBody>
      </p:sp>
      <p:sp>
        <p:nvSpPr>
          <p:cNvPr id="558" name="Google Shape;558;h259926ce4e4d5a8f_0_635"/>
          <p:cNvSpPr/>
          <p:nvPr/>
        </p:nvSpPr>
        <p:spPr>
          <a:xfrm>
            <a:off x="1371600" y="1783080"/>
            <a:ext cx="6400800" cy="100590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h259926ce4e4d5a8f_0_635"/>
          <p:cNvSpPr txBox="1"/>
          <p:nvPr/>
        </p:nvSpPr>
        <p:spPr>
          <a:xfrm>
            <a:off x="1554480" y="1920240"/>
            <a:ext cx="6035100" cy="73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2222"/>
              </a:buClr>
              <a:buSzPts val="2200"/>
              <a:buFont typeface="Meiryo"/>
              <a:buNone/>
            </a:pPr>
            <a:r>
              <a:rPr lang="en-US" sz="2200">
                <a:solidFill>
                  <a:srgbClr val="222222"/>
                </a:solidFill>
                <a:latin typeface="Meiryo"/>
                <a:ea typeface="Meiryo"/>
                <a:cs typeface="Meiryo"/>
                <a:sym typeface="Meiryo"/>
              </a:rPr>
              <a:t>お客様への返信文を書いて</a:t>
            </a:r>
            <a:endParaRPr b="0" i="0" sz="2200" u="none" cap="none" strike="noStrike">
              <a:solidFill>
                <a:schemeClr val="dk1"/>
              </a:solidFill>
              <a:latin typeface="Calibri"/>
              <a:ea typeface="Calibri"/>
              <a:cs typeface="Calibri"/>
              <a:sym typeface="Calibri"/>
            </a:endParaRPr>
          </a:p>
        </p:txBody>
      </p:sp>
      <p:sp>
        <p:nvSpPr>
          <p:cNvPr id="560" name="Google Shape;560;h259926ce4e4d5a8f_0_635"/>
          <p:cNvSpPr txBox="1"/>
          <p:nvPr/>
        </p:nvSpPr>
        <p:spPr>
          <a:xfrm>
            <a:off x="411480" y="3154680"/>
            <a:ext cx="83211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新人に「これ、返しといて」とだけ頼んだ状態です。どんな答えが返ってくるか見てみましょう。</a:t>
            </a:r>
            <a:endParaRPr b="0" i="0" sz="1300" u="none" cap="none" strike="noStrike">
              <a:solidFill>
                <a:schemeClr val="dk1"/>
              </a:solidFill>
              <a:latin typeface="Calibri"/>
              <a:ea typeface="Calibri"/>
              <a:cs typeface="Calibri"/>
              <a:sym typeface="Calibri"/>
            </a:endParaRPr>
          </a:p>
        </p:txBody>
      </p:sp>
      <p:sp>
        <p:nvSpPr>
          <p:cNvPr id="561" name="Google Shape;561;h259926ce4e4d5a8f_0_635"/>
          <p:cNvSpPr txBox="1"/>
          <p:nvPr/>
        </p:nvSpPr>
        <p:spPr>
          <a:xfrm>
            <a:off x="411480" y="3474720"/>
            <a:ext cx="83211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100"/>
              <a:buFont typeface="Meiryo"/>
              <a:buNone/>
            </a:pPr>
            <a:r>
              <a:rPr b="0" i="0" lang="en-US" sz="1100" u="none" cap="none" strike="noStrike">
                <a:solidFill>
                  <a:srgbClr val="6B7280"/>
                </a:solidFill>
                <a:latin typeface="Meiryo"/>
                <a:ea typeface="Meiryo"/>
                <a:cs typeface="Meiryo"/>
                <a:sym typeface="Meiryo"/>
              </a:rPr>
              <a:t>（お手元でも一緒に試せます。ChatGPT／Gemini など、普段お使いのツールで構いません）</a:t>
            </a:r>
            <a:endParaRPr b="0" i="0" sz="1100" u="none" cap="none" strike="noStrike">
              <a:solidFill>
                <a:schemeClr val="dk1"/>
              </a:solidFill>
              <a:latin typeface="Calibri"/>
              <a:ea typeface="Calibri"/>
              <a:cs typeface="Calibri"/>
              <a:sym typeface="Calibri"/>
            </a:endParaRPr>
          </a:p>
        </p:txBody>
      </p:sp>
      <p:sp>
        <p:nvSpPr>
          <p:cNvPr id="562" name="Google Shape;562;h259926ce4e4d5a8f_0_635"/>
          <p:cNvSpPr/>
          <p:nvPr/>
        </p:nvSpPr>
        <p:spPr>
          <a:xfrm>
            <a:off x="6949440" y="301752"/>
            <a:ext cx="1783200" cy="411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h259926ce4e4d5a8f_0_635"/>
          <p:cNvSpPr txBox="1"/>
          <p:nvPr/>
        </p:nvSpPr>
        <p:spPr>
          <a:xfrm>
            <a:off x="6949440" y="301752"/>
            <a:ext cx="1783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h603855749043a6f2_0_1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71" name="Google Shape;571;h603855749043a6f2_0_118"/>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出力例：そのまま送った場合</a:t>
            </a:r>
            <a:endParaRPr b="0" i="0" sz="2200" u="none" cap="none" strike="noStrike">
              <a:solidFill>
                <a:schemeClr val="dk1"/>
              </a:solidFill>
              <a:latin typeface="Calibri"/>
              <a:ea typeface="Calibri"/>
              <a:cs typeface="Calibri"/>
              <a:sym typeface="Calibri"/>
            </a:endParaRPr>
          </a:p>
        </p:txBody>
      </p:sp>
      <p:sp>
        <p:nvSpPr>
          <p:cNvPr id="572" name="Label 572"/>
          <p:cNvSpPr txBox="1"/>
          <p:nvPr/>
        </p:nvSpPr>
        <p:spPr>
          <a:xfrm>
            <a:off x="411480" y="91440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00" b="1">
                <a:solidFill>
                  <a:srgbClr val="6B7280"/>
                </a:solidFill>
                <a:latin typeface="Meiryo"/>
                <a:ea typeface="Meiryo"/>
                <a:cs typeface="Meiryo"/>
                <a:sym typeface="Meiryo"/>
              </a:rPr>
              <a:t>AIの返答</a:t>
            </a:r>
            <a:endParaRPr lang="ja-JP" sz="1100" b="1">
              <a:solidFill>
                <a:srgbClr val="6B7280"/>
              </a:solidFill>
              <a:latin typeface="Meiryo"/>
              <a:ea typeface="Meiryo"/>
              <a:cs typeface="Meiryo"/>
              <a:sym typeface="Meiryo"/>
            </a:endParaRPr>
          </a:p>
        </p:txBody>
      </p:sp>
      <p:sp>
        <p:nvSpPr>
          <p:cNvPr id="573" name="Reply Box 573"/>
          <p:cNvSpPr/>
          <p:nvPr/>
        </p:nvSpPr>
        <p:spPr>
          <a:xfrm>
            <a:off x="411480" y="1243584"/>
            <a:ext cx="8321040" cy="2148840"/>
          </a:xfrm>
          <a:prstGeom prst="roundRect">
            <a:avLst/>
          </a:prstGeom>
          <a:solidFill>
            <a:srgbClr val="F6F7F9"/>
          </a:solidFill>
          <a:ln>
            <a:noFill/>
          </a:ln>
        </p:spPr>
      </p:sp>
      <p:sp>
        <p:nvSpPr>
          <p:cNvPr id="574" name="Reply Text 574"/>
          <p:cNvSpPr txBox="1"/>
          <p:nvPr/>
        </p:nvSpPr>
        <p:spPr>
          <a:xfrm>
            <a:off x="685800" y="1371600"/>
            <a:ext cx="7772400" cy="18928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lang="ja-JP" sz="1300" b="0">
                <a:solidFill>
                  <a:srgbClr val="222222"/>
                </a:solidFill>
                <a:latin typeface="Meiryo"/>
                <a:ea typeface="Meiryo"/>
                <a:cs typeface="Meiryo"/>
                <a:sym typeface="Meiryo"/>
              </a:rPr>
              <a:t>〇〇様</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このたびはお問い合わせいただき、誠にありがとうございます。</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ご質問の件につきまして、以下のとおりご案内いたします。</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（ここに回答内容を記入してください）</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ご不明な点がございましたら、お気軽にお問い合わせください。</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今後ともどうぞよろしくお願いいたします。</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〇〇店　担当：〇〇</a:t>
            </a:r>
            <a:endParaRPr lang="ja-JP" sz="1300" b="0">
              <a:solidFill>
                <a:srgbClr val="222222"/>
              </a:solidFill>
              <a:latin typeface="Meiryo"/>
              <a:ea typeface="Meiryo"/>
              <a:cs typeface="Meiryo"/>
              <a:sym typeface="Meiryo"/>
            </a:endParaRPr>
          </a:p>
        </p:txBody>
      </p:sp>
      <p:sp>
        <p:nvSpPr>
          <p:cNvPr id="575" name="Note 575"/>
          <p:cNvSpPr txBox="1"/>
          <p:nvPr/>
        </p:nvSpPr>
        <p:spPr>
          <a:xfrm>
            <a:off x="411480" y="3465576"/>
            <a:ext cx="8321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900" b="0">
                <a:solidFill>
                  <a:srgbClr val="6B7280"/>
                </a:solidFill>
                <a:latin typeface="Meiryo"/>
                <a:ea typeface="Meiryo"/>
                <a:cs typeface="Meiryo"/>
                <a:sym typeface="Meiryo"/>
              </a:rPr>
              <a:t>※ 出力の一例です。使うツールや実行のたびに内容は変わります。</a:t>
            </a:r>
            <a:endParaRPr lang="ja-JP" sz="900" b="0">
              <a:solidFill>
                <a:srgbClr val="6B7280"/>
              </a:solidFill>
              <a:latin typeface="Meiryo"/>
              <a:ea typeface="Meiryo"/>
              <a:cs typeface="Meiryo"/>
              <a:sym typeface="Meiry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h259926ce4e4d5a8f_0_650"/>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返ってきた答えを見てみると…</a:t>
            </a:r>
            <a:endParaRPr b="0" i="0" sz="2200" u="none" cap="none" strike="noStrike">
              <a:solidFill>
                <a:schemeClr val="dk1"/>
              </a:solidFill>
              <a:latin typeface="Calibri"/>
              <a:ea typeface="Calibri"/>
              <a:cs typeface="Calibri"/>
              <a:sym typeface="Calibri"/>
            </a:endParaRPr>
          </a:p>
        </p:txBody>
      </p:sp>
      <p:sp>
        <p:nvSpPr>
          <p:cNvPr id="578" name="Google Shape;578;h259926ce4e4d5a8f_0_650"/>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79" name="Slide Number 57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80" name="Google Shape;580;h259926ce4e4d5a8f_0_650"/>
          <p:cNvSpPr/>
          <p:nvPr/>
        </p:nvSpPr>
        <p:spPr>
          <a:xfrm>
            <a:off x="469575" y="1329885"/>
            <a:ext cx="438900" cy="43890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1" name="Google Shape;581;h259926ce4e4d5a8f_0_650"/>
          <p:cNvPicPr preferRelativeResize="0"/>
          <p:nvPr/>
        </p:nvPicPr>
        <p:blipFill rotWithShape="1">
          <a:blip r:embed="rId3">
            <a:alphaModFix/>
          </a:blip>
          <a:srcRect b="0" l="0" r="0" t="0"/>
          <a:stretch/>
        </p:blipFill>
        <p:spPr>
          <a:xfrm>
            <a:off x="566136" y="1426446"/>
            <a:ext cx="245791" cy="245791"/>
          </a:xfrm>
          <a:prstGeom prst="rect">
            <a:avLst/>
          </a:prstGeom>
          <a:noFill/>
          <a:ln>
            <a:noFill/>
          </a:ln>
        </p:spPr>
      </p:pic>
      <p:sp>
        <p:nvSpPr>
          <p:cNvPr id="582" name="Google Shape;582;h259926ce4e4d5a8f_0_650"/>
          <p:cNvSpPr txBox="1"/>
          <p:nvPr/>
        </p:nvSpPr>
        <p:spPr>
          <a:xfrm>
            <a:off x="1063935" y="1329885"/>
            <a:ext cx="384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何の問い合わせなのか分からず、決まり文句だけ</a:t>
            </a:r>
            <a:endParaRPr b="0" i="0" sz="1250" u="none" cap="none" strike="noStrike">
              <a:solidFill>
                <a:schemeClr val="dk1"/>
              </a:solidFill>
              <a:latin typeface="Calibri"/>
              <a:ea typeface="Calibri"/>
              <a:cs typeface="Calibri"/>
              <a:sym typeface="Calibri"/>
            </a:endParaRPr>
          </a:p>
        </p:txBody>
      </p:sp>
      <p:sp>
        <p:nvSpPr>
          <p:cNvPr id="583" name="Google Shape;583;h259926ce4e4d5a8f_0_650"/>
          <p:cNvSpPr/>
          <p:nvPr/>
        </p:nvSpPr>
        <p:spPr>
          <a:xfrm>
            <a:off x="469575" y="1988253"/>
            <a:ext cx="438900" cy="43890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4" name="Google Shape;584;h259926ce4e4d5a8f_0_650"/>
          <p:cNvPicPr preferRelativeResize="0"/>
          <p:nvPr/>
        </p:nvPicPr>
        <p:blipFill rotWithShape="1">
          <a:blip r:embed="rId3">
            <a:alphaModFix/>
          </a:blip>
          <a:srcRect b="0" l="0" r="0" t="0"/>
          <a:stretch/>
        </p:blipFill>
        <p:spPr>
          <a:xfrm>
            <a:off x="566136" y="2084814"/>
            <a:ext cx="245791" cy="245791"/>
          </a:xfrm>
          <a:prstGeom prst="rect">
            <a:avLst/>
          </a:prstGeom>
          <a:noFill/>
          <a:ln>
            <a:noFill/>
          </a:ln>
        </p:spPr>
      </p:pic>
      <p:sp>
        <p:nvSpPr>
          <p:cNvPr id="585" name="Google Shape;585;h259926ce4e4d5a8f_0_650"/>
          <p:cNvSpPr txBox="1"/>
          <p:nvPr/>
        </p:nvSpPr>
        <p:spPr>
          <a:xfrm>
            <a:off x="1063935" y="1988253"/>
            <a:ext cx="384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肝心の回答が「〇〇」や空欄のまま</a:t>
            </a:r>
            <a:endParaRPr b="0" i="0" sz="1250" u="none" cap="none" strike="noStrike">
              <a:solidFill>
                <a:schemeClr val="dk1"/>
              </a:solidFill>
              <a:latin typeface="Calibri"/>
              <a:ea typeface="Calibri"/>
              <a:cs typeface="Calibri"/>
              <a:sym typeface="Calibri"/>
            </a:endParaRPr>
          </a:p>
        </p:txBody>
      </p:sp>
      <p:sp>
        <p:nvSpPr>
          <p:cNvPr id="586" name="Google Shape;586;h259926ce4e4d5a8f_0_650"/>
          <p:cNvSpPr/>
          <p:nvPr/>
        </p:nvSpPr>
        <p:spPr>
          <a:xfrm>
            <a:off x="469575" y="2743164"/>
            <a:ext cx="438900" cy="43890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7" name="Google Shape;587;h259926ce4e4d5a8f_0_650"/>
          <p:cNvPicPr preferRelativeResize="0"/>
          <p:nvPr/>
        </p:nvPicPr>
        <p:blipFill rotWithShape="1">
          <a:blip r:embed="rId3">
            <a:alphaModFix/>
          </a:blip>
          <a:srcRect b="0" l="0" r="0" t="0"/>
          <a:stretch/>
        </p:blipFill>
        <p:spPr>
          <a:xfrm>
            <a:off x="566136" y="2839725"/>
            <a:ext cx="245791" cy="245791"/>
          </a:xfrm>
          <a:prstGeom prst="rect">
            <a:avLst/>
          </a:prstGeom>
          <a:noFill/>
          <a:ln>
            <a:noFill/>
          </a:ln>
        </p:spPr>
      </p:pic>
      <p:sp>
        <p:nvSpPr>
          <p:cNvPr id="588" name="Google Shape;588;h259926ce4e4d5a8f_0_650"/>
          <p:cNvSpPr txBox="1"/>
          <p:nvPr/>
        </p:nvSpPr>
        <p:spPr>
          <a:xfrm>
            <a:off x="1063935" y="2743164"/>
            <a:ext cx="384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このままでは送れず、自分で書き直しが必要</a:t>
            </a:r>
            <a:endParaRPr b="0" i="0" sz="1250" u="none" cap="none" strike="noStrike">
              <a:solidFill>
                <a:schemeClr val="dk1"/>
              </a:solidFill>
              <a:latin typeface="Calibri"/>
              <a:ea typeface="Calibri"/>
              <a:cs typeface="Calibri"/>
              <a:sym typeface="Calibri"/>
            </a:endParaRPr>
          </a:p>
        </p:txBody>
      </p:sp>
      <p:sp>
        <p:nvSpPr>
          <p:cNvPr id="589" name="Google Shape;589;h259926ce4e4d5a8f_0_650"/>
          <p:cNvSpPr/>
          <p:nvPr/>
        </p:nvSpPr>
        <p:spPr>
          <a:xfrm>
            <a:off x="5166360" y="1005840"/>
            <a:ext cx="3566100" cy="27432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h259926ce4e4d5a8f_0_650"/>
          <p:cNvSpPr txBox="1"/>
          <p:nvPr/>
        </p:nvSpPr>
        <p:spPr>
          <a:xfrm>
            <a:off x="5349240" y="1234440"/>
            <a:ext cx="3200400" cy="13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原因はAIの性能ではなく、</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仕事の段取りが</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伝わっていないこと</a:t>
            </a:r>
            <a:endParaRPr b="0" i="0" sz="1700" u="none" cap="none" strike="noStrike">
              <a:solidFill>
                <a:schemeClr val="dk1"/>
              </a:solidFill>
              <a:latin typeface="Calibri"/>
              <a:ea typeface="Calibri"/>
              <a:cs typeface="Calibri"/>
              <a:sym typeface="Calibri"/>
            </a:endParaRPr>
          </a:p>
        </p:txBody>
      </p:sp>
      <p:sp>
        <p:nvSpPr>
          <p:cNvPr id="591" name="Google Shape;591;h259926ce4e4d5a8f_0_650"/>
          <p:cNvSpPr txBox="1"/>
          <p:nvPr/>
        </p:nvSpPr>
        <p:spPr>
          <a:xfrm>
            <a:off x="5349240" y="2743200"/>
            <a:ext cx="3200400" cy="82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C9A8"/>
              </a:buClr>
              <a:buSzPts val="1250"/>
              <a:buFont typeface="Meiryo"/>
              <a:buNone/>
            </a:pPr>
            <a:r>
              <a:rPr b="0" i="0" lang="en-US" sz="1250" u="none" cap="none" strike="noStrike">
                <a:solidFill>
                  <a:srgbClr val="F4C9A8"/>
                </a:solidFill>
                <a:latin typeface="Meiryo"/>
                <a:ea typeface="Meiryo"/>
                <a:cs typeface="Meiryo"/>
                <a:sym typeface="Meiryo"/>
              </a:rPr>
              <a:t>AIは、お店を知らない新人と同じ。</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4C9A8"/>
              </a:buClr>
              <a:buSzPts val="1250"/>
              <a:buFont typeface="Meiryo"/>
              <a:buNone/>
            </a:pPr>
            <a:r>
              <a:rPr b="0" i="0" lang="en-US" sz="1250" u="none" cap="none" strike="noStrike">
                <a:solidFill>
                  <a:srgbClr val="F4C9A8"/>
                </a:solidFill>
                <a:latin typeface="Meiryo"/>
                <a:ea typeface="Meiryo"/>
                <a:cs typeface="Meiryo"/>
                <a:sym typeface="Meiryo"/>
              </a:rPr>
              <a:t>伝えた分だけ、答えが良くなります。</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h603855749043a6f2_0_1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99" name="Google Shape;599;h603855749043a6f2_0_111"/>
          <p:cNvSpPr txBox="1"/>
          <p:nvPr/>
        </p:nvSpPr>
        <p:spPr>
          <a:xfrm>
            <a:off x="411480" y="274320"/>
            <a:ext cx="832104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インプットとアウトプットで整理する</a:t>
            </a:r>
            <a:endParaRPr b="0" i="0" sz="2200" u="none" cap="none" strike="noStrike">
              <a:solidFill>
                <a:schemeClr val="dk1"/>
              </a:solidFill>
              <a:latin typeface="Calibri"/>
              <a:ea typeface="Calibri"/>
              <a:cs typeface="Calibri"/>
              <a:sym typeface="Calibri"/>
            </a:endParaRPr>
          </a:p>
        </p:txBody>
      </p:sp>
      <p:sp>
        <p:nvSpPr>
          <p:cNvPr id="600" name="Lead 600"/>
          <p:cNvSpPr txBox="1"/>
          <p:nvPr/>
        </p:nvSpPr>
        <p:spPr>
          <a:xfrm>
            <a:off x="411480" y="868680"/>
            <a:ext cx="8321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1F3A5F"/>
                </a:solidFill>
                <a:latin typeface="Meiryo"/>
                <a:ea typeface="Meiryo"/>
                <a:cs typeface="Meiryo"/>
                <a:sym typeface="Meiryo"/>
              </a:rPr>
              <a:t>業務の段取りを、「AIに渡すもの」と「返してほしいもの」に分けて考えます。</a:t>
            </a:r>
            <a:endParaRPr lang="ja-JP" sz="1400" b="1">
              <a:solidFill>
                <a:srgbClr val="1F3A5F"/>
              </a:solidFill>
              <a:latin typeface="Meiryo"/>
              <a:ea typeface="Meiryo"/>
              <a:cs typeface="Meiryo"/>
              <a:sym typeface="Meiryo"/>
            </a:endParaRPr>
          </a:p>
        </p:txBody>
      </p:sp>
      <p:sp>
        <p:nvSpPr>
          <p:cNvPr id="601" name="Head In 601"/>
          <p:cNvSpPr txBox="1"/>
          <p:nvPr/>
        </p:nvSpPr>
        <p:spPr>
          <a:xfrm>
            <a:off x="411480" y="1325880"/>
            <a:ext cx="3749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00" b="1">
                <a:solidFill>
                  <a:srgbClr val="6B7280"/>
                </a:solidFill>
                <a:latin typeface="Meiryo"/>
                <a:ea typeface="Meiryo"/>
                <a:cs typeface="Meiryo"/>
                <a:sym typeface="Meiryo"/>
              </a:rPr>
              <a:t>インプット（AIに渡すもの）</a:t>
            </a:r>
            <a:endParaRPr lang="ja-JP" sz="1100" b="1">
              <a:solidFill>
                <a:srgbClr val="6B7280"/>
              </a:solidFill>
              <a:latin typeface="Meiryo"/>
              <a:ea typeface="Meiryo"/>
              <a:cs typeface="Meiryo"/>
              <a:sym typeface="Meiryo"/>
            </a:endParaRPr>
          </a:p>
        </p:txBody>
      </p:sp>
      <p:sp>
        <p:nvSpPr>
          <p:cNvPr id="602" name="Card 602"/>
          <p:cNvSpPr/>
          <p:nvPr/>
        </p:nvSpPr>
        <p:spPr>
          <a:xfrm>
            <a:off x="411480" y="1645920"/>
            <a:ext cx="3749040" cy="475488"/>
          </a:xfrm>
          <a:prstGeom prst="rect">
            <a:avLst/>
          </a:prstGeom>
          <a:solidFill>
            <a:srgbClr val="EEF3F8"/>
          </a:solidFill>
          <a:ln>
            <a:noFill/>
          </a:ln>
        </p:spPr>
      </p:sp>
      <p:sp>
        <p:nvSpPr>
          <p:cNvPr id="603" name="Card Label 603"/>
          <p:cNvSpPr txBox="1"/>
          <p:nvPr/>
        </p:nvSpPr>
        <p:spPr>
          <a:xfrm>
            <a:off x="566928" y="1645920"/>
            <a:ext cx="8686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1F3A5F"/>
                </a:solidFill>
                <a:latin typeface="Meiryo"/>
                <a:ea typeface="Meiryo"/>
                <a:cs typeface="Meiryo"/>
                <a:sym typeface="Meiryo"/>
              </a:rPr>
              <a:t>前提</a:t>
            </a:r>
            <a:endParaRPr lang="ja-JP" sz="1400" b="1">
              <a:solidFill>
                <a:srgbClr val="1F3A5F"/>
              </a:solidFill>
              <a:latin typeface="Meiryo"/>
              <a:ea typeface="Meiryo"/>
              <a:cs typeface="Meiryo"/>
              <a:sym typeface="Meiryo"/>
            </a:endParaRPr>
          </a:p>
        </p:txBody>
      </p:sp>
      <p:sp>
        <p:nvSpPr>
          <p:cNvPr id="604" name="Card Hint 604"/>
          <p:cNvSpPr txBox="1"/>
          <p:nvPr/>
        </p:nvSpPr>
        <p:spPr>
          <a:xfrm>
            <a:off x="1417320" y="1645920"/>
            <a:ext cx="26974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50" b="0">
                <a:solidFill>
                  <a:srgbClr val="444444"/>
                </a:solidFill>
                <a:latin typeface="Meiryo"/>
                <a:ea typeface="Meiryo"/>
                <a:cs typeface="Meiryo"/>
                <a:sym typeface="Meiryo"/>
              </a:rPr>
              <a:t>誰が・何のために・どんな状況で</a:t>
            </a:r>
            <a:endParaRPr lang="ja-JP" sz="1150" b="0">
              <a:solidFill>
                <a:srgbClr val="444444"/>
              </a:solidFill>
              <a:latin typeface="Meiryo"/>
              <a:ea typeface="Meiryo"/>
              <a:cs typeface="Meiryo"/>
              <a:sym typeface="Meiryo"/>
            </a:endParaRPr>
          </a:p>
        </p:txBody>
      </p:sp>
      <p:sp>
        <p:nvSpPr>
          <p:cNvPr id="605" name="Card 605"/>
          <p:cNvSpPr/>
          <p:nvPr/>
        </p:nvSpPr>
        <p:spPr>
          <a:xfrm>
            <a:off x="411480" y="2194560"/>
            <a:ext cx="3749040" cy="475488"/>
          </a:xfrm>
          <a:prstGeom prst="rect">
            <a:avLst/>
          </a:prstGeom>
          <a:solidFill>
            <a:srgbClr val="FDEBDD"/>
          </a:solidFill>
          <a:ln>
            <a:noFill/>
          </a:ln>
        </p:spPr>
      </p:sp>
      <p:sp>
        <p:nvSpPr>
          <p:cNvPr id="606" name="Card Label 606"/>
          <p:cNvSpPr txBox="1"/>
          <p:nvPr/>
        </p:nvSpPr>
        <p:spPr>
          <a:xfrm>
            <a:off x="566928" y="2194560"/>
            <a:ext cx="8686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E8702A"/>
                </a:solidFill>
                <a:latin typeface="Meiryo"/>
                <a:ea typeface="Meiryo"/>
                <a:cs typeface="Meiryo"/>
                <a:sym typeface="Meiryo"/>
              </a:rPr>
              <a:t>素材</a:t>
            </a:r>
            <a:endParaRPr lang="ja-JP" sz="1400" b="1">
              <a:solidFill>
                <a:srgbClr val="E8702A"/>
              </a:solidFill>
              <a:latin typeface="Meiryo"/>
              <a:ea typeface="Meiryo"/>
              <a:cs typeface="Meiryo"/>
              <a:sym typeface="Meiryo"/>
            </a:endParaRPr>
          </a:p>
        </p:txBody>
      </p:sp>
      <p:sp>
        <p:nvSpPr>
          <p:cNvPr id="607" name="Card Hint 607"/>
          <p:cNvSpPr txBox="1"/>
          <p:nvPr/>
        </p:nvSpPr>
        <p:spPr>
          <a:xfrm>
            <a:off x="1417320" y="2194560"/>
            <a:ext cx="26974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50" b="0">
                <a:solidFill>
                  <a:srgbClr val="444444"/>
                </a:solidFill>
                <a:latin typeface="Meiryo"/>
                <a:ea typeface="Meiryo"/>
                <a:cs typeface="Meiryo"/>
                <a:sym typeface="Meiryo"/>
              </a:rPr>
              <a:t>使う材料・データ・文章</a:t>
            </a:r>
            <a:endParaRPr lang="ja-JP" sz="1150" b="0">
              <a:solidFill>
                <a:srgbClr val="444444"/>
              </a:solidFill>
              <a:latin typeface="Meiryo"/>
              <a:ea typeface="Meiryo"/>
              <a:cs typeface="Meiryo"/>
              <a:sym typeface="Meiryo"/>
            </a:endParaRPr>
          </a:p>
        </p:txBody>
      </p:sp>
      <p:sp>
        <p:nvSpPr>
          <p:cNvPr id="608" name="Card 608"/>
          <p:cNvSpPr/>
          <p:nvPr/>
        </p:nvSpPr>
        <p:spPr>
          <a:xfrm>
            <a:off x="411480" y="2743200"/>
            <a:ext cx="3749040" cy="475488"/>
          </a:xfrm>
          <a:prstGeom prst="rect">
            <a:avLst/>
          </a:prstGeom>
          <a:solidFill>
            <a:srgbClr val="EEF3F8"/>
          </a:solidFill>
          <a:ln>
            <a:noFill/>
          </a:ln>
        </p:spPr>
      </p:sp>
      <p:sp>
        <p:nvSpPr>
          <p:cNvPr id="609" name="Card Label 609"/>
          <p:cNvSpPr txBox="1"/>
          <p:nvPr/>
        </p:nvSpPr>
        <p:spPr>
          <a:xfrm>
            <a:off x="566928" y="2743200"/>
            <a:ext cx="8686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1F3A5F"/>
                </a:solidFill>
                <a:latin typeface="Meiryo"/>
                <a:ea typeface="Meiryo"/>
                <a:cs typeface="Meiryo"/>
                <a:sym typeface="Meiryo"/>
              </a:rPr>
              <a:t>お手本</a:t>
            </a:r>
            <a:endParaRPr lang="ja-JP" sz="1400" b="1">
              <a:solidFill>
                <a:srgbClr val="1F3A5F"/>
              </a:solidFill>
              <a:latin typeface="Meiryo"/>
              <a:ea typeface="Meiryo"/>
              <a:cs typeface="Meiryo"/>
              <a:sym typeface="Meiryo"/>
            </a:endParaRPr>
          </a:p>
        </p:txBody>
      </p:sp>
      <p:sp>
        <p:nvSpPr>
          <p:cNvPr id="610" name="Card Hint 610"/>
          <p:cNvSpPr txBox="1"/>
          <p:nvPr/>
        </p:nvSpPr>
        <p:spPr>
          <a:xfrm>
            <a:off x="1417320" y="2743200"/>
            <a:ext cx="26974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50" b="0">
                <a:solidFill>
                  <a:srgbClr val="444444"/>
                </a:solidFill>
                <a:latin typeface="Meiryo"/>
                <a:ea typeface="Meiryo"/>
                <a:cs typeface="Meiryo"/>
                <a:sym typeface="Meiryo"/>
              </a:rPr>
              <a:t>うまくいった過去の例</a:t>
            </a:r>
            <a:endParaRPr lang="ja-JP" sz="1150" b="0">
              <a:solidFill>
                <a:srgbClr val="444444"/>
              </a:solidFill>
              <a:latin typeface="Meiryo"/>
              <a:ea typeface="Meiryo"/>
              <a:cs typeface="Meiryo"/>
              <a:sym typeface="Meiryo"/>
            </a:endParaRPr>
          </a:p>
        </p:txBody>
      </p:sp>
      <p:sp>
        <p:nvSpPr>
          <p:cNvPr id="611" name="Card 611"/>
          <p:cNvSpPr/>
          <p:nvPr/>
        </p:nvSpPr>
        <p:spPr>
          <a:xfrm>
            <a:off x="411480" y="3291840"/>
            <a:ext cx="3749040" cy="475488"/>
          </a:xfrm>
          <a:prstGeom prst="rect">
            <a:avLst/>
          </a:prstGeom>
          <a:solidFill>
            <a:srgbClr val="EEF3F8"/>
          </a:solidFill>
          <a:ln>
            <a:noFill/>
          </a:ln>
        </p:spPr>
      </p:sp>
      <p:sp>
        <p:nvSpPr>
          <p:cNvPr id="612" name="Card Label 612"/>
          <p:cNvSpPr txBox="1"/>
          <p:nvPr/>
        </p:nvSpPr>
        <p:spPr>
          <a:xfrm>
            <a:off x="566928" y="3291840"/>
            <a:ext cx="8686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1F3A5F"/>
                </a:solidFill>
                <a:latin typeface="Meiryo"/>
                <a:ea typeface="Meiryo"/>
                <a:cs typeface="Meiryo"/>
                <a:sym typeface="Meiryo"/>
              </a:rPr>
              <a:t>制約</a:t>
            </a:r>
            <a:endParaRPr lang="ja-JP" sz="1400" b="1">
              <a:solidFill>
                <a:srgbClr val="1F3A5F"/>
              </a:solidFill>
              <a:latin typeface="Meiryo"/>
              <a:ea typeface="Meiryo"/>
              <a:cs typeface="Meiryo"/>
              <a:sym typeface="Meiryo"/>
            </a:endParaRPr>
          </a:p>
        </p:txBody>
      </p:sp>
      <p:sp>
        <p:nvSpPr>
          <p:cNvPr id="613" name="Card Hint 613"/>
          <p:cNvSpPr txBox="1"/>
          <p:nvPr/>
        </p:nvSpPr>
        <p:spPr>
          <a:xfrm>
            <a:off x="1417320" y="3291840"/>
            <a:ext cx="26974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50" b="0">
                <a:solidFill>
                  <a:srgbClr val="444444"/>
                </a:solidFill>
                <a:latin typeface="Meiryo"/>
                <a:ea typeface="Meiryo"/>
                <a:cs typeface="Meiryo"/>
                <a:sym typeface="Meiryo"/>
              </a:rPr>
              <a:t>守るルール・避けたいこと</a:t>
            </a:r>
            <a:endParaRPr lang="ja-JP" sz="1150" b="0">
              <a:solidFill>
                <a:srgbClr val="444444"/>
              </a:solidFill>
              <a:latin typeface="Meiryo"/>
              <a:ea typeface="Meiryo"/>
              <a:cs typeface="Meiryo"/>
              <a:sym typeface="Meiryo"/>
            </a:endParaRPr>
          </a:p>
        </p:txBody>
      </p:sp>
      <p:sp>
        <p:nvSpPr>
          <p:cNvPr id="614" name="Arrow 614"/>
          <p:cNvSpPr/>
          <p:nvPr/>
        </p:nvSpPr>
        <p:spPr>
          <a:xfrm>
            <a:off x="4279392" y="2496312"/>
            <a:ext cx="384048" cy="411480"/>
          </a:xfrm>
          <a:prstGeom prst="rightArrow">
            <a:avLst/>
          </a:prstGeom>
          <a:solidFill>
            <a:srgbClr val="C9D3E0"/>
          </a:solidFill>
          <a:ln>
            <a:noFill/>
          </a:ln>
        </p:spPr>
      </p:sp>
      <p:sp>
        <p:nvSpPr>
          <p:cNvPr id="615" name="AI Circle 615"/>
          <p:cNvSpPr/>
          <p:nvPr/>
        </p:nvSpPr>
        <p:spPr>
          <a:xfrm>
            <a:off x="4754880" y="2194560"/>
            <a:ext cx="1005840" cy="1005840"/>
          </a:xfrm>
          <a:prstGeom prst="ellipse">
            <a:avLst/>
          </a:prstGeom>
          <a:solidFill>
            <a:srgbClr val="1F3A5F"/>
          </a:solidFill>
          <a:ln>
            <a:noFill/>
          </a:ln>
        </p:spPr>
      </p:sp>
      <p:sp>
        <p:nvSpPr>
          <p:cNvPr id="616" name="AI Text 616"/>
          <p:cNvSpPr txBox="1"/>
          <p:nvPr/>
        </p:nvSpPr>
        <p:spPr>
          <a:xfrm>
            <a:off x="4754880" y="2194560"/>
            <a:ext cx="1005840" cy="1005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ja-JP" sz="2200" b="1">
                <a:solidFill>
                  <a:srgbClr val="FFFFFF"/>
                </a:solidFill>
                <a:latin typeface="Meiryo"/>
                <a:ea typeface="Meiryo"/>
                <a:cs typeface="Meiryo"/>
                <a:sym typeface="Meiryo"/>
              </a:rPr>
              <a:t>AI</a:t>
            </a:r>
            <a:endParaRPr lang="ja-JP" sz="2200" b="1">
              <a:solidFill>
                <a:srgbClr val="FFFFFF"/>
              </a:solidFill>
              <a:latin typeface="Meiryo"/>
              <a:ea typeface="Meiryo"/>
              <a:cs typeface="Meiryo"/>
              <a:sym typeface="Meiryo"/>
            </a:endParaRPr>
          </a:p>
        </p:txBody>
      </p:sp>
      <p:sp>
        <p:nvSpPr>
          <p:cNvPr id="617" name="Arrow 617"/>
          <p:cNvSpPr/>
          <p:nvPr/>
        </p:nvSpPr>
        <p:spPr>
          <a:xfrm>
            <a:off x="5852160" y="2496312"/>
            <a:ext cx="384048" cy="411480"/>
          </a:xfrm>
          <a:prstGeom prst="rightArrow">
            <a:avLst/>
          </a:prstGeom>
          <a:solidFill>
            <a:srgbClr val="C9D3E0"/>
          </a:solidFill>
          <a:ln>
            <a:noFill/>
          </a:ln>
        </p:spPr>
      </p:sp>
      <p:sp>
        <p:nvSpPr>
          <p:cNvPr id="618" name="Head Out 618"/>
          <p:cNvSpPr txBox="1"/>
          <p:nvPr/>
        </p:nvSpPr>
        <p:spPr>
          <a:xfrm>
            <a:off x="6327648" y="1325880"/>
            <a:ext cx="240487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00" b="1">
                <a:solidFill>
                  <a:srgbClr val="6B7280"/>
                </a:solidFill>
                <a:latin typeface="Meiryo"/>
                <a:ea typeface="Meiryo"/>
                <a:cs typeface="Meiryo"/>
                <a:sym typeface="Meiryo"/>
              </a:rPr>
              <a:t>アウトプット（返してほしいもの）</a:t>
            </a:r>
            <a:endParaRPr lang="ja-JP" sz="1100" b="1">
              <a:solidFill>
                <a:srgbClr val="6B7280"/>
              </a:solidFill>
              <a:latin typeface="Meiryo"/>
              <a:ea typeface="Meiryo"/>
              <a:cs typeface="Meiryo"/>
              <a:sym typeface="Meiryo"/>
            </a:endParaRPr>
          </a:p>
        </p:txBody>
      </p:sp>
      <p:sp>
        <p:nvSpPr>
          <p:cNvPr id="619" name="Out Card 619"/>
          <p:cNvSpPr/>
          <p:nvPr/>
        </p:nvSpPr>
        <p:spPr>
          <a:xfrm>
            <a:off x="6327648" y="1645920"/>
            <a:ext cx="2404872" cy="2121408"/>
          </a:xfrm>
          <a:prstGeom prst="rect">
            <a:avLst/>
          </a:prstGeom>
          <a:solidFill>
            <a:srgbClr val="EEF3F8"/>
          </a:solidFill>
          <a:ln>
            <a:noFill/>
          </a:ln>
        </p:spPr>
      </p:sp>
      <p:sp>
        <p:nvSpPr>
          <p:cNvPr id="620" name="Out Label 620"/>
          <p:cNvSpPr txBox="1"/>
          <p:nvPr/>
        </p:nvSpPr>
        <p:spPr>
          <a:xfrm>
            <a:off x="6492240" y="1755648"/>
            <a:ext cx="21031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600" b="1">
                <a:solidFill>
                  <a:srgbClr val="1F3A5F"/>
                </a:solidFill>
                <a:latin typeface="Meiryo"/>
                <a:ea typeface="Meiryo"/>
                <a:cs typeface="Meiryo"/>
                <a:sym typeface="Meiryo"/>
              </a:rPr>
              <a:t>出力</a:t>
            </a:r>
            <a:endParaRPr lang="ja-JP" sz="1600" b="1">
              <a:solidFill>
                <a:srgbClr val="1F3A5F"/>
              </a:solidFill>
              <a:latin typeface="Meiryo"/>
              <a:ea typeface="Meiryo"/>
              <a:cs typeface="Meiryo"/>
              <a:sym typeface="Meiryo"/>
            </a:endParaRPr>
          </a:p>
        </p:txBody>
      </p:sp>
      <p:sp>
        <p:nvSpPr>
          <p:cNvPr id="621" name="Out Hint 621"/>
          <p:cNvSpPr txBox="1"/>
          <p:nvPr/>
        </p:nvSpPr>
        <p:spPr>
          <a:xfrm>
            <a:off x="6492240" y="2212848"/>
            <a:ext cx="2148840" cy="14173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ja-JP" sz="1150" b="0">
                <a:solidFill>
                  <a:srgbClr val="444444"/>
                </a:solidFill>
                <a:latin typeface="Meiryo"/>
                <a:ea typeface="Meiryo"/>
                <a:cs typeface="Meiryo"/>
                <a:sym typeface="Meiryo"/>
              </a:rPr>
              <a:t>形式：文章・表・箇条書き</a:t>
            </a:r>
            <a:br>
              <a:rPr lang="ja-JP" sz="1150" b="0">
                <a:solidFill>
                  <a:srgbClr val="444444"/>
                </a:solidFill>
                <a:latin typeface="Meiryo"/>
                <a:ea typeface="Meiryo"/>
                <a:cs typeface="Meiryo"/>
                <a:sym typeface="Meiryo"/>
              </a:rPr>
            </a:br>
            <a:r>
              <a:rPr lang="ja-JP" sz="1150" b="0">
                <a:solidFill>
                  <a:srgbClr val="444444"/>
                </a:solidFill>
                <a:latin typeface="Meiryo"/>
                <a:ea typeface="Meiryo"/>
                <a:cs typeface="Meiryo"/>
                <a:sym typeface="Meiryo"/>
              </a:rPr>
              <a:t>用途：どこで・誰が使うか</a:t>
            </a:r>
            <a:br>
              <a:rPr lang="ja-JP" sz="1150" b="0">
                <a:solidFill>
                  <a:srgbClr val="444444"/>
                </a:solidFill>
                <a:latin typeface="Meiryo"/>
                <a:ea typeface="Meiryo"/>
                <a:cs typeface="Meiryo"/>
                <a:sym typeface="Meiryo"/>
              </a:rPr>
            </a:br>
            <a:r>
              <a:rPr lang="ja-JP" sz="1150" b="0">
                <a:solidFill>
                  <a:srgbClr val="444444"/>
                </a:solidFill>
                <a:latin typeface="Meiryo"/>
                <a:ea typeface="Meiryo"/>
                <a:cs typeface="Meiryo"/>
                <a:sym typeface="Meiryo"/>
              </a:rPr>
              <a:t>案の数：1案・3案 など</a:t>
            </a:r>
            <a:endParaRPr lang="ja-JP" sz="1150" b="0">
              <a:solidFill>
                <a:srgbClr val="444444"/>
              </a:solidFill>
              <a:latin typeface="Meiryo"/>
              <a:ea typeface="Meiryo"/>
              <a:cs typeface="Meiryo"/>
              <a:sym typeface="Meiryo"/>
            </a:endParaRPr>
          </a:p>
        </p:txBody>
      </p:sp>
      <p:sp>
        <p:nvSpPr>
          <p:cNvPr id="622" name="Band 622"/>
          <p:cNvSpPr/>
          <p:nvPr/>
        </p:nvSpPr>
        <p:spPr>
          <a:xfrm>
            <a:off x="411480" y="4005072"/>
            <a:ext cx="8321040" cy="475488"/>
          </a:xfrm>
          <a:prstGeom prst="rect">
            <a:avLst/>
          </a:prstGeom>
          <a:solidFill>
            <a:srgbClr val="EEF3F8"/>
          </a:solidFill>
          <a:ln>
            <a:noFill/>
          </a:ln>
        </p:spPr>
      </p:sp>
      <p:sp>
        <p:nvSpPr>
          <p:cNvPr id="623" name="Band Text 623"/>
          <p:cNvSpPr txBox="1"/>
          <p:nvPr/>
        </p:nvSpPr>
        <p:spPr>
          <a:xfrm>
            <a:off x="594360" y="4005072"/>
            <a:ext cx="795528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300" b="1">
                <a:solidFill>
                  <a:srgbClr val="1F3A5F"/>
                </a:solidFill>
                <a:latin typeface="Meiryo"/>
                <a:ea typeface="Meiryo"/>
                <a:cs typeface="Meiryo"/>
                <a:sym typeface="Meiryo"/>
              </a:rPr>
              <a:t>ワーク①では、自分の業務をこの「インプット／アウトプット」で書き出します</a:t>
            </a:r>
            <a:endParaRPr lang="ja-JP" sz="1300" b="1">
              <a:solidFill>
                <a:srgbClr val="1F3A5F"/>
              </a:solidFill>
              <a:latin typeface="Meiryo"/>
              <a:ea typeface="Meiryo"/>
              <a:cs typeface="Meiryo"/>
              <a:sym typeface="Meiry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4" name="Shape 604"/>
        <p:cNvGrpSpPr/>
        <p:nvPr/>
      </p:nvGrpSpPr>
      <p:grpSpPr>
        <a:xfrm>
          <a:off x="0" y="0"/>
          <a:ext cx="0" cy="0"/>
          <a:chOff x="0" y="0"/>
          <a:chExt cx="0" cy="0"/>
        </a:xfrm>
      </p:grpSpPr>
      <p:sp>
        <p:nvSpPr>
          <p:cNvPr id="605" name="Google Shape;605;p21"/>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インプットの4要素</a:t>
            </a:r>
            <a:endParaRPr b="0" i="0" sz="2200" u="none" cap="none" strike="noStrike">
              <a:solidFill>
                <a:schemeClr val="dk1"/>
              </a:solidFill>
              <a:latin typeface="Calibri"/>
              <a:ea typeface="Calibri"/>
              <a:cs typeface="Calibri"/>
              <a:sym typeface="Calibri"/>
            </a:endParaRPr>
          </a:p>
        </p:txBody>
      </p:sp>
      <p:sp>
        <p:nvSpPr>
          <p:cNvPr id="606" name="Google Shape;606;p21"/>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607" name="Google Shape;607;p21"/>
          <p:cNvSpPr/>
          <p:nvPr/>
        </p:nvSpPr>
        <p:spPr>
          <a:xfrm>
            <a:off x="411475" y="960125"/>
            <a:ext cx="8441700" cy="7881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1"/>
          <p:cNvSpPr/>
          <p:nvPr/>
        </p:nvSpPr>
        <p:spPr>
          <a:xfrm>
            <a:off x="594360" y="1143000"/>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9" name="Google Shape;609;p21"/>
          <p:cNvPicPr preferRelativeResize="0"/>
          <p:nvPr/>
        </p:nvPicPr>
        <p:blipFill rotWithShape="1">
          <a:blip r:embed="rId3">
            <a:alphaModFix/>
          </a:blip>
          <a:srcRect b="0" l="0" r="0" t="0"/>
          <a:stretch/>
        </p:blipFill>
        <p:spPr>
          <a:xfrm>
            <a:off x="715061" y="1263701"/>
            <a:ext cx="307238" cy="307238"/>
          </a:xfrm>
          <a:prstGeom prst="rect">
            <a:avLst/>
          </a:prstGeom>
          <a:noFill/>
          <a:ln>
            <a:noFill/>
          </a:ln>
        </p:spPr>
      </p:pic>
      <p:sp>
        <p:nvSpPr>
          <p:cNvPr id="610" name="Google Shape;610;p21"/>
          <p:cNvSpPr txBox="1"/>
          <p:nvPr/>
        </p:nvSpPr>
        <p:spPr>
          <a:xfrm>
            <a:off x="1280160" y="1143000"/>
            <a:ext cx="1371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前提</a:t>
            </a:r>
            <a:endParaRPr b="0" i="0" sz="1800" u="none" cap="none" strike="noStrike">
              <a:solidFill>
                <a:schemeClr val="dk1"/>
              </a:solidFill>
              <a:latin typeface="Calibri"/>
              <a:ea typeface="Calibri"/>
              <a:cs typeface="Calibri"/>
              <a:sym typeface="Calibri"/>
            </a:endParaRPr>
          </a:p>
        </p:txBody>
      </p:sp>
      <p:sp>
        <p:nvSpPr>
          <p:cNvPr id="611" name="Google Shape;611;p21"/>
          <p:cNvSpPr txBox="1"/>
          <p:nvPr/>
        </p:nvSpPr>
        <p:spPr>
          <a:xfrm>
            <a:off x="1876535" y="1188748"/>
            <a:ext cx="306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誰が・何のために・どんな状況で</a:t>
            </a:r>
            <a:endParaRPr b="0" i="0" sz="1250" u="none" cap="none" strike="noStrike">
              <a:solidFill>
                <a:schemeClr val="dk1"/>
              </a:solidFill>
              <a:latin typeface="Calibri"/>
              <a:ea typeface="Calibri"/>
              <a:cs typeface="Calibri"/>
              <a:sym typeface="Calibri"/>
            </a:endParaRPr>
          </a:p>
        </p:txBody>
      </p:sp>
      <p:sp>
        <p:nvSpPr>
          <p:cNvPr id="612" name="Google Shape;612;p21"/>
          <p:cNvSpPr txBox="1"/>
          <p:nvPr/>
        </p:nvSpPr>
        <p:spPr>
          <a:xfrm>
            <a:off x="1280150" y="1462663"/>
            <a:ext cx="5619000" cy="22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050"/>
              <a:buFont typeface="Meiryo"/>
              <a:buNone/>
            </a:pPr>
            <a:r>
              <a:rPr lang="en-US">
                <a:solidFill>
                  <a:srgbClr val="444444"/>
                </a:solidFill>
                <a:latin typeface="Meiryo"/>
                <a:ea typeface="Meiryo"/>
                <a:cs typeface="Meiryo"/>
                <a:sym typeface="Meiryo"/>
              </a:rPr>
              <a:t>例）LINEで買取の問い合わせが来た。今日中に返信したい</a:t>
            </a:r>
            <a:endParaRPr>
              <a:solidFill>
                <a:srgbClr val="444444"/>
              </a:solidFill>
              <a:latin typeface="Meiryo"/>
              <a:ea typeface="Meiryo"/>
              <a:cs typeface="Meiryo"/>
              <a:sym typeface="Meiryo"/>
            </a:endParaRPr>
          </a:p>
          <a:p>
            <a:pPr indent="0" lvl="0" marL="0" marR="0" rtl="0" algn="l">
              <a:lnSpc>
                <a:spcPct val="100000"/>
              </a:lnSpc>
              <a:spcBef>
                <a:spcPts val="0"/>
              </a:spcBef>
              <a:spcAft>
                <a:spcPts val="0"/>
              </a:spcAft>
              <a:buClr>
                <a:srgbClr val="444444"/>
              </a:buClr>
              <a:buSzPts val="1050"/>
              <a:buFont typeface="Meiryo"/>
              <a:buNone/>
            </a:pPr>
            <a:r>
              <a:t/>
            </a:r>
            <a:endParaRPr>
              <a:solidFill>
                <a:srgbClr val="444444"/>
              </a:solidFill>
              <a:latin typeface="Meiryo"/>
              <a:ea typeface="Meiryo"/>
              <a:cs typeface="Meiryo"/>
              <a:sym typeface="Meiryo"/>
            </a:endParaRPr>
          </a:p>
        </p:txBody>
      </p:sp>
      <p:sp>
        <p:nvSpPr>
          <p:cNvPr id="613" name="Google Shape;613;p21"/>
          <p:cNvSpPr/>
          <p:nvPr/>
        </p:nvSpPr>
        <p:spPr>
          <a:xfrm>
            <a:off x="411475" y="1905550"/>
            <a:ext cx="8441700" cy="7881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21"/>
          <p:cNvSpPr/>
          <p:nvPr/>
        </p:nvSpPr>
        <p:spPr>
          <a:xfrm>
            <a:off x="594350" y="2088425"/>
            <a:ext cx="548700" cy="5487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5" name="Google Shape;615;p21"/>
          <p:cNvPicPr preferRelativeResize="0"/>
          <p:nvPr/>
        </p:nvPicPr>
        <p:blipFill rotWithShape="1">
          <a:blip r:embed="rId4">
            <a:alphaModFix/>
          </a:blip>
          <a:srcRect b="0" l="0" r="0" t="0"/>
          <a:stretch/>
        </p:blipFill>
        <p:spPr>
          <a:xfrm>
            <a:off x="715051" y="2209125"/>
            <a:ext cx="307238" cy="307238"/>
          </a:xfrm>
          <a:prstGeom prst="rect">
            <a:avLst/>
          </a:prstGeom>
          <a:noFill/>
          <a:ln>
            <a:noFill/>
          </a:ln>
        </p:spPr>
      </p:pic>
      <p:sp>
        <p:nvSpPr>
          <p:cNvPr id="616" name="Google Shape;616;p21"/>
          <p:cNvSpPr txBox="1"/>
          <p:nvPr/>
        </p:nvSpPr>
        <p:spPr>
          <a:xfrm>
            <a:off x="1280150" y="2088425"/>
            <a:ext cx="1371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i="0" lang="en-US" sz="1800" u="none" cap="none" strike="noStrike">
                <a:solidFill>
                  <a:srgbClr val="E8702A"/>
                </a:solidFill>
                <a:latin typeface="Meiryo"/>
                <a:ea typeface="Meiryo"/>
                <a:cs typeface="Meiryo"/>
                <a:sym typeface="Meiryo"/>
              </a:rPr>
              <a:t>素材</a:t>
            </a:r>
            <a:endParaRPr b="0" i="0" sz="1800" u="none" cap="none" strike="noStrike">
              <a:solidFill>
                <a:schemeClr val="dk1"/>
              </a:solidFill>
              <a:latin typeface="Calibri"/>
              <a:ea typeface="Calibri"/>
              <a:cs typeface="Calibri"/>
              <a:sym typeface="Calibri"/>
            </a:endParaRPr>
          </a:p>
        </p:txBody>
      </p:sp>
      <p:sp>
        <p:nvSpPr>
          <p:cNvPr id="617" name="Google Shape;617;p21"/>
          <p:cNvSpPr txBox="1"/>
          <p:nvPr/>
        </p:nvSpPr>
        <p:spPr>
          <a:xfrm>
            <a:off x="7406485" y="2134183"/>
            <a:ext cx="1280100" cy="274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E8702A"/>
              </a:buClr>
              <a:buSzPts val="1000"/>
              <a:buFont typeface="Meiryo"/>
              <a:buNone/>
            </a:pPr>
            <a:r>
              <a:rPr b="1" i="0" lang="en-US" sz="1000" u="none" cap="none" strike="noStrike">
                <a:solidFill>
                  <a:srgbClr val="E8702A"/>
                </a:solidFill>
                <a:latin typeface="Meiryo"/>
                <a:ea typeface="Meiryo"/>
                <a:cs typeface="Meiryo"/>
                <a:sym typeface="Meiryo"/>
              </a:rPr>
              <a:t>特に効果的</a:t>
            </a:r>
            <a:endParaRPr b="0" i="0" sz="1000" u="none" cap="none" strike="noStrike">
              <a:solidFill>
                <a:schemeClr val="dk1"/>
              </a:solidFill>
              <a:latin typeface="Calibri"/>
              <a:ea typeface="Calibri"/>
              <a:cs typeface="Calibri"/>
              <a:sym typeface="Calibri"/>
            </a:endParaRPr>
          </a:p>
        </p:txBody>
      </p:sp>
      <p:sp>
        <p:nvSpPr>
          <p:cNvPr id="618" name="Google Shape;618;p21"/>
          <p:cNvSpPr txBox="1"/>
          <p:nvPr/>
        </p:nvSpPr>
        <p:spPr>
          <a:xfrm>
            <a:off x="1828900" y="2134173"/>
            <a:ext cx="306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実際のデータをそのまま渡す</a:t>
            </a:r>
            <a:endParaRPr b="0" i="0" sz="1250" u="none" cap="none" strike="noStrike">
              <a:solidFill>
                <a:schemeClr val="dk1"/>
              </a:solidFill>
              <a:latin typeface="Calibri"/>
              <a:ea typeface="Calibri"/>
              <a:cs typeface="Calibri"/>
              <a:sym typeface="Calibri"/>
            </a:endParaRPr>
          </a:p>
        </p:txBody>
      </p:sp>
      <p:sp>
        <p:nvSpPr>
          <p:cNvPr id="619" name="Google Shape;619;p21"/>
          <p:cNvSpPr txBox="1"/>
          <p:nvPr/>
        </p:nvSpPr>
        <p:spPr>
          <a:xfrm>
            <a:off x="1280150" y="2387117"/>
            <a:ext cx="6862800" cy="22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050"/>
              <a:buFont typeface="Meiryo"/>
              <a:buNone/>
            </a:pPr>
            <a:r>
              <a:rPr lang="en-US">
                <a:solidFill>
                  <a:srgbClr val="444444"/>
                </a:solidFill>
                <a:latin typeface="Meiryo"/>
                <a:ea typeface="Meiryo"/>
                <a:cs typeface="Meiryo"/>
                <a:sym typeface="Meiryo"/>
              </a:rPr>
              <a:t>例）お客様のメッセージと、当店の買取ルールを貼る</a:t>
            </a:r>
            <a:endParaRPr>
              <a:solidFill>
                <a:srgbClr val="444444"/>
              </a:solidFill>
              <a:latin typeface="Meiryo"/>
              <a:ea typeface="Meiryo"/>
              <a:cs typeface="Meiryo"/>
              <a:sym typeface="Meiryo"/>
            </a:endParaRPr>
          </a:p>
          <a:p>
            <a:pPr indent="0" lvl="0" marL="0" marR="0" rtl="0" algn="l">
              <a:lnSpc>
                <a:spcPct val="100000"/>
              </a:lnSpc>
              <a:spcBef>
                <a:spcPts val="0"/>
              </a:spcBef>
              <a:spcAft>
                <a:spcPts val="0"/>
              </a:spcAft>
              <a:buClr>
                <a:srgbClr val="444444"/>
              </a:buClr>
              <a:buSzPts val="1050"/>
              <a:buFont typeface="Meiryo"/>
              <a:buNone/>
            </a:pPr>
            <a:r>
              <a:t/>
            </a:r>
            <a:endParaRPr>
              <a:solidFill>
                <a:srgbClr val="444444"/>
              </a:solidFill>
              <a:latin typeface="Meiryo"/>
              <a:ea typeface="Meiryo"/>
              <a:cs typeface="Meiryo"/>
              <a:sym typeface="Meiryo"/>
            </a:endParaRPr>
          </a:p>
        </p:txBody>
      </p:sp>
      <p:sp>
        <p:nvSpPr>
          <p:cNvPr id="620" name="Google Shape;620;p21"/>
          <p:cNvSpPr/>
          <p:nvPr/>
        </p:nvSpPr>
        <p:spPr>
          <a:xfrm>
            <a:off x="411475" y="2862163"/>
            <a:ext cx="8441700" cy="7881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21"/>
          <p:cNvSpPr/>
          <p:nvPr/>
        </p:nvSpPr>
        <p:spPr>
          <a:xfrm>
            <a:off x="594360" y="3045048"/>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2" name="Google Shape;622;p21"/>
          <p:cNvPicPr preferRelativeResize="0"/>
          <p:nvPr/>
        </p:nvPicPr>
        <p:blipFill rotWithShape="1">
          <a:blip r:embed="rId5">
            <a:alphaModFix/>
          </a:blip>
          <a:srcRect b="0" l="0" r="0" t="0"/>
          <a:stretch/>
        </p:blipFill>
        <p:spPr>
          <a:xfrm>
            <a:off x="715061" y="3165749"/>
            <a:ext cx="307238" cy="307238"/>
          </a:xfrm>
          <a:prstGeom prst="rect">
            <a:avLst/>
          </a:prstGeom>
          <a:noFill/>
          <a:ln>
            <a:noFill/>
          </a:ln>
        </p:spPr>
      </p:pic>
      <p:sp>
        <p:nvSpPr>
          <p:cNvPr id="623" name="Google Shape;623;p21"/>
          <p:cNvSpPr txBox="1"/>
          <p:nvPr/>
        </p:nvSpPr>
        <p:spPr>
          <a:xfrm>
            <a:off x="1280160" y="3045048"/>
            <a:ext cx="1371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お手本</a:t>
            </a:r>
            <a:endParaRPr b="0" i="0" sz="1800" u="none" cap="none" strike="noStrike">
              <a:solidFill>
                <a:schemeClr val="dk1"/>
              </a:solidFill>
              <a:latin typeface="Calibri"/>
              <a:ea typeface="Calibri"/>
              <a:cs typeface="Calibri"/>
              <a:sym typeface="Calibri"/>
            </a:endParaRPr>
          </a:p>
        </p:txBody>
      </p:sp>
      <p:sp>
        <p:nvSpPr>
          <p:cNvPr id="624" name="Google Shape;624;p21"/>
          <p:cNvSpPr txBox="1"/>
          <p:nvPr/>
        </p:nvSpPr>
        <p:spPr>
          <a:xfrm>
            <a:off x="2051685" y="3124858"/>
            <a:ext cx="306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うまくいった過去の成果物を見せる</a:t>
            </a:r>
            <a:endParaRPr b="0" i="0" sz="1250" u="none" cap="none" strike="noStrike">
              <a:solidFill>
                <a:schemeClr val="dk1"/>
              </a:solidFill>
              <a:latin typeface="Calibri"/>
              <a:ea typeface="Calibri"/>
              <a:cs typeface="Calibri"/>
              <a:sym typeface="Calibri"/>
            </a:endParaRPr>
          </a:p>
        </p:txBody>
      </p:sp>
      <p:sp>
        <p:nvSpPr>
          <p:cNvPr id="625" name="Google Shape;625;p21"/>
          <p:cNvSpPr txBox="1"/>
          <p:nvPr/>
        </p:nvSpPr>
        <p:spPr>
          <a:xfrm>
            <a:off x="1280150" y="3387913"/>
            <a:ext cx="5807700" cy="22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050"/>
              <a:buFont typeface="Meiryo"/>
              <a:buNone/>
            </a:pPr>
            <a:r>
              <a:rPr lang="en-US">
                <a:solidFill>
                  <a:srgbClr val="444444"/>
                </a:solidFill>
                <a:latin typeface="Meiryo"/>
                <a:ea typeface="Meiryo"/>
                <a:cs typeface="Meiryo"/>
                <a:sym typeface="Meiryo"/>
              </a:rPr>
              <a:t>例）以前の返信の例を貼り、「この書き方で」と伝える</a:t>
            </a:r>
            <a:endParaRPr>
              <a:solidFill>
                <a:srgbClr val="444444"/>
              </a:solidFill>
              <a:latin typeface="Meiryo"/>
              <a:ea typeface="Meiryo"/>
              <a:cs typeface="Meiryo"/>
              <a:sym typeface="Meiryo"/>
            </a:endParaRPr>
          </a:p>
          <a:p>
            <a:pPr indent="0" lvl="0" marL="0" marR="0" rtl="0" algn="l">
              <a:lnSpc>
                <a:spcPct val="100000"/>
              </a:lnSpc>
              <a:spcBef>
                <a:spcPts val="0"/>
              </a:spcBef>
              <a:spcAft>
                <a:spcPts val="0"/>
              </a:spcAft>
              <a:buClr>
                <a:srgbClr val="444444"/>
              </a:buClr>
              <a:buSzPts val="1050"/>
              <a:buFont typeface="Meiryo"/>
              <a:buNone/>
            </a:pPr>
            <a:r>
              <a:t/>
            </a:r>
            <a:endParaRPr>
              <a:solidFill>
                <a:srgbClr val="444444"/>
              </a:solidFill>
              <a:latin typeface="Meiryo"/>
              <a:ea typeface="Meiryo"/>
              <a:cs typeface="Meiryo"/>
              <a:sym typeface="Meiryo"/>
            </a:endParaRPr>
          </a:p>
        </p:txBody>
      </p:sp>
      <p:sp>
        <p:nvSpPr>
          <p:cNvPr id="626" name="Google Shape;626;p21"/>
          <p:cNvSpPr/>
          <p:nvPr/>
        </p:nvSpPr>
        <p:spPr>
          <a:xfrm>
            <a:off x="411475" y="3825988"/>
            <a:ext cx="8441700" cy="7881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1"/>
          <p:cNvSpPr/>
          <p:nvPr/>
        </p:nvSpPr>
        <p:spPr>
          <a:xfrm>
            <a:off x="594350" y="4008873"/>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8" name="Google Shape;628;p21"/>
          <p:cNvPicPr preferRelativeResize="0"/>
          <p:nvPr/>
        </p:nvPicPr>
        <p:blipFill rotWithShape="1">
          <a:blip r:embed="rId6">
            <a:alphaModFix/>
          </a:blip>
          <a:srcRect b="0" l="0" r="0" t="0"/>
          <a:stretch/>
        </p:blipFill>
        <p:spPr>
          <a:xfrm>
            <a:off x="715051" y="4129574"/>
            <a:ext cx="307238" cy="307238"/>
          </a:xfrm>
          <a:prstGeom prst="rect">
            <a:avLst/>
          </a:prstGeom>
          <a:noFill/>
          <a:ln>
            <a:noFill/>
          </a:ln>
        </p:spPr>
      </p:pic>
      <p:sp>
        <p:nvSpPr>
          <p:cNvPr id="629" name="Google Shape;629;p21"/>
          <p:cNvSpPr txBox="1"/>
          <p:nvPr/>
        </p:nvSpPr>
        <p:spPr>
          <a:xfrm>
            <a:off x="1280150" y="4008873"/>
            <a:ext cx="1371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制約</a:t>
            </a:r>
            <a:endParaRPr b="0" i="0" sz="1800" u="none" cap="none" strike="noStrike">
              <a:solidFill>
                <a:schemeClr val="dk1"/>
              </a:solidFill>
              <a:latin typeface="Calibri"/>
              <a:ea typeface="Calibri"/>
              <a:cs typeface="Calibri"/>
              <a:sym typeface="Calibri"/>
            </a:endParaRPr>
          </a:p>
        </p:txBody>
      </p:sp>
      <p:sp>
        <p:nvSpPr>
          <p:cNvPr id="630" name="Google Shape;630;p21"/>
          <p:cNvSpPr txBox="1"/>
          <p:nvPr/>
        </p:nvSpPr>
        <p:spPr>
          <a:xfrm>
            <a:off x="1828900" y="4051146"/>
            <a:ext cx="306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守ってほしいルール・避けたいこと</a:t>
            </a:r>
            <a:endParaRPr b="0" i="0" sz="1250" u="none" cap="none" strike="noStrike">
              <a:solidFill>
                <a:schemeClr val="dk1"/>
              </a:solidFill>
              <a:latin typeface="Calibri"/>
              <a:ea typeface="Calibri"/>
              <a:cs typeface="Calibri"/>
              <a:sym typeface="Calibri"/>
            </a:endParaRPr>
          </a:p>
        </p:txBody>
      </p:sp>
      <p:sp>
        <p:nvSpPr>
          <p:cNvPr id="631" name="Google Shape;631;p21"/>
          <p:cNvSpPr txBox="1"/>
          <p:nvPr/>
        </p:nvSpPr>
        <p:spPr>
          <a:xfrm>
            <a:off x="1280150" y="4307551"/>
            <a:ext cx="5807700" cy="30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050"/>
              <a:buFont typeface="Meiryo"/>
              <a:buNone/>
            </a:pPr>
            <a:r>
              <a:rPr lang="en-US">
                <a:solidFill>
                  <a:srgbClr val="444444"/>
                </a:solidFill>
                <a:latin typeface="Meiryo"/>
                <a:ea typeface="Meiryo"/>
                <a:cs typeface="Meiryo"/>
                <a:sym typeface="Meiryo"/>
              </a:rPr>
              <a:t>例）査定額には触れない／ルールにないことは書かない</a:t>
            </a:r>
            <a:endParaRPr>
              <a:solidFill>
                <a:srgbClr val="444444"/>
              </a:solidFill>
              <a:latin typeface="Meiryo"/>
              <a:ea typeface="Meiryo"/>
              <a:cs typeface="Meiryo"/>
              <a:sym typeface="Meiryo"/>
            </a:endParaRPr>
          </a:p>
          <a:p>
            <a:pPr indent="0" lvl="0" marL="0" marR="0" rtl="0" algn="l">
              <a:lnSpc>
                <a:spcPct val="100000"/>
              </a:lnSpc>
              <a:spcBef>
                <a:spcPts val="0"/>
              </a:spcBef>
              <a:spcAft>
                <a:spcPts val="0"/>
              </a:spcAft>
              <a:buClr>
                <a:srgbClr val="444444"/>
              </a:buClr>
              <a:buSzPts val="1050"/>
              <a:buFont typeface="Meiryo"/>
              <a:buNone/>
            </a:pPr>
            <a:r>
              <a:t/>
            </a:r>
            <a:endParaRPr>
              <a:solidFill>
                <a:srgbClr val="444444"/>
              </a:solidFill>
              <a:latin typeface="Meiryo"/>
              <a:ea typeface="Meiryo"/>
              <a:cs typeface="Meiryo"/>
              <a:sym typeface="Meiryo"/>
            </a:endParaRPr>
          </a:p>
        </p:txBody>
      </p:sp>
      <p:sp>
        <p:nvSpPr>
          <p:cNvPr id="632" name="Google Shape;632;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22"/>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アウトプットの指定</a:t>
            </a:r>
            <a:endParaRPr b="0" i="0" sz="2200" u="none" cap="none" strike="noStrike">
              <a:solidFill>
                <a:schemeClr val="dk1"/>
              </a:solidFill>
              <a:latin typeface="Calibri"/>
              <a:ea typeface="Calibri"/>
              <a:cs typeface="Calibri"/>
              <a:sym typeface="Calibri"/>
            </a:endParaRPr>
          </a:p>
        </p:txBody>
      </p:sp>
      <p:sp>
        <p:nvSpPr>
          <p:cNvPr id="639" name="Google Shape;639;p22"/>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640" name="Google Shape;640;p22"/>
          <p:cNvSpPr/>
          <p:nvPr/>
        </p:nvSpPr>
        <p:spPr>
          <a:xfrm>
            <a:off x="411480" y="1539920"/>
            <a:ext cx="2606040" cy="21489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2"/>
          <p:cNvSpPr/>
          <p:nvPr/>
        </p:nvSpPr>
        <p:spPr>
          <a:xfrm>
            <a:off x="594360" y="1677080"/>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2" name="Google Shape;642;p22"/>
          <p:cNvPicPr preferRelativeResize="0"/>
          <p:nvPr/>
        </p:nvPicPr>
        <p:blipFill rotWithShape="1">
          <a:blip r:embed="rId3">
            <a:alphaModFix/>
          </a:blip>
          <a:srcRect b="0" l="0" r="0" t="0"/>
          <a:stretch/>
        </p:blipFill>
        <p:spPr>
          <a:xfrm>
            <a:off x="722376" y="1797781"/>
            <a:ext cx="307238" cy="307238"/>
          </a:xfrm>
          <a:prstGeom prst="rect">
            <a:avLst/>
          </a:prstGeom>
          <a:noFill/>
          <a:ln>
            <a:noFill/>
          </a:ln>
        </p:spPr>
      </p:pic>
      <p:sp>
        <p:nvSpPr>
          <p:cNvPr id="643" name="Google Shape;643;p22"/>
          <p:cNvSpPr txBox="1"/>
          <p:nvPr/>
        </p:nvSpPr>
        <p:spPr>
          <a:xfrm>
            <a:off x="1280160" y="1695368"/>
            <a:ext cx="164592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形式</a:t>
            </a:r>
            <a:endParaRPr b="0" i="0" sz="1800" u="none" cap="none" strike="noStrike">
              <a:solidFill>
                <a:schemeClr val="dk1"/>
              </a:solidFill>
              <a:latin typeface="Calibri"/>
              <a:ea typeface="Calibri"/>
              <a:cs typeface="Calibri"/>
              <a:sym typeface="Calibri"/>
            </a:endParaRPr>
          </a:p>
        </p:txBody>
      </p:sp>
      <p:sp>
        <p:nvSpPr>
          <p:cNvPr id="644" name="Google Shape;644;p22"/>
          <p:cNvSpPr txBox="1"/>
          <p:nvPr/>
        </p:nvSpPr>
        <p:spPr>
          <a:xfrm>
            <a:off x="1280160" y="2042840"/>
            <a:ext cx="169164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どんな形で欲しいか</a:t>
            </a:r>
            <a:endParaRPr b="0" i="0" sz="1150" u="none" cap="none" strike="noStrike">
              <a:solidFill>
                <a:schemeClr val="dk1"/>
              </a:solidFill>
              <a:latin typeface="Calibri"/>
              <a:ea typeface="Calibri"/>
              <a:cs typeface="Calibri"/>
              <a:sym typeface="Calibri"/>
            </a:endParaRPr>
          </a:p>
        </p:txBody>
      </p:sp>
      <p:sp>
        <p:nvSpPr>
          <p:cNvPr id="645" name="Google Shape;645;p22"/>
          <p:cNvSpPr txBox="1"/>
          <p:nvPr/>
        </p:nvSpPr>
        <p:spPr>
          <a:xfrm>
            <a:off x="612648" y="2454320"/>
            <a:ext cx="2331720" cy="11430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22222"/>
              </a:buClr>
              <a:buSzPts val="1200"/>
              <a:buFont typeface="Meiryo"/>
              <a:buChar char="•"/>
            </a:pPr>
            <a:r>
              <a:rPr b="0" i="0" lang="en-US" sz="1100" u="none" cap="none" strike="noStrike">
                <a:solidFill>
                  <a:srgbClr val="222222"/>
                </a:solidFill>
                <a:latin typeface="Meiryo"/>
                <a:ea typeface="Meiryo"/>
                <a:cs typeface="Meiryo"/>
                <a:sym typeface="Meiryo"/>
              </a:rPr>
              <a:t>表／箇条書き／文章／画像</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400"/>
              </a:spcBef>
              <a:spcAft>
                <a:spcPts val="0"/>
              </a:spcAft>
              <a:buClr>
                <a:srgbClr val="222222"/>
              </a:buClr>
              <a:buSzPts val="1200"/>
              <a:buFont typeface="Meiryo"/>
              <a:buChar char="•"/>
            </a:pPr>
            <a:r>
              <a:rPr b="0" i="0" lang="en-US" sz="1100" u="none" cap="none" strike="noStrike">
                <a:solidFill>
                  <a:srgbClr val="222222"/>
                </a:solidFill>
                <a:latin typeface="Meiryo"/>
                <a:ea typeface="Meiryo"/>
                <a:cs typeface="Meiryo"/>
                <a:sym typeface="Meiryo"/>
              </a:rPr>
              <a:t>LINEにそのまま貼れる文章で</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400"/>
              </a:spcBef>
              <a:spcAft>
                <a:spcPts val="0"/>
              </a:spcAft>
              <a:buClr>
                <a:srgbClr val="222222"/>
              </a:buClr>
              <a:buSzPts val="1200"/>
              <a:buFont typeface="Meiryo"/>
              <a:buChar char="•"/>
            </a:pPr>
            <a:r>
              <a:rPr b="0" i="0" lang="en-US" sz="1100" u="none" cap="none" strike="noStrike">
                <a:solidFill>
                  <a:srgbClr val="222222"/>
                </a:solidFill>
                <a:latin typeface="Meiryo"/>
                <a:ea typeface="Meiryo"/>
                <a:cs typeface="Meiryo"/>
                <a:sym typeface="Meiryo"/>
              </a:rPr>
              <a:t>見出し・本文・注意書きに分けて</a:t>
            </a:r>
            <a:endParaRPr b="0" i="0" sz="1200" u="none" cap="none" strike="noStrike">
              <a:solidFill>
                <a:schemeClr val="dk1"/>
              </a:solidFill>
              <a:latin typeface="Calibri"/>
              <a:ea typeface="Calibri"/>
              <a:cs typeface="Calibri"/>
              <a:sym typeface="Calibri"/>
            </a:endParaRPr>
          </a:p>
        </p:txBody>
      </p:sp>
      <p:sp>
        <p:nvSpPr>
          <p:cNvPr id="646" name="Google Shape;646;p22"/>
          <p:cNvSpPr/>
          <p:nvPr/>
        </p:nvSpPr>
        <p:spPr>
          <a:xfrm>
            <a:off x="3246120" y="1539920"/>
            <a:ext cx="2606040" cy="21489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22"/>
          <p:cNvSpPr/>
          <p:nvPr/>
        </p:nvSpPr>
        <p:spPr>
          <a:xfrm>
            <a:off x="3429000" y="1677080"/>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8" name="Google Shape;648;p22"/>
          <p:cNvPicPr preferRelativeResize="0"/>
          <p:nvPr/>
        </p:nvPicPr>
        <p:blipFill rotWithShape="1">
          <a:blip r:embed="rId4">
            <a:alphaModFix/>
          </a:blip>
          <a:srcRect b="0" l="0" r="0" t="0"/>
          <a:stretch/>
        </p:blipFill>
        <p:spPr>
          <a:xfrm>
            <a:off x="3557016" y="1797781"/>
            <a:ext cx="307238" cy="307238"/>
          </a:xfrm>
          <a:prstGeom prst="rect">
            <a:avLst/>
          </a:prstGeom>
          <a:noFill/>
          <a:ln>
            <a:noFill/>
          </a:ln>
        </p:spPr>
      </p:pic>
      <p:sp>
        <p:nvSpPr>
          <p:cNvPr id="649" name="Google Shape;649;p22"/>
          <p:cNvSpPr txBox="1"/>
          <p:nvPr/>
        </p:nvSpPr>
        <p:spPr>
          <a:xfrm>
            <a:off x="4114800" y="1695368"/>
            <a:ext cx="164592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用途</a:t>
            </a:r>
            <a:endParaRPr b="0" i="0" sz="1800" u="none" cap="none" strike="noStrike">
              <a:solidFill>
                <a:schemeClr val="dk1"/>
              </a:solidFill>
              <a:latin typeface="Calibri"/>
              <a:ea typeface="Calibri"/>
              <a:cs typeface="Calibri"/>
              <a:sym typeface="Calibri"/>
            </a:endParaRPr>
          </a:p>
        </p:txBody>
      </p:sp>
      <p:sp>
        <p:nvSpPr>
          <p:cNvPr id="650" name="Google Shape;650;p22"/>
          <p:cNvSpPr txBox="1"/>
          <p:nvPr/>
        </p:nvSpPr>
        <p:spPr>
          <a:xfrm>
            <a:off x="4114800" y="2042840"/>
            <a:ext cx="169164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どこで・誰が使うか</a:t>
            </a:r>
            <a:endParaRPr b="0" i="0" sz="1150" u="none" cap="none" strike="noStrike">
              <a:solidFill>
                <a:schemeClr val="dk1"/>
              </a:solidFill>
              <a:latin typeface="Calibri"/>
              <a:ea typeface="Calibri"/>
              <a:cs typeface="Calibri"/>
              <a:sym typeface="Calibri"/>
            </a:endParaRPr>
          </a:p>
        </p:txBody>
      </p:sp>
      <p:sp>
        <p:nvSpPr>
          <p:cNvPr id="651" name="Google Shape;651;p22"/>
          <p:cNvSpPr txBox="1"/>
          <p:nvPr/>
        </p:nvSpPr>
        <p:spPr>
          <a:xfrm>
            <a:off x="3447288" y="2454320"/>
            <a:ext cx="2331720" cy="11430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お客様への返信に使う</a:t>
            </a:r>
            <a:endParaRPr sz="1200">
              <a:solidFill>
                <a:srgbClr val="222222"/>
              </a:solidFill>
              <a:latin typeface="Meiryo"/>
              <a:ea typeface="Meiryo"/>
              <a:cs typeface="Meiryo"/>
              <a:sym typeface="Meiryo"/>
            </a:endParaRPr>
          </a:p>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印刷して店頭に貼る</a:t>
            </a:r>
            <a:endParaRPr sz="1200">
              <a:solidFill>
                <a:srgbClr val="222222"/>
              </a:solidFill>
              <a:latin typeface="Meiryo"/>
              <a:ea typeface="Meiryo"/>
              <a:cs typeface="Meiryo"/>
              <a:sym typeface="Meiryo"/>
            </a:endParaRPr>
          </a:p>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SNSに投稿する</a:t>
            </a:r>
            <a:endParaRPr sz="1200">
              <a:solidFill>
                <a:srgbClr val="222222"/>
              </a:solidFill>
              <a:latin typeface="Meiryo"/>
              <a:ea typeface="Meiryo"/>
              <a:cs typeface="Meiryo"/>
              <a:sym typeface="Meiryo"/>
            </a:endParaRPr>
          </a:p>
          <a:p>
            <a:pPr indent="0" lvl="0" marL="0" marR="0" rtl="0" algn="l">
              <a:lnSpc>
                <a:spcPct val="100000"/>
              </a:lnSpc>
              <a:spcBef>
                <a:spcPts val="400"/>
              </a:spcBef>
              <a:spcAft>
                <a:spcPts val="0"/>
              </a:spcAft>
              <a:buNone/>
            </a:pPr>
            <a:r>
              <a:t/>
            </a:r>
            <a:endParaRPr sz="1200">
              <a:solidFill>
                <a:srgbClr val="222222"/>
              </a:solidFill>
              <a:latin typeface="Meiryo"/>
              <a:ea typeface="Meiryo"/>
              <a:cs typeface="Meiryo"/>
              <a:sym typeface="Meiryo"/>
            </a:endParaRPr>
          </a:p>
        </p:txBody>
      </p:sp>
      <p:sp>
        <p:nvSpPr>
          <p:cNvPr id="652" name="Google Shape;652;p22"/>
          <p:cNvSpPr txBox="1"/>
          <p:nvPr/>
        </p:nvSpPr>
        <p:spPr>
          <a:xfrm>
            <a:off x="467983" y="868243"/>
            <a:ext cx="4687500" cy="43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787"/>
              <a:buFont typeface="Meiryo"/>
              <a:buNone/>
            </a:pPr>
            <a:r>
              <a:rPr b="1" lang="en-US" sz="1787">
                <a:solidFill>
                  <a:srgbClr val="1F3A5F"/>
                </a:solidFill>
                <a:latin typeface="Meiryo"/>
                <a:ea typeface="Meiryo"/>
                <a:cs typeface="Meiryo"/>
                <a:sym typeface="Meiryo"/>
              </a:rPr>
              <a:t>欲しい形で返してもらうためのコツ</a:t>
            </a:r>
            <a:endParaRPr b="0" i="0" sz="1787" u="none" cap="none" strike="noStrike">
              <a:solidFill>
                <a:schemeClr val="dk1"/>
              </a:solidFill>
              <a:latin typeface="Calibri"/>
              <a:ea typeface="Calibri"/>
              <a:cs typeface="Calibri"/>
              <a:sym typeface="Calibri"/>
            </a:endParaRPr>
          </a:p>
        </p:txBody>
      </p:sp>
      <p:sp>
        <p:nvSpPr>
          <p:cNvPr id="653" name="Google Shape;653;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654" name="Google Shape;646;p22"/>
          <p:cNvSpPr/>
          <p:nvPr/>
        </p:nvSpPr>
        <p:spPr>
          <a:xfrm>
            <a:off x="6080760" y="1539920"/>
            <a:ext cx="2606040" cy="21489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47;p22"/>
          <p:cNvSpPr/>
          <p:nvPr/>
        </p:nvSpPr>
        <p:spPr>
          <a:xfrm>
            <a:off x="6263640" y="1677080"/>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6" name="Google Shape;648;p22"/>
          <p:cNvPicPr preferRelativeResize="0"/>
          <p:nvPr/>
        </p:nvPicPr>
        <p:blipFill rotWithShape="1">
          <a:blip r:embed="rId5">
            <a:alphaModFix/>
          </a:blip>
          <a:srcRect b="0" l="0" r="0" t="0"/>
          <a:stretch/>
        </p:blipFill>
        <p:spPr>
          <a:xfrm>
            <a:off x="6391656" y="1797781"/>
            <a:ext cx="307238" cy="307238"/>
          </a:xfrm>
          <a:prstGeom prst="rect">
            <a:avLst/>
          </a:prstGeom>
          <a:noFill/>
          <a:ln>
            <a:noFill/>
          </a:ln>
        </p:spPr>
      </p:pic>
      <p:sp>
        <p:nvSpPr>
          <p:cNvPr id="657" name="Google Shape;649;p22"/>
          <p:cNvSpPr txBox="1"/>
          <p:nvPr/>
        </p:nvSpPr>
        <p:spPr>
          <a:xfrm>
            <a:off x="6949440" y="1695368"/>
            <a:ext cx="164592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案の数</a:t>
            </a:r>
            <a:endParaRPr b="0" i="0" sz="1800" u="none" cap="none" strike="noStrike">
              <a:solidFill>
                <a:schemeClr val="dk1"/>
              </a:solidFill>
              <a:latin typeface="Calibri"/>
              <a:ea typeface="Calibri"/>
              <a:cs typeface="Calibri"/>
              <a:sym typeface="Calibri"/>
            </a:endParaRPr>
          </a:p>
        </p:txBody>
      </p:sp>
      <p:sp>
        <p:nvSpPr>
          <p:cNvPr id="658" name="Google Shape;650;p22"/>
          <p:cNvSpPr txBox="1"/>
          <p:nvPr/>
        </p:nvSpPr>
        <p:spPr>
          <a:xfrm>
            <a:off x="6949440" y="2042840"/>
            <a:ext cx="169164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いくつ出してほしいか</a:t>
            </a:r>
            <a:endParaRPr b="0" i="0" sz="1150" u="none" cap="none" strike="noStrike">
              <a:solidFill>
                <a:schemeClr val="dk1"/>
              </a:solidFill>
              <a:latin typeface="Calibri"/>
              <a:ea typeface="Calibri"/>
              <a:cs typeface="Calibri"/>
              <a:sym typeface="Calibri"/>
            </a:endParaRPr>
          </a:p>
        </p:txBody>
      </p:sp>
      <p:sp>
        <p:nvSpPr>
          <p:cNvPr id="659" name="Google Shape;651;p22"/>
          <p:cNvSpPr txBox="1"/>
          <p:nvPr/>
        </p:nvSpPr>
        <p:spPr>
          <a:xfrm>
            <a:off x="6281928" y="2454320"/>
            <a:ext cx="2331720" cy="11430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1案だけ／3案出して比べる</a:t>
            </a:r>
            <a:endParaRPr sz="1200">
              <a:solidFill>
                <a:srgbClr val="222222"/>
              </a:solidFill>
              <a:latin typeface="Meiryo"/>
              <a:ea typeface="Meiryo"/>
              <a:cs typeface="Meiryo"/>
              <a:sym typeface="Meiryo"/>
            </a:endParaRPr>
          </a:p>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違う切り口で3案</a:t>
            </a:r>
            <a:endParaRPr sz="1200">
              <a:solidFill>
                <a:srgbClr val="222222"/>
              </a:solidFill>
              <a:latin typeface="Meiryo"/>
              <a:ea typeface="Meiryo"/>
              <a:cs typeface="Meiryo"/>
              <a:sym typeface="Meiryo"/>
            </a:endParaRPr>
          </a:p>
          <a:p>
            <a:pPr indent="-177800" lvl="0" marL="177800" marR="0" rtl="0" algn="l">
              <a:lnSpc>
                <a:spcPct val="100000"/>
              </a:lnSpc>
              <a:spcBef>
                <a:spcPts val="400"/>
              </a:spcBef>
              <a:spcAft>
                <a:spcPts val="0"/>
              </a:spcAft>
              <a:buClr>
                <a:srgbClr val="222222"/>
              </a:buClr>
              <a:buSzPts val="1200"/>
              <a:buFont typeface="Meiryo"/>
              <a:buChar char="•"/>
            </a:pPr>
            <a:r>
              <a:rPr lang="en-US" sz="1100">
                <a:solidFill>
                  <a:srgbClr val="222222"/>
                </a:solidFill>
                <a:latin typeface="Meiryo"/>
                <a:ea typeface="Meiryo"/>
                <a:cs typeface="Meiryo"/>
                <a:sym typeface="Meiryo"/>
              </a:rPr>
              <a:t>いちばん良い案を選んで直す</a:t>
            </a:r>
            <a:endParaRPr sz="1200">
              <a:solidFill>
                <a:srgbClr val="222222"/>
              </a:solidFill>
              <a:latin typeface="Meiryo"/>
              <a:ea typeface="Meiryo"/>
              <a:cs typeface="Meiryo"/>
              <a:sym typeface="Meiry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h259926ce4e4d5a8f_0_673"/>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情報を足したプロンプト</a:t>
            </a:r>
            <a:endParaRPr b="0" i="0" sz="2200" u="none" cap="none" strike="noStrike">
              <a:solidFill>
                <a:schemeClr val="dk1"/>
              </a:solidFill>
              <a:latin typeface="Calibri"/>
              <a:ea typeface="Calibri"/>
              <a:cs typeface="Calibri"/>
              <a:sym typeface="Calibri"/>
            </a:endParaRPr>
          </a:p>
        </p:txBody>
      </p:sp>
      <p:sp>
        <p:nvSpPr>
          <p:cNvPr id="660" name="Google Shape;660;h259926ce4e4d5a8f_0_673"/>
          <p:cNvSpPr/>
          <p:nvPr/>
        </p:nvSpPr>
        <p:spPr>
          <a:xfrm>
            <a:off x="6949440" y="301752"/>
            <a:ext cx="1783200" cy="411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h259926ce4e4d5a8f_0_673"/>
          <p:cNvSpPr txBox="1"/>
          <p:nvPr/>
        </p:nvSpPr>
        <p:spPr>
          <a:xfrm>
            <a:off x="6949440" y="310727"/>
            <a:ext cx="1783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chemeClr val="dk1"/>
              </a:solidFill>
              <a:latin typeface="Calibri"/>
              <a:ea typeface="Calibri"/>
              <a:cs typeface="Calibri"/>
              <a:sym typeface="Calibri"/>
            </a:endParaRPr>
          </a:p>
        </p:txBody>
      </p:sp>
      <p:sp>
        <p:nvSpPr>
          <p:cNvPr id="662" name="Google Shape;662;h259926ce4e4d5a8f_0_673"/>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663" name="Slide Number 6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664" name="Google Shape;664;h259926ce4e4d5a8f_0_673"/>
          <p:cNvSpPr txBox="1"/>
          <p:nvPr/>
        </p:nvSpPr>
        <p:spPr>
          <a:xfrm>
            <a:off x="393192" y="868680"/>
            <a:ext cx="914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(例)</a:t>
            </a:r>
            <a:endParaRPr b="0" i="0" sz="1000" u="none" cap="none" strike="noStrike">
              <a:solidFill>
                <a:schemeClr val="dk1"/>
              </a:solidFill>
              <a:latin typeface="Calibri"/>
              <a:ea typeface="Calibri"/>
              <a:cs typeface="Calibri"/>
              <a:sym typeface="Calibri"/>
            </a:endParaRPr>
          </a:p>
        </p:txBody>
      </p:sp>
      <p:sp>
        <p:nvSpPr>
          <p:cNvPr id="665" name="Google Shape;665;h259926ce4e4d5a8f_0_673"/>
          <p:cNvSpPr/>
          <p:nvPr/>
        </p:nvSpPr>
        <p:spPr>
          <a:xfrm>
            <a:off x="411480" y="1115568"/>
            <a:ext cx="8321100" cy="333750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h259926ce4e4d5a8f_0_673"/>
          <p:cNvSpPr txBox="1"/>
          <p:nvPr/>
        </p:nvSpPr>
        <p:spPr>
          <a:xfrm>
            <a:off x="640080" y="1252728"/>
            <a:ext cx="7863900" cy="3108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400"/>
              </a:spcBef>
              <a:spcAft>
                <a:spcPts val="0"/>
              </a:spcAft>
              <a:buClr>
                <a:srgbClr val="1F3A5F"/>
              </a:buClr>
              <a:buSzPts val="1200"/>
              <a:buFont typeface="Meiryo"/>
              <a:buNone/>
            </a:pPr>
            <a:r>
              <a:rPr lang="en-US" sz="1100">
                <a:solidFill>
                  <a:srgbClr val="222222"/>
                </a:solidFill>
                <a:latin typeface="Meiryo"/>
                <a:ea typeface="Meiryo"/>
                <a:cs typeface="Meiryo"/>
                <a:sym typeface="Meiryo"/>
              </a:rPr>
              <a:t>あなたは中古ホビーショップの店舗スタッフです。</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chemeClr val="accent2"/>
                </a:solidFill>
                <a:latin typeface="Meiryo"/>
                <a:ea typeface="Meiryo"/>
                <a:cs typeface="Meiryo"/>
                <a:sym typeface="Meiryo"/>
              </a:rPr>
              <a:t>【前提】</a:t>
            </a:r>
            <a:r>
              <a:rPr lang="en-US" sz="1100">
                <a:solidFill>
                  <a:srgbClr val="222222"/>
                </a:solidFill>
                <a:latin typeface="Meiryo"/>
                <a:ea typeface="Meiryo"/>
                <a:cs typeface="Meiryo"/>
                <a:sym typeface="Meiryo"/>
              </a:rPr>
              <a:t>お客様からLINEで買取の問い合わせが届きました。今日中に返信します。</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chemeClr val="accent2"/>
                </a:solidFill>
                <a:latin typeface="Meiryo"/>
                <a:ea typeface="Meiryo"/>
                <a:cs typeface="Meiryo"/>
                <a:sym typeface="Meiryo"/>
              </a:rPr>
              <a:t>【素材】</a:t>
            </a:r>
            <a:r>
              <a:rPr lang="en-US" sz="1100">
                <a:solidFill>
                  <a:srgbClr val="222222"/>
                </a:solidFill>
                <a:latin typeface="Meiryo"/>
                <a:ea typeface="Meiryo"/>
                <a:cs typeface="Meiryo"/>
                <a:sym typeface="Meiryo"/>
              </a:rPr>
              <a:t>お客様のメッセージと、当店の買取ルールを貼ります。</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rgbClr val="222222"/>
                </a:solidFill>
                <a:latin typeface="Meiryo"/>
                <a:ea typeface="Meiryo"/>
                <a:cs typeface="Meiryo"/>
                <a:sym typeface="Meiryo"/>
              </a:rPr>
              <a:t>　　お客様：「ポケモンカードを100枚くらい売りたいのですが、スリーブに入れたままでも大丈夫ですか？</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rgbClr val="222222"/>
                </a:solidFill>
                <a:latin typeface="Meiryo"/>
                <a:ea typeface="Meiryo"/>
                <a:cs typeface="Meiryo"/>
                <a:sym typeface="Meiryo"/>
              </a:rPr>
              <a:t>　　　　　　予約は必要でしょうか。土曜の午後に行けそうです。」</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rgbClr val="222222"/>
                </a:solidFill>
                <a:latin typeface="Meiryo"/>
                <a:ea typeface="Meiryo"/>
                <a:cs typeface="Meiryo"/>
                <a:sym typeface="Meiryo"/>
              </a:rPr>
              <a:t>　　当店のルール：予約不要／スリーブのままOK／100枚以上は査定30分〜1時間／本人確認書類が必要 など</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chemeClr val="accent2"/>
                </a:solidFill>
                <a:latin typeface="Meiryo"/>
                <a:ea typeface="Meiryo"/>
                <a:cs typeface="Meiryo"/>
                <a:sym typeface="Meiryo"/>
              </a:rPr>
              <a:t>【お手本】</a:t>
            </a:r>
            <a:r>
              <a:rPr lang="en-US" sz="1100">
                <a:solidFill>
                  <a:srgbClr val="222222"/>
                </a:solidFill>
                <a:latin typeface="Meiryo"/>
                <a:ea typeface="Meiryo"/>
                <a:cs typeface="Meiryo"/>
                <a:sym typeface="Meiryo"/>
              </a:rPr>
              <a:t>以前の返信の例も貼ります。書き出しとトーンを合わせてください。</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chemeClr val="accent2"/>
                </a:solidFill>
                <a:latin typeface="Meiryo"/>
                <a:ea typeface="Meiryo"/>
                <a:cs typeface="Meiryo"/>
                <a:sym typeface="Meiryo"/>
              </a:rPr>
              <a:t>【制約】</a:t>
            </a:r>
            <a:r>
              <a:rPr lang="en-US" sz="1100">
                <a:solidFill>
                  <a:srgbClr val="222222"/>
                </a:solidFill>
                <a:latin typeface="Meiryo"/>
                <a:ea typeface="Meiryo"/>
                <a:cs typeface="Meiryo"/>
                <a:sym typeface="Meiryo"/>
              </a:rPr>
              <a:t>査定額には触れない。ルールにないことは書かない。200字程度の、やわらかい丁寧語で。</a:t>
            </a:r>
            <a:endParaRPr sz="1100">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1F3A5F"/>
              </a:buClr>
              <a:buSzPts val="1200"/>
              <a:buFont typeface="Meiryo"/>
              <a:buNone/>
            </a:pPr>
            <a:r>
              <a:rPr lang="en-US" sz="1100">
                <a:solidFill>
                  <a:schemeClr val="accent2"/>
                </a:solidFill>
                <a:latin typeface="Meiryo"/>
                <a:ea typeface="Meiryo"/>
                <a:cs typeface="Meiryo"/>
                <a:sym typeface="Meiryo"/>
              </a:rPr>
              <a:t>【出力】</a:t>
            </a:r>
            <a:r>
              <a:rPr lang="en-US" sz="1100">
                <a:solidFill>
                  <a:srgbClr val="222222"/>
                </a:solidFill>
                <a:latin typeface="Meiryo"/>
                <a:ea typeface="Meiryo"/>
                <a:cs typeface="Meiryo"/>
                <a:sym typeface="Meiryo"/>
              </a:rPr>
              <a:t>LINEにそのまま貼って送れる返信文を1つ作ってください。</a:t>
            </a:r>
            <a:endParaRPr sz="1100">
              <a:solidFill>
                <a:srgbClr val="222222"/>
              </a:solidFill>
              <a:latin typeface="Meiryo"/>
              <a:ea typeface="Meiryo"/>
              <a:cs typeface="Meiryo"/>
              <a:sym typeface="Meiry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h603855749043a6f2_0_1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674" name="Google Shape;674;h603855749043a6f2_0_124"/>
          <p:cNvSpPr txBox="1"/>
          <p:nvPr/>
        </p:nvSpPr>
        <p:spPr>
          <a:xfrm>
            <a:off x="411455" y="17537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出力例：情報を足した場合</a:t>
            </a:r>
            <a:endParaRPr b="0" i="0" sz="2200" u="none" cap="none" strike="noStrike">
              <a:solidFill>
                <a:schemeClr val="dk1"/>
              </a:solidFill>
              <a:latin typeface="Calibri"/>
              <a:ea typeface="Calibri"/>
              <a:cs typeface="Calibri"/>
              <a:sym typeface="Calibri"/>
            </a:endParaRPr>
          </a:p>
        </p:txBody>
      </p:sp>
      <p:sp>
        <p:nvSpPr>
          <p:cNvPr id="675" name="Label 675"/>
          <p:cNvSpPr txBox="1"/>
          <p:nvPr/>
        </p:nvSpPr>
        <p:spPr>
          <a:xfrm>
            <a:off x="411480" y="82296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100" b="1">
                <a:solidFill>
                  <a:srgbClr val="6B7280"/>
                </a:solidFill>
                <a:latin typeface="Meiryo"/>
                <a:ea typeface="Meiryo"/>
                <a:cs typeface="Meiryo"/>
                <a:sym typeface="Meiryo"/>
              </a:rPr>
              <a:t>AIの返答</a:t>
            </a:r>
            <a:endParaRPr lang="ja-JP" sz="1100" b="1">
              <a:solidFill>
                <a:srgbClr val="6B7280"/>
              </a:solidFill>
              <a:latin typeface="Meiryo"/>
              <a:ea typeface="Meiryo"/>
              <a:cs typeface="Meiryo"/>
              <a:sym typeface="Meiryo"/>
            </a:endParaRPr>
          </a:p>
        </p:txBody>
      </p:sp>
      <p:sp>
        <p:nvSpPr>
          <p:cNvPr id="676" name="Reply Box 676"/>
          <p:cNvSpPr/>
          <p:nvPr/>
        </p:nvSpPr>
        <p:spPr>
          <a:xfrm>
            <a:off x="411480" y="1152144"/>
            <a:ext cx="8321040" cy="2377440"/>
          </a:xfrm>
          <a:prstGeom prst="roundRect">
            <a:avLst/>
          </a:prstGeom>
          <a:solidFill>
            <a:srgbClr val="F6F7F9"/>
          </a:solidFill>
          <a:ln>
            <a:noFill/>
          </a:ln>
        </p:spPr>
      </p:sp>
      <p:sp>
        <p:nvSpPr>
          <p:cNvPr id="677" name="Reply Text 677"/>
          <p:cNvSpPr txBox="1"/>
          <p:nvPr/>
        </p:nvSpPr>
        <p:spPr>
          <a:xfrm>
            <a:off x="685800" y="1280160"/>
            <a:ext cx="7772400" cy="21214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lang="ja-JP" sz="1300" b="0">
                <a:solidFill>
                  <a:srgbClr val="222222"/>
                </a:solidFill>
                <a:latin typeface="Meiryo"/>
                <a:ea typeface="Meiryo"/>
                <a:cs typeface="Meiryo"/>
                <a:sym typeface="Meiryo"/>
              </a:rPr>
              <a:t>お問い合わせありがとうございます。〇〇店の山田です。</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ポケモンカードの買取についてですね。スリーブに入れたままお持ちいただいて大丈夫です。予約も不要ですので、営業時間中にお越しください。</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100枚ほどですと、査定に30分〜1時間ほどかかります。本人確認書類（運転免許証など）をお持ちください。18歳未満の方は、保護者の同意書も必要です。</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土曜の午後は混み合いますので、お時間に余裕をもってお越しください。</a:t>
            </a:r>
            <a:br>
              <a:rPr lang="ja-JP" sz="1300" b="0">
                <a:solidFill>
                  <a:srgbClr val="222222"/>
                </a:solidFill>
                <a:latin typeface="Meiryo"/>
                <a:ea typeface="Meiryo"/>
                <a:cs typeface="Meiryo"/>
                <a:sym typeface="Meiryo"/>
              </a:rPr>
            </a:br>
            <a:r>
              <a:rPr lang="ja-JP" sz="1300" b="0">
                <a:solidFill>
                  <a:srgbClr val="222222"/>
                </a:solidFill>
                <a:latin typeface="Meiryo"/>
                <a:ea typeface="Meiryo"/>
                <a:cs typeface="Meiryo"/>
                <a:sym typeface="Meiryo"/>
              </a:rPr>
              <a:t>ご来店をお待ちしております。</a:t>
            </a:r>
            <a:endParaRPr lang="ja-JP" sz="1300" b="0">
              <a:solidFill>
                <a:srgbClr val="222222"/>
              </a:solidFill>
              <a:latin typeface="Meiryo"/>
              <a:ea typeface="Meiryo"/>
              <a:cs typeface="Meiryo"/>
              <a:sym typeface="Meiryo"/>
            </a:endParaRPr>
          </a:p>
        </p:txBody>
      </p:sp>
      <p:sp>
        <p:nvSpPr>
          <p:cNvPr id="678" name="Note 678"/>
          <p:cNvSpPr txBox="1"/>
          <p:nvPr/>
        </p:nvSpPr>
        <p:spPr>
          <a:xfrm>
            <a:off x="411480" y="3602736"/>
            <a:ext cx="8321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900" b="0">
                <a:solidFill>
                  <a:srgbClr val="6B7280"/>
                </a:solidFill>
                <a:latin typeface="Meiryo"/>
                <a:ea typeface="Meiryo"/>
                <a:cs typeface="Meiryo"/>
                <a:sym typeface="Meiryo"/>
              </a:rPr>
              <a:t>※ 出力の一例です。使うツールや実行のたびに内容は変わります。</a:t>
            </a:r>
            <a:endParaRPr lang="ja-JP" sz="900" b="0">
              <a:solidFill>
                <a:srgbClr val="6B7280"/>
              </a:solidFill>
              <a:latin typeface="Meiryo"/>
              <a:ea typeface="Meiryo"/>
              <a:cs typeface="Meiryo"/>
              <a:sym typeface="Meiry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9" name="Shape 679"/>
        <p:cNvGrpSpPr/>
        <p:nvPr/>
      </p:nvGrpSpPr>
      <p:grpSpPr>
        <a:xfrm>
          <a:off x="0" y="0"/>
          <a:ext cx="0" cy="0"/>
          <a:chOff x="0" y="0"/>
          <a:chExt cx="0" cy="0"/>
        </a:xfrm>
      </p:grpSpPr>
      <p:sp>
        <p:nvSpPr>
          <p:cNvPr id="680" name="Google Shape;680;h259926ce4e4d5a8f_0_685"/>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before / after 比較</a:t>
            </a:r>
            <a:endParaRPr b="0" i="0" sz="2200" u="none" cap="none" strike="noStrike">
              <a:solidFill>
                <a:schemeClr val="dk1"/>
              </a:solidFill>
              <a:latin typeface="Calibri"/>
              <a:ea typeface="Calibri"/>
              <a:cs typeface="Calibri"/>
              <a:sym typeface="Calibri"/>
            </a:endParaRPr>
          </a:p>
        </p:txBody>
      </p:sp>
      <p:sp>
        <p:nvSpPr>
          <p:cNvPr id="681" name="Google Shape;681;h259926ce4e4d5a8f_0_685"/>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682" name="Slide Number 68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683" name="Google Shape;683;h259926ce4e4d5a8f_0_685"/>
          <p:cNvGraphicFramePr/>
          <p:nvPr/>
        </p:nvGraphicFramePr>
        <p:xfrm>
          <a:off x="411480" y="1005840"/>
          <a:ext cx="3000000" cy="3000000"/>
        </p:xfrm>
        <a:graphic>
          <a:graphicData uri="http://schemas.openxmlformats.org/drawingml/2006/table">
            <a:tbl>
              <a:tblPr>
                <a:noFill/>
                <a:tableStyleId>{A5FF9485-15E4-4B45-BF75-814422209F04}</a:tableStyleId>
              </a:tblPr>
              <a:tblGrid>
                <a:gridCol w="1188725"/>
                <a:gridCol w="3200400"/>
                <a:gridCol w="3931925"/>
              </a:tblGrid>
              <a:tr h="384050">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200"/>
                        <a:buFont typeface="Meiryo"/>
                        <a:buNone/>
                      </a:pPr>
                      <a:r>
                        <a:rPr b="1" lang="en-US" sz="1200" u="none" cap="none" strike="noStrike">
                          <a:solidFill>
                            <a:srgbClr val="FFFFFF"/>
                          </a:solidFill>
                          <a:latin typeface="Meiryo"/>
                          <a:ea typeface="Meiryo"/>
                          <a:cs typeface="Meiryo"/>
                          <a:sym typeface="Meiryo"/>
                        </a:rPr>
                        <a:t>before</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9CA3AF"/>
                    </a:solidFill>
                  </a:tcPr>
                </a:tc>
                <a:tc>
                  <a:txBody>
                    <a:bodyPr/>
                    <a:lstStyle/>
                    <a:p>
                      <a:pPr indent="0" lvl="0" marL="0" marR="0" rtl="0" algn="ctr">
                        <a:spcBef>
                          <a:spcPts val="0"/>
                        </a:spcBef>
                        <a:spcAft>
                          <a:spcPts val="0"/>
                        </a:spcAft>
                        <a:buClr>
                          <a:srgbClr val="FFFFFF"/>
                        </a:buClr>
                        <a:buSzPts val="1200"/>
                        <a:buFont typeface="Meiryo"/>
                        <a:buNone/>
                      </a:pPr>
                      <a:r>
                        <a:rPr b="1" lang="en-US" sz="1200" u="none" cap="none" strike="noStrike">
                          <a:solidFill>
                            <a:srgbClr val="FFFFFF"/>
                          </a:solidFill>
                          <a:latin typeface="Meiryo"/>
                          <a:ea typeface="Meiryo"/>
                          <a:cs typeface="Meiryo"/>
                          <a:sym typeface="Meiryo"/>
                        </a:rPr>
                        <a:t>after</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1F3A5F"/>
                    </a:solidFill>
                  </a:tcPr>
                </a:tc>
              </a:tr>
              <a:tr h="566925">
                <a:tc>
                  <a:txBody>
                    <a:bodyPr/>
                    <a:lstStyle/>
                    <a:p>
                      <a:pPr indent="0" lvl="0" marL="0" marR="0" rtl="0" algn="ctr">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指示</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spcBef>
                          <a:spcPts val="0"/>
                        </a:spcBef>
                        <a:spcAft>
                          <a:spcPts val="0"/>
                        </a:spcAft>
                        <a:buClr>
                          <a:srgbClr val="555555"/>
                        </a:buClr>
                        <a:buSzPts val="1200"/>
                        <a:buFont typeface="Meiryo"/>
                        <a:buNone/>
                      </a:pPr>
                      <a:r>
                        <a:rPr lang="en-US" sz="1200">
                          <a:solidFill>
                            <a:srgbClr val="555555"/>
                          </a:solidFill>
                          <a:latin typeface="Meiryo"/>
                          <a:ea typeface="Meiryo"/>
                          <a:cs typeface="Meiryo"/>
                          <a:sym typeface="Meiryo"/>
                        </a:rPr>
                        <a:t>「お客様への返信文を書いて」</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spcBef>
                          <a:spcPts val="0"/>
                        </a:spcBef>
                        <a:spcAft>
                          <a:spcPts val="0"/>
                        </a:spcAft>
                        <a:buClr>
                          <a:srgbClr val="1F3A5F"/>
                        </a:buClr>
                        <a:buSzPts val="1200"/>
                        <a:buFont typeface="Meiryo"/>
                        <a:buNone/>
                      </a:pPr>
                      <a:r>
                        <a:rPr b="1" lang="en-US" sz="1200">
                          <a:solidFill>
                            <a:srgbClr val="1F3A5F"/>
                          </a:solidFill>
                          <a:latin typeface="Meiryo"/>
                          <a:ea typeface="Meiryo"/>
                          <a:cs typeface="Meiryo"/>
                          <a:sym typeface="Meiryo"/>
                        </a:rPr>
                        <a:t>前提・素材・お手本・制約・出力を入れた指示</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中身</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spcBef>
                          <a:spcPts val="0"/>
                        </a:spcBef>
                        <a:spcAft>
                          <a:spcPts val="0"/>
                        </a:spcAft>
                        <a:buClr>
                          <a:srgbClr val="555555"/>
                        </a:buClr>
                        <a:buSzPts val="1200"/>
                        <a:buFont typeface="Meiryo"/>
                        <a:buNone/>
                      </a:pPr>
                      <a:r>
                        <a:rPr lang="en-US" sz="1200">
                          <a:solidFill>
                            <a:srgbClr val="555555"/>
                          </a:solidFill>
                          <a:latin typeface="Meiryo"/>
                          <a:ea typeface="Meiryo"/>
                          <a:cs typeface="Meiryo"/>
                          <a:sym typeface="Meiryo"/>
                        </a:rPr>
                        <a:t>肝心の質問に答えていない</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spcBef>
                          <a:spcPts val="0"/>
                        </a:spcBef>
                        <a:spcAft>
                          <a:spcPts val="0"/>
                        </a:spcAft>
                        <a:buClr>
                          <a:srgbClr val="1F3A5F"/>
                        </a:buClr>
                        <a:buSzPts val="1200"/>
                        <a:buFont typeface="Meiryo"/>
                        <a:buNone/>
                      </a:pPr>
                      <a:r>
                        <a:rPr b="1" lang="en-US" sz="1200">
                          <a:solidFill>
                            <a:srgbClr val="1F3A5F"/>
                          </a:solidFill>
                          <a:latin typeface="Meiryo"/>
                          <a:ea typeface="Meiryo"/>
                          <a:cs typeface="Meiryo"/>
                          <a:sym typeface="Meiryo"/>
                        </a:rPr>
                        <a:t>質問すべてに、店のルールどおり答えている</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書き方</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spcBef>
                          <a:spcPts val="0"/>
                        </a:spcBef>
                        <a:spcAft>
                          <a:spcPts val="0"/>
                        </a:spcAft>
                        <a:buClr>
                          <a:srgbClr val="555555"/>
                        </a:buClr>
                        <a:buSzPts val="1200"/>
                        <a:buFont typeface="Meiryo"/>
                        <a:buNone/>
                      </a:pPr>
                      <a:r>
                        <a:rPr lang="en-US" sz="1200">
                          <a:solidFill>
                            <a:srgbClr val="555555"/>
                          </a:solidFill>
                          <a:latin typeface="Meiryo"/>
                          <a:ea typeface="Meiryo"/>
                          <a:cs typeface="Meiryo"/>
                          <a:sym typeface="Meiryo"/>
                        </a:rPr>
                        <a:t>どこの店でも使える定型文</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spcBef>
                          <a:spcPts val="0"/>
                        </a:spcBef>
                        <a:spcAft>
                          <a:spcPts val="0"/>
                        </a:spcAft>
                        <a:buClr>
                          <a:srgbClr val="1F3A5F"/>
                        </a:buClr>
                        <a:buSzPts val="1200"/>
                        <a:buFont typeface="Meiryo"/>
                        <a:buNone/>
                      </a:pPr>
                      <a:r>
                        <a:rPr b="1" lang="en-US" sz="1200">
                          <a:solidFill>
                            <a:srgbClr val="1F3A5F"/>
                          </a:solidFill>
                          <a:latin typeface="Meiryo"/>
                          <a:ea typeface="Meiryo"/>
                          <a:cs typeface="Meiryo"/>
                          <a:sym typeface="Meiryo"/>
                        </a:rPr>
                        <a:t>いつもの返信と同じ書き出し・トーン</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spcBef>
                          <a:spcPts val="0"/>
                        </a:spcBef>
                        <a:spcAft>
                          <a:spcPts val="0"/>
                        </a:spcAft>
                        <a:buClr>
                          <a:srgbClr val="000000"/>
                        </a:buClr>
                        <a:buSzPts val="1200"/>
                        <a:buFont typeface="Meiryo"/>
                        <a:buNone/>
                      </a:pPr>
                      <a:r>
                        <a:rPr b="1" lang="en-US" sz="1200">
                          <a:latin typeface="Meiryo"/>
                          <a:ea typeface="Meiryo"/>
                          <a:cs typeface="Meiryo"/>
                          <a:sym typeface="Meiryo"/>
                        </a:rPr>
                        <a:t>その後</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spcBef>
                          <a:spcPts val="0"/>
                        </a:spcBef>
                        <a:spcAft>
                          <a:spcPts val="0"/>
                        </a:spcAft>
                        <a:buClr>
                          <a:srgbClr val="555555"/>
                        </a:buClr>
                        <a:buSzPts val="1200"/>
                        <a:buFont typeface="Meiryo"/>
                        <a:buNone/>
                      </a:pPr>
                      <a:r>
                        <a:rPr lang="en-US" sz="1200">
                          <a:solidFill>
                            <a:srgbClr val="555555"/>
                          </a:solidFill>
                          <a:latin typeface="Meiryo"/>
                          <a:ea typeface="Meiryo"/>
                          <a:cs typeface="Meiryo"/>
                          <a:sym typeface="Meiryo"/>
                        </a:rPr>
                        <a:t>自分で書き直しが必要</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spcBef>
                          <a:spcPts val="0"/>
                        </a:spcBef>
                        <a:spcAft>
                          <a:spcPts val="0"/>
                        </a:spcAft>
                        <a:buClr>
                          <a:srgbClr val="1F3A5F"/>
                        </a:buClr>
                        <a:buSzPts val="1200"/>
                        <a:buFont typeface="Meiryo"/>
                        <a:buNone/>
                      </a:pPr>
                      <a:r>
                        <a:rPr b="1" lang="en-US" sz="1200">
                          <a:solidFill>
                            <a:srgbClr val="1F3A5F"/>
                          </a:solidFill>
                          <a:latin typeface="Meiryo"/>
                          <a:ea typeface="Meiryo"/>
                          <a:cs typeface="Meiryo"/>
                          <a:sym typeface="Meiryo"/>
                        </a:rPr>
                        <a:t>確認すれば、そのまま送れる</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bl>
          </a:graphicData>
        </a:graphic>
      </p:graphicFrame>
      <p:sp>
        <p:nvSpPr>
          <p:cNvPr id="684" name="Google Shape;684;h259926ce4e4d5a8f_0_685"/>
          <p:cNvSpPr/>
          <p:nvPr/>
        </p:nvSpPr>
        <p:spPr>
          <a:xfrm>
            <a:off x="457200" y="3840480"/>
            <a:ext cx="457200" cy="45720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5" name="Google Shape;685;h259926ce4e4d5a8f_0_685"/>
          <p:cNvPicPr preferRelativeResize="0"/>
          <p:nvPr/>
        </p:nvPicPr>
        <p:blipFill rotWithShape="1">
          <a:blip r:embed="rId3">
            <a:alphaModFix/>
          </a:blip>
          <a:srcRect b="0" l="0" r="0" t="0"/>
          <a:stretch/>
        </p:blipFill>
        <p:spPr>
          <a:xfrm>
            <a:off x="557784" y="3941064"/>
            <a:ext cx="256032" cy="256032"/>
          </a:xfrm>
          <a:prstGeom prst="rect">
            <a:avLst/>
          </a:prstGeom>
          <a:noFill/>
          <a:ln>
            <a:noFill/>
          </a:ln>
        </p:spPr>
      </p:pic>
      <p:sp>
        <p:nvSpPr>
          <p:cNvPr id="686" name="Google Shape;686;h259926ce4e4d5a8f_0_685"/>
          <p:cNvSpPr txBox="1"/>
          <p:nvPr/>
        </p:nvSpPr>
        <p:spPr>
          <a:xfrm>
            <a:off x="1051560" y="3840480"/>
            <a:ext cx="7680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改善後の返信も、送る前に店のルールどおりか確認しましょう。</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7" name="Shape 1257"/>
        <p:cNvGrpSpPr/>
        <p:nvPr/>
      </p:nvGrpSpPr>
      <p:grpSpPr>
        <a:xfrm>
          <a:off x="0" y="0"/>
          <a:ext cx="0" cy="0"/>
          <a:chOff x="0" y="0"/>
          <a:chExt cx="0" cy="0"/>
        </a:xfrm>
      </p:grpSpPr>
      <p:sp>
        <p:nvSpPr>
          <p:cNvPr id="1258" name="Google Shape;1258;h259926ce4e4d5a8f_0_77"/>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応用：毎回同じ情報は「RAG」で共通化できます</a:t>
            </a:r>
            <a:endParaRPr b="0" i="0" sz="2200" u="none" cap="none" strike="noStrike">
              <a:solidFill>
                <a:schemeClr val="dk1"/>
              </a:solidFill>
              <a:latin typeface="Calibri"/>
              <a:ea typeface="Calibri"/>
              <a:cs typeface="Calibri"/>
              <a:sym typeface="Calibri"/>
            </a:endParaRPr>
          </a:p>
        </p:txBody>
      </p:sp>
      <p:sp>
        <p:nvSpPr>
          <p:cNvPr id="1259" name="Google Shape;1259;h259926ce4e4d5a8f_0_77"/>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60" name="Google Shape;1260;h259926ce4e4d5a8f_0_77"/>
          <p:cNvSpPr/>
          <p:nvPr/>
        </p:nvSpPr>
        <p:spPr>
          <a:xfrm>
            <a:off x="411480" y="1325880"/>
            <a:ext cx="3886200" cy="2148840"/>
          </a:xfrm>
          <a:prstGeom prst="rect">
            <a:avLst/>
          </a:prstGeom>
          <a:solidFill>
            <a:srgbClr val="F6F7F9"/>
          </a:solidFill>
          <a:ln cap="flat" cmpd="sng" w="13000">
            <a:solidFill>
              <a:srgbClr val="F6F7F9"/>
            </a:solidFill>
            <a:prstDash val="solid"/>
            <a:round/>
            <a:headEnd len="sm" w="sm" type="none"/>
            <a:tailEnd len="sm" w="sm" type="none"/>
          </a:ln>
        </p:spPr>
        <p:txBody>
          <a:bodyPr anchorCtr="0" anchor="ctr" bIns="93550" lIns="93550" spcFirstLastPara="1" rIns="93550" wrap="square" tIns="93550">
            <a:noAutofit/>
          </a:bodyPr>
          <a:lstStyle/>
          <a:p>
            <a:pPr indent="0" lvl="0" marL="0" rtl="0" algn="l">
              <a:spcBef>
                <a:spcPts val="0"/>
              </a:spcBef>
              <a:spcAft>
                <a:spcPts val="0"/>
              </a:spcAft>
              <a:buNone/>
            </a:pPr>
            <a:r>
              <a:t/>
            </a:r>
            <a:endParaRPr/>
          </a:p>
        </p:txBody>
      </p:sp>
      <p:sp>
        <p:nvSpPr>
          <p:cNvPr id="1261" name="Google Shape;1261;h259926ce4e4d5a8f_0_77"/>
          <p:cNvSpPr txBox="1"/>
          <p:nvPr/>
        </p:nvSpPr>
        <p:spPr>
          <a:xfrm>
            <a:off x="640080" y="1444752"/>
            <a:ext cx="3474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126"/>
              <a:buFont typeface="Meiryo"/>
              <a:buNone/>
            </a:pPr>
            <a:r>
              <a:rPr b="1" i="0" lang="en-US" sz="1126" u="none" cap="none" strike="noStrike">
                <a:solidFill>
                  <a:srgbClr val="6B7280"/>
                </a:solidFill>
                <a:latin typeface="Meiryo"/>
                <a:ea typeface="Meiryo"/>
                <a:cs typeface="Meiryo"/>
                <a:sym typeface="Meiryo"/>
              </a:rPr>
              <a:t>毎回同じ情報</a:t>
            </a:r>
            <a:endParaRPr b="0" i="0" sz="1126" u="none" cap="none" strike="noStrike">
              <a:solidFill>
                <a:schemeClr val="dk1"/>
              </a:solidFill>
              <a:latin typeface="Calibri"/>
              <a:ea typeface="Calibri"/>
              <a:cs typeface="Calibri"/>
              <a:sym typeface="Calibri"/>
            </a:endParaRPr>
          </a:p>
        </p:txBody>
      </p:sp>
      <p:sp>
        <p:nvSpPr>
          <p:cNvPr id="1262" name="Google Shape;1262;h259926ce4e4d5a8f_0_77"/>
          <p:cNvSpPr txBox="1"/>
          <p:nvPr/>
        </p:nvSpPr>
        <p:spPr>
          <a:xfrm>
            <a:off x="640080" y="1755648"/>
            <a:ext cx="3474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555"/>
              </a:buClr>
              <a:buSzPts val="1535"/>
              <a:buFont typeface="Meiryo"/>
              <a:buNone/>
            </a:pPr>
            <a:r>
              <a:rPr b="1" i="0" lang="en-US" sz="1535" u="none" cap="none" strike="noStrike">
                <a:solidFill>
                  <a:srgbClr val="555555"/>
                </a:solidFill>
                <a:latin typeface="Meiryo"/>
                <a:ea typeface="Meiryo"/>
                <a:cs typeface="Meiryo"/>
                <a:sym typeface="Meiryo"/>
              </a:rPr>
              <a:t>RAGに登録して共通化</a:t>
            </a:r>
            <a:endParaRPr b="0" i="0" sz="1535" u="none" cap="none" strike="noStrike">
              <a:solidFill>
                <a:schemeClr val="dk1"/>
              </a:solidFill>
              <a:latin typeface="Calibri"/>
              <a:ea typeface="Calibri"/>
              <a:cs typeface="Calibri"/>
              <a:sym typeface="Calibri"/>
            </a:endParaRPr>
          </a:p>
        </p:txBody>
      </p:sp>
      <p:sp>
        <p:nvSpPr>
          <p:cNvPr id="1263" name="Google Shape;1263;h259926ce4e4d5a8f_0_77"/>
          <p:cNvSpPr txBox="1"/>
          <p:nvPr/>
        </p:nvSpPr>
        <p:spPr>
          <a:xfrm>
            <a:off x="640080" y="2212848"/>
            <a:ext cx="3520440" cy="11887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4444"/>
              </a:buClr>
              <a:buSzPts val="1126"/>
              <a:buFont typeface="Meiryo"/>
              <a:buNone/>
            </a:pPr>
            <a:r>
              <a:rPr b="0" i="0" lang="en-US" sz="1200" u="none" cap="none" strike="noStrike">
                <a:solidFill>
                  <a:srgbClr val="444444"/>
                </a:solidFill>
                <a:latin typeface="Meiryo"/>
                <a:ea typeface="Meiryo"/>
                <a:cs typeface="Meiryo"/>
                <a:sym typeface="Meiryo"/>
              </a:rPr>
              <a:t>・店の買取ルール、よくある質問への答え</a:t>
            </a:r>
            <a:br>
              <a:rPr b="0" i="0" lang="en-US" sz="1200" u="none" cap="none" strike="noStrike">
                <a:solidFill>
                  <a:srgbClr val="444444"/>
                </a:solidFill>
                <a:latin typeface="Meiryo"/>
                <a:ea typeface="Meiryo"/>
                <a:cs typeface="Meiryo"/>
                <a:sym typeface="Meiryo"/>
              </a:rPr>
            </a:br>
            <a:r>
              <a:rPr b="0" i="0" lang="en-US" sz="1200" u="none" cap="none" strike="noStrike">
                <a:solidFill>
                  <a:srgbClr val="444444"/>
                </a:solidFill>
                <a:latin typeface="Meiryo"/>
                <a:ea typeface="Meiryo"/>
                <a:cs typeface="Meiryo"/>
                <a:sym typeface="Meiryo"/>
              </a:rPr>
              <a:t>・以前の返信の例（お手本）</a:t>
            </a:r>
            <a:br>
              <a:rPr b="0" i="0" lang="en-US" sz="1200" u="none" cap="none" strike="noStrike">
                <a:solidFill>
                  <a:srgbClr val="444444"/>
                </a:solidFill>
                <a:latin typeface="Meiryo"/>
                <a:ea typeface="Meiryo"/>
                <a:cs typeface="Meiryo"/>
                <a:sym typeface="Meiryo"/>
              </a:rPr>
            </a:br>
            <a:r>
              <a:rPr b="0" i="0" lang="en-US" sz="1200" u="none" cap="none" strike="noStrike">
                <a:solidFill>
                  <a:srgbClr val="444444"/>
                </a:solidFill>
                <a:latin typeface="Meiryo"/>
                <a:ea typeface="Meiryo"/>
                <a:cs typeface="Meiryo"/>
                <a:sym typeface="Meiryo"/>
              </a:rPr>
              <a:t>・守ること（制約）、店の基本情報（前提）</a:t>
            </a:r>
            <a:endParaRPr b="0" i="0" sz="1200" u="none" cap="none" strike="noStrike">
              <a:solidFill>
                <a:schemeClr val="dk1"/>
              </a:solidFill>
              <a:latin typeface="Calibri"/>
              <a:ea typeface="Calibri"/>
              <a:cs typeface="Calibri"/>
              <a:sym typeface="Calibri"/>
            </a:endParaRPr>
          </a:p>
        </p:txBody>
      </p:sp>
      <p:sp>
        <p:nvSpPr>
          <p:cNvPr id="1265" name="Google Shape;1265;h259926ce4e4d5a8f_0_77"/>
          <p:cNvSpPr/>
          <p:nvPr/>
        </p:nvSpPr>
        <p:spPr>
          <a:xfrm>
            <a:off x="4800600" y="1325880"/>
            <a:ext cx="3931920" cy="214884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h259926ce4e4d5a8f_0_77"/>
          <p:cNvSpPr txBox="1"/>
          <p:nvPr/>
        </p:nvSpPr>
        <p:spPr>
          <a:xfrm>
            <a:off x="5029200" y="1444752"/>
            <a:ext cx="35204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毎回変わる情報</a:t>
            </a:r>
            <a:endParaRPr b="0" i="0" sz="1100" u="none" cap="none" strike="noStrike">
              <a:solidFill>
                <a:schemeClr val="dk1"/>
              </a:solidFill>
              <a:latin typeface="Calibri"/>
              <a:ea typeface="Calibri"/>
              <a:cs typeface="Calibri"/>
              <a:sym typeface="Calibri"/>
            </a:endParaRPr>
          </a:p>
        </p:txBody>
      </p:sp>
      <p:sp>
        <p:nvSpPr>
          <p:cNvPr id="1267" name="Google Shape;1267;h259926ce4e4d5a8f_0_77"/>
          <p:cNvSpPr txBox="1"/>
          <p:nvPr/>
        </p:nvSpPr>
        <p:spPr>
          <a:xfrm>
            <a:off x="5029200" y="1755648"/>
            <a:ext cx="3520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500"/>
              <a:buFont typeface="Meiryo"/>
              <a:buNone/>
            </a:pPr>
            <a:r>
              <a:rPr b="1" i="0" lang="en-US" sz="1500" u="none" cap="none" strike="noStrike">
                <a:solidFill>
                  <a:srgbClr val="1F3A5F"/>
                </a:solidFill>
                <a:latin typeface="Meiryo"/>
                <a:ea typeface="Meiryo"/>
                <a:cs typeface="Meiryo"/>
                <a:sym typeface="Meiryo"/>
              </a:rPr>
              <a:t>その都度、チャットで渡す</a:t>
            </a:r>
            <a:endParaRPr b="0" i="0" sz="1500" u="none" cap="none" strike="noStrike">
              <a:solidFill>
                <a:schemeClr val="dk1"/>
              </a:solidFill>
              <a:latin typeface="Calibri"/>
              <a:ea typeface="Calibri"/>
              <a:cs typeface="Calibri"/>
              <a:sym typeface="Calibri"/>
            </a:endParaRPr>
          </a:p>
        </p:txBody>
      </p:sp>
      <p:sp>
        <p:nvSpPr>
          <p:cNvPr id="1268" name="Google Shape;1268;h259926ce4e4d5a8f_0_77"/>
          <p:cNvSpPr txBox="1"/>
          <p:nvPr/>
        </p:nvSpPr>
        <p:spPr>
          <a:xfrm>
            <a:off x="5029200" y="2212848"/>
            <a:ext cx="3520440" cy="11887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33333"/>
              </a:buClr>
              <a:buSzPts val="1100"/>
              <a:buFont typeface="Meiryo"/>
              <a:buNone/>
            </a:pPr>
            <a:r>
              <a:rPr b="0" i="0" lang="en-US" sz="1200" u="none" cap="none" strike="noStrike">
                <a:solidFill>
                  <a:srgbClr val="333333"/>
                </a:solidFill>
                <a:latin typeface="Meiryo"/>
                <a:ea typeface="Meiryo"/>
                <a:cs typeface="Meiryo"/>
                <a:sym typeface="Meiryo"/>
              </a:rPr>
              <a:t>・お客様のメッセージ（素材）</a:t>
            </a:r>
            <a:br>
              <a:rPr b="0" i="0" lang="en-US" sz="1200" u="none" cap="none" strike="noStrike">
                <a:solidFill>
                  <a:srgbClr val="333333"/>
                </a:solidFill>
                <a:latin typeface="Meiryo"/>
                <a:ea typeface="Meiryo"/>
                <a:cs typeface="Meiryo"/>
                <a:sym typeface="Meiryo"/>
              </a:rPr>
            </a:br>
            <a:r>
              <a:rPr b="0" i="0" lang="en-US" sz="1200" u="none" cap="none" strike="noStrike">
                <a:solidFill>
                  <a:srgbClr val="333333"/>
                </a:solidFill>
                <a:latin typeface="Meiryo"/>
                <a:ea typeface="Meiryo"/>
                <a:cs typeface="Meiryo"/>
                <a:sym typeface="Meiryo"/>
              </a:rPr>
              <a:t>・今回の仕上がりの形（出力）</a:t>
            </a:r>
            <a:endParaRPr b="0" i="0" sz="1200" u="none" cap="none" strike="noStrike">
              <a:solidFill>
                <a:schemeClr val="dk1"/>
              </a:solidFill>
              <a:latin typeface="Calibri"/>
              <a:ea typeface="Calibri"/>
              <a:cs typeface="Calibri"/>
              <a:sym typeface="Calibri"/>
            </a:endParaRPr>
          </a:p>
        </p:txBody>
      </p:sp>
      <p:sp>
        <p:nvSpPr>
          <p:cNvPr id="1269" name="Google Shape;1269;h259926ce4e4d5a8f_0_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70" name="Lead 1270"/>
          <p:cNvSpPr txBox="1"/>
          <p:nvPr/>
        </p:nvSpPr>
        <p:spPr>
          <a:xfrm>
            <a:off x="411480" y="841248"/>
            <a:ext cx="8321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300" b="1">
                <a:solidFill>
                  <a:srgbClr val="1F3A5F"/>
                </a:solidFill>
                <a:latin typeface="Meiryo"/>
                <a:ea typeface="Meiryo"/>
                <a:cs typeface="Meiryo"/>
                <a:sym typeface="Meiryo"/>
              </a:rPr>
              <a:t>返信のたびに同じルールや返信例を貼っているなら、昨年度の研修で扱った「RAG」にまとめておけます。</a:t>
            </a:r>
            <a:endParaRPr lang="ja-JP" sz="1300" b="1">
              <a:solidFill>
                <a:srgbClr val="1F3A5F"/>
              </a:solidFill>
              <a:latin typeface="Meiryo"/>
              <a:ea typeface="Meiryo"/>
              <a:cs typeface="Meiryo"/>
              <a:sym typeface="Meiryo"/>
            </a:endParaRPr>
          </a:p>
        </p:txBody>
      </p:sp>
      <p:sp>
        <p:nvSpPr>
          <p:cNvPr id="1271" name="Plus 1271"/>
          <p:cNvSpPr txBox="1"/>
          <p:nvPr/>
        </p:nvSpPr>
        <p:spPr>
          <a:xfrm>
            <a:off x="4297680" y="214884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ja-JP" sz="2800" b="1">
                <a:solidFill>
                  <a:srgbClr val="1F3A5F"/>
                </a:solidFill>
                <a:latin typeface="Meiryo"/>
                <a:ea typeface="Meiryo"/>
                <a:cs typeface="Meiryo"/>
                <a:sym typeface="Meiryo"/>
              </a:rPr>
              <a:t>＋</a:t>
            </a:r>
            <a:endParaRPr lang="ja-JP" sz="2800" b="1">
              <a:solidFill>
                <a:srgbClr val="1F3A5F"/>
              </a:solidFill>
              <a:latin typeface="Meiryo"/>
              <a:ea typeface="Meiryo"/>
              <a:cs typeface="Meiryo"/>
              <a:sym typeface="Meiryo"/>
            </a:endParaRPr>
          </a:p>
        </p:txBody>
      </p:sp>
      <p:sp>
        <p:nvSpPr>
          <p:cNvPr id="1272" name="Band 1272"/>
          <p:cNvSpPr/>
          <p:nvPr/>
        </p:nvSpPr>
        <p:spPr>
          <a:xfrm>
            <a:off x="411480" y="3639312"/>
            <a:ext cx="8321040" cy="731520"/>
          </a:xfrm>
          <a:prstGeom prst="rect">
            <a:avLst/>
          </a:prstGeom>
          <a:solidFill>
            <a:srgbClr val="1F3A5F"/>
          </a:solidFill>
          <a:ln>
            <a:noFill/>
          </a:ln>
        </p:spPr>
      </p:sp>
      <p:sp>
        <p:nvSpPr>
          <p:cNvPr id="1273" name="Band Text 1273"/>
          <p:cNvSpPr txBox="1"/>
          <p:nvPr/>
        </p:nvSpPr>
        <p:spPr>
          <a:xfrm>
            <a:off x="594360" y="3639312"/>
            <a:ext cx="79552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lang="ja-JP" sz="1400" b="1">
                <a:solidFill>
                  <a:srgbClr val="FFFFFF"/>
                </a:solidFill>
                <a:latin typeface="Meiryo"/>
                <a:ea typeface="Meiryo"/>
                <a:cs typeface="Meiryo"/>
                <a:sym typeface="Meiryo"/>
              </a:rPr>
              <a:t>一度登録しておけば、毎回は「お客様のメッセージ」を貼るだけ。</a:t>
            </a:r>
            <a:br>
              <a:rPr lang="ja-JP" sz="1400" b="1">
                <a:solidFill>
                  <a:srgbClr val="FFFFFF"/>
                </a:solidFill>
                <a:latin typeface="Meiryo"/>
                <a:ea typeface="Meiryo"/>
                <a:cs typeface="Meiryo"/>
                <a:sym typeface="Meiryo"/>
              </a:rPr>
            </a:br>
            <a:r>
              <a:rPr lang="ja-JP" sz="1400" b="1">
                <a:solidFill>
                  <a:srgbClr val="FFFFFF"/>
                </a:solidFill>
                <a:latin typeface="Meiryo"/>
                <a:ea typeface="Meiryo"/>
                <a:cs typeface="Meiryo"/>
                <a:sym typeface="Meiryo"/>
              </a:rPr>
              <a:t>ルールを更新すれば、全員が同じ最新の情報で使えます。</a:t>
            </a:r>
            <a:endParaRPr lang="ja-JP" sz="1400" b="1">
              <a:solidFill>
                <a:srgbClr val="FFFFFF"/>
              </a:solidFill>
              <a:latin typeface="Meiryo"/>
              <a:ea typeface="Meiryo"/>
              <a:cs typeface="Meiryo"/>
              <a:sym typeface="Meiryo"/>
            </a:endParaRPr>
          </a:p>
        </p:txBody>
      </p:sp>
      <p:sp>
        <p:nvSpPr>
          <p:cNvPr id="1274" name="Note 1274"/>
          <p:cNvSpPr txBox="1"/>
          <p:nvPr/>
        </p:nvSpPr>
        <p:spPr>
          <a:xfrm>
            <a:off x="411480" y="4443984"/>
            <a:ext cx="79552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900" b="0">
                <a:solidFill>
                  <a:srgbClr val="6B7280"/>
                </a:solidFill>
                <a:latin typeface="Meiryo"/>
                <a:ea typeface="Meiryo"/>
                <a:cs typeface="Meiryo"/>
                <a:sym typeface="Meiryo"/>
              </a:rPr>
              <a:t>※ ChatGPTの「プロジェクト」やGPTs、Geminiの「Gem」などで設定できます（使える機能はツールやプランによって異なります）</a:t>
            </a:r>
            <a:endParaRPr lang="ja-JP" sz="900" b="0">
              <a:solidFill>
                <a:srgbClr val="6B7280"/>
              </a:solidFill>
              <a:latin typeface="Meiryo"/>
              <a:ea typeface="Meiryo"/>
              <a:cs typeface="Meiryo"/>
              <a:sym typeface="Meiry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h12a068dd872fd278_0_51"/>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692" name="Google Shape;692;h12a068dd872fd278_0_51"/>
          <p:cNvSpPr txBox="1"/>
          <p:nvPr/>
        </p:nvSpPr>
        <p:spPr>
          <a:xfrm>
            <a:off x="1205625" y="1438450"/>
            <a:ext cx="7640400" cy="56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lang="en-US" sz="3600">
                <a:solidFill>
                  <a:srgbClr val="E8702A"/>
                </a:solidFill>
                <a:latin typeface="Meiryo"/>
                <a:ea typeface="Meiryo"/>
                <a:cs typeface="Meiryo"/>
                <a:sym typeface="Meiryo"/>
              </a:rPr>
              <a:t>最初から完璧でなくて大丈夫です</a:t>
            </a:r>
            <a:endParaRPr b="0" i="0" sz="3600" u="none" cap="none" strike="noStrike">
              <a:solidFill>
                <a:schemeClr val="dk1"/>
              </a:solidFill>
              <a:latin typeface="Calibri"/>
              <a:ea typeface="Calibri"/>
              <a:cs typeface="Calibri"/>
              <a:sym typeface="Calibri"/>
            </a:endParaRPr>
          </a:p>
        </p:txBody>
      </p:sp>
      <p:sp>
        <p:nvSpPr>
          <p:cNvPr id="693" name="Google Shape;693;h12a068dd872fd278_0_51"/>
          <p:cNvSpPr txBox="1"/>
          <p:nvPr/>
        </p:nvSpPr>
        <p:spPr>
          <a:xfrm>
            <a:off x="1205625" y="2555425"/>
            <a:ext cx="7640400" cy="87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050"/>
              <a:buFont typeface="Meiryo"/>
              <a:buNone/>
            </a:pPr>
            <a:r>
              <a:rPr lang="en-US" sz="2400">
                <a:solidFill>
                  <a:srgbClr val="444444"/>
                </a:solidFill>
                <a:latin typeface="Meiryo"/>
                <a:ea typeface="Meiryo"/>
                <a:cs typeface="Meiryo"/>
                <a:sym typeface="Meiryo"/>
              </a:rPr>
              <a:t>一度にすべてを書かなくても、</a:t>
            </a:r>
            <a:br>
              <a:rPr lang="en-US" sz="2400">
                <a:solidFill>
                  <a:srgbClr val="444444"/>
                </a:solidFill>
                <a:latin typeface="Meiryo"/>
                <a:ea typeface="Meiryo"/>
                <a:cs typeface="Meiryo"/>
                <a:sym typeface="Meiryo"/>
              </a:rPr>
            </a:br>
            <a:r>
              <a:rPr lang="en-US" sz="2400">
                <a:solidFill>
                  <a:srgbClr val="444444"/>
                </a:solidFill>
                <a:latin typeface="Meiryo"/>
                <a:ea typeface="Meiryo"/>
                <a:cs typeface="Meiryo"/>
                <a:sym typeface="Meiryo"/>
              </a:rPr>
              <a:t>対話を重ねながら仕上げていけます。</a:t>
            </a:r>
            <a:endParaRPr b="0" i="0" sz="2400" u="none" cap="none" strike="noStrike">
              <a:solidFill>
                <a:schemeClr val="dk1"/>
              </a:solidFill>
              <a:latin typeface="Calibri"/>
              <a:ea typeface="Calibri"/>
              <a:cs typeface="Calibri"/>
              <a:sym typeface="Calibri"/>
            </a:endParaRPr>
          </a:p>
        </p:txBody>
      </p:sp>
      <p:sp>
        <p:nvSpPr>
          <p:cNvPr id="694" name="Google Shape;694;h12a068dd872fd278_0_51"/>
          <p:cNvSpPr txBox="1"/>
          <p:nvPr>
            <p:ph idx="12" type="sldNum"/>
          </p:nvPr>
        </p:nvSpPr>
        <p:spPr>
          <a:xfrm>
            <a:off x="8472450" y="4733725"/>
            <a:ext cx="548700" cy="323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p25"/>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何を渡せばよいか分からないときは</a:t>
            </a:r>
            <a:endParaRPr b="0" i="0" sz="2200" u="none" cap="none" strike="noStrike">
              <a:solidFill>
                <a:schemeClr val="dk1"/>
              </a:solidFill>
              <a:latin typeface="Calibri"/>
              <a:ea typeface="Calibri"/>
              <a:cs typeface="Calibri"/>
              <a:sym typeface="Calibri"/>
            </a:endParaRPr>
          </a:p>
        </p:txBody>
      </p:sp>
      <p:sp>
        <p:nvSpPr>
          <p:cNvPr id="701" name="Google Shape;701;p25"/>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02" name="Google Shape;702;p25"/>
          <p:cNvSpPr txBox="1"/>
          <p:nvPr/>
        </p:nvSpPr>
        <p:spPr>
          <a:xfrm>
            <a:off x="411480" y="960120"/>
            <a:ext cx="8321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500"/>
              <a:buFont typeface="Meiryo"/>
              <a:buNone/>
            </a:pPr>
            <a:r>
              <a:rPr b="1" i="0" lang="en-US" sz="1500" u="none" cap="none" strike="noStrike">
                <a:solidFill>
                  <a:srgbClr val="1F3A5F"/>
                </a:solidFill>
                <a:latin typeface="Meiryo"/>
                <a:ea typeface="Meiryo"/>
                <a:cs typeface="Meiryo"/>
                <a:sym typeface="Meiryo"/>
              </a:rPr>
              <a:t>足りない情報を、AIに質問してもらいましょう。</a:t>
            </a:r>
            <a:endParaRPr b="0" i="0" sz="1500" u="none" cap="none" strike="noStrike">
              <a:solidFill>
                <a:schemeClr val="dk1"/>
              </a:solidFill>
              <a:latin typeface="Calibri"/>
              <a:ea typeface="Calibri"/>
              <a:cs typeface="Calibri"/>
              <a:sym typeface="Calibri"/>
            </a:endParaRPr>
          </a:p>
        </p:txBody>
      </p:sp>
      <p:sp>
        <p:nvSpPr>
          <p:cNvPr id="703" name="Google Shape;703;p25"/>
          <p:cNvSpPr txBox="1"/>
          <p:nvPr/>
        </p:nvSpPr>
        <p:spPr>
          <a:xfrm>
            <a:off x="804672" y="1508760"/>
            <a:ext cx="13716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(例)</a:t>
            </a:r>
            <a:endParaRPr b="0" i="0" sz="1000" u="none" cap="none" strike="noStrike">
              <a:solidFill>
                <a:schemeClr val="dk1"/>
              </a:solidFill>
              <a:latin typeface="Calibri"/>
              <a:ea typeface="Calibri"/>
              <a:cs typeface="Calibri"/>
              <a:sym typeface="Calibri"/>
            </a:endParaRPr>
          </a:p>
        </p:txBody>
      </p:sp>
      <p:sp>
        <p:nvSpPr>
          <p:cNvPr id="704" name="Google Shape;704;p25"/>
          <p:cNvSpPr/>
          <p:nvPr/>
        </p:nvSpPr>
        <p:spPr>
          <a:xfrm>
            <a:off x="822960" y="1783080"/>
            <a:ext cx="7498080" cy="141732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25"/>
          <p:cNvSpPr txBox="1"/>
          <p:nvPr/>
        </p:nvSpPr>
        <p:spPr>
          <a:xfrm>
            <a:off x="1005840" y="1920240"/>
            <a:ext cx="7132320" cy="1143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2222"/>
              </a:buClr>
              <a:buSzPts val="1600"/>
              <a:buFont typeface="Meiryo"/>
              <a:buNone/>
            </a:pPr>
            <a:r>
              <a:rPr b="0" i="0" lang="en-US" sz="1600" u="none" cap="none" strike="noStrike">
                <a:solidFill>
                  <a:srgbClr val="222222"/>
                </a:solidFill>
                <a:latin typeface="Meiryo"/>
                <a:ea typeface="Meiryo"/>
                <a:cs typeface="Meiryo"/>
                <a:sym typeface="Meiryo"/>
              </a:rPr>
              <a:t>〇〇の作業をお願いしたいです。</a:t>
            </a:r>
            <a:endParaRPr b="0" i="0" sz="1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22222"/>
              </a:buClr>
              <a:buSzPts val="1600"/>
              <a:buFont typeface="Meiryo"/>
              <a:buNone/>
            </a:pPr>
            <a:r>
              <a:rPr b="0" i="0" lang="en-US" sz="1600" u="none" cap="none" strike="noStrike">
                <a:solidFill>
                  <a:srgbClr val="222222"/>
                </a:solidFill>
                <a:latin typeface="Meiryo"/>
                <a:ea typeface="Meiryo"/>
                <a:cs typeface="Meiryo"/>
                <a:sym typeface="Meiryo"/>
              </a:rPr>
              <a:t>良い結果を出すために、足りない情報を質問してください。</a:t>
            </a:r>
            <a:endParaRPr b="0" i="0" sz="1600" u="none" cap="none" strike="noStrike">
              <a:solidFill>
                <a:schemeClr val="dk1"/>
              </a:solidFill>
              <a:latin typeface="Calibri"/>
              <a:ea typeface="Calibri"/>
              <a:cs typeface="Calibri"/>
              <a:sym typeface="Calibri"/>
            </a:endParaRPr>
          </a:p>
        </p:txBody>
      </p:sp>
      <p:sp>
        <p:nvSpPr>
          <p:cNvPr id="706" name="Google Shape;706;p25"/>
          <p:cNvSpPr txBox="1"/>
          <p:nvPr/>
        </p:nvSpPr>
        <p:spPr>
          <a:xfrm>
            <a:off x="411480" y="3520440"/>
            <a:ext cx="83210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00"/>
              <a:buFont typeface="Meiryo"/>
              <a:buNone/>
            </a:pPr>
            <a:r>
              <a:rPr b="0" i="0" lang="en-US" sz="1500" u="none" cap="none" strike="noStrike">
                <a:solidFill>
                  <a:srgbClr val="222222"/>
                </a:solidFill>
                <a:latin typeface="Meiryo"/>
                <a:ea typeface="Meiryo"/>
                <a:cs typeface="Meiryo"/>
                <a:sym typeface="Meiryo"/>
              </a:rPr>
              <a:t>AIからの質問に答えていくと、「前提・素材・お手本・制約」が自然とそろっていきます。</a:t>
            </a:r>
            <a:endParaRPr b="0" i="0" sz="1500" u="none" cap="none" strike="noStrike">
              <a:solidFill>
                <a:schemeClr val="dk1"/>
              </a:solidFill>
              <a:latin typeface="Calibri"/>
              <a:ea typeface="Calibri"/>
              <a:cs typeface="Calibri"/>
              <a:sym typeface="Calibri"/>
            </a:endParaRPr>
          </a:p>
        </p:txBody>
      </p:sp>
      <p:sp>
        <p:nvSpPr>
          <p:cNvPr id="707" name="Google Shape;707;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40a0daa3361_0_237"/>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713" name="Google Shape;713;g40a0daa3361_0_237"/>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714" name="Google Shape;714;g40a0daa3361_0_237"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715" name="Google Shape;715;g40a0daa3361_0_23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716" name="Google Shape;716;g40a0daa3361_0_237"/>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a:t>
            </a:r>
            <a:r>
              <a:rPr b="1" lang="en-US" sz="2800">
                <a:solidFill>
                  <a:srgbClr val="F4A261"/>
                </a:solidFill>
                <a:latin typeface="Meiryo"/>
                <a:ea typeface="Meiryo"/>
                <a:cs typeface="Meiryo"/>
                <a:sym typeface="Meiryo"/>
              </a:rPr>
              <a:t>3</a:t>
            </a:r>
            <a:endParaRPr b="0" i="0" sz="2800" u="none" cap="none" strike="noStrike">
              <a:solidFill>
                <a:schemeClr val="dk1"/>
              </a:solidFill>
              <a:latin typeface="Calibri"/>
              <a:ea typeface="Calibri"/>
              <a:cs typeface="Calibri"/>
              <a:sym typeface="Calibri"/>
            </a:endParaRPr>
          </a:p>
        </p:txBody>
      </p:sp>
      <p:sp>
        <p:nvSpPr>
          <p:cNvPr id="717" name="Google Shape;717;g40a0daa3361_0_237"/>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ワーク①</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業務課題の棚卸し</a:t>
            </a:r>
            <a:endParaRPr b="0" i="0" sz="3000" u="none" cap="none" strike="noStrike">
              <a:solidFill>
                <a:schemeClr val="dk1"/>
              </a:solidFill>
              <a:latin typeface="Calibri"/>
              <a:ea typeface="Calibri"/>
              <a:cs typeface="Calibri"/>
              <a:sym typeface="Calibri"/>
            </a:endParaRPr>
          </a:p>
        </p:txBody>
      </p:sp>
      <p:sp>
        <p:nvSpPr>
          <p:cNvPr id="718" name="Google Shape;718;g40a0daa3361_0_237"/>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13:</a:t>
            </a:r>
            <a:r>
              <a:rPr lang="en-US">
                <a:solidFill>
                  <a:srgbClr val="C9D3E0"/>
                </a:solidFill>
                <a:latin typeface="Meiryo"/>
                <a:ea typeface="Meiryo"/>
                <a:cs typeface="Meiryo"/>
                <a:sym typeface="Meiryo"/>
              </a:rPr>
              <a:t>50</a:t>
            </a:r>
            <a:r>
              <a:rPr b="0" i="0" lang="en-US" sz="1400" u="none" cap="none" strike="noStrike">
                <a:solidFill>
                  <a:srgbClr val="C9D3E0"/>
                </a:solidFill>
                <a:latin typeface="Meiryo"/>
                <a:ea typeface="Meiryo"/>
                <a:cs typeface="Meiryo"/>
                <a:sym typeface="Meiryo"/>
              </a:rPr>
              <a:t> – 14:</a:t>
            </a:r>
            <a:r>
              <a:rPr lang="en-US">
                <a:solidFill>
                  <a:srgbClr val="C9D3E0"/>
                </a:solidFill>
                <a:latin typeface="Meiryo"/>
                <a:ea typeface="Meiryo"/>
                <a:cs typeface="Meiryo"/>
                <a:sym typeface="Meiryo"/>
              </a:rPr>
              <a:t>20</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14"/>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ワーク① 業務課題の棚卸し</a:t>
            </a:r>
            <a:endParaRPr b="0" i="0" sz="2200" u="none" cap="none" strike="noStrike">
              <a:solidFill>
                <a:schemeClr val="dk1"/>
              </a:solidFill>
              <a:latin typeface="Calibri"/>
              <a:ea typeface="Calibri"/>
              <a:cs typeface="Calibri"/>
              <a:sym typeface="Calibri"/>
            </a:endParaRPr>
          </a:p>
        </p:txBody>
      </p:sp>
      <p:sp>
        <p:nvSpPr>
          <p:cNvPr id="725" name="Google Shape;725;p14"/>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4"/>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727" name="Google Shape;727;p14"/>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28" name="Google Shape;728;p14"/>
          <p:cNvSpPr txBox="1"/>
          <p:nvPr/>
        </p:nvSpPr>
        <p:spPr>
          <a:xfrm>
            <a:off x="411480" y="896112"/>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0" i="0" lang="en-US" sz="1300" u="none" cap="none" strike="noStrike">
                <a:solidFill>
                  <a:srgbClr val="222222"/>
                </a:solidFill>
                <a:latin typeface="Meiryo"/>
                <a:ea typeface="Meiryo"/>
                <a:cs typeface="Meiryo"/>
                <a:sym typeface="Meiryo"/>
              </a:rPr>
              <a:t>自分の1日の業務を書き出し、AIに任せられそうな業務を見つけます。</a:t>
            </a:r>
            <a:endParaRPr b="0" i="0" sz="1300" u="none" cap="none" strike="noStrike">
              <a:solidFill>
                <a:schemeClr val="dk1"/>
              </a:solidFill>
              <a:latin typeface="Calibri"/>
              <a:ea typeface="Calibri"/>
              <a:cs typeface="Calibri"/>
              <a:sym typeface="Calibri"/>
            </a:endParaRPr>
          </a:p>
        </p:txBody>
      </p:sp>
      <p:sp>
        <p:nvSpPr>
          <p:cNvPr id="729" name="Google Shape;729;p14"/>
          <p:cNvSpPr/>
          <p:nvPr/>
        </p:nvSpPr>
        <p:spPr>
          <a:xfrm>
            <a:off x="411475" y="1371600"/>
            <a:ext cx="6952500" cy="3220200"/>
          </a:xfrm>
          <a:prstGeom prst="rect">
            <a:avLst/>
          </a:prstGeom>
          <a:solidFill>
            <a:srgbClr val="EEF3F8"/>
          </a:solidFill>
          <a:ln cap="flat" cmpd="sng" w="13350">
            <a:solidFill>
              <a:srgbClr val="EEF3F8"/>
            </a:solidFill>
            <a:prstDash val="solid"/>
            <a:round/>
            <a:headEnd len="sm" w="sm" type="none"/>
            <a:tailEnd len="sm" w="sm" type="none"/>
          </a:ln>
        </p:spPr>
        <p:txBody>
          <a:bodyPr anchorCtr="0" anchor="ctr" bIns="96125" lIns="96125" spcFirstLastPara="1" rIns="96125" wrap="square" tIns="96125">
            <a:noAutofit/>
          </a:bodyPr>
          <a:lstStyle/>
          <a:p>
            <a:pPr indent="0" lvl="0" marL="0" marR="0" rtl="0" algn="l">
              <a:lnSpc>
                <a:spcPct val="100000"/>
              </a:lnSpc>
              <a:spcBef>
                <a:spcPts val="0"/>
              </a:spcBef>
              <a:spcAft>
                <a:spcPts val="0"/>
              </a:spcAft>
              <a:buClr>
                <a:srgbClr val="000000"/>
              </a:buClr>
              <a:buSzPts val="1472"/>
              <a:buFont typeface="Arial"/>
              <a:buNone/>
            </a:pPr>
            <a:r>
              <a:t/>
            </a:r>
            <a:endParaRPr b="0" i="0" sz="1472" u="none" cap="none" strike="noStrike">
              <a:solidFill>
                <a:srgbClr val="000000"/>
              </a:solidFill>
              <a:latin typeface="Arial"/>
              <a:ea typeface="Arial"/>
              <a:cs typeface="Arial"/>
              <a:sym typeface="Arial"/>
            </a:endParaRPr>
          </a:p>
        </p:txBody>
      </p:sp>
      <p:sp>
        <p:nvSpPr>
          <p:cNvPr id="730" name="Google Shape;730;p14"/>
          <p:cNvSpPr txBox="1"/>
          <p:nvPr/>
        </p:nvSpPr>
        <p:spPr>
          <a:xfrm>
            <a:off x="802083" y="1515789"/>
            <a:ext cx="1874700" cy="28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156"/>
              <a:buFont typeface="Meiryo"/>
              <a:buNone/>
            </a:pPr>
            <a:r>
              <a:rPr b="1" i="0" lang="en-US" sz="1156" u="none" cap="none" strike="noStrike">
                <a:solidFill>
                  <a:srgbClr val="E8702A"/>
                </a:solidFill>
                <a:latin typeface="Meiryo"/>
                <a:ea typeface="Meiryo"/>
                <a:cs typeface="Meiryo"/>
                <a:sym typeface="Meiryo"/>
              </a:rPr>
              <a:t>STEP 1</a:t>
            </a:r>
            <a:endParaRPr b="0" i="0" sz="1156" u="none" cap="none" strike="noStrike">
              <a:solidFill>
                <a:schemeClr val="dk1"/>
              </a:solidFill>
              <a:latin typeface="Calibri"/>
              <a:ea typeface="Calibri"/>
              <a:cs typeface="Calibri"/>
              <a:sym typeface="Calibri"/>
            </a:endParaRPr>
          </a:p>
        </p:txBody>
      </p:sp>
      <p:sp>
        <p:nvSpPr>
          <p:cNvPr id="731" name="Google Shape;731;p14"/>
          <p:cNvSpPr txBox="1"/>
          <p:nvPr/>
        </p:nvSpPr>
        <p:spPr>
          <a:xfrm>
            <a:off x="802083" y="1804168"/>
            <a:ext cx="4687500" cy="43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787"/>
              <a:buFont typeface="Meiryo"/>
              <a:buNone/>
            </a:pPr>
            <a:r>
              <a:rPr b="1" i="0" lang="en-US" sz="1787" u="none" cap="none" strike="noStrike">
                <a:solidFill>
                  <a:srgbClr val="1F3A5F"/>
                </a:solidFill>
                <a:latin typeface="Meiryo"/>
                <a:ea typeface="Meiryo"/>
                <a:cs typeface="Meiryo"/>
                <a:sym typeface="Meiryo"/>
              </a:rPr>
              <a:t>個人セッション</a:t>
            </a:r>
            <a:endParaRPr b="0" i="0" sz="1787" u="none" cap="none" strike="noStrike">
              <a:solidFill>
                <a:schemeClr val="dk1"/>
              </a:solidFill>
              <a:latin typeface="Calibri"/>
              <a:ea typeface="Calibri"/>
              <a:cs typeface="Calibri"/>
              <a:sym typeface="Calibri"/>
            </a:endParaRPr>
          </a:p>
        </p:txBody>
      </p:sp>
      <p:sp>
        <p:nvSpPr>
          <p:cNvPr id="732" name="Google Shape;732;p14"/>
          <p:cNvSpPr txBox="1"/>
          <p:nvPr/>
        </p:nvSpPr>
        <p:spPr>
          <a:xfrm>
            <a:off x="5333141" y="1804168"/>
            <a:ext cx="1640400" cy="432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E8702A"/>
              </a:buClr>
              <a:buSzPts val="1787"/>
              <a:buFont typeface="Meiryo"/>
              <a:buNone/>
            </a:pPr>
            <a:r>
              <a:rPr b="1" i="0" lang="en-US" sz="1787" u="none" cap="none" strike="noStrike">
                <a:solidFill>
                  <a:srgbClr val="E8702A"/>
                </a:solidFill>
                <a:latin typeface="Meiryo"/>
                <a:ea typeface="Meiryo"/>
                <a:cs typeface="Meiryo"/>
                <a:sym typeface="Meiryo"/>
              </a:rPr>
              <a:t>10分</a:t>
            </a:r>
            <a:endParaRPr b="0" i="0" sz="1787" u="none" cap="none" strike="noStrike">
              <a:solidFill>
                <a:schemeClr val="dk1"/>
              </a:solidFill>
              <a:latin typeface="Calibri"/>
              <a:ea typeface="Calibri"/>
              <a:cs typeface="Calibri"/>
              <a:sym typeface="Calibri"/>
            </a:endParaRPr>
          </a:p>
        </p:txBody>
      </p:sp>
      <p:sp>
        <p:nvSpPr>
          <p:cNvPr id="733" name="Google Shape;733;p14"/>
          <p:cNvSpPr txBox="1"/>
          <p:nvPr/>
        </p:nvSpPr>
        <p:spPr>
          <a:xfrm>
            <a:off x="802083" y="2428987"/>
            <a:ext cx="6171900" cy="2018700"/>
          </a:xfrm>
          <a:prstGeom prst="rect">
            <a:avLst/>
          </a:prstGeom>
          <a:noFill/>
          <a:ln>
            <a:noFill/>
          </a:ln>
        </p:spPr>
        <p:txBody>
          <a:bodyPr anchorCtr="0" anchor="t" bIns="0" lIns="0" spcFirstLastPara="1" rIns="0" wrap="square" tIns="0">
            <a:noAutofit/>
          </a:bodyPr>
          <a:lstStyle/>
          <a:p>
            <a:pPr indent="-186912" lvl="0" marL="186912" marR="0" rtl="0" algn="l">
              <a:lnSpc>
                <a:spcPct val="100000"/>
              </a:lnSpc>
              <a:spcBef>
                <a:spcPts val="0"/>
              </a:spcBef>
              <a:spcAft>
                <a:spcPts val="0"/>
              </a:spcAft>
              <a:buClr>
                <a:srgbClr val="222222"/>
              </a:buClr>
              <a:buSzPts val="1314"/>
              <a:buFont typeface="Meiryo"/>
              <a:buChar char="•"/>
            </a:pPr>
            <a:r>
              <a:rPr b="0" i="0" lang="en-US" sz="1314" u="none" cap="none" strike="noStrike">
                <a:solidFill>
                  <a:srgbClr val="222222"/>
                </a:solidFill>
                <a:latin typeface="Meiryo"/>
                <a:ea typeface="Meiryo"/>
                <a:cs typeface="Meiryo"/>
                <a:sym typeface="Meiryo"/>
              </a:rPr>
              <a:t>1日の業務を書き出す</a:t>
            </a:r>
            <a:endParaRPr b="0" i="0" sz="1314" u="none" cap="none" strike="noStrike">
              <a:solidFill>
                <a:schemeClr val="dk1"/>
              </a:solidFill>
              <a:latin typeface="Calibri"/>
              <a:ea typeface="Calibri"/>
              <a:cs typeface="Calibri"/>
              <a:sym typeface="Calibri"/>
            </a:endParaRPr>
          </a:p>
          <a:p>
            <a:pPr indent="-186912" lvl="0" marL="186912" marR="0" rtl="0" algn="l">
              <a:lnSpc>
                <a:spcPct val="100000"/>
              </a:lnSpc>
              <a:spcBef>
                <a:spcPts val="841"/>
              </a:spcBef>
              <a:spcAft>
                <a:spcPts val="0"/>
              </a:spcAft>
              <a:buClr>
                <a:srgbClr val="222222"/>
              </a:buClr>
              <a:buSzPts val="1314"/>
              <a:buFont typeface="Meiryo"/>
              <a:buChar char="•"/>
            </a:pPr>
            <a:r>
              <a:rPr b="0" i="0" lang="en-US" sz="1314" u="none" cap="none" strike="noStrike">
                <a:solidFill>
                  <a:srgbClr val="222222"/>
                </a:solidFill>
                <a:latin typeface="Meiryo"/>
                <a:ea typeface="Meiryo"/>
                <a:cs typeface="Meiryo"/>
                <a:sym typeface="Meiryo"/>
              </a:rPr>
              <a:t>業務ごとにインプット（使う材料）とアウトプット（できあがる物）を記入</a:t>
            </a:r>
            <a:endParaRPr b="0" i="0" sz="1314" u="none" cap="none" strike="noStrike">
              <a:solidFill>
                <a:schemeClr val="dk1"/>
              </a:solidFill>
              <a:latin typeface="Calibri"/>
              <a:ea typeface="Calibri"/>
              <a:cs typeface="Calibri"/>
              <a:sym typeface="Calibri"/>
            </a:endParaRPr>
          </a:p>
          <a:p>
            <a:pPr indent="-186912" lvl="0" marL="186912" marR="0" rtl="0" algn="l">
              <a:lnSpc>
                <a:spcPct val="100000"/>
              </a:lnSpc>
              <a:spcBef>
                <a:spcPts val="841"/>
              </a:spcBef>
              <a:spcAft>
                <a:spcPts val="0"/>
              </a:spcAft>
              <a:buClr>
                <a:srgbClr val="222222"/>
              </a:buClr>
              <a:buSzPts val="1314"/>
              <a:buFont typeface="Meiryo"/>
              <a:buChar char="•"/>
            </a:pPr>
            <a:r>
              <a:rPr b="0" i="0" lang="en-US" sz="1314" u="none" cap="none" strike="noStrike">
                <a:solidFill>
                  <a:srgbClr val="222222"/>
                </a:solidFill>
                <a:latin typeface="Meiryo"/>
                <a:ea typeface="Meiryo"/>
                <a:cs typeface="Meiryo"/>
                <a:sym typeface="Meiryo"/>
              </a:rPr>
              <a:t>AI活用度を ◎ ○ △ でつける</a:t>
            </a:r>
            <a:endParaRPr b="0" i="0" sz="1314" u="none" cap="none" strike="noStrike">
              <a:solidFill>
                <a:schemeClr val="dk1"/>
              </a:solidFill>
              <a:latin typeface="Calibri"/>
              <a:ea typeface="Calibri"/>
              <a:cs typeface="Calibri"/>
              <a:sym typeface="Calibri"/>
            </a:endParaRPr>
          </a:p>
          <a:p>
            <a:pPr indent="-186912" lvl="0" marL="186912" marR="0" rtl="0" algn="l">
              <a:lnSpc>
                <a:spcPct val="100000"/>
              </a:lnSpc>
              <a:spcBef>
                <a:spcPts val="841"/>
              </a:spcBef>
              <a:spcAft>
                <a:spcPts val="0"/>
              </a:spcAft>
              <a:buClr>
                <a:srgbClr val="222222"/>
              </a:buClr>
              <a:buSzPts val="1314"/>
              <a:buFont typeface="Meiryo"/>
              <a:buChar char="•"/>
            </a:pPr>
            <a:r>
              <a:rPr b="0" i="0" lang="en-US" sz="1314" u="none" cap="none" strike="noStrike">
                <a:solidFill>
                  <a:srgbClr val="222222"/>
                </a:solidFill>
                <a:latin typeface="Meiryo"/>
                <a:ea typeface="Meiryo"/>
                <a:cs typeface="Meiryo"/>
                <a:sym typeface="Meiryo"/>
              </a:rPr>
              <a:t>記入シート：共有資料のExcel、またはプロンプト集の表を使います</a:t>
            </a:r>
            <a:endParaRPr b="0" i="0" sz="1314" u="none" cap="none" strike="noStrike">
              <a:solidFill>
                <a:schemeClr val="dk1"/>
              </a:solidFill>
              <a:latin typeface="Calibri"/>
              <a:ea typeface="Calibri"/>
              <a:cs typeface="Calibri"/>
              <a:sym typeface="Calibri"/>
            </a:endParaRPr>
          </a:p>
        </p:txBody>
      </p:sp>
      <p:sp>
        <p:nvSpPr>
          <p:cNvPr id="734" name="Google Shape;734;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9" name="Shape 739"/>
        <p:cNvGrpSpPr/>
        <p:nvPr/>
      </p:nvGrpSpPr>
      <p:grpSpPr>
        <a:xfrm>
          <a:off x="0" y="0"/>
          <a:ext cx="0" cy="0"/>
          <a:chOff x="0" y="0"/>
          <a:chExt cx="0" cy="0"/>
        </a:xfrm>
      </p:grpSpPr>
      <p:sp>
        <p:nvSpPr>
          <p:cNvPr id="740" name="Google Shape;740;p15"/>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インプット・アウトプットシート（記入例）</a:t>
            </a:r>
            <a:endParaRPr b="0" i="0" sz="2200" u="none" cap="none" strike="noStrike">
              <a:solidFill>
                <a:schemeClr val="dk1"/>
              </a:solidFill>
              <a:latin typeface="Calibri"/>
              <a:ea typeface="Calibri"/>
              <a:cs typeface="Calibri"/>
              <a:sym typeface="Calibri"/>
            </a:endParaRPr>
          </a:p>
        </p:txBody>
      </p:sp>
      <p:sp>
        <p:nvSpPr>
          <p:cNvPr id="741" name="Google Shape;741;p15"/>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5"/>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743" name="Google Shape;743;p15"/>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graphicFrame>
        <p:nvGraphicFramePr>
          <p:cNvPr id="744" name="Google Shape;744;p15"/>
          <p:cNvGraphicFramePr/>
          <p:nvPr/>
        </p:nvGraphicFramePr>
        <p:xfrm>
          <a:off x="411480" y="960120"/>
          <a:ext cx="3000000" cy="3000000"/>
        </p:xfrm>
        <a:graphic>
          <a:graphicData uri="http://schemas.openxmlformats.org/drawingml/2006/table">
            <a:tbl>
              <a:tblPr>
                <a:noFill/>
                <a:tableStyleId>{EA21E3E7-CB49-40DB-9B02-7D83FE17C7A2}</a:tableStyleId>
              </a:tblPr>
              <a:tblGrid>
                <a:gridCol w="1600200"/>
                <a:gridCol w="1600200"/>
                <a:gridCol w="1463050"/>
                <a:gridCol w="1143000"/>
                <a:gridCol w="1645925"/>
                <a:gridCol w="868675"/>
              </a:tblGrid>
              <a:tr h="502925">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業務</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インプット</a:t>
                      </a:r>
                      <a:endParaRPr sz="1050" u="none" cap="none" strike="noStrike">
                        <a:latin typeface="Meiryo"/>
                        <a:ea typeface="Meiryo"/>
                        <a:cs typeface="Meiryo"/>
                        <a:sym typeface="Meiryo"/>
                      </a:endParaRPr>
                    </a:p>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（使う材料）</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アウトプット</a:t>
                      </a:r>
                      <a:endParaRPr sz="1050" u="none" cap="none" strike="noStrike">
                        <a:latin typeface="Meiryo"/>
                        <a:ea typeface="Meiryo"/>
                        <a:cs typeface="Meiryo"/>
                        <a:sym typeface="Meiryo"/>
                      </a:endParaRPr>
                    </a:p>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（できあがる物）</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頻度・時間</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困っていること</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c>
                  <a:txBody>
                    <a:bodyPr/>
                    <a:lstStyle/>
                    <a:p>
                      <a:pPr indent="0" lvl="0" marL="0" marR="0" rtl="0" algn="ctr">
                        <a:lnSpc>
                          <a:spcPct val="100000"/>
                        </a:lnSpc>
                        <a:spcBef>
                          <a:spcPts val="0"/>
                        </a:spcBef>
                        <a:spcAft>
                          <a:spcPts val="0"/>
                        </a:spcAft>
                        <a:buClr>
                          <a:srgbClr val="FFFFFF"/>
                        </a:buClr>
                        <a:buSzPts val="1050"/>
                        <a:buFont typeface="Meiryo"/>
                        <a:buNone/>
                      </a:pPr>
                      <a:r>
                        <a:rPr b="1" lang="en-US" sz="1050" u="none" cap="none" strike="noStrike">
                          <a:solidFill>
                            <a:srgbClr val="FFFFFF"/>
                          </a:solidFill>
                          <a:latin typeface="Meiryo"/>
                          <a:ea typeface="Meiryo"/>
                          <a:cs typeface="Meiryo"/>
                          <a:sym typeface="Meiryo"/>
                        </a:rPr>
                        <a:t>AI活用度</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solidFill>
                      <a:srgbClr val="1F3A5F"/>
                    </a:solidFill>
                  </a:tcPr>
                </a:tc>
              </a:tr>
              <a:tr h="475500">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買取告知の更新</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買取価格表、過去の告知文</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店頭POP・告知文</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週2回・各30分</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毎回ゼロから書いている</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E8702A"/>
                        </a:buClr>
                        <a:buSzPts val="1400"/>
                        <a:buFont typeface="Meiryo"/>
                        <a:buNone/>
                      </a:pPr>
                      <a:r>
                        <a:rPr b="1" lang="en-US" sz="1400" u="none" cap="none" strike="noStrike">
                          <a:solidFill>
                            <a:srgbClr val="E8702A"/>
                          </a:solidFill>
                          <a:latin typeface="Meiryo"/>
                          <a:ea typeface="Meiryo"/>
                          <a:cs typeface="Meiryo"/>
                          <a:sym typeface="Meiryo"/>
                        </a:rPr>
                        <a:t>◎</a:t>
                      </a:r>
                      <a:endParaRPr sz="140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中古商品の相場チェック</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各サイトの販売価格</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買取・販売価格の案</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毎日・1時間</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見るサイトが多い</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E8702A"/>
                        </a:buClr>
                        <a:buSzPts val="1400"/>
                        <a:buFont typeface="Meiryo"/>
                        <a:buNone/>
                      </a:pPr>
                      <a:r>
                        <a:rPr b="1" lang="en-US" sz="1400" u="none" cap="none" strike="noStrike">
                          <a:solidFill>
                            <a:srgbClr val="E8702A"/>
                          </a:solidFill>
                          <a:latin typeface="Meiryo"/>
                          <a:ea typeface="Meiryo"/>
                          <a:cs typeface="Meiryo"/>
                          <a:sym typeface="Meiryo"/>
                        </a:rPr>
                        <a:t>○</a:t>
                      </a:r>
                      <a:endParaRPr sz="140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伝票・データ入力</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紙の伝票</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Excelの一覧</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毎日・40分</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転記ミスが起きる</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E8702A"/>
                        </a:buClr>
                        <a:buSzPts val="1400"/>
                        <a:buFont typeface="Meiryo"/>
                        <a:buNone/>
                      </a:pPr>
                      <a:r>
                        <a:rPr b="1" lang="en-US" sz="1400" u="none" cap="none" strike="noStrike">
                          <a:solidFill>
                            <a:srgbClr val="E8702A"/>
                          </a:solidFill>
                          <a:latin typeface="Meiryo"/>
                          <a:ea typeface="Meiryo"/>
                          <a:cs typeface="Meiryo"/>
                          <a:sym typeface="Meiryo"/>
                        </a:rPr>
                        <a:t>○</a:t>
                      </a:r>
                      <a:endParaRPr sz="140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景品の発注</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在庫表、人気の傾向</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発注リスト</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週1回・1時間</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22222"/>
                        </a:buClr>
                        <a:buSzPts val="1050"/>
                        <a:buFont typeface="Meiryo"/>
                        <a:buNone/>
                      </a:pPr>
                      <a:r>
                        <a:rPr lang="en-US" sz="1050" u="none" cap="none" strike="noStrike">
                          <a:solidFill>
                            <a:srgbClr val="222222"/>
                          </a:solidFill>
                          <a:latin typeface="Meiryo"/>
                          <a:ea typeface="Meiryo"/>
                          <a:cs typeface="Meiryo"/>
                          <a:sym typeface="Meiryo"/>
                        </a:rPr>
                        <a:t>何を選ぶか迷う</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E8702A"/>
                        </a:buClr>
                        <a:buSzPts val="1400"/>
                        <a:buFont typeface="Meiryo"/>
                        <a:buNone/>
                      </a:pPr>
                      <a:r>
                        <a:rPr b="1" lang="en-US" sz="1400" u="none" cap="none" strike="noStrike">
                          <a:solidFill>
                            <a:srgbClr val="E8702A"/>
                          </a:solidFill>
                          <a:latin typeface="Meiryo"/>
                          <a:ea typeface="Meiryo"/>
                          <a:cs typeface="Meiryo"/>
                          <a:sym typeface="Meiryo"/>
                        </a:rPr>
                        <a:t>△</a:t>
                      </a:r>
                      <a:endParaRPr sz="140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chemeClr val="dk1"/>
                        </a:buClr>
                        <a:buSzPts val="1050"/>
                        <a:buFont typeface="Calibri"/>
                        <a:buNone/>
                      </a:pPr>
                      <a:r>
                        <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50"/>
                        <a:buFont typeface="Calibri"/>
                        <a:buNone/>
                      </a:pPr>
                      <a:r>
                        <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50"/>
                        <a:buFont typeface="Calibri"/>
                        <a:buNone/>
                      </a:pPr>
                      <a:r>
                        <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50"/>
                        <a:buFont typeface="Calibri"/>
                        <a:buNone/>
                      </a:pPr>
                      <a:r>
                        <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50"/>
                        <a:buFont typeface="Calibri"/>
                        <a:buNone/>
                      </a:pPr>
                      <a:r>
                        <a:t/>
                      </a:r>
                      <a:endParaRPr sz="105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Calibri"/>
                        <a:buNone/>
                      </a:pPr>
                      <a:r>
                        <a:t/>
                      </a:r>
                      <a:endParaRPr sz="1400" u="none" cap="none" strike="noStrike">
                        <a:latin typeface="Meiryo"/>
                        <a:ea typeface="Meiryo"/>
                        <a:cs typeface="Meiryo"/>
                        <a:sym typeface="Meiryo"/>
                      </a:endParaRPr>
                    </a:p>
                  </a:txBody>
                  <a:tcPr marT="18300" marB="18300" marR="73150" marL="73150" anchor="ctr">
                    <a:lnL cap="flat" cmpd="sng" w="9525">
                      <a:solidFill>
                        <a:srgbClr val="B8C2CF"/>
                      </a:solidFill>
                      <a:prstDash val="solid"/>
                      <a:round/>
                      <a:headEnd len="sm" w="sm" type="none"/>
                      <a:tailEnd len="sm" w="sm" type="none"/>
                    </a:lnL>
                    <a:lnR cap="flat" cmpd="sng" w="9525">
                      <a:solidFill>
                        <a:srgbClr val="B8C2CF"/>
                      </a:solidFill>
                      <a:prstDash val="solid"/>
                      <a:round/>
                      <a:headEnd len="sm" w="sm" type="none"/>
                      <a:tailEnd len="sm" w="sm" type="none"/>
                    </a:lnR>
                    <a:lnT cap="flat" cmpd="sng" w="9525">
                      <a:solidFill>
                        <a:srgbClr val="B8C2CF"/>
                      </a:solidFill>
                      <a:prstDash val="solid"/>
                      <a:round/>
                      <a:headEnd len="sm" w="sm" type="none"/>
                      <a:tailEnd len="sm" w="sm" type="none"/>
                    </a:lnT>
                    <a:lnB cap="flat" cmpd="sng" w="9525">
                      <a:solidFill>
                        <a:srgbClr val="B8C2CF"/>
                      </a:solidFill>
                      <a:prstDash val="solid"/>
                      <a:round/>
                      <a:headEnd len="sm" w="sm" type="none"/>
                      <a:tailEnd len="sm" w="sm" type="none"/>
                    </a:lnB>
                  </a:tcPr>
                </a:tc>
              </a:tr>
            </a:tbl>
          </a:graphicData>
        </a:graphic>
      </p:graphicFrame>
      <p:sp>
        <p:nvSpPr>
          <p:cNvPr id="745" name="Google Shape;745;p15"/>
          <p:cNvSpPr txBox="1"/>
          <p:nvPr/>
        </p:nvSpPr>
        <p:spPr>
          <a:xfrm>
            <a:off x="411480" y="3931920"/>
            <a:ext cx="8321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444"/>
              </a:buClr>
              <a:buSzPts val="1100"/>
              <a:buFont typeface="Meiryo"/>
              <a:buNone/>
            </a:pPr>
            <a:r>
              <a:rPr b="0" i="0" lang="en-US" sz="1100" u="none" cap="none" strike="noStrike">
                <a:solidFill>
                  <a:srgbClr val="444444"/>
                </a:solidFill>
                <a:latin typeface="Meiryo"/>
                <a:ea typeface="Meiryo"/>
                <a:cs typeface="Meiryo"/>
                <a:sym typeface="Meiryo"/>
              </a:rPr>
              <a:t>AI活用度　◎ そのまま任せられそう　○ 一部なら任せられそう　△ 難しそう</a:t>
            </a:r>
            <a:endParaRPr b="0" i="0" sz="1100" u="none" cap="none" strike="noStrike">
              <a:solidFill>
                <a:schemeClr val="dk1"/>
              </a:solidFill>
              <a:latin typeface="Calibri"/>
              <a:ea typeface="Calibri"/>
              <a:cs typeface="Calibri"/>
              <a:sym typeface="Calibri"/>
            </a:endParaRPr>
          </a:p>
        </p:txBody>
      </p:sp>
      <p:sp>
        <p:nvSpPr>
          <p:cNvPr id="746" name="Google Shape;746;p15"/>
          <p:cNvSpPr txBox="1"/>
          <p:nvPr/>
        </p:nvSpPr>
        <p:spPr>
          <a:xfrm>
            <a:off x="411480" y="4224528"/>
            <a:ext cx="8321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Meiryo"/>
              <a:buNone/>
            </a:pPr>
            <a:r>
              <a:rPr b="0" i="0" lang="en-US" sz="1050" u="none" cap="none" strike="noStrike">
                <a:solidFill>
                  <a:srgbClr val="6B7280"/>
                </a:solidFill>
                <a:latin typeface="Meiryo"/>
                <a:ea typeface="Meiryo"/>
                <a:cs typeface="Meiryo"/>
                <a:sym typeface="Meiryo"/>
              </a:rPr>
              <a:t>迷ったら「インプット」と「アウトプット」が両方デジタルかどうかで判断すると分かりやすくなります。</a:t>
            </a:r>
            <a:endParaRPr b="0" i="0" sz="1050" u="none" cap="none" strike="noStrike">
              <a:solidFill>
                <a:schemeClr val="dk1"/>
              </a:solidFill>
              <a:latin typeface="Calibri"/>
              <a:ea typeface="Calibri"/>
              <a:cs typeface="Calibri"/>
              <a:sym typeface="Calibri"/>
            </a:endParaRPr>
          </a:p>
        </p:txBody>
      </p:sp>
      <p:sp>
        <p:nvSpPr>
          <p:cNvPr id="747" name="Google Shape;747;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2" name="Shape 752"/>
        <p:cNvGrpSpPr/>
        <p:nvPr/>
      </p:nvGrpSpPr>
      <p:grpSpPr>
        <a:xfrm>
          <a:off x="0" y="0"/>
          <a:ext cx="0" cy="0"/>
          <a:chOff x="0" y="0"/>
          <a:chExt cx="0" cy="0"/>
        </a:xfrm>
      </p:grpSpPr>
      <p:sp>
        <p:nvSpPr>
          <p:cNvPr id="753" name="Google Shape;753;h12a068dd872fd278_0_8"/>
          <p:cNvSpPr txBox="1"/>
          <p:nvPr/>
        </p:nvSpPr>
        <p:spPr>
          <a:xfrm>
            <a:off x="411480" y="274320"/>
            <a:ext cx="63093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ワーク① 業務課題の棚卸し</a:t>
            </a:r>
            <a:endParaRPr b="0" i="0" sz="2200" u="none" cap="none" strike="noStrike">
              <a:solidFill>
                <a:schemeClr val="dk1"/>
              </a:solidFill>
              <a:latin typeface="Calibri"/>
              <a:ea typeface="Calibri"/>
              <a:cs typeface="Calibri"/>
              <a:sym typeface="Calibri"/>
            </a:endParaRPr>
          </a:p>
        </p:txBody>
      </p:sp>
      <p:sp>
        <p:nvSpPr>
          <p:cNvPr id="754" name="Google Shape;754;h12a068dd872fd278_0_8"/>
          <p:cNvSpPr/>
          <p:nvPr/>
        </p:nvSpPr>
        <p:spPr>
          <a:xfrm>
            <a:off x="6949440" y="301752"/>
            <a:ext cx="1783200" cy="41160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h12a068dd872fd278_0_8"/>
          <p:cNvSpPr txBox="1"/>
          <p:nvPr/>
        </p:nvSpPr>
        <p:spPr>
          <a:xfrm>
            <a:off x="6949440" y="301752"/>
            <a:ext cx="17832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756" name="Google Shape;756;h12a068dd872fd278_0_8"/>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57" name="Google Shape;757;h12a068dd872fd278_0_8"/>
          <p:cNvSpPr txBox="1"/>
          <p:nvPr/>
        </p:nvSpPr>
        <p:spPr>
          <a:xfrm>
            <a:off x="411480" y="896112"/>
            <a:ext cx="83211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0" i="0" lang="en-US" sz="1300" u="none" cap="none" strike="noStrike">
                <a:solidFill>
                  <a:srgbClr val="222222"/>
                </a:solidFill>
                <a:latin typeface="Meiryo"/>
                <a:ea typeface="Meiryo"/>
                <a:cs typeface="Meiryo"/>
                <a:sym typeface="Meiryo"/>
              </a:rPr>
              <a:t>自分の1日の業務を書き出し、AIに任せられそうな業務を見つけます。</a:t>
            </a:r>
            <a:endParaRPr b="0" i="0" sz="1300" u="none" cap="none" strike="noStrike">
              <a:solidFill>
                <a:schemeClr val="dk1"/>
              </a:solidFill>
              <a:latin typeface="Calibri"/>
              <a:ea typeface="Calibri"/>
              <a:cs typeface="Calibri"/>
              <a:sym typeface="Calibri"/>
            </a:endParaRPr>
          </a:p>
        </p:txBody>
      </p:sp>
      <p:sp>
        <p:nvSpPr>
          <p:cNvPr id="758" name="Google Shape;758;h12a068dd872fd278_0_8"/>
          <p:cNvSpPr/>
          <p:nvPr/>
        </p:nvSpPr>
        <p:spPr>
          <a:xfrm>
            <a:off x="411475" y="1371600"/>
            <a:ext cx="6909000" cy="32514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h12a068dd872fd278_0_8"/>
          <p:cNvSpPr txBox="1"/>
          <p:nvPr/>
        </p:nvSpPr>
        <p:spPr>
          <a:xfrm>
            <a:off x="799595" y="1517177"/>
            <a:ext cx="1863300" cy="29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STEP 2</a:t>
            </a:r>
            <a:endParaRPr b="0" i="0" sz="1100" u="none" cap="none" strike="noStrike">
              <a:solidFill>
                <a:schemeClr val="dk1"/>
              </a:solidFill>
              <a:latin typeface="Calibri"/>
              <a:ea typeface="Calibri"/>
              <a:cs typeface="Calibri"/>
              <a:sym typeface="Calibri"/>
            </a:endParaRPr>
          </a:p>
        </p:txBody>
      </p:sp>
      <p:sp>
        <p:nvSpPr>
          <p:cNvPr id="760" name="Google Shape;760;h12a068dd872fd278_0_8"/>
          <p:cNvSpPr txBox="1"/>
          <p:nvPr/>
        </p:nvSpPr>
        <p:spPr>
          <a:xfrm>
            <a:off x="799595" y="1808330"/>
            <a:ext cx="4657500" cy="43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700"/>
              <a:buFont typeface="Meiryo"/>
              <a:buNone/>
            </a:pPr>
            <a:r>
              <a:rPr b="1" i="0" lang="en-US" sz="1700" u="none" cap="none" strike="noStrike">
                <a:solidFill>
                  <a:srgbClr val="1F3A5F"/>
                </a:solidFill>
                <a:latin typeface="Meiryo"/>
                <a:ea typeface="Meiryo"/>
                <a:cs typeface="Meiryo"/>
                <a:sym typeface="Meiryo"/>
              </a:rPr>
              <a:t>共有セッション</a:t>
            </a:r>
            <a:endParaRPr b="0" i="0" sz="1700" u="none" cap="none" strike="noStrike">
              <a:solidFill>
                <a:schemeClr val="dk1"/>
              </a:solidFill>
              <a:latin typeface="Calibri"/>
              <a:ea typeface="Calibri"/>
              <a:cs typeface="Calibri"/>
              <a:sym typeface="Calibri"/>
            </a:endParaRPr>
          </a:p>
        </p:txBody>
      </p:sp>
      <p:sp>
        <p:nvSpPr>
          <p:cNvPr id="761" name="Google Shape;761;h12a068dd872fd278_0_8"/>
          <p:cNvSpPr txBox="1"/>
          <p:nvPr/>
        </p:nvSpPr>
        <p:spPr>
          <a:xfrm>
            <a:off x="5301785" y="1808330"/>
            <a:ext cx="1629900" cy="436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E8702A"/>
              </a:buClr>
              <a:buSzPts val="1700"/>
              <a:buFont typeface="Meiryo"/>
              <a:buNone/>
            </a:pPr>
            <a:r>
              <a:rPr b="1" lang="en-US" sz="1700">
                <a:solidFill>
                  <a:srgbClr val="E8702A"/>
                </a:solidFill>
                <a:latin typeface="Meiryo"/>
                <a:ea typeface="Meiryo"/>
                <a:cs typeface="Meiryo"/>
                <a:sym typeface="Meiryo"/>
              </a:rPr>
              <a:t>15</a:t>
            </a:r>
            <a:r>
              <a:rPr b="1" i="0" lang="en-US" sz="1700" u="none" cap="none" strike="noStrike">
                <a:solidFill>
                  <a:srgbClr val="E8702A"/>
                </a:solidFill>
                <a:latin typeface="Meiryo"/>
                <a:ea typeface="Meiryo"/>
                <a:cs typeface="Meiryo"/>
                <a:sym typeface="Meiryo"/>
              </a:rPr>
              <a:t>分</a:t>
            </a:r>
            <a:endParaRPr b="0" i="0" sz="1700" u="none" cap="none" strike="noStrike">
              <a:solidFill>
                <a:schemeClr val="dk1"/>
              </a:solidFill>
              <a:latin typeface="Calibri"/>
              <a:ea typeface="Calibri"/>
              <a:cs typeface="Calibri"/>
              <a:sym typeface="Calibri"/>
            </a:endParaRPr>
          </a:p>
        </p:txBody>
      </p:sp>
      <p:sp>
        <p:nvSpPr>
          <p:cNvPr id="762" name="Google Shape;762;h12a068dd872fd278_0_8"/>
          <p:cNvSpPr txBox="1"/>
          <p:nvPr/>
        </p:nvSpPr>
        <p:spPr>
          <a:xfrm>
            <a:off x="799595" y="2439162"/>
            <a:ext cx="6132600" cy="20382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22222"/>
              </a:buClr>
              <a:buSzPts val="1250"/>
              <a:buFont typeface="Meiryo"/>
              <a:buChar char="•"/>
            </a:pPr>
            <a:r>
              <a:rPr b="0" i="0" lang="en-US" sz="1250" u="none" cap="none" strike="noStrike">
                <a:solidFill>
                  <a:srgbClr val="222222"/>
                </a:solidFill>
                <a:latin typeface="Meiryo"/>
                <a:ea typeface="Meiryo"/>
                <a:cs typeface="Meiryo"/>
                <a:sym typeface="Meiryo"/>
              </a:rPr>
              <a:t>一人ずつシートを紹介する</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800"/>
              </a:spcBef>
              <a:spcAft>
                <a:spcPts val="0"/>
              </a:spcAft>
              <a:buClr>
                <a:srgbClr val="222222"/>
              </a:buClr>
              <a:buSzPts val="1250"/>
              <a:buFont typeface="Meiryo"/>
              <a:buChar char="•"/>
            </a:pPr>
            <a:r>
              <a:rPr b="0" i="0" lang="en-US" sz="1250" u="none" cap="none" strike="noStrike">
                <a:solidFill>
                  <a:srgbClr val="222222"/>
                </a:solidFill>
                <a:latin typeface="Meiryo"/>
                <a:ea typeface="Meiryo"/>
                <a:cs typeface="Meiryo"/>
                <a:sym typeface="Meiryo"/>
              </a:rPr>
              <a:t>「それAIでできそう」を出し合う</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800"/>
              </a:spcBef>
              <a:spcAft>
                <a:spcPts val="0"/>
              </a:spcAft>
              <a:buClr>
                <a:srgbClr val="222222"/>
              </a:buClr>
              <a:buSzPts val="1250"/>
              <a:buFont typeface="Meiryo"/>
              <a:buChar char="•"/>
            </a:pPr>
            <a:r>
              <a:rPr b="0" i="0" lang="en-US" sz="1250" u="none" cap="none" strike="noStrike">
                <a:solidFill>
                  <a:srgbClr val="222222"/>
                </a:solidFill>
                <a:latin typeface="Meiryo"/>
                <a:ea typeface="Meiryo"/>
                <a:cs typeface="Meiryo"/>
                <a:sym typeface="Meiryo"/>
              </a:rPr>
              <a:t>ワーク②で取り組む業務の候補を決める</a:t>
            </a:r>
            <a:endParaRPr b="0" i="0" sz="1250" u="none" cap="none" strike="noStrike">
              <a:solidFill>
                <a:schemeClr val="dk1"/>
              </a:solidFill>
              <a:latin typeface="Calibri"/>
              <a:ea typeface="Calibri"/>
              <a:cs typeface="Calibri"/>
              <a:sym typeface="Calibri"/>
            </a:endParaRPr>
          </a:p>
        </p:txBody>
      </p:sp>
      <p:sp>
        <p:nvSpPr>
          <p:cNvPr id="763" name="Google Shape;763;h12a068dd872fd278_0_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8" name="Shape 768"/>
        <p:cNvGrpSpPr/>
        <p:nvPr/>
      </p:nvGrpSpPr>
      <p:grpSpPr>
        <a:xfrm>
          <a:off x="0" y="0"/>
          <a:ext cx="0" cy="0"/>
          <a:chOff x="0" y="0"/>
          <a:chExt cx="0" cy="0"/>
        </a:xfrm>
      </p:grpSpPr>
      <p:sp>
        <p:nvSpPr>
          <p:cNvPr id="769" name="Google Shape;769;p16"/>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共有セッションの進め方</a:t>
            </a:r>
            <a:endParaRPr b="0" i="0" sz="2200" u="none" cap="none" strike="noStrike">
              <a:solidFill>
                <a:schemeClr val="dk1"/>
              </a:solidFill>
              <a:latin typeface="Calibri"/>
              <a:ea typeface="Calibri"/>
              <a:cs typeface="Calibri"/>
              <a:sym typeface="Calibri"/>
            </a:endParaRPr>
          </a:p>
        </p:txBody>
      </p:sp>
      <p:sp>
        <p:nvSpPr>
          <p:cNvPr id="770" name="Google Shape;770;p16"/>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6"/>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772" name="Google Shape;772;p16"/>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73" name="Google Shape;773;p16"/>
          <p:cNvSpPr/>
          <p:nvPr/>
        </p:nvSpPr>
        <p:spPr>
          <a:xfrm>
            <a:off x="457200" y="105156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6"/>
          <p:cNvSpPr txBox="1"/>
          <p:nvPr/>
        </p:nvSpPr>
        <p:spPr>
          <a:xfrm>
            <a:off x="457200" y="105156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1</a:t>
            </a:r>
            <a:endParaRPr b="0" i="0" sz="1800" u="none" cap="none" strike="noStrike">
              <a:solidFill>
                <a:schemeClr val="dk1"/>
              </a:solidFill>
              <a:latin typeface="Calibri"/>
              <a:ea typeface="Calibri"/>
              <a:cs typeface="Calibri"/>
              <a:sym typeface="Calibri"/>
            </a:endParaRPr>
          </a:p>
        </p:txBody>
      </p:sp>
      <p:sp>
        <p:nvSpPr>
          <p:cNvPr id="775" name="Google Shape;775;p16"/>
          <p:cNvSpPr txBox="1"/>
          <p:nvPr/>
        </p:nvSpPr>
        <p:spPr>
          <a:xfrm>
            <a:off x="1234440" y="103327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いちばん時間がかかっている業務</a:t>
            </a:r>
            <a:endParaRPr b="0" i="0" sz="1500" u="none" cap="none" strike="noStrike">
              <a:solidFill>
                <a:schemeClr val="dk1"/>
              </a:solidFill>
              <a:latin typeface="Calibri"/>
              <a:ea typeface="Calibri"/>
              <a:cs typeface="Calibri"/>
              <a:sym typeface="Calibri"/>
            </a:endParaRPr>
          </a:p>
        </p:txBody>
      </p:sp>
      <p:sp>
        <p:nvSpPr>
          <p:cNvPr id="776" name="Google Shape;776;p16"/>
          <p:cNvSpPr txBox="1"/>
          <p:nvPr/>
        </p:nvSpPr>
        <p:spPr>
          <a:xfrm>
            <a:off x="1234440" y="135331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毎日・毎週くり返している作業から紹介</a:t>
            </a:r>
            <a:endParaRPr b="0" i="0" sz="1200" u="none" cap="none" strike="noStrike">
              <a:solidFill>
                <a:schemeClr val="dk1"/>
              </a:solidFill>
              <a:latin typeface="Calibri"/>
              <a:ea typeface="Calibri"/>
              <a:cs typeface="Calibri"/>
              <a:sym typeface="Calibri"/>
            </a:endParaRPr>
          </a:p>
        </p:txBody>
      </p:sp>
      <p:sp>
        <p:nvSpPr>
          <p:cNvPr id="777" name="Google Shape;777;p16"/>
          <p:cNvSpPr/>
          <p:nvPr/>
        </p:nvSpPr>
        <p:spPr>
          <a:xfrm>
            <a:off x="457200" y="192024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6"/>
          <p:cNvSpPr txBox="1"/>
          <p:nvPr/>
        </p:nvSpPr>
        <p:spPr>
          <a:xfrm>
            <a:off x="457200" y="192024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2</a:t>
            </a:r>
            <a:endParaRPr b="0" i="0" sz="1800" u="none" cap="none" strike="noStrike">
              <a:solidFill>
                <a:schemeClr val="dk1"/>
              </a:solidFill>
              <a:latin typeface="Calibri"/>
              <a:ea typeface="Calibri"/>
              <a:cs typeface="Calibri"/>
              <a:sym typeface="Calibri"/>
            </a:endParaRPr>
          </a:p>
        </p:txBody>
      </p:sp>
      <p:sp>
        <p:nvSpPr>
          <p:cNvPr id="779" name="Google Shape;779;p16"/>
          <p:cNvSpPr txBox="1"/>
          <p:nvPr/>
        </p:nvSpPr>
        <p:spPr>
          <a:xfrm>
            <a:off x="1234440" y="190195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AIに任せられそうな工程</a:t>
            </a:r>
            <a:endParaRPr b="0" i="0" sz="1500" u="none" cap="none" strike="noStrike">
              <a:solidFill>
                <a:schemeClr val="dk1"/>
              </a:solidFill>
              <a:latin typeface="Calibri"/>
              <a:ea typeface="Calibri"/>
              <a:cs typeface="Calibri"/>
              <a:sym typeface="Calibri"/>
            </a:endParaRPr>
          </a:p>
        </p:txBody>
      </p:sp>
      <p:sp>
        <p:nvSpPr>
          <p:cNvPr id="780" name="Google Shape;780;p16"/>
          <p:cNvSpPr txBox="1"/>
          <p:nvPr/>
        </p:nvSpPr>
        <p:spPr>
          <a:xfrm>
            <a:off x="1234440" y="222199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業務全体ではなく「文章を書く部分」「まとめる部分」など工程で考える</a:t>
            </a:r>
            <a:endParaRPr b="0" i="0" sz="1200" u="none" cap="none" strike="noStrike">
              <a:solidFill>
                <a:schemeClr val="dk1"/>
              </a:solidFill>
              <a:latin typeface="Calibri"/>
              <a:ea typeface="Calibri"/>
              <a:cs typeface="Calibri"/>
              <a:sym typeface="Calibri"/>
            </a:endParaRPr>
          </a:p>
        </p:txBody>
      </p:sp>
      <p:sp>
        <p:nvSpPr>
          <p:cNvPr id="781" name="Google Shape;781;p16"/>
          <p:cNvSpPr/>
          <p:nvPr/>
        </p:nvSpPr>
        <p:spPr>
          <a:xfrm>
            <a:off x="457200" y="278892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txBox="1"/>
          <p:nvPr/>
        </p:nvSpPr>
        <p:spPr>
          <a:xfrm>
            <a:off x="457200" y="278892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3</a:t>
            </a:r>
            <a:endParaRPr b="0" i="0" sz="1800" u="none" cap="none" strike="noStrike">
              <a:solidFill>
                <a:schemeClr val="dk1"/>
              </a:solidFill>
              <a:latin typeface="Calibri"/>
              <a:ea typeface="Calibri"/>
              <a:cs typeface="Calibri"/>
              <a:sym typeface="Calibri"/>
            </a:endParaRPr>
          </a:p>
        </p:txBody>
      </p:sp>
      <p:sp>
        <p:nvSpPr>
          <p:cNvPr id="783" name="Google Shape;783;p16"/>
          <p:cNvSpPr txBox="1"/>
          <p:nvPr/>
        </p:nvSpPr>
        <p:spPr>
          <a:xfrm>
            <a:off x="1234440" y="277063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メンバーからのアイデア</a:t>
            </a:r>
            <a:endParaRPr b="0" i="0" sz="1500" u="none" cap="none" strike="noStrike">
              <a:solidFill>
                <a:schemeClr val="dk1"/>
              </a:solidFill>
              <a:latin typeface="Calibri"/>
              <a:ea typeface="Calibri"/>
              <a:cs typeface="Calibri"/>
              <a:sym typeface="Calibri"/>
            </a:endParaRPr>
          </a:p>
        </p:txBody>
      </p:sp>
      <p:sp>
        <p:nvSpPr>
          <p:cNvPr id="784" name="Google Shape;784;p16"/>
          <p:cNvSpPr txBox="1"/>
          <p:nvPr/>
        </p:nvSpPr>
        <p:spPr>
          <a:xfrm>
            <a:off x="1234440" y="309067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「それAIでできそう」「自分はこう使っている」を出し合う</a:t>
            </a:r>
            <a:endParaRPr b="0" i="0" sz="1200" u="none" cap="none" strike="noStrike">
              <a:solidFill>
                <a:schemeClr val="dk1"/>
              </a:solidFill>
              <a:latin typeface="Calibri"/>
              <a:ea typeface="Calibri"/>
              <a:cs typeface="Calibri"/>
              <a:sym typeface="Calibri"/>
            </a:endParaRPr>
          </a:p>
        </p:txBody>
      </p:sp>
      <p:sp>
        <p:nvSpPr>
          <p:cNvPr id="785" name="Google Shape;785;p16"/>
          <p:cNvSpPr/>
          <p:nvPr/>
        </p:nvSpPr>
        <p:spPr>
          <a:xfrm>
            <a:off x="411480" y="3749040"/>
            <a:ext cx="8321040" cy="6858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6"/>
          <p:cNvSpPr txBox="1"/>
          <p:nvPr/>
        </p:nvSpPr>
        <p:spPr>
          <a:xfrm>
            <a:off x="594360" y="3749040"/>
            <a:ext cx="79552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最後に、ワーク②で取り組む業務を一人1つ決めておきましょう</a:t>
            </a:r>
            <a:endParaRPr b="0" i="0" sz="1400" u="none" cap="none" strike="noStrike">
              <a:solidFill>
                <a:schemeClr val="dk1"/>
              </a:solidFill>
              <a:latin typeface="Calibri"/>
              <a:ea typeface="Calibri"/>
              <a:cs typeface="Calibri"/>
              <a:sym typeface="Calibri"/>
            </a:endParaRPr>
          </a:p>
        </p:txBody>
      </p:sp>
      <p:sp>
        <p:nvSpPr>
          <p:cNvPr id="787" name="Google Shape;787;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17"/>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休憩（10分）＆Tips</a:t>
            </a:r>
            <a:endParaRPr b="0" i="0" sz="2200" u="none" cap="none" strike="noStrike">
              <a:solidFill>
                <a:schemeClr val="dk1"/>
              </a:solidFill>
              <a:latin typeface="Calibri"/>
              <a:ea typeface="Calibri"/>
              <a:cs typeface="Calibri"/>
              <a:sym typeface="Calibri"/>
            </a:endParaRPr>
          </a:p>
        </p:txBody>
      </p:sp>
      <p:sp>
        <p:nvSpPr>
          <p:cNvPr id="794" name="Google Shape;794;p17"/>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95" name="Google Shape;795;p17"/>
          <p:cNvSpPr/>
          <p:nvPr/>
        </p:nvSpPr>
        <p:spPr>
          <a:xfrm>
            <a:off x="502920" y="1097280"/>
            <a:ext cx="731520" cy="731520"/>
          </a:xfrm>
          <a:prstGeom prst="ellipse">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96" name="Google Shape;796;p17"/>
          <p:cNvPicPr preferRelativeResize="0"/>
          <p:nvPr/>
        </p:nvPicPr>
        <p:blipFill rotWithShape="1">
          <a:blip r:embed="rId3">
            <a:alphaModFix/>
          </a:blip>
          <a:srcRect b="0" l="0" r="0" t="0"/>
          <a:stretch/>
        </p:blipFill>
        <p:spPr>
          <a:xfrm>
            <a:off x="663854" y="1258214"/>
            <a:ext cx="409651" cy="409651"/>
          </a:xfrm>
          <a:prstGeom prst="rect">
            <a:avLst/>
          </a:prstGeom>
          <a:noFill/>
          <a:ln>
            <a:noFill/>
          </a:ln>
        </p:spPr>
      </p:pic>
      <p:sp>
        <p:nvSpPr>
          <p:cNvPr id="797" name="Google Shape;797;p17"/>
          <p:cNvSpPr txBox="1"/>
          <p:nvPr/>
        </p:nvSpPr>
        <p:spPr>
          <a:xfrm>
            <a:off x="1463040" y="1234440"/>
            <a:ext cx="5486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14:</a:t>
            </a:r>
            <a:r>
              <a:rPr b="1" lang="en-US" sz="1800">
                <a:solidFill>
                  <a:srgbClr val="1F3A5F"/>
                </a:solidFill>
                <a:latin typeface="Meiryo"/>
                <a:ea typeface="Meiryo"/>
                <a:cs typeface="Meiryo"/>
                <a:sym typeface="Meiryo"/>
              </a:rPr>
              <a:t>30</a:t>
            </a:r>
            <a:r>
              <a:rPr b="1" i="0" lang="en-US" sz="1800" u="none" cap="none" strike="noStrike">
                <a:solidFill>
                  <a:srgbClr val="1F3A5F"/>
                </a:solidFill>
                <a:latin typeface="Meiryo"/>
                <a:ea typeface="Meiryo"/>
                <a:cs typeface="Meiryo"/>
                <a:sym typeface="Meiryo"/>
              </a:rPr>
              <a:t> から再開します</a:t>
            </a:r>
            <a:endParaRPr b="0" i="0" sz="1800" u="none" cap="none" strike="noStrike">
              <a:solidFill>
                <a:schemeClr val="dk1"/>
              </a:solidFill>
              <a:latin typeface="Calibri"/>
              <a:ea typeface="Calibri"/>
              <a:cs typeface="Calibri"/>
              <a:sym typeface="Calibri"/>
            </a:endParaRPr>
          </a:p>
        </p:txBody>
      </p:sp>
      <p:sp>
        <p:nvSpPr>
          <p:cNvPr id="798" name="Google Shape;798;p17"/>
          <p:cNvSpPr txBox="1"/>
          <p:nvPr/>
        </p:nvSpPr>
        <p:spPr>
          <a:xfrm>
            <a:off x="502920" y="224028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1回のやり取りで完成させなくて大丈夫です</a:t>
            </a:r>
            <a:endParaRPr b="0" i="0" sz="1400" u="none" cap="none" strike="noStrike">
              <a:solidFill>
                <a:schemeClr val="dk1"/>
              </a:solidFill>
              <a:latin typeface="Calibri"/>
              <a:ea typeface="Calibri"/>
              <a:cs typeface="Calibri"/>
              <a:sym typeface="Calibri"/>
            </a:endParaRPr>
          </a:p>
        </p:txBody>
      </p:sp>
      <p:sp>
        <p:nvSpPr>
          <p:cNvPr id="799" name="Google Shape;799;p17"/>
          <p:cNvSpPr txBox="1"/>
          <p:nvPr/>
        </p:nvSpPr>
        <p:spPr>
          <a:xfrm>
            <a:off x="685800" y="2606040"/>
            <a:ext cx="8046720" cy="64008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「対話」を意識しましょう</a:t>
            </a:r>
            <a:endParaRPr b="0" i="0" sz="1200" u="none" cap="none" strike="noStrike">
              <a:solidFill>
                <a:schemeClr val="dk1"/>
              </a:solidFill>
              <a:latin typeface="Calibri"/>
              <a:ea typeface="Calibri"/>
              <a:cs typeface="Calibri"/>
              <a:sym typeface="Calibri"/>
            </a:endParaRPr>
          </a:p>
          <a:p>
            <a:pPr indent="-304800" lvl="1" marL="914400" marR="0" rtl="0" algn="l">
              <a:lnSpc>
                <a:spcPct val="100000"/>
              </a:lnSpc>
              <a:spcBef>
                <a:spcPts val="40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例）先ほどの出力に「価格」の列を追加して、表にしてください</a:t>
            </a:r>
            <a:endParaRPr b="0" i="0" sz="1200" u="none" cap="none" strike="noStrike">
              <a:solidFill>
                <a:schemeClr val="dk1"/>
              </a:solidFill>
              <a:latin typeface="Calibri"/>
              <a:ea typeface="Calibri"/>
              <a:cs typeface="Calibri"/>
              <a:sym typeface="Calibri"/>
            </a:endParaRPr>
          </a:p>
        </p:txBody>
      </p:sp>
      <p:sp>
        <p:nvSpPr>
          <p:cNvPr id="800" name="Google Shape;800;p17"/>
          <p:cNvSpPr txBox="1"/>
          <p:nvPr/>
        </p:nvSpPr>
        <p:spPr>
          <a:xfrm>
            <a:off x="502920" y="338328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話題ごとにチャットを切り替える</a:t>
            </a:r>
            <a:endParaRPr b="0" i="0" sz="1400" u="none" cap="none" strike="noStrike">
              <a:solidFill>
                <a:schemeClr val="dk1"/>
              </a:solidFill>
              <a:latin typeface="Calibri"/>
              <a:ea typeface="Calibri"/>
              <a:cs typeface="Calibri"/>
              <a:sym typeface="Calibri"/>
            </a:endParaRPr>
          </a:p>
        </p:txBody>
      </p:sp>
      <p:sp>
        <p:nvSpPr>
          <p:cNvPr id="801" name="Google Shape;801;p17"/>
          <p:cNvSpPr txBox="1"/>
          <p:nvPr/>
        </p:nvSpPr>
        <p:spPr>
          <a:xfrm>
            <a:off x="685800" y="3749040"/>
            <a:ext cx="8046720" cy="36576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22222"/>
              </a:buClr>
              <a:buSzPts val="1200"/>
              <a:buFont typeface="Meiryo"/>
              <a:buChar char="•"/>
            </a:pPr>
            <a:r>
              <a:rPr b="0" i="0" lang="en-US" sz="1200" u="none" cap="none" strike="noStrike">
                <a:solidFill>
                  <a:srgbClr val="222222"/>
                </a:solidFill>
                <a:latin typeface="Meiryo"/>
                <a:ea typeface="Meiryo"/>
                <a:cs typeface="Meiryo"/>
                <a:sym typeface="Meiryo"/>
              </a:rPr>
              <a:t>違う話題を続けると、前の内容に引っ張られて精度が落ちることがあります</a:t>
            </a:r>
            <a:endParaRPr b="0" i="0" sz="1200" u="none" cap="none" strike="noStrike">
              <a:solidFill>
                <a:schemeClr val="dk1"/>
              </a:solidFill>
              <a:latin typeface="Calibri"/>
              <a:ea typeface="Calibri"/>
              <a:cs typeface="Calibri"/>
              <a:sym typeface="Calibri"/>
            </a:endParaRPr>
          </a:p>
        </p:txBody>
      </p:sp>
      <p:sp>
        <p:nvSpPr>
          <p:cNvPr id="802" name="Google Shape;80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40a0daa3361_0_263"/>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808" name="Google Shape;808;g40a0daa3361_0_263"/>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809" name="Google Shape;809;g40a0daa3361_0_263"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810" name="Google Shape;810;g40a0daa3361_0_26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811" name="Google Shape;811;g40a0daa3361_0_263"/>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04</a:t>
            </a:r>
            <a:endParaRPr b="0" i="0" sz="2800" u="none" cap="none" strike="noStrike">
              <a:solidFill>
                <a:schemeClr val="dk1"/>
              </a:solidFill>
              <a:latin typeface="Calibri"/>
              <a:ea typeface="Calibri"/>
              <a:cs typeface="Calibri"/>
              <a:sym typeface="Calibri"/>
            </a:endParaRPr>
          </a:p>
        </p:txBody>
      </p:sp>
      <p:sp>
        <p:nvSpPr>
          <p:cNvPr id="812" name="Google Shape;812;g40a0daa3361_0_263"/>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ワーク②</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プロンプト作成・実行・改善</a:t>
            </a:r>
            <a:endParaRPr b="0" i="0" sz="3000" u="none" cap="none" strike="noStrike">
              <a:solidFill>
                <a:schemeClr val="dk1"/>
              </a:solidFill>
              <a:latin typeface="Calibri"/>
              <a:ea typeface="Calibri"/>
              <a:cs typeface="Calibri"/>
              <a:sym typeface="Calibri"/>
            </a:endParaRPr>
          </a:p>
        </p:txBody>
      </p:sp>
      <p:sp>
        <p:nvSpPr>
          <p:cNvPr id="813" name="Google Shape;813;g40a0daa3361_0_263"/>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14:</a:t>
            </a:r>
            <a:r>
              <a:rPr lang="en-US">
                <a:solidFill>
                  <a:srgbClr val="C9D3E0"/>
                </a:solidFill>
                <a:latin typeface="Meiryo"/>
                <a:ea typeface="Meiryo"/>
                <a:cs typeface="Meiryo"/>
                <a:sym typeface="Meiryo"/>
              </a:rPr>
              <a:t>30</a:t>
            </a:r>
            <a:r>
              <a:rPr b="0" i="0" lang="en-US" sz="1400" u="none" cap="none" strike="noStrike">
                <a:solidFill>
                  <a:srgbClr val="C9D3E0"/>
                </a:solidFill>
                <a:latin typeface="Meiryo"/>
                <a:ea typeface="Meiryo"/>
                <a:cs typeface="Meiryo"/>
                <a:sym typeface="Meiryo"/>
              </a:rPr>
              <a:t> – 1</a:t>
            </a:r>
            <a:r>
              <a:rPr lang="en-US">
                <a:solidFill>
                  <a:srgbClr val="C9D3E0"/>
                </a:solidFill>
                <a:latin typeface="Meiryo"/>
                <a:ea typeface="Meiryo"/>
                <a:cs typeface="Meiryo"/>
                <a:sym typeface="Meiryo"/>
              </a:rPr>
              <a:t>5</a:t>
            </a:r>
            <a:r>
              <a:rPr b="0" i="0" lang="en-US" sz="1400" u="none" cap="none" strike="noStrike">
                <a:solidFill>
                  <a:srgbClr val="C9D3E0"/>
                </a:solidFill>
                <a:latin typeface="Meiryo"/>
                <a:ea typeface="Meiryo"/>
                <a:cs typeface="Meiryo"/>
                <a:sym typeface="Meiryo"/>
              </a:rPr>
              <a:t>:</a:t>
            </a:r>
            <a:r>
              <a:rPr lang="en-US">
                <a:solidFill>
                  <a:srgbClr val="C9D3E0"/>
                </a:solidFill>
                <a:latin typeface="Meiryo"/>
                <a:ea typeface="Meiryo"/>
                <a:cs typeface="Meiryo"/>
                <a:sym typeface="Meiryo"/>
              </a:rPr>
              <a:t>00</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8" name="Shape 818"/>
        <p:cNvGrpSpPr/>
        <p:nvPr/>
      </p:nvGrpSpPr>
      <p:grpSpPr>
        <a:xfrm>
          <a:off x="0" y="0"/>
          <a:ext cx="0" cy="0"/>
          <a:chOff x="0" y="0"/>
          <a:chExt cx="0" cy="0"/>
        </a:xfrm>
      </p:grpSpPr>
      <p:sp>
        <p:nvSpPr>
          <p:cNvPr id="819" name="Google Shape;819;p27"/>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ワーク② プロンプト作成・実行・改善</a:t>
            </a:r>
            <a:endParaRPr b="0" i="0" sz="2200" u="none" cap="none" strike="noStrike">
              <a:solidFill>
                <a:schemeClr val="dk1"/>
              </a:solidFill>
              <a:latin typeface="Calibri"/>
              <a:ea typeface="Calibri"/>
              <a:cs typeface="Calibri"/>
              <a:sym typeface="Calibri"/>
            </a:endParaRPr>
          </a:p>
        </p:txBody>
      </p:sp>
      <p:sp>
        <p:nvSpPr>
          <p:cNvPr id="820" name="Google Shape;820;p27"/>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27"/>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822" name="Google Shape;822;p27"/>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823" name="Google Shape;823;p27"/>
          <p:cNvSpPr/>
          <p:nvPr/>
        </p:nvSpPr>
        <p:spPr>
          <a:xfrm>
            <a:off x="411475" y="1254325"/>
            <a:ext cx="1518000" cy="1188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27"/>
          <p:cNvSpPr/>
          <p:nvPr/>
        </p:nvSpPr>
        <p:spPr>
          <a:xfrm>
            <a:off x="896112" y="1391475"/>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27"/>
          <p:cNvSpPr txBox="1"/>
          <p:nvPr/>
        </p:nvSpPr>
        <p:spPr>
          <a:xfrm>
            <a:off x="896112" y="1391475"/>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1</a:t>
            </a:r>
            <a:endParaRPr b="0" i="0" sz="1800" u="none" cap="none" strike="noStrike">
              <a:solidFill>
                <a:schemeClr val="dk1"/>
              </a:solidFill>
              <a:latin typeface="Calibri"/>
              <a:ea typeface="Calibri"/>
              <a:cs typeface="Calibri"/>
              <a:sym typeface="Calibri"/>
            </a:endParaRPr>
          </a:p>
        </p:txBody>
      </p:sp>
      <p:sp>
        <p:nvSpPr>
          <p:cNvPr id="826" name="Google Shape;826;p27"/>
          <p:cNvSpPr txBox="1"/>
          <p:nvPr/>
        </p:nvSpPr>
        <p:spPr>
          <a:xfrm>
            <a:off x="484632" y="2077275"/>
            <a:ext cx="1371600" cy="365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50"/>
              <a:buFont typeface="Meiryo"/>
              <a:buNone/>
            </a:pPr>
            <a:r>
              <a:rPr b="1" i="0" lang="en-US" sz="1350" u="none" cap="none" strike="noStrike">
                <a:solidFill>
                  <a:srgbClr val="222222"/>
                </a:solidFill>
                <a:latin typeface="Meiryo"/>
                <a:ea typeface="Meiryo"/>
                <a:cs typeface="Meiryo"/>
                <a:sym typeface="Meiryo"/>
              </a:rPr>
              <a:t>業務を選ぶ</a:t>
            </a:r>
            <a:endParaRPr b="0" i="0" sz="1350" u="none" cap="none" strike="noStrike">
              <a:solidFill>
                <a:schemeClr val="dk1"/>
              </a:solidFill>
              <a:latin typeface="Calibri"/>
              <a:ea typeface="Calibri"/>
              <a:cs typeface="Calibri"/>
              <a:sym typeface="Calibri"/>
            </a:endParaRPr>
          </a:p>
        </p:txBody>
      </p:sp>
      <p:sp>
        <p:nvSpPr>
          <p:cNvPr id="827" name="Google Shape;827;p27"/>
          <p:cNvSpPr/>
          <p:nvPr/>
        </p:nvSpPr>
        <p:spPr>
          <a:xfrm>
            <a:off x="2093975" y="1254320"/>
            <a:ext cx="1518000" cy="1188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27"/>
          <p:cNvSpPr/>
          <p:nvPr/>
        </p:nvSpPr>
        <p:spPr>
          <a:xfrm>
            <a:off x="2578608" y="1391475"/>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27"/>
          <p:cNvSpPr txBox="1"/>
          <p:nvPr/>
        </p:nvSpPr>
        <p:spPr>
          <a:xfrm>
            <a:off x="2578608" y="1391475"/>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2</a:t>
            </a:r>
            <a:endParaRPr b="0" i="0" sz="1800" u="none" cap="none" strike="noStrike">
              <a:solidFill>
                <a:schemeClr val="dk1"/>
              </a:solidFill>
              <a:latin typeface="Calibri"/>
              <a:ea typeface="Calibri"/>
              <a:cs typeface="Calibri"/>
              <a:sym typeface="Calibri"/>
            </a:endParaRPr>
          </a:p>
        </p:txBody>
      </p:sp>
      <p:sp>
        <p:nvSpPr>
          <p:cNvPr id="830" name="Google Shape;830;p27"/>
          <p:cNvSpPr txBox="1"/>
          <p:nvPr/>
        </p:nvSpPr>
        <p:spPr>
          <a:xfrm>
            <a:off x="2167128" y="2077275"/>
            <a:ext cx="1371600" cy="365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50"/>
              <a:buFont typeface="Meiryo"/>
              <a:buNone/>
            </a:pPr>
            <a:r>
              <a:rPr b="1" lang="en-US" sz="1350">
                <a:solidFill>
                  <a:srgbClr val="222222"/>
                </a:solidFill>
                <a:latin typeface="Meiryo"/>
                <a:ea typeface="Meiryo"/>
                <a:cs typeface="Meiryo"/>
                <a:sym typeface="Meiryo"/>
              </a:rPr>
              <a:t>まずは短く</a:t>
            </a:r>
            <a:endParaRPr b="0" i="0" sz="1350" u="none" cap="none" strike="noStrike">
              <a:solidFill>
                <a:schemeClr val="dk1"/>
              </a:solidFill>
              <a:latin typeface="Calibri"/>
              <a:ea typeface="Calibri"/>
              <a:cs typeface="Calibri"/>
              <a:sym typeface="Calibri"/>
            </a:endParaRPr>
          </a:p>
        </p:txBody>
      </p:sp>
      <p:sp>
        <p:nvSpPr>
          <p:cNvPr id="831" name="Google Shape;831;p27"/>
          <p:cNvSpPr/>
          <p:nvPr/>
        </p:nvSpPr>
        <p:spPr>
          <a:xfrm>
            <a:off x="3776475" y="1254320"/>
            <a:ext cx="1518000" cy="1188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27"/>
          <p:cNvSpPr/>
          <p:nvPr/>
        </p:nvSpPr>
        <p:spPr>
          <a:xfrm>
            <a:off x="4261104" y="1391475"/>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27"/>
          <p:cNvSpPr txBox="1"/>
          <p:nvPr/>
        </p:nvSpPr>
        <p:spPr>
          <a:xfrm>
            <a:off x="4261104" y="1391475"/>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3</a:t>
            </a:r>
            <a:endParaRPr b="0" i="0" sz="1800" u="none" cap="none" strike="noStrike">
              <a:solidFill>
                <a:schemeClr val="dk1"/>
              </a:solidFill>
              <a:latin typeface="Calibri"/>
              <a:ea typeface="Calibri"/>
              <a:cs typeface="Calibri"/>
              <a:sym typeface="Calibri"/>
            </a:endParaRPr>
          </a:p>
        </p:txBody>
      </p:sp>
      <p:sp>
        <p:nvSpPr>
          <p:cNvPr id="834" name="Google Shape;834;p27"/>
          <p:cNvSpPr txBox="1"/>
          <p:nvPr/>
        </p:nvSpPr>
        <p:spPr>
          <a:xfrm>
            <a:off x="3849624" y="2077275"/>
            <a:ext cx="1371600" cy="365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50"/>
              <a:buFont typeface="Meiryo"/>
              <a:buNone/>
            </a:pPr>
            <a:r>
              <a:rPr b="1" lang="en-US" sz="1350">
                <a:solidFill>
                  <a:srgbClr val="222222"/>
                </a:solidFill>
                <a:latin typeface="Meiryo"/>
                <a:ea typeface="Meiryo"/>
                <a:cs typeface="Meiryo"/>
                <a:sym typeface="Meiryo"/>
              </a:rPr>
              <a:t>4要素で書き直す</a:t>
            </a:r>
            <a:endParaRPr b="0" i="0" sz="1350" u="none" cap="none" strike="noStrike">
              <a:solidFill>
                <a:schemeClr val="dk1"/>
              </a:solidFill>
              <a:latin typeface="Calibri"/>
              <a:ea typeface="Calibri"/>
              <a:cs typeface="Calibri"/>
              <a:sym typeface="Calibri"/>
            </a:endParaRPr>
          </a:p>
        </p:txBody>
      </p:sp>
      <p:sp>
        <p:nvSpPr>
          <p:cNvPr id="835" name="Google Shape;835;p27"/>
          <p:cNvSpPr/>
          <p:nvPr/>
        </p:nvSpPr>
        <p:spPr>
          <a:xfrm>
            <a:off x="5458975" y="1254320"/>
            <a:ext cx="1518000" cy="1188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27"/>
          <p:cNvSpPr/>
          <p:nvPr/>
        </p:nvSpPr>
        <p:spPr>
          <a:xfrm>
            <a:off x="5943600" y="1391475"/>
            <a:ext cx="548700" cy="5487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27"/>
          <p:cNvSpPr txBox="1"/>
          <p:nvPr/>
        </p:nvSpPr>
        <p:spPr>
          <a:xfrm>
            <a:off x="5943600" y="1391475"/>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4</a:t>
            </a:r>
            <a:endParaRPr b="0" i="0" sz="1800" u="none" cap="none" strike="noStrike">
              <a:solidFill>
                <a:schemeClr val="dk1"/>
              </a:solidFill>
              <a:latin typeface="Calibri"/>
              <a:ea typeface="Calibri"/>
              <a:cs typeface="Calibri"/>
              <a:sym typeface="Calibri"/>
            </a:endParaRPr>
          </a:p>
        </p:txBody>
      </p:sp>
      <p:sp>
        <p:nvSpPr>
          <p:cNvPr id="838" name="Google Shape;838;p27"/>
          <p:cNvSpPr txBox="1"/>
          <p:nvPr/>
        </p:nvSpPr>
        <p:spPr>
          <a:xfrm>
            <a:off x="5532120" y="2077275"/>
            <a:ext cx="1371600" cy="365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50"/>
              <a:buFont typeface="Meiryo"/>
              <a:buNone/>
            </a:pPr>
            <a:r>
              <a:rPr b="1" i="0" lang="en-US" sz="1350" u="none" cap="none" strike="noStrike">
                <a:solidFill>
                  <a:srgbClr val="222222"/>
                </a:solidFill>
                <a:latin typeface="Meiryo"/>
                <a:ea typeface="Meiryo"/>
                <a:cs typeface="Meiryo"/>
                <a:sym typeface="Meiryo"/>
              </a:rPr>
              <a:t>対話で直す</a:t>
            </a:r>
            <a:endParaRPr b="0" i="0" sz="1350" u="none" cap="none" strike="noStrike">
              <a:solidFill>
                <a:schemeClr val="dk1"/>
              </a:solidFill>
              <a:latin typeface="Calibri"/>
              <a:ea typeface="Calibri"/>
              <a:cs typeface="Calibri"/>
              <a:sym typeface="Calibri"/>
            </a:endParaRPr>
          </a:p>
        </p:txBody>
      </p:sp>
      <p:sp>
        <p:nvSpPr>
          <p:cNvPr id="839" name="Google Shape;839;p27"/>
          <p:cNvSpPr/>
          <p:nvPr/>
        </p:nvSpPr>
        <p:spPr>
          <a:xfrm>
            <a:off x="7141475" y="1254320"/>
            <a:ext cx="1518000" cy="11886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27"/>
          <p:cNvSpPr/>
          <p:nvPr/>
        </p:nvSpPr>
        <p:spPr>
          <a:xfrm>
            <a:off x="7626096" y="1391475"/>
            <a:ext cx="548700" cy="5487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27"/>
          <p:cNvSpPr txBox="1"/>
          <p:nvPr/>
        </p:nvSpPr>
        <p:spPr>
          <a:xfrm>
            <a:off x="7626096" y="1391475"/>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5</a:t>
            </a:r>
            <a:endParaRPr b="0" i="0" sz="1800" u="none" cap="none" strike="noStrike">
              <a:solidFill>
                <a:schemeClr val="dk1"/>
              </a:solidFill>
              <a:latin typeface="Calibri"/>
              <a:ea typeface="Calibri"/>
              <a:cs typeface="Calibri"/>
              <a:sym typeface="Calibri"/>
            </a:endParaRPr>
          </a:p>
        </p:txBody>
      </p:sp>
      <p:sp>
        <p:nvSpPr>
          <p:cNvPr id="842" name="Google Shape;842;p27"/>
          <p:cNvSpPr txBox="1"/>
          <p:nvPr/>
        </p:nvSpPr>
        <p:spPr>
          <a:xfrm>
            <a:off x="7214616" y="2077275"/>
            <a:ext cx="1371600" cy="365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350"/>
              <a:buFont typeface="Meiryo"/>
              <a:buNone/>
            </a:pPr>
            <a:r>
              <a:rPr b="1" i="0" lang="en-US" sz="1350" u="none" cap="none" strike="noStrike">
                <a:solidFill>
                  <a:srgbClr val="222222"/>
                </a:solidFill>
                <a:latin typeface="Meiryo"/>
                <a:ea typeface="Meiryo"/>
                <a:cs typeface="Meiryo"/>
                <a:sym typeface="Meiryo"/>
              </a:rPr>
              <a:t>1つ選ぶ</a:t>
            </a:r>
            <a:endParaRPr b="0" i="0" sz="1350" u="none" cap="none" strike="noStrike">
              <a:solidFill>
                <a:schemeClr val="dk1"/>
              </a:solidFill>
              <a:latin typeface="Calibri"/>
              <a:ea typeface="Calibri"/>
              <a:cs typeface="Calibri"/>
              <a:sym typeface="Calibri"/>
            </a:endParaRPr>
          </a:p>
        </p:txBody>
      </p:sp>
      <p:sp>
        <p:nvSpPr>
          <p:cNvPr id="843" name="Google Shape;843;p27"/>
          <p:cNvSpPr txBox="1"/>
          <p:nvPr/>
        </p:nvSpPr>
        <p:spPr>
          <a:xfrm>
            <a:off x="374925" y="2697480"/>
            <a:ext cx="8321100" cy="1737360"/>
          </a:xfrm>
          <a:prstGeom prst="rect">
            <a:avLst/>
          </a:prstGeom>
          <a:noFill/>
          <a:ln>
            <a:noFill/>
          </a:ln>
        </p:spPr>
        <p:txBody>
          <a:bodyPr anchorCtr="0" anchor="t" bIns="0" lIns="0" spcFirstLastPara="1" rIns="0" wrap="square" tIns="0">
            <a:noAutofit/>
          </a:bodyPr>
          <a:lstStyle/>
          <a:p>
            <a:pPr marL="177800" indent="-177800" algn="l">
              <a:lnSpc>
                <a:spcPct val="100000"/>
              </a:lnSpc>
              <a:spcBef>
                <a:spcPts val="0"/>
              </a:spcBef>
              <a:spcAft>
                <a:spcPts val="0"/>
              </a:spcAft>
              <a:buFont typeface="Meiryo"/>
              <a:buChar char="•"/>
            </a:pPr>
            <a:r>
              <a:rPr lang="ja-JP" sz="1700" b="0" dirty="0">
                <a:solidFill>
                  <a:srgbClr val="222222"/>
                </a:solidFill>
                <a:latin typeface="Meiryo"/>
                <a:ea typeface="Meiryo"/>
                <a:cs typeface="Meiryo"/>
                <a:sym typeface="Meiryo"/>
              </a:rPr>
              <a:t>何を書けばいいか分からないときは「足りない情報を質問してください」</a:t>
            </a:r>
          </a:p>
          <a:p>
            <a:pPr marL="177800" indent="-177800" algn="l">
              <a:lnSpc>
                <a:spcPct val="100000"/>
              </a:lnSpc>
              <a:spcBef>
                <a:spcPts val="1200"/>
              </a:spcBef>
              <a:spcAft>
                <a:spcPts val="0"/>
              </a:spcAft>
              <a:buFont typeface="Meiryo"/>
              <a:buChar char="•"/>
            </a:pPr>
            <a:r>
              <a:rPr lang="ja-JP" sz="1700" b="0" dirty="0">
                <a:solidFill>
                  <a:srgbClr val="222222"/>
                </a:solidFill>
                <a:latin typeface="Meiryo"/>
                <a:ea typeface="Meiryo"/>
                <a:cs typeface="Meiryo"/>
                <a:sym typeface="Meiryo"/>
              </a:rPr>
              <a:t>14:45ごろ、グループで発表するプロンプトを1つ選びます</a:t>
            </a:r>
          </a:p>
          <a:p>
            <a:pPr marL="177800" indent="-177800" algn="l">
              <a:lnSpc>
                <a:spcPct val="100000"/>
              </a:lnSpc>
              <a:spcBef>
                <a:spcPts val="1200"/>
              </a:spcBef>
              <a:spcAft>
                <a:spcPts val="0"/>
              </a:spcAft>
              <a:buFont typeface="Meiryo"/>
              <a:buChar char="•"/>
            </a:pPr>
            <a:r>
              <a:rPr lang="ja-JP" sz="1700" b="0" dirty="0">
                <a:solidFill>
                  <a:srgbClr val="222222"/>
                </a:solidFill>
                <a:latin typeface="Meiryo"/>
                <a:ea typeface="Meiryo"/>
                <a:cs typeface="Meiryo"/>
                <a:sym typeface="Meiryo"/>
              </a:rPr>
              <a:t>14:50から、各グループの代表者が発表します（1グループ2分）</a:t>
            </a:r>
          </a:p>
        </p:txBody>
      </p:sp>
      <p:sp>
        <p:nvSpPr>
          <p:cNvPr id="844" name="Google Shape;844;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9" name="Shape 849"/>
        <p:cNvGrpSpPr/>
        <p:nvPr/>
      </p:nvGrpSpPr>
      <p:grpSpPr>
        <a:xfrm>
          <a:off x="0" y="0"/>
          <a:ext cx="0" cy="0"/>
          <a:chOff x="0" y="0"/>
          <a:chExt cx="0" cy="0"/>
        </a:xfrm>
      </p:grpSpPr>
      <p:sp>
        <p:nvSpPr>
          <p:cNvPr id="850" name="Google Shape;850;p28"/>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プロンプトの型（そのまま使えます）</a:t>
            </a:r>
            <a:endParaRPr b="0" i="0" sz="2200" u="none" cap="none" strike="noStrike">
              <a:solidFill>
                <a:schemeClr val="dk1"/>
              </a:solidFill>
              <a:latin typeface="Calibri"/>
              <a:ea typeface="Calibri"/>
              <a:cs typeface="Calibri"/>
              <a:sym typeface="Calibri"/>
            </a:endParaRPr>
          </a:p>
        </p:txBody>
      </p:sp>
      <p:sp>
        <p:nvSpPr>
          <p:cNvPr id="851" name="Google Shape;851;p28"/>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8"/>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853" name="Google Shape;853;p28"/>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854" name="Google Shape;854;p28"/>
          <p:cNvSpPr txBox="1"/>
          <p:nvPr/>
        </p:nvSpPr>
        <p:spPr>
          <a:xfrm>
            <a:off x="393192" y="868680"/>
            <a:ext cx="1828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Meiryo"/>
              <a:buNone/>
            </a:pPr>
            <a:r>
              <a:rPr b="0" i="0" lang="en-US" sz="1300" u="none" cap="none" strike="noStrike">
                <a:solidFill>
                  <a:srgbClr val="6B7280"/>
                </a:solidFill>
                <a:latin typeface="Meiryo"/>
                <a:ea typeface="Meiryo"/>
                <a:cs typeface="Meiryo"/>
                <a:sym typeface="Meiryo"/>
              </a:rPr>
              <a:t>テンプレート</a:t>
            </a:r>
            <a:endParaRPr b="0" i="0" sz="1300" u="none" cap="none" strike="noStrike">
              <a:solidFill>
                <a:schemeClr val="dk1"/>
              </a:solidFill>
              <a:latin typeface="Calibri"/>
              <a:ea typeface="Calibri"/>
              <a:cs typeface="Calibri"/>
              <a:sym typeface="Calibri"/>
            </a:endParaRPr>
          </a:p>
        </p:txBody>
      </p:sp>
      <p:sp>
        <p:nvSpPr>
          <p:cNvPr id="855" name="Google Shape;855;p28"/>
          <p:cNvSpPr/>
          <p:nvPr/>
        </p:nvSpPr>
        <p:spPr>
          <a:xfrm>
            <a:off x="411480" y="1115568"/>
            <a:ext cx="4846320" cy="329184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28"/>
          <p:cNvSpPr txBox="1"/>
          <p:nvPr/>
        </p:nvSpPr>
        <p:spPr>
          <a:xfrm>
            <a:off x="640080" y="1325880"/>
            <a:ext cx="4434840" cy="2926080"/>
          </a:xfrm>
          <a:prstGeom prst="rect">
            <a:avLst/>
          </a:prstGeom>
          <a:noFill/>
          <a:ln>
            <a:noFill/>
          </a:ln>
        </p:spPr>
        <p:txBody>
          <a:bodyPr anchorCtr="0" anchor="t" bIns="0" lIns="0" spcFirstLastPara="1" rIns="0" wrap="square" tIns="0">
            <a:noAutofit/>
          </a:bodyPr>
          <a:lstStyle/>
          <a:p>
            <a:pPr indent="0" lvl="0" marL="0" marR="0" rtl="0" algn="l">
              <a:lnSpc>
                <a:spcPct val="155000"/>
              </a:lnSpc>
              <a:spcBef>
                <a:spcPts val="0"/>
              </a:spcBef>
              <a:spcAft>
                <a:spcPts val="0"/>
              </a:spcAft>
              <a:buClr>
                <a:srgbClr val="222222"/>
              </a:buClr>
              <a:buSzPts val="1300"/>
              <a:buFont typeface="Meiryo"/>
              <a:buNone/>
            </a:pPr>
            <a:r>
              <a:rPr b="0" i="0" lang="en-US" sz="1600" u="none" cap="none" strike="noStrike">
                <a:solidFill>
                  <a:srgbClr val="222222"/>
                </a:solidFill>
                <a:latin typeface="Meiryo"/>
                <a:ea typeface="Meiryo"/>
                <a:cs typeface="Meiryo"/>
                <a:sym typeface="Meiryo"/>
              </a:rPr>
              <a:t>あなたは【役割】です。</a:t>
            </a:r>
            <a:endParaRPr b="0" i="0" sz="16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1F3A5F"/>
              </a:buClr>
              <a:buSzPts val="1300"/>
              <a:buFont typeface="Meiryo"/>
              <a:buNone/>
            </a:pPr>
            <a:r>
              <a:rPr b="1" i="0" lang="en-US" sz="1600" u="none" cap="none" strike="noStrike">
                <a:solidFill>
                  <a:srgbClr val="1F3A5F"/>
                </a:solidFill>
                <a:latin typeface="Meiryo"/>
                <a:ea typeface="Meiryo"/>
                <a:cs typeface="Meiryo"/>
                <a:sym typeface="Meiryo"/>
              </a:rPr>
              <a:t>【前提】</a:t>
            </a:r>
            <a:r>
              <a:rPr b="0" i="0" lang="en-US" sz="1600" u="none" cap="none" strike="noStrike">
                <a:solidFill>
                  <a:srgbClr val="222222"/>
                </a:solidFill>
                <a:latin typeface="Meiryo"/>
                <a:ea typeface="Meiryo"/>
                <a:cs typeface="Meiryo"/>
                <a:sym typeface="Meiryo"/>
              </a:rPr>
              <a:t>誰が・何のために・どんな状況で</a:t>
            </a:r>
            <a:endParaRPr b="0" i="0" sz="16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8702A"/>
              </a:buClr>
              <a:buSzPts val="1300"/>
              <a:buFont typeface="Meiryo"/>
              <a:buNone/>
            </a:pPr>
            <a:r>
              <a:rPr b="1" i="0" lang="en-US" sz="1600" u="none" cap="none" strike="noStrike">
                <a:solidFill>
                  <a:srgbClr val="E8702A"/>
                </a:solidFill>
                <a:latin typeface="Meiryo"/>
                <a:ea typeface="Meiryo"/>
                <a:cs typeface="Meiryo"/>
                <a:sym typeface="Meiryo"/>
              </a:rPr>
              <a:t>【素材】</a:t>
            </a:r>
            <a:r>
              <a:rPr b="0" i="0" lang="en-US" sz="1600" u="none" cap="none" strike="noStrike">
                <a:solidFill>
                  <a:srgbClr val="222222"/>
                </a:solidFill>
                <a:latin typeface="Meiryo"/>
                <a:ea typeface="Meiryo"/>
                <a:cs typeface="Meiryo"/>
                <a:sym typeface="Meiryo"/>
              </a:rPr>
              <a:t>データ・文章・画像をここに貼る</a:t>
            </a:r>
            <a:endParaRPr b="0" i="0" sz="16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1F3A5F"/>
              </a:buClr>
              <a:buSzPts val="1300"/>
              <a:buFont typeface="Meiryo"/>
              <a:buNone/>
            </a:pPr>
            <a:r>
              <a:rPr b="1" i="0" lang="en-US" sz="1600" u="none" cap="none" strike="noStrike">
                <a:solidFill>
                  <a:srgbClr val="1F3A5F"/>
                </a:solidFill>
                <a:latin typeface="Meiryo"/>
                <a:ea typeface="Meiryo"/>
                <a:cs typeface="Meiryo"/>
                <a:sym typeface="Meiryo"/>
              </a:rPr>
              <a:t>【お手本】</a:t>
            </a:r>
            <a:r>
              <a:rPr b="0" i="0" lang="en-US" sz="1600" u="none" cap="none" strike="noStrike">
                <a:solidFill>
                  <a:srgbClr val="222222"/>
                </a:solidFill>
                <a:latin typeface="Meiryo"/>
                <a:ea typeface="Meiryo"/>
                <a:cs typeface="Meiryo"/>
                <a:sym typeface="Meiryo"/>
              </a:rPr>
              <a:t>過去の良い例があれば</a:t>
            </a:r>
            <a:endParaRPr b="0" i="0" sz="16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1F3A5F"/>
              </a:buClr>
              <a:buSzPts val="1300"/>
              <a:buFont typeface="Meiryo"/>
              <a:buNone/>
            </a:pPr>
            <a:r>
              <a:rPr b="1" i="0" lang="en-US" sz="1600" u="none" cap="none" strike="noStrike">
                <a:solidFill>
                  <a:srgbClr val="1F3A5F"/>
                </a:solidFill>
                <a:latin typeface="Meiryo"/>
                <a:ea typeface="Meiryo"/>
                <a:cs typeface="Meiryo"/>
                <a:sym typeface="Meiryo"/>
              </a:rPr>
              <a:t>【制約】</a:t>
            </a:r>
            <a:r>
              <a:rPr b="0" i="0" lang="en-US" sz="1600" u="none" cap="none" strike="noStrike">
                <a:solidFill>
                  <a:srgbClr val="222222"/>
                </a:solidFill>
                <a:latin typeface="Meiryo"/>
                <a:ea typeface="Meiryo"/>
                <a:cs typeface="Meiryo"/>
                <a:sym typeface="Meiryo"/>
              </a:rPr>
              <a:t>文字数・表記ルール・NG表現</a:t>
            </a:r>
            <a:endParaRPr b="0" i="0" sz="16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1F3A5F"/>
              </a:buClr>
              <a:buSzPts val="1300"/>
              <a:buFont typeface="Meiryo"/>
              <a:buNone/>
            </a:pPr>
            <a:r>
              <a:rPr b="1" i="0" lang="en-US" sz="1600" u="none" cap="none" strike="noStrike">
                <a:solidFill>
                  <a:srgbClr val="1F3A5F"/>
                </a:solidFill>
                <a:latin typeface="Meiryo"/>
                <a:ea typeface="Meiryo"/>
                <a:cs typeface="Meiryo"/>
                <a:sym typeface="Meiryo"/>
              </a:rPr>
              <a:t>【出力】</a:t>
            </a:r>
            <a:r>
              <a:rPr b="0" i="0" lang="en-US" sz="1600" u="none" cap="none" strike="noStrike">
                <a:solidFill>
                  <a:srgbClr val="222222"/>
                </a:solidFill>
                <a:latin typeface="Meiryo"/>
                <a:ea typeface="Meiryo"/>
                <a:cs typeface="Meiryo"/>
                <a:sym typeface="Meiryo"/>
              </a:rPr>
              <a:t>形式・用途・案の数</a:t>
            </a:r>
            <a:endParaRPr b="0" i="0" sz="1600" u="none" cap="none" strike="noStrike">
              <a:solidFill>
                <a:schemeClr val="dk1"/>
              </a:solidFill>
              <a:latin typeface="Calibri"/>
              <a:ea typeface="Calibri"/>
              <a:cs typeface="Calibri"/>
              <a:sym typeface="Calibri"/>
            </a:endParaRPr>
          </a:p>
        </p:txBody>
      </p:sp>
      <p:sp>
        <p:nvSpPr>
          <p:cNvPr id="857" name="Google Shape;857;p28"/>
          <p:cNvSpPr/>
          <p:nvPr/>
        </p:nvSpPr>
        <p:spPr>
          <a:xfrm>
            <a:off x="5532120" y="1115568"/>
            <a:ext cx="3200400" cy="32918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28"/>
          <p:cNvSpPr txBox="1"/>
          <p:nvPr/>
        </p:nvSpPr>
        <p:spPr>
          <a:xfrm>
            <a:off x="5760720" y="1280160"/>
            <a:ext cx="2834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350"/>
              <a:buFont typeface="Meiryo"/>
              <a:buNone/>
            </a:pPr>
            <a:r>
              <a:rPr b="1" i="0" lang="en-US" sz="1350" u="none" cap="none" strike="noStrike">
                <a:solidFill>
                  <a:srgbClr val="1F3A5F"/>
                </a:solidFill>
                <a:latin typeface="Meiryo"/>
                <a:ea typeface="Meiryo"/>
                <a:cs typeface="Meiryo"/>
                <a:sym typeface="Meiryo"/>
              </a:rPr>
              <a:t>修正のひと言 例</a:t>
            </a:r>
            <a:endParaRPr b="0" i="0" sz="1350" u="none" cap="none" strike="noStrike">
              <a:solidFill>
                <a:schemeClr val="dk1"/>
              </a:solidFill>
              <a:latin typeface="Calibri"/>
              <a:ea typeface="Calibri"/>
              <a:cs typeface="Calibri"/>
              <a:sym typeface="Calibri"/>
            </a:endParaRPr>
          </a:p>
        </p:txBody>
      </p:sp>
      <p:sp>
        <p:nvSpPr>
          <p:cNvPr id="859" name="Google Shape;859;p28"/>
          <p:cNvSpPr txBox="1"/>
          <p:nvPr/>
        </p:nvSpPr>
        <p:spPr>
          <a:xfrm>
            <a:off x="5760720" y="1737360"/>
            <a:ext cx="2834640" cy="2560320"/>
          </a:xfrm>
          <a:prstGeom prst="rect">
            <a:avLst/>
          </a:prstGeom>
          <a:noFill/>
          <a:ln>
            <a:noFill/>
          </a:ln>
        </p:spPr>
        <p:txBody>
          <a:bodyPr anchorCtr="0" anchor="t" bIns="0" lIns="0" spcFirstLastPara="1" rIns="0" wrap="square" tIns="0">
            <a:noAutofit/>
          </a:bodyPr>
          <a:lstStyle/>
          <a:p>
            <a:pPr indent="-196850" lvl="0" marL="177800" marR="0" rtl="0" algn="l">
              <a:lnSpc>
                <a:spcPct val="100000"/>
              </a:lnSpc>
              <a:spcBef>
                <a:spcPts val="0"/>
              </a:spcBef>
              <a:spcAft>
                <a:spcPts val="0"/>
              </a:spcAft>
              <a:buClr>
                <a:srgbClr val="222222"/>
              </a:buClr>
              <a:buSzPts val="1450"/>
              <a:buFont typeface="Meiryo"/>
              <a:buChar char="•"/>
            </a:pPr>
            <a:r>
              <a:rPr b="0" i="0" lang="en-US" sz="1450" u="none" cap="none" strike="noStrike">
                <a:solidFill>
                  <a:srgbClr val="222222"/>
                </a:solidFill>
                <a:latin typeface="Meiryo"/>
                <a:ea typeface="Meiryo"/>
                <a:cs typeface="Meiryo"/>
                <a:sym typeface="Meiryo"/>
              </a:rPr>
              <a:t>もっと短くしてください</a:t>
            </a:r>
            <a:endParaRPr b="0" i="0" sz="1450" u="none" cap="none" strike="noStrike">
              <a:solidFill>
                <a:schemeClr val="dk1"/>
              </a:solidFill>
              <a:latin typeface="Calibri"/>
              <a:ea typeface="Calibri"/>
              <a:cs typeface="Calibri"/>
              <a:sym typeface="Calibri"/>
            </a:endParaRPr>
          </a:p>
          <a:p>
            <a:pPr indent="-196850" lvl="0" marL="177800" marR="0" rtl="0" algn="l">
              <a:lnSpc>
                <a:spcPct val="100000"/>
              </a:lnSpc>
              <a:spcBef>
                <a:spcPts val="800"/>
              </a:spcBef>
              <a:spcAft>
                <a:spcPts val="0"/>
              </a:spcAft>
              <a:buClr>
                <a:srgbClr val="222222"/>
              </a:buClr>
              <a:buSzPts val="1450"/>
              <a:buFont typeface="Meiryo"/>
              <a:buChar char="•"/>
            </a:pPr>
            <a:r>
              <a:rPr lang="en-US" sz="1450">
                <a:solidFill>
                  <a:srgbClr val="222222"/>
                </a:solidFill>
                <a:latin typeface="Meiryo"/>
                <a:ea typeface="Meiryo"/>
                <a:cs typeface="Meiryo"/>
                <a:sym typeface="Meiryo"/>
              </a:rPr>
              <a:t>子どもにも伝わる言葉にしてください</a:t>
            </a:r>
            <a:endParaRPr b="0" i="0" sz="1450" u="none" cap="none" strike="noStrike">
              <a:solidFill>
                <a:schemeClr val="dk1"/>
              </a:solidFill>
              <a:latin typeface="Calibri"/>
              <a:ea typeface="Calibri"/>
              <a:cs typeface="Calibri"/>
              <a:sym typeface="Calibri"/>
            </a:endParaRPr>
          </a:p>
          <a:p>
            <a:pPr indent="-196850" lvl="0" marL="177800" marR="0" rtl="0" algn="l">
              <a:lnSpc>
                <a:spcPct val="100000"/>
              </a:lnSpc>
              <a:spcBef>
                <a:spcPts val="800"/>
              </a:spcBef>
              <a:spcAft>
                <a:spcPts val="0"/>
              </a:spcAft>
              <a:buClr>
                <a:srgbClr val="222222"/>
              </a:buClr>
              <a:buSzPts val="1450"/>
              <a:buFont typeface="Meiryo"/>
              <a:buChar char="•"/>
            </a:pPr>
            <a:r>
              <a:rPr b="0" i="0" lang="en-US" sz="1450" u="none" cap="none" strike="noStrike">
                <a:solidFill>
                  <a:srgbClr val="222222"/>
                </a:solidFill>
                <a:latin typeface="Meiryo"/>
                <a:ea typeface="Meiryo"/>
                <a:cs typeface="Meiryo"/>
                <a:sym typeface="Meiryo"/>
              </a:rPr>
              <a:t>表の形にしてください</a:t>
            </a:r>
            <a:endParaRPr b="0" i="0" sz="1450" u="none" cap="none" strike="noStrike">
              <a:solidFill>
                <a:schemeClr val="dk1"/>
              </a:solidFill>
              <a:latin typeface="Calibri"/>
              <a:ea typeface="Calibri"/>
              <a:cs typeface="Calibri"/>
              <a:sym typeface="Calibri"/>
            </a:endParaRPr>
          </a:p>
          <a:p>
            <a:pPr indent="-196850" lvl="0" marL="177800" marR="0" rtl="0" algn="l">
              <a:lnSpc>
                <a:spcPct val="100000"/>
              </a:lnSpc>
              <a:spcBef>
                <a:spcPts val="800"/>
              </a:spcBef>
              <a:spcAft>
                <a:spcPts val="0"/>
              </a:spcAft>
              <a:buClr>
                <a:srgbClr val="222222"/>
              </a:buClr>
              <a:buSzPts val="1450"/>
              <a:buFont typeface="Meiryo"/>
              <a:buChar char="•"/>
            </a:pPr>
            <a:r>
              <a:rPr b="0" i="0" lang="en-US" sz="1450" u="none" cap="none" strike="noStrike">
                <a:solidFill>
                  <a:srgbClr val="222222"/>
                </a:solidFill>
                <a:latin typeface="Meiryo"/>
                <a:ea typeface="Meiryo"/>
                <a:cs typeface="Meiryo"/>
                <a:sym typeface="Meiryo"/>
              </a:rPr>
              <a:t>2案目をベースに、見出しだけ変えてください</a:t>
            </a:r>
            <a:endParaRPr b="0" i="0" sz="1450" u="none" cap="none" strike="noStrike">
              <a:solidFill>
                <a:schemeClr val="dk1"/>
              </a:solidFill>
              <a:latin typeface="Calibri"/>
              <a:ea typeface="Calibri"/>
              <a:cs typeface="Calibri"/>
              <a:sym typeface="Calibri"/>
            </a:endParaRPr>
          </a:p>
          <a:p>
            <a:pPr indent="-196850" lvl="0" marL="177800" marR="0" rtl="0" algn="l">
              <a:lnSpc>
                <a:spcPct val="100000"/>
              </a:lnSpc>
              <a:spcBef>
                <a:spcPts val="800"/>
              </a:spcBef>
              <a:spcAft>
                <a:spcPts val="0"/>
              </a:spcAft>
              <a:buClr>
                <a:srgbClr val="222222"/>
              </a:buClr>
              <a:buSzPts val="1450"/>
              <a:buFont typeface="Meiryo"/>
              <a:buChar char="•"/>
            </a:pPr>
            <a:r>
              <a:rPr b="0" i="0" lang="en-US" sz="1450" u="none" cap="none" strike="noStrike">
                <a:solidFill>
                  <a:srgbClr val="222222"/>
                </a:solidFill>
                <a:latin typeface="Meiryo"/>
                <a:ea typeface="Meiryo"/>
                <a:cs typeface="Meiryo"/>
                <a:sym typeface="Meiryo"/>
              </a:rPr>
              <a:t>足りない情報があれば質問してください</a:t>
            </a:r>
            <a:endParaRPr b="0" i="0" sz="1450" u="none" cap="none" strike="noStrike">
              <a:solidFill>
                <a:schemeClr val="dk1"/>
              </a:solidFill>
              <a:latin typeface="Calibri"/>
              <a:ea typeface="Calibri"/>
              <a:cs typeface="Calibri"/>
              <a:sym typeface="Calibri"/>
            </a:endParaRPr>
          </a:p>
        </p:txBody>
      </p:sp>
      <p:sp>
        <p:nvSpPr>
          <p:cNvPr id="860" name="Google Shape;86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5" name="Shape 865"/>
        <p:cNvGrpSpPr/>
        <p:nvPr/>
      </p:nvGrpSpPr>
      <p:grpSpPr>
        <a:xfrm>
          <a:off x="0" y="0"/>
          <a:ext cx="0" cy="0"/>
          <a:chOff x="0" y="0"/>
          <a:chExt cx="0" cy="0"/>
        </a:xfrm>
      </p:grpSpPr>
      <p:sp>
        <p:nvSpPr>
          <p:cNvPr id="866" name="Google Shape;866;p29"/>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ワーク② 成果発表</a:t>
            </a:r>
            <a:endParaRPr b="0" i="0" sz="2200" u="none" cap="none" strike="noStrike">
              <a:solidFill>
                <a:schemeClr val="dk1"/>
              </a:solidFill>
              <a:latin typeface="Calibri"/>
              <a:ea typeface="Calibri"/>
              <a:cs typeface="Calibri"/>
              <a:sym typeface="Calibri"/>
            </a:endParaRPr>
          </a:p>
        </p:txBody>
      </p:sp>
      <p:sp>
        <p:nvSpPr>
          <p:cNvPr id="867" name="Google Shape;867;p29"/>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868" name="Google Shape;868;p29"/>
          <p:cNvSpPr txBox="1"/>
          <p:nvPr/>
        </p:nvSpPr>
        <p:spPr>
          <a:xfrm>
            <a:off x="411480" y="914400"/>
            <a:ext cx="8321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500"/>
              <a:buFont typeface="Meiryo"/>
              <a:buNone/>
            </a:pPr>
            <a:r>
              <a:rPr b="1" lang="en-US" sz="1500">
                <a:solidFill>
                  <a:srgbClr val="1F3A5F"/>
                </a:solidFill>
                <a:latin typeface="Meiryo"/>
                <a:ea typeface="Meiryo"/>
                <a:cs typeface="Meiryo"/>
                <a:sym typeface="Meiryo"/>
              </a:rPr>
              <a:t>各グループの代表者が発表します（1グループ2分）</a:t>
            </a:r>
            <a:endParaRPr b="0" i="0" sz="1500" u="none" cap="none" strike="noStrike">
              <a:solidFill>
                <a:schemeClr val="dk1"/>
              </a:solidFill>
              <a:latin typeface="Calibri"/>
              <a:ea typeface="Calibri"/>
              <a:cs typeface="Calibri"/>
              <a:sym typeface="Calibri"/>
            </a:endParaRPr>
          </a:p>
        </p:txBody>
      </p:sp>
      <p:sp>
        <p:nvSpPr>
          <p:cNvPr id="869" name="Google Shape;869;p29"/>
          <p:cNvSpPr txBox="1"/>
          <p:nvPr/>
        </p:nvSpPr>
        <p:spPr>
          <a:xfrm>
            <a:off x="411475" y="1417288"/>
            <a:ext cx="7710300" cy="30297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①取り組んだ業務と、困っていた内容</a:t>
            </a:r>
            <a:endParaRPr sz="2000"/>
          </a:p>
          <a:p>
            <a:pPr indent="0" lvl="0" marL="0" rtl="0" algn="l">
              <a:lnSpc>
                <a:spcPct val="150000"/>
              </a:lnSpc>
              <a:spcBef>
                <a:spcPts val="0"/>
              </a:spcBef>
              <a:spcAft>
                <a:spcPts val="0"/>
              </a:spcAft>
              <a:buNone/>
            </a:pPr>
            <a:r>
              <a:t/>
            </a:r>
            <a:endParaRPr sz="1000"/>
          </a:p>
          <a:p>
            <a:pPr indent="0" lvl="0" marL="0" rtl="0" algn="l">
              <a:lnSpc>
                <a:spcPct val="150000"/>
              </a:lnSpc>
              <a:spcBef>
                <a:spcPts val="0"/>
              </a:spcBef>
              <a:spcAft>
                <a:spcPts val="0"/>
              </a:spcAft>
              <a:buNone/>
            </a:pPr>
            <a:r>
              <a:rPr lang="en-US" sz="2000"/>
              <a:t>②プロンプトの中身</a:t>
            </a:r>
            <a:endParaRPr sz="2000"/>
          </a:p>
          <a:p>
            <a:pPr indent="0" lvl="0" marL="0" rtl="0" algn="l">
              <a:lnSpc>
                <a:spcPct val="150000"/>
              </a:lnSpc>
              <a:spcBef>
                <a:spcPts val="0"/>
              </a:spcBef>
              <a:spcAft>
                <a:spcPts val="0"/>
              </a:spcAft>
              <a:buNone/>
            </a:pPr>
            <a:r>
              <a:rPr lang="en-US" sz="2000"/>
              <a:t>（</a:t>
            </a:r>
            <a:r>
              <a:rPr lang="en-US" sz="2000"/>
              <a:t>前提・素材・お手本・制約のうち何を入れたか</a:t>
            </a:r>
            <a:r>
              <a:rPr lang="en-US" sz="2000"/>
              <a:t>）</a:t>
            </a:r>
            <a:endParaRPr sz="2000"/>
          </a:p>
          <a:p>
            <a:pPr indent="0" lvl="0" marL="0" rtl="0" algn="l">
              <a:lnSpc>
                <a:spcPct val="150000"/>
              </a:lnSpc>
              <a:spcBef>
                <a:spcPts val="0"/>
              </a:spcBef>
              <a:spcAft>
                <a:spcPts val="0"/>
              </a:spcAft>
              <a:buNone/>
            </a:pPr>
            <a:r>
              <a:t/>
            </a:r>
            <a:endParaRPr sz="1000"/>
          </a:p>
          <a:p>
            <a:pPr indent="0" lvl="0" marL="0" rtl="0" algn="l">
              <a:lnSpc>
                <a:spcPct val="150000"/>
              </a:lnSpc>
              <a:spcBef>
                <a:spcPts val="0"/>
              </a:spcBef>
              <a:spcAft>
                <a:spcPts val="0"/>
              </a:spcAft>
              <a:buNone/>
            </a:pPr>
            <a:r>
              <a:rPr lang="en-US" sz="2000"/>
              <a:t>③どう変わったか、欲しい答えが出たか</a:t>
            </a:r>
            <a:endParaRPr sz="2000"/>
          </a:p>
          <a:p>
            <a:pPr indent="0" lvl="0" marL="0" rtl="0" algn="l">
              <a:lnSpc>
                <a:spcPct val="150000"/>
              </a:lnSpc>
              <a:spcBef>
                <a:spcPts val="0"/>
              </a:spcBef>
              <a:spcAft>
                <a:spcPts val="0"/>
              </a:spcAft>
              <a:buNone/>
            </a:pPr>
            <a:r>
              <a:rPr lang="en-US" sz="2000"/>
              <a:t>（最初の結果と比べて、何が良くなったか）</a:t>
            </a:r>
            <a:endParaRPr sz="2000"/>
          </a:p>
        </p:txBody>
      </p:sp>
      <p:sp>
        <p:nvSpPr>
          <p:cNvPr id="870" name="Google Shape;870;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5" name="Shape 875"/>
        <p:cNvGrpSpPr/>
        <p:nvPr/>
      </p:nvGrpSpPr>
      <p:grpSpPr>
        <a:xfrm>
          <a:off x="0" y="0"/>
          <a:ext cx="0" cy="0"/>
          <a:chOff x="0" y="0"/>
          <a:chExt cx="0" cy="0"/>
        </a:xfrm>
      </p:grpSpPr>
      <p:sp>
        <p:nvSpPr>
          <p:cNvPr id="876" name="Google Shape;876;p30"/>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休憩（10分）＆Tips</a:t>
            </a:r>
            <a:endParaRPr b="0" i="0" sz="2200" u="none" cap="none" strike="noStrike">
              <a:solidFill>
                <a:schemeClr val="dk1"/>
              </a:solidFill>
              <a:latin typeface="Calibri"/>
              <a:ea typeface="Calibri"/>
              <a:cs typeface="Calibri"/>
              <a:sym typeface="Calibri"/>
            </a:endParaRPr>
          </a:p>
        </p:txBody>
      </p:sp>
      <p:sp>
        <p:nvSpPr>
          <p:cNvPr id="877" name="Google Shape;877;p30"/>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878" name="Google Shape;878;p30"/>
          <p:cNvSpPr/>
          <p:nvPr/>
        </p:nvSpPr>
        <p:spPr>
          <a:xfrm>
            <a:off x="502920" y="1097280"/>
            <a:ext cx="731520" cy="731520"/>
          </a:xfrm>
          <a:prstGeom prst="ellipse">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9" name="Google Shape;879;p30"/>
          <p:cNvPicPr preferRelativeResize="0"/>
          <p:nvPr/>
        </p:nvPicPr>
        <p:blipFill rotWithShape="1">
          <a:blip r:embed="rId3">
            <a:alphaModFix/>
          </a:blip>
          <a:srcRect b="0" l="0" r="0" t="0"/>
          <a:stretch/>
        </p:blipFill>
        <p:spPr>
          <a:xfrm>
            <a:off x="663854" y="1258214"/>
            <a:ext cx="409651" cy="409651"/>
          </a:xfrm>
          <a:prstGeom prst="rect">
            <a:avLst/>
          </a:prstGeom>
          <a:noFill/>
          <a:ln>
            <a:noFill/>
          </a:ln>
        </p:spPr>
      </p:pic>
      <p:sp>
        <p:nvSpPr>
          <p:cNvPr id="880" name="Google Shape;880;p30"/>
          <p:cNvSpPr txBox="1"/>
          <p:nvPr/>
        </p:nvSpPr>
        <p:spPr>
          <a:xfrm>
            <a:off x="1463040" y="1234440"/>
            <a:ext cx="5486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800"/>
              <a:buFont typeface="Meiryo"/>
              <a:buNone/>
            </a:pPr>
            <a:r>
              <a:rPr b="1" i="0" lang="en-US" sz="1800" u="none" cap="none" strike="noStrike">
                <a:solidFill>
                  <a:srgbClr val="1F3A5F"/>
                </a:solidFill>
                <a:latin typeface="Meiryo"/>
                <a:ea typeface="Meiryo"/>
                <a:cs typeface="Meiryo"/>
                <a:sym typeface="Meiryo"/>
              </a:rPr>
              <a:t>15:</a:t>
            </a:r>
            <a:r>
              <a:rPr b="1" lang="en-US" sz="1800">
                <a:solidFill>
                  <a:srgbClr val="1F3A5F"/>
                </a:solidFill>
                <a:latin typeface="Meiryo"/>
                <a:ea typeface="Meiryo"/>
                <a:cs typeface="Meiryo"/>
                <a:sym typeface="Meiryo"/>
              </a:rPr>
              <a:t>10</a:t>
            </a:r>
            <a:r>
              <a:rPr b="1" i="0" lang="en-US" sz="1800" u="none" cap="none" strike="noStrike">
                <a:solidFill>
                  <a:srgbClr val="1F3A5F"/>
                </a:solidFill>
                <a:latin typeface="Meiryo"/>
                <a:ea typeface="Meiryo"/>
                <a:cs typeface="Meiryo"/>
                <a:sym typeface="Meiryo"/>
              </a:rPr>
              <a:t> から再開します</a:t>
            </a:r>
            <a:endParaRPr b="0" i="0" sz="1800" u="none" cap="none" strike="noStrike">
              <a:solidFill>
                <a:schemeClr val="dk1"/>
              </a:solidFill>
              <a:latin typeface="Calibri"/>
              <a:ea typeface="Calibri"/>
              <a:cs typeface="Calibri"/>
              <a:sym typeface="Calibri"/>
            </a:endParaRPr>
          </a:p>
        </p:txBody>
      </p:sp>
      <p:sp>
        <p:nvSpPr>
          <p:cNvPr id="881" name="Google Shape;881;p30"/>
          <p:cNvSpPr txBox="1"/>
          <p:nvPr/>
        </p:nvSpPr>
        <p:spPr>
          <a:xfrm>
            <a:off x="502920" y="224028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800" u="none" cap="none" strike="noStrike">
                <a:solidFill>
                  <a:srgbClr val="222222"/>
                </a:solidFill>
                <a:latin typeface="Meiryo"/>
                <a:ea typeface="Meiryo"/>
                <a:cs typeface="Meiryo"/>
                <a:sym typeface="Meiryo"/>
              </a:rPr>
              <a:t>後半は「販促物づくり」です。休憩中に準備しておくとスムーズです</a:t>
            </a:r>
            <a:endParaRPr b="0" i="0" sz="1800" u="none" cap="none" strike="noStrike">
              <a:solidFill>
                <a:schemeClr val="dk1"/>
              </a:solidFill>
              <a:latin typeface="Calibri"/>
              <a:ea typeface="Calibri"/>
              <a:cs typeface="Calibri"/>
              <a:sym typeface="Calibri"/>
            </a:endParaRPr>
          </a:p>
        </p:txBody>
      </p:sp>
      <p:sp>
        <p:nvSpPr>
          <p:cNvPr id="882" name="Google Shape;882;p30"/>
          <p:cNvSpPr txBox="1"/>
          <p:nvPr/>
        </p:nvSpPr>
        <p:spPr>
          <a:xfrm>
            <a:off x="685800" y="2651760"/>
            <a:ext cx="8046720" cy="1280160"/>
          </a:xfrm>
          <a:prstGeom prst="rect">
            <a:avLst/>
          </a:prstGeom>
          <a:noFill/>
          <a:ln>
            <a:noFill/>
          </a:ln>
        </p:spPr>
        <p:txBody>
          <a:bodyPr anchorCtr="0" anchor="t" bIns="0" lIns="0" spcFirstLastPara="1" rIns="0" wrap="square" tIns="0">
            <a:noAutofit/>
          </a:bodyPr>
          <a:lstStyle/>
          <a:p>
            <a:pPr indent="-200025" lvl="0" marL="177800" marR="0" rtl="0" algn="l">
              <a:lnSpc>
                <a:spcPct val="100000"/>
              </a:lnSpc>
              <a:spcBef>
                <a:spcPts val="0"/>
              </a:spcBef>
              <a:spcAft>
                <a:spcPts val="0"/>
              </a:spcAft>
              <a:buClr>
                <a:srgbClr val="222222"/>
              </a:buClr>
              <a:buSzPts val="1600"/>
              <a:buFont typeface="Meiryo"/>
              <a:buChar char="•"/>
            </a:pPr>
            <a:r>
              <a:rPr b="0" i="0" lang="en-US" sz="1600" u="none" cap="none" strike="noStrike">
                <a:solidFill>
                  <a:srgbClr val="222222"/>
                </a:solidFill>
                <a:latin typeface="Meiryo"/>
                <a:ea typeface="Meiryo"/>
                <a:cs typeface="Meiryo"/>
                <a:sym typeface="Meiryo"/>
              </a:rPr>
              <a:t>使いたい商品写真を、スマホからPCへ送っておく</a:t>
            </a:r>
            <a:endParaRPr b="0" i="0" sz="1600" u="none" cap="none" strike="noStrike">
              <a:solidFill>
                <a:schemeClr val="dk1"/>
              </a:solidFill>
              <a:latin typeface="Calibri"/>
              <a:ea typeface="Calibri"/>
              <a:cs typeface="Calibri"/>
              <a:sym typeface="Calibri"/>
            </a:endParaRPr>
          </a:p>
          <a:p>
            <a:pPr indent="-200025" lvl="0" marL="177800" marR="0" rtl="0" algn="l">
              <a:lnSpc>
                <a:spcPct val="100000"/>
              </a:lnSpc>
              <a:spcBef>
                <a:spcPts val="600"/>
              </a:spcBef>
              <a:spcAft>
                <a:spcPts val="0"/>
              </a:spcAft>
              <a:buClr>
                <a:srgbClr val="222222"/>
              </a:buClr>
              <a:buSzPts val="1600"/>
              <a:buFont typeface="Meiryo"/>
              <a:buChar char="•"/>
            </a:pPr>
            <a:r>
              <a:rPr b="0" i="0" lang="en-US" sz="1600" u="none" cap="none" strike="noStrike">
                <a:solidFill>
                  <a:srgbClr val="222222"/>
                </a:solidFill>
                <a:latin typeface="Meiryo"/>
                <a:ea typeface="Meiryo"/>
                <a:cs typeface="Meiryo"/>
                <a:sym typeface="Meiryo"/>
              </a:rPr>
              <a:t>過去のPOPやチラシがあれば、写真に撮っておく（お手本になります）</a:t>
            </a:r>
            <a:endParaRPr b="0" i="0" sz="1600" u="none" cap="none" strike="noStrike">
              <a:solidFill>
                <a:schemeClr val="dk1"/>
              </a:solidFill>
              <a:latin typeface="Calibri"/>
              <a:ea typeface="Calibri"/>
              <a:cs typeface="Calibri"/>
              <a:sym typeface="Calibri"/>
            </a:endParaRPr>
          </a:p>
          <a:p>
            <a:pPr indent="-200025" lvl="0" marL="177800" marR="0" rtl="0" algn="l">
              <a:lnSpc>
                <a:spcPct val="100000"/>
              </a:lnSpc>
              <a:spcBef>
                <a:spcPts val="600"/>
              </a:spcBef>
              <a:spcAft>
                <a:spcPts val="0"/>
              </a:spcAft>
              <a:buClr>
                <a:srgbClr val="222222"/>
              </a:buClr>
              <a:buSzPts val="1600"/>
              <a:buFont typeface="Meiryo"/>
              <a:buChar char="•"/>
            </a:pPr>
            <a:r>
              <a:rPr b="0" i="0" lang="en-US" sz="1600" u="none" cap="none" strike="noStrike">
                <a:solidFill>
                  <a:srgbClr val="222222"/>
                </a:solidFill>
                <a:latin typeface="Meiryo"/>
                <a:ea typeface="Meiryo"/>
                <a:cs typeface="Meiryo"/>
                <a:sym typeface="Meiryo"/>
              </a:rPr>
              <a:t>何をつくるか（POP・チラシ・SNS画像）を考えておく</a:t>
            </a:r>
            <a:endParaRPr b="0" i="0" sz="1600" u="none" cap="none" strike="noStrike">
              <a:solidFill>
                <a:schemeClr val="dk1"/>
              </a:solidFill>
              <a:latin typeface="Calibri"/>
              <a:ea typeface="Calibri"/>
              <a:cs typeface="Calibri"/>
              <a:sym typeface="Calibri"/>
            </a:endParaRPr>
          </a:p>
        </p:txBody>
      </p:sp>
      <p:sp>
        <p:nvSpPr>
          <p:cNvPr id="883" name="Google Shape;883;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40a0daa3361_0_273"/>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889" name="Google Shape;889;g40a0daa3361_0_273"/>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890" name="Google Shape;890;g40a0daa3361_0_273"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891" name="Google Shape;891;g40a0daa3361_0_27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892" name="Google Shape;892;g40a0daa3361_0_273"/>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05</a:t>
            </a:r>
            <a:endParaRPr b="0" i="0" sz="2800" u="none" cap="none" strike="noStrike">
              <a:solidFill>
                <a:schemeClr val="dk1"/>
              </a:solidFill>
              <a:latin typeface="Calibri"/>
              <a:ea typeface="Calibri"/>
              <a:cs typeface="Calibri"/>
              <a:sym typeface="Calibri"/>
            </a:endParaRPr>
          </a:p>
        </p:txBody>
      </p:sp>
      <p:sp>
        <p:nvSpPr>
          <p:cNvPr id="893" name="Google Shape;893;g40a0daa3361_0_273"/>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画像生成AIで</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販促物をつくる</a:t>
            </a:r>
            <a:endParaRPr b="0" i="0" sz="3000" u="none" cap="none" strike="noStrike">
              <a:solidFill>
                <a:schemeClr val="dk1"/>
              </a:solidFill>
              <a:latin typeface="Calibri"/>
              <a:ea typeface="Calibri"/>
              <a:cs typeface="Calibri"/>
              <a:sym typeface="Calibri"/>
            </a:endParaRPr>
          </a:p>
        </p:txBody>
      </p:sp>
      <p:sp>
        <p:nvSpPr>
          <p:cNvPr id="894" name="Google Shape;894;g40a0daa3361_0_273"/>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15:</a:t>
            </a:r>
            <a:r>
              <a:rPr lang="en-US">
                <a:solidFill>
                  <a:srgbClr val="C9D3E0"/>
                </a:solidFill>
                <a:latin typeface="Meiryo"/>
                <a:ea typeface="Meiryo"/>
                <a:cs typeface="Meiryo"/>
                <a:sym typeface="Meiryo"/>
              </a:rPr>
              <a:t>10</a:t>
            </a:r>
            <a:r>
              <a:rPr b="0" i="0" lang="en-US" sz="1400" u="none" cap="none" strike="noStrike">
                <a:solidFill>
                  <a:srgbClr val="C9D3E0"/>
                </a:solidFill>
                <a:latin typeface="Meiryo"/>
                <a:ea typeface="Meiryo"/>
                <a:cs typeface="Meiryo"/>
                <a:sym typeface="Meiryo"/>
              </a:rPr>
              <a:t> – 15:</a:t>
            </a:r>
            <a:r>
              <a:rPr lang="en-US">
                <a:solidFill>
                  <a:srgbClr val="C9D3E0"/>
                </a:solidFill>
                <a:latin typeface="Meiryo"/>
                <a:ea typeface="Meiryo"/>
                <a:cs typeface="Meiryo"/>
                <a:sym typeface="Meiryo"/>
              </a:rPr>
              <a:t>25</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9" name="Shape 899"/>
        <p:cNvGrpSpPr/>
        <p:nvPr/>
      </p:nvGrpSpPr>
      <p:grpSpPr>
        <a:xfrm>
          <a:off x="0" y="0"/>
          <a:ext cx="0" cy="0"/>
          <a:chOff x="0" y="0"/>
          <a:chExt cx="0" cy="0"/>
        </a:xfrm>
      </p:grpSpPr>
      <p:sp>
        <p:nvSpPr>
          <p:cNvPr id="900" name="Google Shape;900;p19"/>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まずは試してみましょう</a:t>
            </a:r>
            <a:endParaRPr b="0" i="0" sz="2200" u="none" cap="none" strike="noStrike">
              <a:solidFill>
                <a:schemeClr val="dk1"/>
              </a:solidFill>
              <a:latin typeface="Calibri"/>
              <a:ea typeface="Calibri"/>
              <a:cs typeface="Calibri"/>
              <a:sym typeface="Calibri"/>
            </a:endParaRPr>
          </a:p>
        </p:txBody>
      </p:sp>
      <p:sp>
        <p:nvSpPr>
          <p:cNvPr id="901" name="Google Shape;901;p19"/>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902" name="Google Shape;902;p19"/>
          <p:cNvSpPr txBox="1"/>
          <p:nvPr/>
        </p:nvSpPr>
        <p:spPr>
          <a:xfrm>
            <a:off x="411480" y="960120"/>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次の文を、そのままAIに入力してみます。</a:t>
            </a:r>
            <a:endParaRPr b="0" i="0" sz="1400" u="none" cap="none" strike="noStrike">
              <a:solidFill>
                <a:schemeClr val="dk1"/>
              </a:solidFill>
              <a:latin typeface="Calibri"/>
              <a:ea typeface="Calibri"/>
              <a:cs typeface="Calibri"/>
              <a:sym typeface="Calibri"/>
            </a:endParaRPr>
          </a:p>
        </p:txBody>
      </p:sp>
      <p:sp>
        <p:nvSpPr>
          <p:cNvPr id="903" name="Google Shape;903;p19"/>
          <p:cNvSpPr txBox="1"/>
          <p:nvPr/>
        </p:nvSpPr>
        <p:spPr>
          <a:xfrm>
            <a:off x="1353312" y="1508760"/>
            <a:ext cx="13716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Meiryo"/>
              <a:buNone/>
            </a:pPr>
            <a:r>
              <a:rPr b="0" i="0" lang="en-US" u="none" cap="none" strike="noStrike">
                <a:solidFill>
                  <a:srgbClr val="6B7280"/>
                </a:solidFill>
                <a:latin typeface="Meiryo"/>
                <a:ea typeface="Meiryo"/>
                <a:cs typeface="Meiryo"/>
                <a:sym typeface="Meiryo"/>
              </a:rPr>
              <a:t>入力する文</a:t>
            </a:r>
            <a:endParaRPr b="0" i="0" u="none" cap="none" strike="noStrike">
              <a:solidFill>
                <a:schemeClr val="dk1"/>
              </a:solidFill>
              <a:latin typeface="Calibri"/>
              <a:ea typeface="Calibri"/>
              <a:cs typeface="Calibri"/>
              <a:sym typeface="Calibri"/>
            </a:endParaRPr>
          </a:p>
        </p:txBody>
      </p:sp>
      <p:sp>
        <p:nvSpPr>
          <p:cNvPr id="904" name="Google Shape;904;p19"/>
          <p:cNvSpPr/>
          <p:nvPr/>
        </p:nvSpPr>
        <p:spPr>
          <a:xfrm>
            <a:off x="1371600" y="1783080"/>
            <a:ext cx="6400800" cy="100584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9"/>
          <p:cNvSpPr txBox="1"/>
          <p:nvPr/>
        </p:nvSpPr>
        <p:spPr>
          <a:xfrm>
            <a:off x="1554480" y="1920240"/>
            <a:ext cx="6035040"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2222"/>
              </a:buClr>
              <a:buSzPts val="2200"/>
              <a:buFont typeface="Meiryo"/>
              <a:buNone/>
            </a:pPr>
            <a:r>
              <a:rPr b="0" i="0" lang="en-US" sz="2200" u="none" cap="none" strike="noStrike">
                <a:solidFill>
                  <a:srgbClr val="222222"/>
                </a:solidFill>
                <a:latin typeface="Meiryo"/>
                <a:ea typeface="Meiryo"/>
                <a:cs typeface="Meiryo"/>
                <a:sym typeface="Meiryo"/>
              </a:rPr>
              <a:t>買取強化のPOPを作って</a:t>
            </a:r>
            <a:endParaRPr b="0" i="0" sz="2200" u="none" cap="none" strike="noStrike">
              <a:solidFill>
                <a:schemeClr val="dk1"/>
              </a:solidFill>
              <a:latin typeface="Calibri"/>
              <a:ea typeface="Calibri"/>
              <a:cs typeface="Calibri"/>
              <a:sym typeface="Calibri"/>
            </a:endParaRPr>
          </a:p>
        </p:txBody>
      </p:sp>
      <p:sp>
        <p:nvSpPr>
          <p:cNvPr id="906" name="Google Shape;906;p19"/>
          <p:cNvSpPr txBox="1"/>
          <p:nvPr/>
        </p:nvSpPr>
        <p:spPr>
          <a:xfrm>
            <a:off x="411480" y="3154680"/>
            <a:ext cx="83210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300"/>
              <a:buFont typeface="Meiryo"/>
              <a:buNone/>
            </a:pPr>
            <a:r>
              <a:rPr b="0" i="0" lang="en-US" sz="1600" u="none" cap="none" strike="noStrike">
                <a:solidFill>
                  <a:srgbClr val="6B7280"/>
                </a:solidFill>
                <a:latin typeface="Meiryo"/>
                <a:ea typeface="Meiryo"/>
                <a:cs typeface="Meiryo"/>
                <a:sym typeface="Meiryo"/>
              </a:rPr>
              <a:t>細かい条件は付けずに、このまま送ります。</a:t>
            </a:r>
            <a:endParaRPr b="0" i="0" sz="1600" u="none" cap="none" strike="noStrike">
              <a:solidFill>
                <a:schemeClr val="dk1"/>
              </a:solidFill>
              <a:latin typeface="Calibri"/>
              <a:ea typeface="Calibri"/>
              <a:cs typeface="Calibri"/>
              <a:sym typeface="Calibri"/>
            </a:endParaRPr>
          </a:p>
        </p:txBody>
      </p:sp>
      <p:sp>
        <p:nvSpPr>
          <p:cNvPr id="907" name="Google Shape;907;p19"/>
          <p:cNvSpPr txBox="1"/>
          <p:nvPr/>
        </p:nvSpPr>
        <p:spPr>
          <a:xfrm>
            <a:off x="411480" y="3474720"/>
            <a:ext cx="832104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Meiryo"/>
              <a:buNone/>
            </a:pPr>
            <a:r>
              <a:rPr b="0" i="0" lang="en-US" u="none" cap="none" strike="noStrike">
                <a:solidFill>
                  <a:srgbClr val="6B7280"/>
                </a:solidFill>
                <a:latin typeface="Meiryo"/>
                <a:ea typeface="Meiryo"/>
                <a:cs typeface="Meiryo"/>
                <a:sym typeface="Meiryo"/>
              </a:rPr>
              <a:t>（無料版は画像を作れる回数が限られるため、お手元で試すのはワーク③からでも大丈夫です）</a:t>
            </a:r>
            <a:endParaRPr b="0" i="0" u="none" cap="none" strike="noStrike">
              <a:solidFill>
                <a:schemeClr val="dk1"/>
              </a:solidFill>
              <a:latin typeface="Calibri"/>
              <a:ea typeface="Calibri"/>
              <a:cs typeface="Calibri"/>
              <a:sym typeface="Calibri"/>
            </a:endParaRPr>
          </a:p>
        </p:txBody>
      </p:sp>
      <p:sp>
        <p:nvSpPr>
          <p:cNvPr id="908" name="Google Shape;908;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09" name="Google Shape;909;p19"/>
          <p:cNvSpPr/>
          <p:nvPr/>
        </p:nvSpPr>
        <p:spPr>
          <a:xfrm>
            <a:off x="6949440" y="301752"/>
            <a:ext cx="1783200" cy="411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9"/>
          <p:cNvSpPr txBox="1"/>
          <p:nvPr/>
        </p:nvSpPr>
        <p:spPr>
          <a:xfrm>
            <a:off x="6949440" y="301752"/>
            <a:ext cx="17832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pic>
        <p:nvPicPr>
          <p:cNvPr id="916" name="Google Shape;916;h12a068dd872fd278_0_63"/>
          <p:cNvPicPr preferRelativeResize="0"/>
          <p:nvPr/>
        </p:nvPicPr>
        <p:blipFill>
          <a:blip r:embed="rId4">
            <a:alphaModFix/>
          </a:blip>
          <a:stretch>
            <a:fillRect/>
          </a:stretch>
        </p:blipFill>
        <p:spPr>
          <a:xfrm>
            <a:off x="2152650" y="152400"/>
            <a:ext cx="4838700" cy="4838700"/>
          </a:xfrm>
          <a:prstGeom prst="rect">
            <a:avLst/>
          </a:prstGeom>
          <a:noFill/>
          <a:ln>
            <a:noFill/>
          </a:ln>
        </p:spPr>
      </p:pic>
      <p:sp>
        <p:nvSpPr>
          <p:cNvPr id="917" name="Google Shape;917;h12a068dd872fd278_0_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18" name="Text"/>
          <p:cNvSpPr txBox="1"/>
          <p:nvPr/>
        </p:nvSpPr>
        <p:spPr>
          <a:xfrm>
            <a:off x="320040" y="365760"/>
            <a:ext cx="1737360" cy="68580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500" b="1" dirty="0">
                <a:solidFill>
                  <a:srgbClr val="222222"/>
                </a:solidFill>
                <a:latin typeface="Meiryo"/>
                <a:ea typeface="Meiryo"/>
                <a:cs typeface="Meiryo"/>
                <a:sym typeface="Meiryo"/>
              </a:rPr>
              <a:t>ひと言だけで</a:t>
            </a:r>
          </a:p>
          <a:p>
            <a:pPr marL="0" indent="0" algn="l">
              <a:lnSpc>
                <a:spcPct val="100000"/>
              </a:lnSpc>
              <a:spcBef>
                <a:spcPts val="0"/>
              </a:spcBef>
              <a:spcAft>
                <a:spcPts val="0"/>
              </a:spcAft>
              <a:buNone/>
            </a:pPr>
            <a:r>
              <a:rPr lang="ja-JP" sz="1500" b="1" dirty="0">
                <a:solidFill>
                  <a:srgbClr val="222222"/>
                </a:solidFill>
                <a:latin typeface="Meiryo"/>
                <a:ea typeface="Meiryo"/>
                <a:cs typeface="Meiryo"/>
                <a:sym typeface="Meiryo"/>
              </a:rPr>
              <a:t>作ったPOP</a:t>
            </a:r>
          </a:p>
        </p:txBody>
      </p:sp>
      <p:sp>
        <p:nvSpPr>
          <p:cNvPr id="919" name="Text"/>
          <p:cNvSpPr txBox="1"/>
          <p:nvPr/>
        </p:nvSpPr>
        <p:spPr>
          <a:xfrm>
            <a:off x="320040" y="1097280"/>
            <a:ext cx="1737360" cy="6400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000" b="0" dirty="0">
                <a:solidFill>
                  <a:srgbClr val="6B7280"/>
                </a:solidFill>
                <a:latin typeface="Meiryo"/>
                <a:ea typeface="Meiryo"/>
                <a:cs typeface="Meiryo"/>
                <a:sym typeface="Meiryo"/>
              </a:rPr>
              <a:t>「買取強化のPOPを作って」</a:t>
            </a:r>
          </a:p>
        </p:txBody>
      </p:sp>
      <p:sp>
        <p:nvSpPr>
          <p:cNvPr id="920" name="Text"/>
          <p:cNvSpPr txBox="1"/>
          <p:nvPr/>
        </p:nvSpPr>
        <p:spPr>
          <a:xfrm>
            <a:off x="7132320" y="365760"/>
            <a:ext cx="182880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1" dirty="0">
                <a:solidFill>
                  <a:srgbClr val="E8702A"/>
                </a:solidFill>
                <a:latin typeface="Meiryo"/>
                <a:ea typeface="Meiryo"/>
                <a:cs typeface="Meiryo"/>
                <a:sym typeface="Meiryo"/>
              </a:rPr>
              <a:t>気になるところ</a:t>
            </a:r>
          </a:p>
        </p:txBody>
      </p:sp>
      <p:sp>
        <p:nvSpPr>
          <p:cNvPr id="921" name="Text"/>
          <p:cNvSpPr txBox="1"/>
          <p:nvPr/>
        </p:nvSpPr>
        <p:spPr>
          <a:xfrm>
            <a:off x="7132320" y="713232"/>
            <a:ext cx="1828800" cy="1463040"/>
          </a:xfrm>
          <a:prstGeom prst="rect">
            <a:avLst/>
          </a:prstGeom>
          <a:noFill/>
          <a:ln>
            <a:noFill/>
          </a:ln>
        </p:spPr>
        <p:txBody>
          <a:bodyPr wrap="square" lIns="0" tIns="0" rIns="0" bIns="0" anchor="t" anchorCtr="0">
            <a:noAutofit/>
          </a:bodyPr>
          <a:lstStyle/>
          <a:p>
            <a:pPr marL="177800" indent="-177800" algn="l">
              <a:lnSpc>
                <a:spcPct val="100000"/>
              </a:lnSpc>
              <a:spcBef>
                <a:spcPts val="0"/>
              </a:spcBef>
              <a:spcAft>
                <a:spcPts val="0"/>
              </a:spcAft>
              <a:buClr>
                <a:srgbClr val="E8702A"/>
              </a:buClr>
              <a:buFont typeface="Meiryo"/>
              <a:buChar char="•"/>
            </a:pPr>
            <a:r>
              <a:rPr lang="ja-JP" sz="1100" b="0" dirty="0">
                <a:solidFill>
                  <a:srgbClr val="222222"/>
                </a:solidFill>
                <a:latin typeface="Meiryo"/>
                <a:ea typeface="Meiryo"/>
                <a:cs typeface="Meiryo"/>
                <a:sym typeface="Meiryo"/>
              </a:rPr>
              <a:t>店名・期間・条件が</a:t>
            </a:r>
          </a:p>
          <a:p>
            <a:pPr marL="177800" indent="0" algn="l">
              <a:lnSpc>
                <a:spcPct val="100000"/>
              </a:lnSpc>
              <a:spcBef>
                <a:spcPts val="0"/>
              </a:spcBef>
              <a:spcAft>
                <a:spcPts val="0"/>
              </a:spcAft>
              <a:buNone/>
            </a:pPr>
            <a:r>
              <a:rPr lang="ja-JP" sz="1100" b="0" dirty="0">
                <a:solidFill>
                  <a:srgbClr val="222222"/>
                </a:solidFill>
                <a:latin typeface="Meiryo"/>
                <a:ea typeface="Meiryo"/>
                <a:cs typeface="Meiryo"/>
                <a:sym typeface="Meiryo"/>
              </a:rPr>
              <a:t>入っていない</a:t>
            </a:r>
          </a:p>
          <a:p>
            <a:pPr marL="177800" indent="-177800" algn="l">
              <a:lnSpc>
                <a:spcPct val="100000"/>
              </a:lnSpc>
              <a:spcBef>
                <a:spcPts val="600"/>
              </a:spcBef>
              <a:spcAft>
                <a:spcPts val="0"/>
              </a:spcAft>
              <a:buClr>
                <a:srgbClr val="E8702A"/>
              </a:buClr>
              <a:buFont typeface="Meiryo"/>
              <a:buChar char="•"/>
            </a:pPr>
            <a:r>
              <a:rPr lang="ja-JP" sz="1100" b="0" dirty="0">
                <a:solidFill>
                  <a:srgbClr val="222222"/>
                </a:solidFill>
                <a:latin typeface="Meiryo"/>
                <a:ea typeface="Meiryo"/>
                <a:cs typeface="Meiryo"/>
                <a:sym typeface="Meiryo"/>
              </a:rPr>
              <a:t>どこの店でも使える文言</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h603855749043a6f2_0_10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25" name="Google Shape;925;h603855749043a6f2_0_103"/>
          <p:cNvSpPr txBox="1"/>
          <p:nvPr/>
        </p:nvSpPr>
        <p:spPr>
          <a:xfrm>
            <a:off x="411480" y="274320"/>
            <a:ext cx="63093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lang="en-US" sz="2200">
                <a:solidFill>
                  <a:srgbClr val="222222"/>
                </a:solidFill>
                <a:latin typeface="Meiryo"/>
                <a:ea typeface="Meiryo"/>
                <a:cs typeface="Meiryo"/>
                <a:sym typeface="Meiryo"/>
              </a:rPr>
              <a:t>画像づくりは「良い見本」から始める</a:t>
            </a:r>
            <a:endParaRPr b="0" i="0" sz="2200" u="none" cap="none" strike="noStrike">
              <a:solidFill>
                <a:schemeClr val="dk1"/>
              </a:solidFill>
              <a:latin typeface="Calibri"/>
              <a:ea typeface="Calibri"/>
              <a:cs typeface="Calibri"/>
              <a:sym typeface="Calibri"/>
            </a:endParaRPr>
          </a:p>
        </p:txBody>
      </p:sp>
      <p:sp>
        <p:nvSpPr>
          <p:cNvPr id="926" name="Card"/>
          <p:cNvSpPr/>
          <p:nvPr/>
        </p:nvSpPr>
        <p:spPr>
          <a:xfrm>
            <a:off x="411480" y="1005840"/>
            <a:ext cx="3246120" cy="3429000"/>
          </a:xfrm>
          <a:prstGeom prst="rect">
            <a:avLst/>
          </a:prstGeom>
          <a:solidFill>
            <a:srgbClr val="F6F7F9"/>
          </a:solidFill>
          <a:ln w="12700">
            <a:solidFill>
              <a:srgbClr val="F6F7F9"/>
            </a:solidFill>
          </a:ln>
        </p:spPr>
        <p:txBody>
          <a:bodyPr wrap="square" lIns="0" tIns="0" rIns="0" bIns="0" anchor="t" anchorCtr="0">
            <a:noAutofit/>
          </a:bodyPr>
          <a:lstStyle/>
          <a:p>
            <a:pPr marL="0" indent="0">
              <a:buNone/>
            </a:pPr>
            <a:endParaRPr lang="ja-JP"/>
          </a:p>
        </p:txBody>
      </p:sp>
      <p:sp>
        <p:nvSpPr>
          <p:cNvPr id="927" name="Icon Circle"/>
          <p:cNvSpPr/>
          <p:nvPr/>
        </p:nvSpPr>
        <p:spPr>
          <a:xfrm>
            <a:off x="621792" y="1188720"/>
            <a:ext cx="457200" cy="457200"/>
          </a:xfrm>
          <a:prstGeom prst="ellipse">
            <a:avLst/>
          </a:prstGeom>
          <a:solidFill>
            <a:srgbClr val="9CA3AF"/>
          </a:solidFill>
          <a:ln w="12700">
            <a:solidFill>
              <a:srgbClr val="9CA3AF"/>
            </a:solidFill>
          </a:ln>
        </p:spPr>
        <p:txBody>
          <a:bodyPr wrap="square" lIns="0" tIns="0" rIns="0" bIns="0" anchor="ctr" anchorCtr="0">
            <a:noAutofit/>
          </a:bodyPr>
          <a:lstStyle/>
          <a:p>
            <a:pPr marL="0" indent="0" algn="ctr">
              <a:lnSpc>
                <a:spcPct val="100000"/>
              </a:lnSpc>
              <a:spcBef>
                <a:spcPts val="0"/>
              </a:spcBef>
              <a:spcAft>
                <a:spcPts val="0"/>
              </a:spcAft>
              <a:buNone/>
            </a:pPr>
            <a:r>
              <a:rPr lang="ja-JP" sz="1600" b="1" dirty="0">
                <a:solidFill>
                  <a:srgbClr val="FFFFFF"/>
                </a:solidFill>
                <a:latin typeface="Meiryo"/>
                <a:ea typeface="Meiryo"/>
                <a:cs typeface="Meiryo"/>
                <a:sym typeface="Meiryo"/>
              </a:rPr>
              <a:t>×</a:t>
            </a:r>
          </a:p>
        </p:txBody>
      </p:sp>
      <p:sp>
        <p:nvSpPr>
          <p:cNvPr id="928" name="Text"/>
          <p:cNvSpPr txBox="1"/>
          <p:nvPr/>
        </p:nvSpPr>
        <p:spPr>
          <a:xfrm>
            <a:off x="1207008" y="1188720"/>
            <a:ext cx="2286000" cy="45720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500" b="1" dirty="0">
                <a:solidFill>
                  <a:srgbClr val="6B7280"/>
                </a:solidFill>
                <a:latin typeface="Meiryo"/>
                <a:ea typeface="Meiryo"/>
                <a:cs typeface="Meiryo"/>
                <a:sym typeface="Meiryo"/>
              </a:rPr>
              <a:t>ゼロから作ってもらう</a:t>
            </a:r>
          </a:p>
        </p:txBody>
      </p:sp>
      <p:sp>
        <p:nvSpPr>
          <p:cNvPr id="929" name="Text"/>
          <p:cNvSpPr txBox="1"/>
          <p:nvPr/>
        </p:nvSpPr>
        <p:spPr>
          <a:xfrm>
            <a:off x="640080" y="1874520"/>
            <a:ext cx="2834640" cy="2286000"/>
          </a:xfrm>
          <a:prstGeom prst="rect">
            <a:avLst/>
          </a:prstGeom>
          <a:noFill/>
          <a:ln>
            <a:noFill/>
          </a:ln>
        </p:spPr>
        <p:txBody>
          <a:bodyPr wrap="square" lIns="0" tIns="0" rIns="0" bIns="0" anchor="t" anchorCtr="0">
            <a:noAutofit/>
          </a:bodyPr>
          <a:lstStyle/>
          <a:p>
            <a:pPr marL="177800" indent="-177800" algn="l">
              <a:lnSpc>
                <a:spcPct val="100000"/>
              </a:lnSpc>
              <a:spcBef>
                <a:spcPts val="0"/>
              </a:spcBef>
              <a:spcAft>
                <a:spcPts val="0"/>
              </a:spcAft>
              <a:buFont typeface="Meiryo"/>
              <a:buChar char="•"/>
            </a:pPr>
            <a:r>
              <a:rPr lang="ja-JP" sz="1250" b="0" dirty="0">
                <a:solidFill>
                  <a:srgbClr val="222222"/>
                </a:solidFill>
                <a:latin typeface="Meiryo"/>
                <a:ea typeface="Meiryo"/>
                <a:cs typeface="Meiryo"/>
                <a:sym typeface="Meiryo"/>
              </a:rPr>
              <a:t>AIが一から考えるので、どこの店でも使える見た目になりがち</a:t>
            </a:r>
          </a:p>
          <a:p>
            <a:pPr marL="177800" indent="-177800" algn="l">
              <a:lnSpc>
                <a:spcPct val="100000"/>
              </a:lnSpc>
              <a:spcBef>
                <a:spcPts val="800"/>
              </a:spcBef>
              <a:spcAft>
                <a:spcPts val="0"/>
              </a:spcAft>
              <a:buFont typeface="Meiryo"/>
              <a:buChar char="•"/>
            </a:pPr>
            <a:r>
              <a:rPr lang="ja-JP" sz="1250" b="0" dirty="0">
                <a:solidFill>
                  <a:srgbClr val="222222"/>
                </a:solidFill>
                <a:latin typeface="Meiryo"/>
                <a:ea typeface="Meiryo"/>
                <a:cs typeface="Meiryo"/>
                <a:sym typeface="Meiryo"/>
              </a:rPr>
              <a:t>いつもの売場の雰囲気と合わず、作り直しが増える</a:t>
            </a:r>
          </a:p>
        </p:txBody>
      </p:sp>
      <p:sp>
        <p:nvSpPr>
          <p:cNvPr id="930" name="Card"/>
          <p:cNvSpPr/>
          <p:nvPr/>
        </p:nvSpPr>
        <p:spPr>
          <a:xfrm>
            <a:off x="3886200" y="1005840"/>
            <a:ext cx="4846320" cy="3429000"/>
          </a:xfrm>
          <a:prstGeom prst="rect">
            <a:avLst/>
          </a:prstGeom>
          <a:solidFill>
            <a:srgbClr val="FDEBDD"/>
          </a:solidFill>
          <a:ln w="12700">
            <a:solidFill>
              <a:srgbClr val="FDEBDD"/>
            </a:solidFill>
          </a:ln>
        </p:spPr>
        <p:txBody>
          <a:bodyPr wrap="square" lIns="0" tIns="0" rIns="0" bIns="0" anchor="t" anchorCtr="0">
            <a:noAutofit/>
          </a:bodyPr>
          <a:lstStyle/>
          <a:p>
            <a:pPr marL="0" indent="0">
              <a:buNone/>
            </a:pPr>
            <a:endParaRPr lang="ja-JP"/>
          </a:p>
        </p:txBody>
      </p:sp>
      <p:sp>
        <p:nvSpPr>
          <p:cNvPr id="931" name="Icon Circle"/>
          <p:cNvSpPr/>
          <p:nvPr/>
        </p:nvSpPr>
        <p:spPr>
          <a:xfrm>
            <a:off x="4096512" y="1188720"/>
            <a:ext cx="457200" cy="457200"/>
          </a:xfrm>
          <a:prstGeom prst="ellipse">
            <a:avLst/>
          </a:prstGeom>
          <a:solidFill>
            <a:srgbClr val="E8702A"/>
          </a:solidFill>
          <a:ln w="12700">
            <a:solidFill>
              <a:srgbClr val="E8702A"/>
            </a:solidFill>
          </a:ln>
        </p:spPr>
        <p:txBody>
          <a:bodyPr wrap="square" lIns="0" tIns="0" rIns="0" bIns="0" anchor="t" anchorCtr="0">
            <a:noAutofit/>
          </a:bodyPr>
          <a:lstStyle/>
          <a:p>
            <a:pPr marL="0" indent="0">
              <a:buNone/>
            </a:pPr>
            <a:endParaRPr lang="ja-JP"/>
          </a:p>
        </p:txBody>
      </p:sp>
      <p:pic>
        <p:nvPicPr>
          <p:cNvPr id="932" name="Icon" descr="icon"/>
          <p:cNvPicPr preferRelativeResize="0"/>
          <p:nvPr/>
        </p:nvPicPr>
        <p:blipFill>
          <a:blip r:embed="rId3"/>
          <a:stretch>
            <a:fillRect/>
          </a:stretch>
        </p:blipFill>
        <p:spPr>
          <a:xfrm>
            <a:off x="4197096" y="1289304"/>
            <a:ext cx="256032" cy="256032"/>
          </a:xfrm>
          <a:prstGeom prst="rect">
            <a:avLst/>
          </a:prstGeom>
          <a:noFill/>
        </p:spPr>
      </p:pic>
      <p:sp>
        <p:nvSpPr>
          <p:cNvPr id="933" name="Text"/>
          <p:cNvSpPr txBox="1"/>
          <p:nvPr/>
        </p:nvSpPr>
        <p:spPr>
          <a:xfrm>
            <a:off x="4681728" y="1188720"/>
            <a:ext cx="3931920" cy="45720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500" b="1" dirty="0">
                <a:solidFill>
                  <a:srgbClr val="E8702A"/>
                </a:solidFill>
                <a:latin typeface="Meiryo"/>
                <a:ea typeface="Meiryo"/>
                <a:cs typeface="Meiryo"/>
                <a:sym typeface="Meiryo"/>
              </a:rPr>
              <a:t>良い見本をもとに作ってもらう</a:t>
            </a:r>
          </a:p>
        </p:txBody>
      </p:sp>
      <p:sp>
        <p:nvSpPr>
          <p:cNvPr id="934" name="Num"/>
          <p:cNvSpPr/>
          <p:nvPr/>
        </p:nvSpPr>
        <p:spPr>
          <a:xfrm>
            <a:off x="4114800" y="1874520"/>
            <a:ext cx="420624" cy="420624"/>
          </a:xfrm>
          <a:prstGeom prst="ellipse">
            <a:avLst/>
          </a:prstGeom>
          <a:solidFill>
            <a:srgbClr val="1F3A5F"/>
          </a:solidFill>
          <a:ln w="12700">
            <a:solidFill>
              <a:srgbClr val="1F3A5F"/>
            </a:solidFill>
          </a:ln>
        </p:spPr>
        <p:txBody>
          <a:bodyPr wrap="square" lIns="0" tIns="0" rIns="0" bIns="0" anchor="ctr" anchorCtr="0">
            <a:noAutofit/>
          </a:bodyPr>
          <a:lstStyle/>
          <a:p>
            <a:pPr marL="0" indent="0" algn="ctr">
              <a:lnSpc>
                <a:spcPct val="100000"/>
              </a:lnSpc>
              <a:spcBef>
                <a:spcPts val="0"/>
              </a:spcBef>
              <a:spcAft>
                <a:spcPts val="0"/>
              </a:spcAft>
              <a:buNone/>
            </a:pPr>
            <a:r>
              <a:rPr lang="ja-JP" sz="1300" b="1" dirty="0">
                <a:solidFill>
                  <a:srgbClr val="FFFFFF"/>
                </a:solidFill>
                <a:latin typeface="Meiryo"/>
                <a:ea typeface="Meiryo"/>
                <a:cs typeface="Meiryo"/>
                <a:sym typeface="Meiryo"/>
              </a:rPr>
              <a:t>1</a:t>
            </a:r>
          </a:p>
        </p:txBody>
      </p:sp>
      <p:sp>
        <p:nvSpPr>
          <p:cNvPr id="935" name="Text"/>
          <p:cNvSpPr txBox="1"/>
          <p:nvPr/>
        </p:nvSpPr>
        <p:spPr>
          <a:xfrm>
            <a:off x="4709160" y="1847088"/>
            <a:ext cx="3886200" cy="29260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350" b="1" dirty="0">
                <a:solidFill>
                  <a:srgbClr val="222222"/>
                </a:solidFill>
                <a:latin typeface="Meiryo"/>
                <a:ea typeface="Meiryo"/>
                <a:cs typeface="Meiryo"/>
                <a:sym typeface="Meiryo"/>
              </a:rPr>
              <a:t>好評だった過去のデザインを選ぶ</a:t>
            </a:r>
          </a:p>
        </p:txBody>
      </p:sp>
      <p:sp>
        <p:nvSpPr>
          <p:cNvPr id="936" name="Text"/>
          <p:cNvSpPr txBox="1"/>
          <p:nvPr/>
        </p:nvSpPr>
        <p:spPr>
          <a:xfrm>
            <a:off x="4709160" y="2139696"/>
            <a:ext cx="388620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150" b="0" dirty="0">
                <a:solidFill>
                  <a:srgbClr val="6B7280"/>
                </a:solidFill>
                <a:latin typeface="Meiryo"/>
                <a:ea typeface="Meiryo"/>
                <a:cs typeface="Meiryo"/>
                <a:sym typeface="Meiryo"/>
              </a:rPr>
              <a:t>過去のPOPやチラシを写真に撮って添付する</a:t>
            </a:r>
          </a:p>
        </p:txBody>
      </p:sp>
      <p:sp>
        <p:nvSpPr>
          <p:cNvPr id="937" name="Num"/>
          <p:cNvSpPr/>
          <p:nvPr/>
        </p:nvSpPr>
        <p:spPr>
          <a:xfrm>
            <a:off x="4114800" y="2697480"/>
            <a:ext cx="420624" cy="420624"/>
          </a:xfrm>
          <a:prstGeom prst="ellipse">
            <a:avLst/>
          </a:prstGeom>
          <a:solidFill>
            <a:srgbClr val="1F3A5F"/>
          </a:solidFill>
          <a:ln w="12700">
            <a:solidFill>
              <a:srgbClr val="1F3A5F"/>
            </a:solidFill>
          </a:ln>
        </p:spPr>
        <p:txBody>
          <a:bodyPr wrap="square" lIns="0" tIns="0" rIns="0" bIns="0" anchor="ctr" anchorCtr="0">
            <a:noAutofit/>
          </a:bodyPr>
          <a:lstStyle/>
          <a:p>
            <a:pPr marL="0" indent="0" algn="ctr">
              <a:lnSpc>
                <a:spcPct val="100000"/>
              </a:lnSpc>
              <a:spcBef>
                <a:spcPts val="0"/>
              </a:spcBef>
              <a:spcAft>
                <a:spcPts val="0"/>
              </a:spcAft>
              <a:buNone/>
            </a:pPr>
            <a:r>
              <a:rPr lang="ja-JP" sz="1300" b="1" dirty="0">
                <a:solidFill>
                  <a:srgbClr val="FFFFFF"/>
                </a:solidFill>
                <a:latin typeface="Meiryo"/>
                <a:ea typeface="Meiryo"/>
                <a:cs typeface="Meiryo"/>
                <a:sym typeface="Meiryo"/>
              </a:rPr>
              <a:t>2</a:t>
            </a:r>
          </a:p>
        </p:txBody>
      </p:sp>
      <p:sp>
        <p:nvSpPr>
          <p:cNvPr id="938" name="Text"/>
          <p:cNvSpPr txBox="1"/>
          <p:nvPr/>
        </p:nvSpPr>
        <p:spPr>
          <a:xfrm>
            <a:off x="4709160" y="2670048"/>
            <a:ext cx="3886200" cy="29260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350" b="1" dirty="0">
                <a:solidFill>
                  <a:srgbClr val="222222"/>
                </a:solidFill>
                <a:latin typeface="Meiryo"/>
                <a:ea typeface="Meiryo"/>
                <a:cs typeface="Meiryo"/>
                <a:sym typeface="Meiryo"/>
              </a:rPr>
              <a:t>今回の条件を書き足す</a:t>
            </a:r>
          </a:p>
        </p:txBody>
      </p:sp>
      <p:sp>
        <p:nvSpPr>
          <p:cNvPr id="939" name="Text"/>
          <p:cNvSpPr txBox="1"/>
          <p:nvPr/>
        </p:nvSpPr>
        <p:spPr>
          <a:xfrm>
            <a:off x="4709160" y="2962656"/>
            <a:ext cx="388620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150" b="0" dirty="0">
                <a:solidFill>
                  <a:srgbClr val="6B7280"/>
                </a:solidFill>
                <a:latin typeface="Meiryo"/>
                <a:ea typeface="Meiryo"/>
                <a:cs typeface="Meiryo"/>
                <a:sym typeface="Meiryo"/>
              </a:rPr>
              <a:t>店名・期間・内容・守ること</a:t>
            </a:r>
          </a:p>
        </p:txBody>
      </p:sp>
      <p:sp>
        <p:nvSpPr>
          <p:cNvPr id="940" name="Num"/>
          <p:cNvSpPr/>
          <p:nvPr/>
        </p:nvSpPr>
        <p:spPr>
          <a:xfrm>
            <a:off x="4114800" y="3520440"/>
            <a:ext cx="420624" cy="420624"/>
          </a:xfrm>
          <a:prstGeom prst="ellipse">
            <a:avLst/>
          </a:prstGeom>
          <a:solidFill>
            <a:srgbClr val="1F3A5F"/>
          </a:solidFill>
          <a:ln w="12700">
            <a:solidFill>
              <a:srgbClr val="1F3A5F"/>
            </a:solidFill>
          </a:ln>
        </p:spPr>
        <p:txBody>
          <a:bodyPr wrap="square" lIns="0" tIns="0" rIns="0" bIns="0" anchor="ctr" anchorCtr="0">
            <a:noAutofit/>
          </a:bodyPr>
          <a:lstStyle/>
          <a:p>
            <a:pPr marL="0" indent="0" algn="ctr">
              <a:lnSpc>
                <a:spcPct val="100000"/>
              </a:lnSpc>
              <a:spcBef>
                <a:spcPts val="0"/>
              </a:spcBef>
              <a:spcAft>
                <a:spcPts val="0"/>
              </a:spcAft>
              <a:buNone/>
            </a:pPr>
            <a:r>
              <a:rPr lang="ja-JP" sz="1300" b="1" dirty="0">
                <a:solidFill>
                  <a:srgbClr val="FFFFFF"/>
                </a:solidFill>
                <a:latin typeface="Meiryo"/>
                <a:ea typeface="Meiryo"/>
                <a:cs typeface="Meiryo"/>
                <a:sym typeface="Meiryo"/>
              </a:rPr>
              <a:t>3</a:t>
            </a:r>
          </a:p>
        </p:txBody>
      </p:sp>
      <p:sp>
        <p:nvSpPr>
          <p:cNvPr id="941" name="Text"/>
          <p:cNvSpPr txBox="1"/>
          <p:nvPr/>
        </p:nvSpPr>
        <p:spPr>
          <a:xfrm>
            <a:off x="4709160" y="3493008"/>
            <a:ext cx="3886200" cy="29260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350" b="1" dirty="0">
                <a:solidFill>
                  <a:srgbClr val="222222"/>
                </a:solidFill>
                <a:latin typeface="Meiryo"/>
                <a:ea typeface="Meiryo"/>
                <a:cs typeface="Meiryo"/>
                <a:sym typeface="Meiryo"/>
              </a:rPr>
              <a:t>見本に合わせて、AIに仕上げてもらう</a:t>
            </a:r>
          </a:p>
        </p:txBody>
      </p:sp>
      <p:sp>
        <p:nvSpPr>
          <p:cNvPr id="942" name="Text"/>
          <p:cNvSpPr txBox="1"/>
          <p:nvPr/>
        </p:nvSpPr>
        <p:spPr>
          <a:xfrm>
            <a:off x="4709160" y="3785616"/>
            <a:ext cx="388620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150" b="0" dirty="0">
                <a:solidFill>
                  <a:srgbClr val="6B7280"/>
                </a:solidFill>
                <a:latin typeface="Meiryo"/>
                <a:ea typeface="Meiryo"/>
                <a:cs typeface="Meiryo"/>
                <a:sym typeface="Meiryo"/>
              </a:rPr>
              <a:t>「この雰囲気に合わせてください」と伝える</a:t>
            </a:r>
          </a:p>
        </p:txBody>
      </p:sp>
      <p:sp>
        <p:nvSpPr>
          <p:cNvPr id="943" name="Google Shape;901;p19"/>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930" name="Shape 930"/>
        <p:cNvGrpSpPr/>
        <p:nvPr/>
      </p:nvGrpSpPr>
      <p:grpSpPr>
        <a:xfrm>
          <a:off x="0" y="0"/>
          <a:ext cx="0" cy="0"/>
          <a:chOff x="0" y="0"/>
          <a:chExt cx="0" cy="0"/>
        </a:xfrm>
      </p:grpSpPr>
      <p:sp>
        <p:nvSpPr>
          <p:cNvPr id="931" name="Google Shape;931;p20"/>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返ってきた答えを見てみると…</a:t>
            </a:r>
            <a:endParaRPr b="0" i="0" sz="2200" u="none" cap="none" strike="noStrike">
              <a:solidFill>
                <a:schemeClr val="dk1"/>
              </a:solidFill>
              <a:latin typeface="Calibri"/>
              <a:ea typeface="Calibri"/>
              <a:cs typeface="Calibri"/>
              <a:sym typeface="Calibri"/>
            </a:endParaRPr>
          </a:p>
        </p:txBody>
      </p:sp>
      <p:sp>
        <p:nvSpPr>
          <p:cNvPr id="932" name="Google Shape;932;p20"/>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933" name="Google Shape;933;p20"/>
          <p:cNvSpPr/>
          <p:nvPr/>
        </p:nvSpPr>
        <p:spPr>
          <a:xfrm>
            <a:off x="457200" y="1051560"/>
            <a:ext cx="438912" cy="438912"/>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34" name="Google Shape;934;p20"/>
          <p:cNvPicPr preferRelativeResize="0"/>
          <p:nvPr/>
        </p:nvPicPr>
        <p:blipFill rotWithShape="1">
          <a:blip r:embed="rId3">
            <a:alphaModFix/>
          </a:blip>
          <a:srcRect b="0" l="0" r="0" t="0"/>
          <a:stretch/>
        </p:blipFill>
        <p:spPr>
          <a:xfrm>
            <a:off x="553761" y="1148121"/>
            <a:ext cx="245791" cy="245791"/>
          </a:xfrm>
          <a:prstGeom prst="rect">
            <a:avLst/>
          </a:prstGeom>
          <a:noFill/>
          <a:ln>
            <a:noFill/>
          </a:ln>
        </p:spPr>
      </p:pic>
      <p:sp>
        <p:nvSpPr>
          <p:cNvPr id="935" name="Google Shape;935;p20"/>
          <p:cNvSpPr txBox="1"/>
          <p:nvPr/>
        </p:nvSpPr>
        <p:spPr>
          <a:xfrm>
            <a:off x="1051560" y="1051560"/>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店名・商品名・価格が入っていない</a:t>
            </a:r>
            <a:endParaRPr b="0" i="0" sz="1250" u="none" cap="none" strike="noStrike">
              <a:solidFill>
                <a:schemeClr val="dk1"/>
              </a:solidFill>
              <a:latin typeface="Calibri"/>
              <a:ea typeface="Calibri"/>
              <a:cs typeface="Calibri"/>
              <a:sym typeface="Calibri"/>
            </a:endParaRPr>
          </a:p>
        </p:txBody>
      </p:sp>
      <p:sp>
        <p:nvSpPr>
          <p:cNvPr id="936" name="Google Shape;936;p20"/>
          <p:cNvSpPr/>
          <p:nvPr/>
        </p:nvSpPr>
        <p:spPr>
          <a:xfrm>
            <a:off x="457200" y="1709928"/>
            <a:ext cx="438912" cy="438912"/>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37" name="Google Shape;937;p20"/>
          <p:cNvPicPr preferRelativeResize="0"/>
          <p:nvPr/>
        </p:nvPicPr>
        <p:blipFill rotWithShape="1">
          <a:blip r:embed="rId3">
            <a:alphaModFix/>
          </a:blip>
          <a:srcRect b="0" l="0" r="0" t="0"/>
          <a:stretch/>
        </p:blipFill>
        <p:spPr>
          <a:xfrm>
            <a:off x="553761" y="1806489"/>
            <a:ext cx="245791" cy="245791"/>
          </a:xfrm>
          <a:prstGeom prst="rect">
            <a:avLst/>
          </a:prstGeom>
          <a:noFill/>
          <a:ln>
            <a:noFill/>
          </a:ln>
        </p:spPr>
      </p:pic>
      <p:sp>
        <p:nvSpPr>
          <p:cNvPr id="938" name="Google Shape;938;p20"/>
          <p:cNvSpPr txBox="1"/>
          <p:nvPr/>
        </p:nvSpPr>
        <p:spPr>
          <a:xfrm>
            <a:off x="1051560" y="1709928"/>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「買取</a:t>
            </a:r>
            <a:r>
              <a:rPr lang="en-US" sz="1250">
                <a:solidFill>
                  <a:srgbClr val="222222"/>
                </a:solidFill>
                <a:latin typeface="Meiryo"/>
                <a:ea typeface="Meiryo"/>
                <a:cs typeface="Meiryo"/>
                <a:sym typeface="Meiryo"/>
              </a:rPr>
              <a:t>強化</a:t>
            </a:r>
            <a:r>
              <a:rPr b="0" i="0" lang="en-US" sz="1250" u="none" cap="none" strike="noStrike">
                <a:solidFill>
                  <a:srgbClr val="222222"/>
                </a:solidFill>
                <a:latin typeface="Meiryo"/>
                <a:ea typeface="Meiryo"/>
                <a:cs typeface="Meiryo"/>
                <a:sym typeface="Meiryo"/>
              </a:rPr>
              <a:t>中！」など、どこの店でも使える文言</a:t>
            </a:r>
            <a:endParaRPr b="0" i="0" sz="1250" u="none" cap="none" strike="noStrike">
              <a:solidFill>
                <a:schemeClr val="dk1"/>
              </a:solidFill>
              <a:latin typeface="Calibri"/>
              <a:ea typeface="Calibri"/>
              <a:cs typeface="Calibri"/>
              <a:sym typeface="Calibri"/>
            </a:endParaRPr>
          </a:p>
        </p:txBody>
      </p:sp>
      <p:sp>
        <p:nvSpPr>
          <p:cNvPr id="939" name="Google Shape;939;p20"/>
          <p:cNvSpPr/>
          <p:nvPr/>
        </p:nvSpPr>
        <p:spPr>
          <a:xfrm>
            <a:off x="457200" y="2368296"/>
            <a:ext cx="438912" cy="438912"/>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0" name="Google Shape;940;p20"/>
          <p:cNvPicPr preferRelativeResize="0"/>
          <p:nvPr/>
        </p:nvPicPr>
        <p:blipFill rotWithShape="1">
          <a:blip r:embed="rId3">
            <a:alphaModFix/>
          </a:blip>
          <a:srcRect b="0" l="0" r="0" t="0"/>
          <a:stretch/>
        </p:blipFill>
        <p:spPr>
          <a:xfrm>
            <a:off x="553761" y="2464857"/>
            <a:ext cx="245791" cy="245791"/>
          </a:xfrm>
          <a:prstGeom prst="rect">
            <a:avLst/>
          </a:prstGeom>
          <a:noFill/>
          <a:ln>
            <a:noFill/>
          </a:ln>
        </p:spPr>
      </p:pic>
      <p:sp>
        <p:nvSpPr>
          <p:cNvPr id="941" name="Google Shape;941;p20"/>
          <p:cNvSpPr txBox="1"/>
          <p:nvPr/>
        </p:nvSpPr>
        <p:spPr>
          <a:xfrm>
            <a:off x="1051560" y="2368296"/>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売場の雰囲気や、いつものPOPのトーンと合わない</a:t>
            </a:r>
            <a:endParaRPr b="0" i="0" sz="1250" u="none" cap="none" strike="noStrike">
              <a:solidFill>
                <a:schemeClr val="dk1"/>
              </a:solidFill>
              <a:latin typeface="Calibri"/>
              <a:ea typeface="Calibri"/>
              <a:cs typeface="Calibri"/>
              <a:sym typeface="Calibri"/>
            </a:endParaRPr>
          </a:p>
        </p:txBody>
      </p:sp>
      <p:sp>
        <p:nvSpPr>
          <p:cNvPr id="942" name="Google Shape;942;p20"/>
          <p:cNvSpPr/>
          <p:nvPr/>
        </p:nvSpPr>
        <p:spPr>
          <a:xfrm>
            <a:off x="457200" y="3026664"/>
            <a:ext cx="438912" cy="438912"/>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3" name="Google Shape;943;p20"/>
          <p:cNvPicPr preferRelativeResize="0"/>
          <p:nvPr/>
        </p:nvPicPr>
        <p:blipFill rotWithShape="1">
          <a:blip r:embed="rId3">
            <a:alphaModFix/>
          </a:blip>
          <a:srcRect b="0" l="0" r="0" t="0"/>
          <a:stretch/>
        </p:blipFill>
        <p:spPr>
          <a:xfrm>
            <a:off x="553761" y="3123225"/>
            <a:ext cx="245791" cy="245791"/>
          </a:xfrm>
          <a:prstGeom prst="rect">
            <a:avLst/>
          </a:prstGeom>
          <a:noFill/>
          <a:ln>
            <a:noFill/>
          </a:ln>
        </p:spPr>
      </p:pic>
      <p:sp>
        <p:nvSpPr>
          <p:cNvPr id="944" name="Google Shape;944;p20"/>
          <p:cNvSpPr txBox="1"/>
          <p:nvPr/>
        </p:nvSpPr>
        <p:spPr>
          <a:xfrm>
            <a:off x="1051560" y="3026664"/>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Meiryo"/>
              <a:buNone/>
            </a:pPr>
            <a:r>
              <a:rPr b="0" i="0" lang="en-US" sz="1250" u="none" cap="none" strike="noStrike">
                <a:solidFill>
                  <a:srgbClr val="222222"/>
                </a:solidFill>
                <a:latin typeface="Meiryo"/>
                <a:ea typeface="Meiryo"/>
                <a:cs typeface="Meiryo"/>
                <a:sym typeface="Meiryo"/>
              </a:rPr>
              <a:t>そのままでは使えず、あとから手直しが必要になる</a:t>
            </a:r>
            <a:endParaRPr b="0" i="0" sz="1250" u="none" cap="none" strike="noStrike">
              <a:solidFill>
                <a:schemeClr val="dk1"/>
              </a:solidFill>
              <a:latin typeface="Calibri"/>
              <a:ea typeface="Calibri"/>
              <a:cs typeface="Calibri"/>
              <a:sym typeface="Calibri"/>
            </a:endParaRPr>
          </a:p>
        </p:txBody>
      </p:sp>
      <p:sp>
        <p:nvSpPr>
          <p:cNvPr id="945" name="Google Shape;945;p20"/>
          <p:cNvSpPr/>
          <p:nvPr/>
        </p:nvSpPr>
        <p:spPr>
          <a:xfrm>
            <a:off x="5166360" y="1005840"/>
            <a:ext cx="3566160" cy="27432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20"/>
          <p:cNvSpPr txBox="1"/>
          <p:nvPr/>
        </p:nvSpPr>
        <p:spPr>
          <a:xfrm>
            <a:off x="5349240" y="1234440"/>
            <a:ext cx="3200400" cy="13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原因はAIの性能ではなく、</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頭の中の情報が</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700"/>
              <a:buFont typeface="Meiryo"/>
              <a:buNone/>
            </a:pPr>
            <a:r>
              <a:rPr b="1" i="0" lang="en-US" sz="1700" u="none" cap="none" strike="noStrike">
                <a:solidFill>
                  <a:srgbClr val="FFFFFF"/>
                </a:solidFill>
                <a:latin typeface="Meiryo"/>
                <a:ea typeface="Meiryo"/>
                <a:cs typeface="Meiryo"/>
                <a:sym typeface="Meiryo"/>
              </a:rPr>
              <a:t>伝わっていないこと</a:t>
            </a:r>
            <a:endParaRPr b="0" i="0" sz="1700" u="none" cap="none" strike="noStrike">
              <a:solidFill>
                <a:schemeClr val="dk1"/>
              </a:solidFill>
              <a:latin typeface="Calibri"/>
              <a:ea typeface="Calibri"/>
              <a:cs typeface="Calibri"/>
              <a:sym typeface="Calibri"/>
            </a:endParaRPr>
          </a:p>
        </p:txBody>
      </p:sp>
      <p:sp>
        <p:nvSpPr>
          <p:cNvPr id="947" name="Google Shape;947;p20"/>
          <p:cNvSpPr txBox="1"/>
          <p:nvPr/>
        </p:nvSpPr>
        <p:spPr>
          <a:xfrm>
            <a:off x="5349240" y="2743200"/>
            <a:ext cx="320040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C9A8"/>
              </a:buClr>
              <a:buSzPts val="1250"/>
              <a:buFont typeface="Meiryo"/>
              <a:buNone/>
            </a:pPr>
            <a:r>
              <a:rPr b="0" i="0" lang="en-US" sz="1250" u="none" cap="none" strike="noStrike">
                <a:solidFill>
                  <a:srgbClr val="F4C9A8"/>
                </a:solidFill>
                <a:latin typeface="Meiryo"/>
                <a:ea typeface="Meiryo"/>
                <a:cs typeface="Meiryo"/>
                <a:sym typeface="Meiryo"/>
              </a:rPr>
              <a:t>AIは事情を察してくれません。</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4C9A8"/>
              </a:buClr>
              <a:buSzPts val="1250"/>
              <a:buFont typeface="Meiryo"/>
              <a:buNone/>
            </a:pPr>
            <a:r>
              <a:rPr b="0" i="0" lang="en-US" sz="1250" u="none" cap="none" strike="noStrike">
                <a:solidFill>
                  <a:srgbClr val="F4C9A8"/>
                </a:solidFill>
                <a:latin typeface="Meiryo"/>
                <a:ea typeface="Meiryo"/>
                <a:cs typeface="Meiryo"/>
                <a:sym typeface="Meiryo"/>
              </a:rPr>
              <a:t>渡した情報に応じて答えが変わります。</a:t>
            </a:r>
            <a:endParaRPr b="0" i="0" sz="1250" u="none" cap="none" strike="noStrike">
              <a:solidFill>
                <a:schemeClr val="dk1"/>
              </a:solidFill>
              <a:latin typeface="Calibri"/>
              <a:ea typeface="Calibri"/>
              <a:cs typeface="Calibri"/>
              <a:sym typeface="Calibri"/>
            </a:endParaRPr>
          </a:p>
        </p:txBody>
      </p:sp>
      <p:sp>
        <p:nvSpPr>
          <p:cNvPr id="948" name="Google Shape;948;p20"/>
          <p:cNvSpPr txBox="1"/>
          <p:nvPr/>
        </p:nvSpPr>
        <p:spPr>
          <a:xfrm>
            <a:off x="411480" y="4069080"/>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300"/>
              <a:buFont typeface="Meiryo"/>
              <a:buNone/>
            </a:pPr>
            <a:r>
              <a:rPr b="1" i="0" lang="en-US" sz="1300" u="none" cap="none" strike="noStrike">
                <a:solidFill>
                  <a:srgbClr val="E8702A"/>
                </a:solidFill>
                <a:latin typeface="Meiryo"/>
                <a:ea typeface="Meiryo"/>
                <a:cs typeface="Meiryo"/>
                <a:sym typeface="Meiryo"/>
              </a:rPr>
              <a:t>作り直しを減らすカギは、最初の指示にあります。</a:t>
            </a:r>
            <a:endParaRPr b="0" i="0" sz="1300" u="none" cap="none" strike="noStrike">
              <a:solidFill>
                <a:schemeClr val="dk1"/>
              </a:solidFill>
              <a:latin typeface="Calibri"/>
              <a:ea typeface="Calibri"/>
              <a:cs typeface="Calibri"/>
              <a:sym typeface="Calibri"/>
            </a:endParaRPr>
          </a:p>
        </p:txBody>
      </p:sp>
      <p:sp>
        <p:nvSpPr>
          <p:cNvPr id="949" name="Google Shape;949;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4" name="Shape 954"/>
        <p:cNvGrpSpPr/>
        <p:nvPr/>
      </p:nvGrpSpPr>
      <p:grpSpPr>
        <a:xfrm>
          <a:off x="0" y="0"/>
          <a:ext cx="0" cy="0"/>
          <a:chOff x="0" y="0"/>
          <a:chExt cx="0" cy="0"/>
        </a:xfrm>
      </p:grpSpPr>
      <p:sp>
        <p:nvSpPr>
          <p:cNvPr id="955" name="Google Shape;955;p23"/>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情報を足したプロンプト</a:t>
            </a:r>
            <a:endParaRPr b="0" i="0" sz="2200" u="none" cap="none" strike="noStrike">
              <a:solidFill>
                <a:schemeClr val="dk1"/>
              </a:solidFill>
              <a:latin typeface="Calibri"/>
              <a:ea typeface="Calibri"/>
              <a:cs typeface="Calibri"/>
              <a:sym typeface="Calibri"/>
            </a:endParaRPr>
          </a:p>
        </p:txBody>
      </p:sp>
      <p:sp>
        <p:nvSpPr>
          <p:cNvPr id="956" name="Google Shape;956;p23"/>
          <p:cNvSpPr/>
          <p:nvPr/>
        </p:nvSpPr>
        <p:spPr>
          <a:xfrm>
            <a:off x="6949440" y="301752"/>
            <a:ext cx="1783080" cy="41148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23"/>
          <p:cNvSpPr txBox="1"/>
          <p:nvPr/>
        </p:nvSpPr>
        <p:spPr>
          <a:xfrm>
            <a:off x="6949377" y="301690"/>
            <a:ext cx="17832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chemeClr val="dk1"/>
              </a:solidFill>
              <a:latin typeface="Calibri"/>
              <a:ea typeface="Calibri"/>
              <a:cs typeface="Calibri"/>
              <a:sym typeface="Calibri"/>
            </a:endParaRPr>
          </a:p>
        </p:txBody>
      </p:sp>
      <p:sp>
        <p:nvSpPr>
          <p:cNvPr id="958" name="Google Shape;958;p23"/>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959" name="Google Shape;959;p23"/>
          <p:cNvSpPr txBox="1"/>
          <p:nvPr/>
        </p:nvSpPr>
        <p:spPr>
          <a:xfrm>
            <a:off x="393192" y="868680"/>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Meiryo"/>
              <a:buNone/>
            </a:pPr>
            <a:r>
              <a:rPr b="0" i="0" lang="en-US" sz="1000" u="none" cap="none" strike="noStrike">
                <a:solidFill>
                  <a:srgbClr val="6B7280"/>
                </a:solidFill>
                <a:latin typeface="Meiryo"/>
                <a:ea typeface="Meiryo"/>
                <a:cs typeface="Meiryo"/>
                <a:sym typeface="Meiryo"/>
              </a:rPr>
              <a:t>(例)</a:t>
            </a:r>
            <a:endParaRPr b="0" i="0" sz="1000" u="none" cap="none" strike="noStrike">
              <a:solidFill>
                <a:schemeClr val="dk1"/>
              </a:solidFill>
              <a:latin typeface="Calibri"/>
              <a:ea typeface="Calibri"/>
              <a:cs typeface="Calibri"/>
              <a:sym typeface="Calibri"/>
            </a:endParaRPr>
          </a:p>
        </p:txBody>
      </p:sp>
      <p:sp>
        <p:nvSpPr>
          <p:cNvPr id="960" name="Google Shape;960;p23"/>
          <p:cNvSpPr/>
          <p:nvPr/>
        </p:nvSpPr>
        <p:spPr>
          <a:xfrm>
            <a:off x="411480" y="1115568"/>
            <a:ext cx="8321040" cy="333756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23"/>
          <p:cNvSpPr txBox="1"/>
          <p:nvPr/>
        </p:nvSpPr>
        <p:spPr>
          <a:xfrm>
            <a:off x="640080" y="1252728"/>
            <a:ext cx="7863840" cy="31089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2222"/>
              </a:buClr>
              <a:buSzPts val="1200"/>
              <a:buFont typeface="Meiryo"/>
              <a:buNone/>
            </a:pPr>
            <a:r>
              <a:rPr b="0" i="0" lang="en-US" u="none" cap="none" strike="noStrike">
                <a:solidFill>
                  <a:srgbClr val="222222"/>
                </a:solidFill>
                <a:latin typeface="Meiryo"/>
                <a:ea typeface="Meiryo"/>
                <a:cs typeface="Meiryo"/>
                <a:sym typeface="Meiryo"/>
              </a:rPr>
              <a:t>あなたは中古ホビーショップの販促担当です。</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400"/>
              </a:spcBef>
              <a:spcAft>
                <a:spcPts val="0"/>
              </a:spcAft>
              <a:buClr>
                <a:srgbClr val="1F3A5F"/>
              </a:buClr>
              <a:buSzPts val="1200"/>
              <a:buFont typeface="Meiryo"/>
              <a:buNone/>
            </a:pPr>
            <a:r>
              <a:rPr b="1" i="0" lang="en-US" u="none" cap="none" strike="noStrike">
                <a:solidFill>
                  <a:srgbClr val="1F3A5F"/>
                </a:solidFill>
                <a:latin typeface="Meiryo"/>
                <a:ea typeface="Meiryo"/>
                <a:cs typeface="Meiryo"/>
                <a:sym typeface="Meiryo"/>
              </a:rPr>
              <a:t>【前提】</a:t>
            </a:r>
            <a:r>
              <a:rPr b="0" i="0" lang="en-US" u="none" cap="none" strike="noStrike">
                <a:solidFill>
                  <a:srgbClr val="222222"/>
                </a:solidFill>
                <a:latin typeface="Meiryo"/>
                <a:ea typeface="Meiryo"/>
                <a:cs typeface="Meiryo"/>
                <a:sym typeface="Meiryo"/>
              </a:rPr>
              <a:t>今週末の「トレーディングカード買取強化キャンペーン」の告知POPを作りたいです。レジ横に掲示し、来店したお客様に見てもらいます。</a:t>
            </a:r>
            <a:endParaRPr>
              <a:solidFill>
                <a:srgbClr val="222222"/>
              </a:solidFill>
              <a:latin typeface="Meiryo"/>
              <a:ea typeface="Meiryo"/>
              <a:cs typeface="Meiryo"/>
              <a:sym typeface="Meiryo"/>
            </a:endParaRPr>
          </a:p>
          <a:p>
            <a:pPr indent="0" lvl="0" marL="0" marR="0" rtl="0" algn="l">
              <a:lnSpc>
                <a:spcPct val="130000"/>
              </a:lnSpc>
              <a:spcBef>
                <a:spcPts val="400"/>
              </a:spcBef>
              <a:spcAft>
                <a:spcPts val="0"/>
              </a:spcAft>
              <a:buClr>
                <a:srgbClr val="E8702A"/>
              </a:buClr>
              <a:buSzPts val="1200"/>
              <a:buFont typeface="Meiryo"/>
              <a:buNone/>
            </a:pPr>
            <a:r>
              <a:rPr b="1" i="0" lang="en-US" u="none" cap="none" strike="noStrike">
                <a:solidFill>
                  <a:srgbClr val="E8702A"/>
                </a:solidFill>
                <a:latin typeface="Meiryo"/>
                <a:ea typeface="Meiryo"/>
                <a:cs typeface="Meiryo"/>
                <a:sym typeface="Meiryo"/>
              </a:rPr>
              <a:t>【素材】</a:t>
            </a:r>
            <a:r>
              <a:rPr b="0" i="0" lang="en-US" u="none" cap="none" strike="noStrike">
                <a:solidFill>
                  <a:srgbClr val="222222"/>
                </a:solidFill>
                <a:latin typeface="Meiryo"/>
                <a:ea typeface="Meiryo"/>
                <a:cs typeface="Meiryo"/>
                <a:sym typeface="Meiryo"/>
              </a:rPr>
              <a:t>店名：〇〇店／期間：10月3日（土）・4日（日）／内容：対象カードの買取価格を通常より10%アップ</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400"/>
              </a:spcBef>
              <a:spcAft>
                <a:spcPts val="0"/>
              </a:spcAft>
              <a:buClr>
                <a:srgbClr val="1F3A5F"/>
              </a:buClr>
              <a:buSzPts val="1200"/>
              <a:buFont typeface="Meiryo"/>
              <a:buNone/>
            </a:pPr>
            <a:r>
              <a:rPr b="1" i="0" lang="en-US" u="none" cap="none" strike="noStrike">
                <a:solidFill>
                  <a:srgbClr val="1F3A5F"/>
                </a:solidFill>
                <a:latin typeface="Meiryo"/>
                <a:ea typeface="Meiryo"/>
                <a:cs typeface="Meiryo"/>
                <a:sym typeface="Meiryo"/>
              </a:rPr>
              <a:t>【お手本】</a:t>
            </a:r>
            <a:r>
              <a:rPr b="0" i="0" lang="en-US" u="none" cap="none" strike="noStrike">
                <a:solidFill>
                  <a:srgbClr val="222222"/>
                </a:solidFill>
                <a:latin typeface="Meiryo"/>
                <a:ea typeface="Meiryo"/>
                <a:cs typeface="Meiryo"/>
                <a:sym typeface="Meiryo"/>
              </a:rPr>
              <a:t>前回好評だったPOPの見出し「眠ってるカード、今が売りどき！」</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400"/>
              </a:spcBef>
              <a:spcAft>
                <a:spcPts val="0"/>
              </a:spcAft>
              <a:buClr>
                <a:srgbClr val="1F3A5F"/>
              </a:buClr>
              <a:buSzPts val="1200"/>
              <a:buFont typeface="Meiryo"/>
              <a:buNone/>
            </a:pPr>
            <a:r>
              <a:rPr b="1" i="0" lang="en-US" u="none" cap="none" strike="noStrike">
                <a:solidFill>
                  <a:srgbClr val="1F3A5F"/>
                </a:solidFill>
                <a:latin typeface="Meiryo"/>
                <a:ea typeface="Meiryo"/>
                <a:cs typeface="Meiryo"/>
                <a:sym typeface="Meiryo"/>
              </a:rPr>
              <a:t>【制約】</a:t>
            </a:r>
            <a:r>
              <a:rPr b="0" i="0" lang="en-US" u="none" cap="none" strike="noStrike">
                <a:solidFill>
                  <a:srgbClr val="222222"/>
                </a:solidFill>
                <a:latin typeface="Meiryo"/>
                <a:ea typeface="Meiryo"/>
                <a:cs typeface="Meiryo"/>
                <a:sym typeface="Meiryo"/>
              </a:rPr>
              <a:t>見出しは15文字以内。価格は税込表記。「業界最高値」などの断定表現は使わない。実在のキャラクターやロゴは使わない</a:t>
            </a:r>
            <a:r>
              <a:rPr lang="en-US">
                <a:solidFill>
                  <a:srgbClr val="222222"/>
                </a:solidFill>
                <a:latin typeface="Meiryo"/>
                <a:ea typeface="Meiryo"/>
                <a:cs typeface="Meiryo"/>
                <a:sym typeface="Meiryo"/>
              </a:rPr>
              <a:t>。</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400"/>
              </a:spcBef>
              <a:spcAft>
                <a:spcPts val="0"/>
              </a:spcAft>
              <a:buClr>
                <a:srgbClr val="1F3A5F"/>
              </a:buClr>
              <a:buSzPts val="1200"/>
              <a:buFont typeface="Meiryo"/>
              <a:buNone/>
            </a:pPr>
            <a:r>
              <a:rPr b="1" i="0" lang="en-US" u="none" cap="none" strike="noStrike">
                <a:solidFill>
                  <a:srgbClr val="1F3A5F"/>
                </a:solidFill>
                <a:latin typeface="Meiryo"/>
                <a:ea typeface="Meiryo"/>
                <a:cs typeface="Meiryo"/>
                <a:sym typeface="Meiryo"/>
              </a:rPr>
              <a:t>【出力】</a:t>
            </a:r>
            <a:r>
              <a:rPr b="0" i="0" lang="en-US" u="none" cap="none" strike="noStrike">
                <a:solidFill>
                  <a:srgbClr val="222222"/>
                </a:solidFill>
                <a:latin typeface="Meiryo"/>
                <a:ea typeface="Meiryo"/>
                <a:cs typeface="Meiryo"/>
                <a:sym typeface="Meiryo"/>
              </a:rPr>
              <a:t>A4縦で印刷する前提で、見出し・本文・注意書きに分けて3案出してください。</a:t>
            </a:r>
            <a:endParaRPr b="0" i="0" u="none" cap="none" strike="noStrike">
              <a:solidFill>
                <a:schemeClr val="dk1"/>
              </a:solidFill>
              <a:latin typeface="Calibri"/>
              <a:ea typeface="Calibri"/>
              <a:cs typeface="Calibri"/>
              <a:sym typeface="Calibri"/>
            </a:endParaRPr>
          </a:p>
        </p:txBody>
      </p:sp>
      <p:sp>
        <p:nvSpPr>
          <p:cNvPr id="962" name="Google Shape;96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h12a068dd872fd278_0_68"/>
          <p:cNvSpPr txBox="1"/>
          <p:nvPr/>
        </p:nvSpPr>
        <p:spPr>
          <a:xfrm>
            <a:off x="4434840" y="1097280"/>
            <a:ext cx="4389120" cy="3017520"/>
          </a:xfrm>
          <a:prstGeom prst="rect">
            <a:avLst/>
          </a:prstGeom>
          <a:noFill/>
          <a:ln>
            <a:noFill/>
          </a:ln>
        </p:spPr>
        <p:txBody>
          <a:bodyPr anchorCtr="0" anchor="t" bIns="91425" lIns="91425" spcFirstLastPara="1" rIns="91425" wrap="square" tIns="91425">
            <a:noAutofit/>
          </a:bodyPr>
          <a:lstStyle/>
          <a:p>
            <a:pPr marL="0" indent="0" algn="l">
              <a:lnSpc>
                <a:spcPct val="100000"/>
              </a:lnSpc>
              <a:spcBef>
                <a:spcPts val="0"/>
              </a:spcBef>
              <a:spcAft>
                <a:spcPts val="0"/>
              </a:spcAft>
              <a:buNone/>
            </a:pPr>
            <a:r>
              <a:rPr lang="ja-JP" sz="1300" b="1" dirty="0">
                <a:solidFill>
                  <a:srgbClr val="1F3A5F"/>
                </a:solidFill>
                <a:latin typeface="Meiryo"/>
                <a:ea typeface="Meiryo"/>
                <a:cs typeface="Meiryo"/>
                <a:sym typeface="Meiryo"/>
              </a:rPr>
              <a:t>続けて、こう送ります</a:t>
            </a:r>
          </a:p>
          <a:p>
            <a:pPr marL="0" indent="0" algn="l">
              <a:lnSpc>
                <a:spcPct val="100000"/>
              </a:lnSpc>
              <a:spcBef>
                <a:spcPts val="1200"/>
              </a:spcBef>
              <a:spcAft>
                <a:spcPts val="0"/>
              </a:spcAft>
              <a:buNone/>
            </a:pPr>
            <a:r>
              <a:rPr lang="ja-JP" sz="1500" b="1" dirty="0">
                <a:solidFill>
                  <a:srgbClr val="222222"/>
                </a:solidFill>
                <a:latin typeface="Meiryo"/>
                <a:ea typeface="Meiryo"/>
                <a:cs typeface="Meiryo"/>
                <a:sym typeface="Meiryo"/>
              </a:rPr>
              <a:t>→「別々のA4で作成してください」</a:t>
            </a:r>
          </a:p>
          <a:p>
            <a:pPr marL="0" indent="0" algn="l">
              <a:lnSpc>
                <a:spcPct val="100000"/>
              </a:lnSpc>
              <a:spcBef>
                <a:spcPts val="1000"/>
              </a:spcBef>
              <a:spcAft>
                <a:spcPts val="0"/>
              </a:spcAft>
              <a:buNone/>
            </a:pPr>
            <a:r>
              <a:rPr lang="ja-JP" sz="1500" b="1" dirty="0">
                <a:solidFill>
                  <a:srgbClr val="222222"/>
                </a:solidFill>
                <a:latin typeface="Meiryo"/>
                <a:ea typeface="Meiryo"/>
                <a:cs typeface="Meiryo"/>
                <a:sym typeface="Meiryo"/>
              </a:rPr>
              <a:t>→「次のデザインもお願いします」</a:t>
            </a:r>
          </a:p>
          <a:p>
            <a:pPr marL="0" indent="0" algn="l">
              <a:lnSpc>
                <a:spcPct val="100000"/>
              </a:lnSpc>
              <a:spcBef>
                <a:spcPts val="800"/>
              </a:spcBef>
              <a:spcAft>
                <a:spcPts val="0"/>
              </a:spcAft>
              <a:buNone/>
            </a:pPr>
            <a:r>
              <a:rPr lang="ja-JP" sz="1100" b="0" dirty="0">
                <a:solidFill>
                  <a:srgbClr val="6B7280"/>
                </a:solidFill>
                <a:latin typeface="Meiryo"/>
                <a:ea typeface="Meiryo"/>
                <a:cs typeface="Meiryo"/>
                <a:sym typeface="Meiryo"/>
              </a:rPr>
              <a:t>※出力された画像を添付すると、意図が伝わりやすくなります</a:t>
            </a:r>
          </a:p>
          <a:p>
            <a:pPr marL="0" indent="0" algn="l">
              <a:lnSpc>
                <a:spcPct val="100000"/>
              </a:lnSpc>
              <a:spcBef>
                <a:spcPts val="2600"/>
              </a:spcBef>
              <a:spcAft>
                <a:spcPts val="0"/>
              </a:spcAft>
              <a:buNone/>
            </a:pPr>
            <a:r>
              <a:rPr lang="ja-JP" sz="1200" b="0" dirty="0">
                <a:solidFill>
                  <a:srgbClr val="222222"/>
                </a:solidFill>
                <a:latin typeface="Meiryo"/>
                <a:ea typeface="Meiryo"/>
                <a:cs typeface="Meiryo"/>
                <a:sym typeface="Meiryo"/>
              </a:rPr>
              <a:t>新しい案を頼むのは、同じチャットのままで大丈夫です。</a:t>
            </a:r>
          </a:p>
        </p:txBody>
      </p:sp>
      <p:sp>
        <p:nvSpPr>
          <p:cNvPr id="969" name="Google Shape;969;h12a068dd872fd278_0_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970" name="Google Shape;970;h12a068dd872fd278_0_68" title="ChatGPT Image 2026年9月28日 09_38_40.png"/>
          <p:cNvPicPr preferRelativeResize="0"/>
          <p:nvPr/>
        </p:nvPicPr>
        <p:blipFill>
          <a:blip r:embed="rId3">
            <a:alphaModFix/>
          </a:blip>
          <a:stretch>
            <a:fillRect/>
          </a:stretch>
        </p:blipFill>
        <p:spPr>
          <a:xfrm>
            <a:off x="824075" y="152400"/>
            <a:ext cx="3423760" cy="4838698"/>
          </a:xfrm>
          <a:prstGeom prst="rect">
            <a:avLst/>
          </a:prstGeom>
          <a:noFill/>
          <a:ln>
            <a:noFill/>
          </a:ln>
        </p:spPr>
      </p:pic>
      <p:sp>
        <p:nvSpPr>
          <p:cNvPr id="971" name="Text"/>
          <p:cNvSpPr txBox="1"/>
          <p:nvPr/>
        </p:nvSpPr>
        <p:spPr>
          <a:xfrm>
            <a:off x="4526280" y="411480"/>
            <a:ext cx="4297680" cy="50292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2000" b="1" dirty="0">
                <a:solidFill>
                  <a:srgbClr val="222222"/>
                </a:solidFill>
                <a:latin typeface="Meiryo"/>
                <a:ea typeface="Meiryo"/>
                <a:cs typeface="Meiryo"/>
                <a:sym typeface="Meiryo"/>
              </a:rPr>
              <a:t>1枚に3案がまとまって出たら</a:t>
            </a: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pic>
        <p:nvPicPr>
          <p:cNvPr id="976" name="Google Shape;976;h12a068dd872fd278_0_74"/>
          <p:cNvPicPr preferRelativeResize="0"/>
          <p:nvPr/>
        </p:nvPicPr>
        <p:blipFill>
          <a:blip r:embed="rId3">
            <a:alphaModFix/>
          </a:blip>
          <a:stretch>
            <a:fillRect/>
          </a:stretch>
        </p:blipFill>
        <p:spPr>
          <a:xfrm>
            <a:off x="3244852" y="1027450"/>
            <a:ext cx="2654275" cy="3751192"/>
          </a:xfrm>
          <a:prstGeom prst="rect">
            <a:avLst/>
          </a:prstGeom>
          <a:noFill/>
          <a:ln>
            <a:noFill/>
          </a:ln>
        </p:spPr>
      </p:pic>
      <p:sp>
        <p:nvSpPr>
          <p:cNvPr id="977" name="Google Shape;977;h12a068dd872fd278_0_74"/>
          <p:cNvSpPr txBox="1"/>
          <p:nvPr/>
        </p:nvSpPr>
        <p:spPr>
          <a:xfrm>
            <a:off x="284950" y="245750"/>
            <a:ext cx="5943600" cy="4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lang="en-US" sz="3000">
                <a:solidFill>
                  <a:srgbClr val="E8702A"/>
                </a:solidFill>
                <a:latin typeface="Meiryo"/>
                <a:ea typeface="Meiryo"/>
                <a:cs typeface="Meiryo"/>
                <a:sym typeface="Meiryo"/>
              </a:rPr>
              <a:t>3案ができあがりました</a:t>
            </a:r>
            <a:endParaRPr b="0" i="0" sz="3000" u="none" cap="none" strike="noStrike">
              <a:solidFill>
                <a:schemeClr val="dk1"/>
              </a:solidFill>
              <a:latin typeface="Calibri"/>
              <a:ea typeface="Calibri"/>
              <a:cs typeface="Calibri"/>
              <a:sym typeface="Calibri"/>
            </a:endParaRPr>
          </a:p>
        </p:txBody>
      </p:sp>
      <p:sp>
        <p:nvSpPr>
          <p:cNvPr id="978" name="Google Shape;978;h12a068dd872fd278_0_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979" name="Google Shape;979;h12a068dd872fd278_0_74" title="ChatGPT Image 2026年9月27日 09_50_37.png"/>
          <p:cNvPicPr preferRelativeResize="0"/>
          <p:nvPr/>
        </p:nvPicPr>
        <p:blipFill>
          <a:blip r:embed="rId4">
            <a:alphaModFix/>
          </a:blip>
          <a:stretch>
            <a:fillRect/>
          </a:stretch>
        </p:blipFill>
        <p:spPr>
          <a:xfrm>
            <a:off x="6204775" y="1027438"/>
            <a:ext cx="2654274" cy="3751211"/>
          </a:xfrm>
          <a:prstGeom prst="rect">
            <a:avLst/>
          </a:prstGeom>
          <a:noFill/>
          <a:ln>
            <a:noFill/>
          </a:ln>
        </p:spPr>
      </p:pic>
      <p:pic>
        <p:nvPicPr>
          <p:cNvPr id="980" name="Google Shape;980;h12a068dd872fd278_0_74" title="ChatGPT Image 2026年9月27日 09_58_08.png"/>
          <p:cNvPicPr preferRelativeResize="0"/>
          <p:nvPr/>
        </p:nvPicPr>
        <p:blipFill>
          <a:blip r:embed="rId5">
            <a:alphaModFix/>
          </a:blip>
          <a:stretch>
            <a:fillRect/>
          </a:stretch>
        </p:blipFill>
        <p:spPr>
          <a:xfrm>
            <a:off x="284925" y="1024413"/>
            <a:ext cx="2654275" cy="375728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6" name="Google Shape;986;p24"/>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before / after 比較</a:t>
            </a:r>
            <a:endParaRPr b="0" i="0" sz="2200" u="none" cap="none" strike="noStrike">
              <a:solidFill>
                <a:schemeClr val="dk1"/>
              </a:solidFill>
              <a:latin typeface="Calibri"/>
              <a:ea typeface="Calibri"/>
              <a:cs typeface="Calibri"/>
              <a:sym typeface="Calibri"/>
            </a:endParaRPr>
          </a:p>
        </p:txBody>
      </p:sp>
      <p:sp>
        <p:nvSpPr>
          <p:cNvPr id="987" name="Google Shape;987;p24"/>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graphicFrame>
        <p:nvGraphicFramePr>
          <p:cNvPr id="988" name="Google Shape;988;p24"/>
          <p:cNvGraphicFramePr/>
          <p:nvPr/>
        </p:nvGraphicFramePr>
        <p:xfrm>
          <a:off x="411480" y="1005840"/>
          <a:ext cx="3000000" cy="3000000"/>
        </p:xfrm>
        <a:graphic>
          <a:graphicData uri="http://schemas.openxmlformats.org/drawingml/2006/table">
            <a:tbl>
              <a:tblPr>
                <a:noFill/>
                <a:tableStyleId>{EA21E3E7-CB49-40DB-9B02-7D83FE17C7A2}</a:tableStyleId>
              </a:tblPr>
              <a:tblGrid>
                <a:gridCol w="1188725"/>
                <a:gridCol w="3200400"/>
                <a:gridCol w="3931925"/>
              </a:tblGrid>
              <a:tr h="3840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FFFF"/>
                        </a:buClr>
                        <a:buSzPts val="1200"/>
                        <a:buFont typeface="Meiryo"/>
                        <a:buNone/>
                      </a:pPr>
                      <a:r>
                        <a:rPr b="1" lang="en-US" sz="1200" u="none" cap="none" strike="noStrike">
                          <a:solidFill>
                            <a:srgbClr val="FFFFFF"/>
                          </a:solidFill>
                          <a:latin typeface="Meiryo"/>
                          <a:ea typeface="Meiryo"/>
                          <a:cs typeface="Meiryo"/>
                          <a:sym typeface="Meiryo"/>
                        </a:rPr>
                        <a:t>before</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9CA3AF"/>
                    </a:solidFill>
                  </a:tcPr>
                </a:tc>
                <a:tc>
                  <a:txBody>
                    <a:bodyPr/>
                    <a:lstStyle/>
                    <a:p>
                      <a:pPr indent="0" lvl="0" marL="0" marR="0" rtl="0" algn="ctr">
                        <a:lnSpc>
                          <a:spcPct val="100000"/>
                        </a:lnSpc>
                        <a:spcBef>
                          <a:spcPts val="0"/>
                        </a:spcBef>
                        <a:spcAft>
                          <a:spcPts val="0"/>
                        </a:spcAft>
                        <a:buClr>
                          <a:srgbClr val="FFFFFF"/>
                        </a:buClr>
                        <a:buSzPts val="1200"/>
                        <a:buFont typeface="Meiryo"/>
                        <a:buNone/>
                      </a:pPr>
                      <a:r>
                        <a:rPr b="1" lang="en-US" sz="1200" u="none" cap="none" strike="noStrike">
                          <a:solidFill>
                            <a:srgbClr val="FFFFFF"/>
                          </a:solidFill>
                          <a:latin typeface="Meiryo"/>
                          <a:ea typeface="Meiryo"/>
                          <a:cs typeface="Meiryo"/>
                          <a:sym typeface="Meiryo"/>
                        </a:rPr>
                        <a:t>after</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1F3A5F"/>
                    </a:solidFill>
                  </a:tcPr>
                </a:tc>
              </a:tr>
              <a:tr h="566925">
                <a:tc>
                  <a:txBody>
                    <a:bodyPr/>
                    <a:lstStyle/>
                    <a:p>
                      <a:pPr indent="0" lvl="0" marL="0" marR="0" rtl="0" algn="ctr">
                        <a:lnSpc>
                          <a:spcPct val="100000"/>
                        </a:lnSpc>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指示</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lnSpc>
                          <a:spcPct val="100000"/>
                        </a:lnSpc>
                        <a:spcBef>
                          <a:spcPts val="0"/>
                        </a:spcBef>
                        <a:spcAft>
                          <a:spcPts val="0"/>
                        </a:spcAft>
                        <a:buClr>
                          <a:srgbClr val="555555"/>
                        </a:buClr>
                        <a:buSzPts val="1200"/>
                        <a:buFont typeface="Meiryo"/>
                        <a:buNone/>
                      </a:pPr>
                      <a:r>
                        <a:rPr lang="en-US" sz="1200" u="none" cap="none" strike="noStrike">
                          <a:solidFill>
                            <a:srgbClr val="555555"/>
                          </a:solidFill>
                          <a:latin typeface="Meiryo"/>
                          <a:ea typeface="Meiryo"/>
                          <a:cs typeface="Meiryo"/>
                          <a:sym typeface="Meiryo"/>
                        </a:rPr>
                        <a:t>「買取強化のPOPを作って」</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F3A5F"/>
                        </a:buClr>
                        <a:buSzPts val="1200"/>
                        <a:buFont typeface="Meiryo"/>
                        <a:buNone/>
                      </a:pPr>
                      <a:r>
                        <a:rPr b="1" lang="en-US" sz="1200" u="none" cap="none" strike="noStrike">
                          <a:solidFill>
                            <a:srgbClr val="1F3A5F"/>
                          </a:solidFill>
                          <a:latin typeface="Meiryo"/>
                          <a:ea typeface="Meiryo"/>
                          <a:cs typeface="Meiryo"/>
                          <a:sym typeface="Meiryo"/>
                        </a:rPr>
                        <a:t>4要素（前提・素材・お手本・制約）＋出力の指定</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lnSpc>
                          <a:spcPct val="100000"/>
                        </a:lnSpc>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中身</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lnSpc>
                          <a:spcPct val="100000"/>
                        </a:lnSpc>
                        <a:spcBef>
                          <a:spcPts val="0"/>
                        </a:spcBef>
                        <a:spcAft>
                          <a:spcPts val="0"/>
                        </a:spcAft>
                        <a:buClr>
                          <a:srgbClr val="555555"/>
                        </a:buClr>
                        <a:buSzPts val="1200"/>
                        <a:buFont typeface="Meiryo"/>
                        <a:buNone/>
                      </a:pPr>
                      <a:r>
                        <a:rPr lang="en-US" sz="1200" u="none" cap="none" strike="noStrike">
                          <a:solidFill>
                            <a:srgbClr val="555555"/>
                          </a:solidFill>
                          <a:latin typeface="Meiryo"/>
                          <a:ea typeface="Meiryo"/>
                          <a:cs typeface="Meiryo"/>
                          <a:sym typeface="Meiryo"/>
                        </a:rPr>
                        <a:t>店名・期間・条件が入っていない</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F3A5F"/>
                        </a:buClr>
                        <a:buSzPts val="1200"/>
                        <a:buFont typeface="Meiryo"/>
                        <a:buNone/>
                      </a:pPr>
                      <a:r>
                        <a:rPr b="1" lang="en-US" sz="1200" u="none" cap="none" strike="noStrike">
                          <a:solidFill>
                            <a:srgbClr val="1F3A5F"/>
                          </a:solidFill>
                          <a:latin typeface="Meiryo"/>
                          <a:ea typeface="Meiryo"/>
                          <a:cs typeface="Meiryo"/>
                          <a:sym typeface="Meiryo"/>
                        </a:rPr>
                        <a:t>店名・期間・条件が入っている</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lnSpc>
                          <a:spcPct val="100000"/>
                        </a:lnSpc>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トーン</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lnSpc>
                          <a:spcPct val="100000"/>
                        </a:lnSpc>
                        <a:spcBef>
                          <a:spcPts val="0"/>
                        </a:spcBef>
                        <a:spcAft>
                          <a:spcPts val="0"/>
                        </a:spcAft>
                        <a:buClr>
                          <a:srgbClr val="555555"/>
                        </a:buClr>
                        <a:buSzPts val="1200"/>
                        <a:buFont typeface="Meiryo"/>
                        <a:buNone/>
                      </a:pPr>
                      <a:r>
                        <a:rPr lang="en-US" sz="1200" u="none" cap="none" strike="noStrike">
                          <a:solidFill>
                            <a:srgbClr val="555555"/>
                          </a:solidFill>
                          <a:latin typeface="Meiryo"/>
                          <a:ea typeface="Meiryo"/>
                          <a:cs typeface="Meiryo"/>
                          <a:sym typeface="Meiryo"/>
                        </a:rPr>
                        <a:t>どこの店でも使える文言</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F3A5F"/>
                        </a:buClr>
                        <a:buSzPts val="1200"/>
                        <a:buFont typeface="Meiryo"/>
                        <a:buNone/>
                      </a:pPr>
                      <a:r>
                        <a:rPr b="1" lang="en-US" sz="1200">
                          <a:solidFill>
                            <a:srgbClr val="1F3A5F"/>
                          </a:solidFill>
                          <a:latin typeface="Meiryo"/>
                          <a:ea typeface="Meiryo"/>
                          <a:cs typeface="Meiryo"/>
                          <a:sym typeface="Meiryo"/>
                        </a:rPr>
                        <a:t>お店らしさのある文言</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r h="566925">
                <a:tc>
                  <a:txBody>
                    <a:bodyPr/>
                    <a:lstStyle/>
                    <a:p>
                      <a:pPr indent="0" lvl="0" marL="0" marR="0" rtl="0" algn="ctr">
                        <a:lnSpc>
                          <a:spcPct val="100000"/>
                        </a:lnSpc>
                        <a:spcBef>
                          <a:spcPts val="0"/>
                        </a:spcBef>
                        <a:spcAft>
                          <a:spcPts val="0"/>
                        </a:spcAft>
                        <a:buClr>
                          <a:srgbClr val="000000"/>
                        </a:buClr>
                        <a:buSzPts val="1200"/>
                        <a:buFont typeface="Meiryo"/>
                        <a:buNone/>
                      </a:pPr>
                      <a:r>
                        <a:rPr b="1" lang="en-US" sz="1200" u="none" cap="none" strike="noStrike">
                          <a:solidFill>
                            <a:srgbClr val="000000"/>
                          </a:solidFill>
                          <a:latin typeface="Meiryo"/>
                          <a:ea typeface="Meiryo"/>
                          <a:cs typeface="Meiryo"/>
                          <a:sym typeface="Meiryo"/>
                        </a:rPr>
                        <a:t>その後</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solidFill>
                      <a:srgbClr val="F6F7F9"/>
                    </a:solidFill>
                  </a:tcPr>
                </a:tc>
                <a:tc>
                  <a:txBody>
                    <a:bodyPr/>
                    <a:lstStyle/>
                    <a:p>
                      <a:pPr indent="0" lvl="0" marL="0" marR="0" rtl="0" algn="l">
                        <a:lnSpc>
                          <a:spcPct val="100000"/>
                        </a:lnSpc>
                        <a:spcBef>
                          <a:spcPts val="0"/>
                        </a:spcBef>
                        <a:spcAft>
                          <a:spcPts val="0"/>
                        </a:spcAft>
                        <a:buClr>
                          <a:srgbClr val="555555"/>
                        </a:buClr>
                        <a:buSzPts val="1200"/>
                        <a:buFont typeface="Meiryo"/>
                        <a:buNone/>
                      </a:pPr>
                      <a:r>
                        <a:rPr lang="en-US" sz="1200" u="none" cap="none" strike="noStrike">
                          <a:solidFill>
                            <a:srgbClr val="555555"/>
                          </a:solidFill>
                          <a:latin typeface="Meiryo"/>
                          <a:ea typeface="Meiryo"/>
                          <a:cs typeface="Meiryo"/>
                          <a:sym typeface="Meiryo"/>
                        </a:rPr>
                        <a:t>何度も作り直しになる</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F3A5F"/>
                        </a:buClr>
                        <a:buSzPts val="1200"/>
                        <a:buFont typeface="Meiryo"/>
                        <a:buNone/>
                      </a:pPr>
                      <a:r>
                        <a:rPr b="1" lang="en-US" sz="1200" u="none" cap="none" strike="noStrike">
                          <a:solidFill>
                            <a:srgbClr val="1F3A5F"/>
                          </a:solidFill>
                          <a:latin typeface="Meiryo"/>
                          <a:ea typeface="Meiryo"/>
                          <a:cs typeface="Meiryo"/>
                          <a:sym typeface="Meiryo"/>
                        </a:rPr>
                        <a:t>3案から選び、少し直せば使える</a:t>
                      </a:r>
                      <a:endParaRPr sz="1200" u="none" cap="none" strike="noStrike">
                        <a:latin typeface="Meiryo"/>
                        <a:ea typeface="Meiryo"/>
                        <a:cs typeface="Meiryo"/>
                        <a:sym typeface="Meiryo"/>
                      </a:endParaRPr>
                    </a:p>
                  </a:txBody>
                  <a:tcPr marT="18300" marB="18300" marR="109725" marL="109725" anchor="ctr">
                    <a:lnL cap="flat" cmpd="sng" w="9525">
                      <a:solidFill>
                        <a:srgbClr val="D5DAE1"/>
                      </a:solidFill>
                      <a:prstDash val="solid"/>
                      <a:round/>
                      <a:headEnd len="sm" w="sm" type="none"/>
                      <a:tailEnd len="sm" w="sm" type="none"/>
                    </a:lnL>
                    <a:lnR cap="flat" cmpd="sng" w="9525">
                      <a:solidFill>
                        <a:srgbClr val="D5DAE1"/>
                      </a:solidFill>
                      <a:prstDash val="solid"/>
                      <a:round/>
                      <a:headEnd len="sm" w="sm" type="none"/>
                      <a:tailEnd len="sm" w="sm" type="none"/>
                    </a:lnR>
                    <a:lnT cap="flat" cmpd="sng" w="9525">
                      <a:solidFill>
                        <a:srgbClr val="D5DAE1"/>
                      </a:solidFill>
                      <a:prstDash val="solid"/>
                      <a:round/>
                      <a:headEnd len="sm" w="sm" type="none"/>
                      <a:tailEnd len="sm" w="sm" type="none"/>
                    </a:lnT>
                    <a:lnB cap="flat" cmpd="sng" w="9525">
                      <a:solidFill>
                        <a:srgbClr val="D5DAE1"/>
                      </a:solidFill>
                      <a:prstDash val="solid"/>
                      <a:round/>
                      <a:headEnd len="sm" w="sm" type="none"/>
                      <a:tailEnd len="sm" w="sm" type="none"/>
                    </a:lnB>
                  </a:tcPr>
                </a:tc>
              </a:tr>
            </a:tbl>
          </a:graphicData>
        </a:graphic>
      </p:graphicFrame>
      <p:sp>
        <p:nvSpPr>
          <p:cNvPr id="989" name="Google Shape;989;p24"/>
          <p:cNvSpPr/>
          <p:nvPr/>
        </p:nvSpPr>
        <p:spPr>
          <a:xfrm>
            <a:off x="457200" y="3840480"/>
            <a:ext cx="457200" cy="45720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0" name="Google Shape;990;p24"/>
          <p:cNvPicPr preferRelativeResize="0"/>
          <p:nvPr/>
        </p:nvPicPr>
        <p:blipFill rotWithShape="1">
          <a:blip r:embed="rId3">
            <a:alphaModFix/>
          </a:blip>
          <a:srcRect b="0" l="0" r="0" t="0"/>
          <a:stretch/>
        </p:blipFill>
        <p:spPr>
          <a:xfrm>
            <a:off x="557784" y="3941064"/>
            <a:ext cx="256032" cy="256032"/>
          </a:xfrm>
          <a:prstGeom prst="rect">
            <a:avLst/>
          </a:prstGeom>
          <a:noFill/>
          <a:ln>
            <a:noFill/>
          </a:ln>
        </p:spPr>
      </p:pic>
      <p:sp>
        <p:nvSpPr>
          <p:cNvPr id="991" name="Google Shape;991;p24"/>
          <p:cNvSpPr txBox="1"/>
          <p:nvPr/>
        </p:nvSpPr>
        <p:spPr>
          <a:xfrm>
            <a:off x="1051560" y="3840480"/>
            <a:ext cx="76809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改善後も、日付・価格などの数字は掲示前に自分の目で確認しましょう。</a:t>
            </a:r>
            <a:endParaRPr b="0" i="0" sz="1300" u="none" cap="none" strike="noStrike">
              <a:solidFill>
                <a:schemeClr val="dk1"/>
              </a:solidFill>
              <a:latin typeface="Calibri"/>
              <a:ea typeface="Calibri"/>
              <a:cs typeface="Calibri"/>
              <a:sym typeface="Calibri"/>
            </a:endParaRPr>
          </a:p>
        </p:txBody>
      </p:sp>
      <p:sp>
        <p:nvSpPr>
          <p:cNvPr id="992" name="Google Shape;992;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h259926ce4e4d5a8f_0_6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9" name="Google Shape;999;h259926ce4e4d5a8f_0_627"/>
          <p:cNvSpPr txBox="1"/>
          <p:nvPr>
            <p:ph type="title"/>
          </p:nvPr>
        </p:nvSpPr>
        <p:spPr>
          <a:xfrm>
            <a:off x="0" y="1097280"/>
            <a:ext cx="9144000" cy="173736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Canvaで仕上げる</a:t>
            </a:r>
            <a:endParaRPr b="1" sz="3600"/>
          </a:p>
        </p:txBody>
      </p:sp>
      <p:sp>
        <p:nvSpPr>
          <p:cNvPr id="1000" name="Text"/>
          <p:cNvSpPr txBox="1"/>
          <p:nvPr/>
        </p:nvSpPr>
        <p:spPr>
          <a:xfrm>
            <a:off x="914400" y="2926080"/>
            <a:ext cx="7315200" cy="822960"/>
          </a:xfrm>
          <a:prstGeom prst="rect">
            <a:avLst/>
          </a:prstGeom>
          <a:noFill/>
          <a:ln>
            <a:noFill/>
          </a:ln>
        </p:spPr>
        <p:txBody>
          <a:bodyPr wrap="square" lIns="0" tIns="0" rIns="0" bIns="0" anchor="t" anchorCtr="0">
            <a:noAutofit/>
          </a:bodyPr>
          <a:lstStyle/>
          <a:p>
            <a:pPr marL="0" indent="0" algn="ctr">
              <a:lnSpc>
                <a:spcPct val="100000"/>
              </a:lnSpc>
              <a:spcBef>
                <a:spcPts val="0"/>
              </a:spcBef>
              <a:spcAft>
                <a:spcPts val="0"/>
              </a:spcAft>
              <a:buNone/>
            </a:pPr>
            <a:r>
              <a:rPr lang="ja-JP" sz="1500" b="0" dirty="0">
                <a:solidFill>
                  <a:srgbClr val="6B7280"/>
                </a:solidFill>
                <a:latin typeface="Meiryo"/>
                <a:ea typeface="Meiryo"/>
                <a:cs typeface="Meiryo"/>
                <a:sym typeface="Meiryo"/>
              </a:rPr>
              <a:t>日付・価格・店名などの細かい文字は、</a:t>
            </a:r>
          </a:p>
          <a:p>
            <a:pPr marL="0" indent="0" algn="ctr">
              <a:lnSpc>
                <a:spcPct val="100000"/>
              </a:lnSpc>
              <a:spcBef>
                <a:spcPts val="400"/>
              </a:spcBef>
              <a:spcAft>
                <a:spcPts val="0"/>
              </a:spcAft>
              <a:buNone/>
            </a:pPr>
            <a:r>
              <a:rPr lang="ja-JP" sz="1500" b="0" dirty="0">
                <a:solidFill>
                  <a:srgbClr val="6B7280"/>
                </a:solidFill>
                <a:latin typeface="Meiryo"/>
                <a:ea typeface="Meiryo"/>
                <a:cs typeface="Meiryo"/>
                <a:sym typeface="Meiryo"/>
              </a:rPr>
              <a:t>AIで何度もやり直すより、Canvaで直すほうが早く確実です</a:t>
            </a: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h259926ce4e4d5a8f_0_615"/>
          <p:cNvSpPr txBox="1"/>
          <p:nvPr/>
        </p:nvSpPr>
        <p:spPr>
          <a:xfrm>
            <a:off x="284950" y="245750"/>
            <a:ext cx="8503920" cy="4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lang="en-US" sz="2800">
                <a:solidFill>
                  <a:schemeClr val="dk1"/>
                </a:solidFill>
                <a:latin typeface="Meiryo"/>
                <a:ea typeface="Meiryo"/>
                <a:cs typeface="Meiryo"/>
                <a:sym typeface="Meiryo"/>
              </a:rPr>
              <a:t>例：AIで作ったセミナー告知の草案</a:t>
            </a:r>
            <a:endParaRPr b="0" i="0" sz="2800" u="none" cap="none" strike="noStrike">
              <a:solidFill>
                <a:schemeClr val="dk1"/>
              </a:solidFill>
              <a:latin typeface="Calibri"/>
              <a:ea typeface="Calibri"/>
              <a:cs typeface="Calibri"/>
              <a:sym typeface="Calibri"/>
            </a:endParaRPr>
          </a:p>
        </p:txBody>
      </p:sp>
      <p:sp>
        <p:nvSpPr>
          <p:cNvPr id="1006" name="Google Shape;1006;h259926ce4e4d5a8f_0_6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007" name="Google Shape;1007;h259926ce4e4d5a8f_0_615" title="ChatGPT Image 2026年6月25日 14_42_56.png"/>
          <p:cNvPicPr preferRelativeResize="0"/>
          <p:nvPr/>
        </p:nvPicPr>
        <p:blipFill>
          <a:blip r:embed="rId3">
            <a:alphaModFix/>
          </a:blip>
          <a:stretch>
            <a:fillRect/>
          </a:stretch>
        </p:blipFill>
        <p:spPr>
          <a:xfrm>
            <a:off x="2958112" y="706550"/>
            <a:ext cx="3227774" cy="430369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12a068dd872fd278_0_1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14" name="Google Shape;1014;h12a068dd872fd278_0_115"/>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pic>
        <p:nvPicPr>
          <p:cNvPr id="1015" name="Google Shape;1015;h12a068dd872fd278_0_115" title="Video Project 8.mp4">
            <a:hlinkClick r:id="rId3"/>
          </p:cNvPr>
          <p:cNvPicPr preferRelativeResize="0"/>
          <p:nvPr/>
        </p:nvPicPr>
        <p:blipFill>
          <a:blip r:embed="rId4">
            <a:alphaModFix/>
          </a:blip>
          <a:stretch>
            <a:fillRect/>
          </a:stretch>
        </p:blipFill>
        <p:spPr>
          <a:xfrm>
            <a:off x="1799788" y="688000"/>
            <a:ext cx="5544425" cy="4158325"/>
          </a:xfrm>
          <a:prstGeom prst="rect">
            <a:avLst/>
          </a:prstGeom>
          <a:noFill/>
          <a:ln>
            <a:noFill/>
          </a:ln>
        </p:spPr>
      </p:pic>
      <p:sp>
        <p:nvSpPr>
          <p:cNvPr id="1016" name="Google Shape;1016;h12a068dd872fd278_0_115"/>
          <p:cNvSpPr txBox="1"/>
          <p:nvPr/>
        </p:nvSpPr>
        <p:spPr>
          <a:xfrm>
            <a:off x="284950" y="245750"/>
            <a:ext cx="6405000" cy="4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lang="en-US" sz="2800">
                <a:solidFill>
                  <a:schemeClr val="dk1"/>
                </a:solidFill>
                <a:latin typeface="Meiryo"/>
                <a:ea typeface="Meiryo"/>
                <a:cs typeface="Meiryo"/>
                <a:sym typeface="Meiryo"/>
              </a:rPr>
              <a:t>方法① 画像の上に文字を重ねる</a:t>
            </a:r>
            <a:endParaRPr b="0" i="0" sz="2800" u="none" cap="none" strike="noStrike">
              <a:solidFill>
                <a:schemeClr val="dk1"/>
              </a:solidFill>
              <a:latin typeface="Calibri"/>
              <a:ea typeface="Calibri"/>
              <a:cs typeface="Calibri"/>
              <a:sym typeface="Calibri"/>
            </a:endParaRPr>
          </a:p>
        </p:txBody>
      </p:sp>
      <p:sp>
        <p:nvSpPr>
          <p:cNvPr id="1017" name="Play">
            <a:hlinkClick r:id="rId3"/>
          </p:cNvPr>
          <p:cNvSpPr/>
          <p:nvPr/>
        </p:nvSpPr>
        <p:spPr>
          <a:xfrm rot="5400000">
            <a:off x="4297680" y="2081362"/>
            <a:ext cx="548640" cy="548640"/>
          </a:xfrm>
          <a:prstGeom prst="triangle">
            <a:avLst/>
          </a:prstGeom>
          <a:solidFill>
            <a:srgbClr val="FFFFFF"/>
          </a:solidFill>
          <a:ln w="12700">
            <a:solidFill>
              <a:srgbClr val="FFFFFF"/>
            </a:solidFill>
          </a:ln>
        </p:spPr>
        <p:txBody>
          <a:bodyPr wrap="square" lIns="0" tIns="0" rIns="0" bIns="0" anchor="t" anchorCtr="0">
            <a:noAutofit/>
          </a:bodyPr>
          <a:lstStyle/>
          <a:p>
            <a:pPr marL="0" indent="0">
              <a:buNone/>
            </a:pPr>
            <a:endParaRPr lang="ja-JP"/>
          </a:p>
        </p:txBody>
      </p:sp>
      <p:sp>
        <p:nvSpPr>
          <p:cNvPr id="1018" name="Play Text">
            <a:hlinkClick r:id="rId3"/>
          </p:cNvPr>
          <p:cNvSpPr txBox="1"/>
          <p:nvPr/>
        </p:nvSpPr>
        <p:spPr>
          <a:xfrm>
            <a:off x="2074108" y="2812882"/>
            <a:ext cx="4995785" cy="457200"/>
          </a:xfrm>
          <a:prstGeom prst="rect">
            <a:avLst/>
          </a:prstGeom>
          <a:noFill/>
          <a:ln>
            <a:noFill/>
          </a:ln>
        </p:spPr>
        <p:txBody>
          <a:bodyPr wrap="square" lIns="0" tIns="0" rIns="0" bIns="0" anchor="ctr" anchorCtr="0">
            <a:noAutofit/>
          </a:bodyPr>
          <a:lstStyle/>
          <a:p>
            <a:pPr marL="0" indent="0" algn="ctr">
              <a:lnSpc>
                <a:spcPct val="100000"/>
              </a:lnSpc>
              <a:spcBef>
                <a:spcPts val="0"/>
              </a:spcBef>
              <a:spcAft>
                <a:spcPts val="0"/>
              </a:spcAft>
              <a:buNone/>
            </a:pPr>
            <a:r>
              <a:rPr lang="ja-JP" sz="1500" b="1" dirty="0">
                <a:solidFill>
                  <a:srgbClr val="FFFFFF"/>
                </a:solidFill>
                <a:latin typeface="Meiryo"/>
                <a:ea typeface="Meiryo"/>
                <a:cs typeface="Meiryo"/>
                <a:sym typeface="Meiryo"/>
              </a:rPr>
              <a:t>クリックで動画を再生（Googleドライブ）</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12a068dd872fd278_0_18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23" name="Google Shape;1023;h12a068dd872fd278_0_188"/>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pic>
        <p:nvPicPr>
          <p:cNvPr id="1024" name="Google Shape;1024;h12a068dd872fd278_0_188" title="Video Project 9.mp4">
            <a:hlinkClick r:id="rId3"/>
          </p:cNvPr>
          <p:cNvPicPr preferRelativeResize="0"/>
          <p:nvPr/>
        </p:nvPicPr>
        <p:blipFill>
          <a:blip r:embed="rId4">
            <a:alphaModFix/>
          </a:blip>
          <a:stretch>
            <a:fillRect/>
          </a:stretch>
        </p:blipFill>
        <p:spPr>
          <a:xfrm>
            <a:off x="1788538" y="671125"/>
            <a:ext cx="5566925" cy="4175200"/>
          </a:xfrm>
          <a:prstGeom prst="rect">
            <a:avLst/>
          </a:prstGeom>
          <a:noFill/>
          <a:ln>
            <a:noFill/>
          </a:ln>
        </p:spPr>
      </p:pic>
      <p:sp>
        <p:nvSpPr>
          <p:cNvPr id="1025" name="Google Shape;1025;h12a068dd872fd278_0_188"/>
          <p:cNvSpPr txBox="1"/>
          <p:nvPr/>
        </p:nvSpPr>
        <p:spPr>
          <a:xfrm>
            <a:off x="284950" y="245750"/>
            <a:ext cx="6765000" cy="4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800"/>
              <a:buFont typeface="Meiryo"/>
              <a:buNone/>
            </a:pPr>
            <a:r>
              <a:rPr b="1" lang="en-US" sz="2800">
                <a:solidFill>
                  <a:schemeClr val="dk1"/>
                </a:solidFill>
                <a:latin typeface="Meiryo"/>
                <a:ea typeface="Meiryo"/>
                <a:cs typeface="Meiryo"/>
                <a:sym typeface="Meiryo"/>
              </a:rPr>
              <a:t>方法②「マジックレイヤー」で編集する</a:t>
            </a:r>
            <a:endParaRPr b="0" i="0" sz="2800" u="none" cap="none" strike="noStrike">
              <a:solidFill>
                <a:schemeClr val="dk1"/>
              </a:solidFill>
              <a:latin typeface="Calibri"/>
              <a:ea typeface="Calibri"/>
              <a:cs typeface="Calibri"/>
              <a:sym typeface="Calibri"/>
            </a:endParaRPr>
          </a:p>
        </p:txBody>
      </p:sp>
      <p:sp>
        <p:nvSpPr>
          <p:cNvPr id="1026" name="Google Shape;1026;h12a068dd872fd278_0_188"/>
          <p:cNvSpPr txBox="1"/>
          <p:nvPr/>
        </p:nvSpPr>
        <p:spPr>
          <a:xfrm>
            <a:off x="192658" y="992666"/>
            <a:ext cx="1427400" cy="2527200"/>
          </a:xfrm>
          <a:prstGeom prst="rect">
            <a:avLst/>
          </a:prstGeom>
          <a:noFill/>
          <a:ln>
            <a:noFill/>
          </a:ln>
        </p:spPr>
        <p:txBody>
          <a:bodyPr anchorCtr="0" anchor="t" bIns="0" lIns="0" spcFirstLastPara="1" rIns="0" wrap="square" tIns="0">
            <a:noAutofit/>
          </a:bodyPr>
          <a:lstStyle/>
          <a:p>
            <a:pPr marL="0" indent="0" algn="l">
              <a:lnSpc>
                <a:spcPct val="100000"/>
              </a:lnSpc>
              <a:spcBef>
                <a:spcPts val="0"/>
              </a:spcBef>
              <a:spcAft>
                <a:spcPts val="0"/>
              </a:spcAft>
              <a:buNone/>
            </a:pPr>
            <a:r>
              <a:rPr lang="ja-JP" sz="1300" b="0" dirty="0">
                <a:solidFill>
                  <a:srgbClr val="6B7280"/>
                </a:solidFill>
                <a:latin typeface="Meiryo"/>
                <a:ea typeface="Meiryo"/>
                <a:cs typeface="Meiryo"/>
                <a:sym typeface="Meiryo"/>
              </a:rPr>
              <a:t>※マジックレイヤーは無料プランでも使えます（月ごとの利用回数に上限あり）</a:t>
            </a:r>
          </a:p>
        </p:txBody>
      </p:sp>
      <p:sp>
        <p:nvSpPr>
          <p:cNvPr id="1027" name="Play">
            <a:hlinkClick r:id="rId3"/>
          </p:cNvPr>
          <p:cNvSpPr/>
          <p:nvPr/>
        </p:nvSpPr>
        <p:spPr>
          <a:xfrm rot="5400000">
            <a:off x="4297681" y="2072925"/>
            <a:ext cx="548640" cy="548640"/>
          </a:xfrm>
          <a:prstGeom prst="triangle">
            <a:avLst/>
          </a:prstGeom>
          <a:solidFill>
            <a:srgbClr val="FFFFFF"/>
          </a:solidFill>
          <a:ln w="12700">
            <a:solidFill>
              <a:srgbClr val="FFFFFF"/>
            </a:solidFill>
          </a:ln>
        </p:spPr>
        <p:txBody>
          <a:bodyPr wrap="square" lIns="0" tIns="0" rIns="0" bIns="0" anchor="t" anchorCtr="0">
            <a:noAutofit/>
          </a:bodyPr>
          <a:lstStyle/>
          <a:p>
            <a:pPr marL="0" indent="0">
              <a:buNone/>
            </a:pPr>
            <a:endParaRPr lang="ja-JP"/>
          </a:p>
        </p:txBody>
      </p:sp>
      <p:sp>
        <p:nvSpPr>
          <p:cNvPr id="1028" name="Play Text">
            <a:hlinkClick r:id="rId3"/>
          </p:cNvPr>
          <p:cNvSpPr txBox="1"/>
          <p:nvPr/>
        </p:nvSpPr>
        <p:spPr>
          <a:xfrm>
            <a:off x="2062858" y="2804445"/>
            <a:ext cx="5018285" cy="457200"/>
          </a:xfrm>
          <a:prstGeom prst="rect">
            <a:avLst/>
          </a:prstGeom>
          <a:noFill/>
          <a:ln>
            <a:noFill/>
          </a:ln>
        </p:spPr>
        <p:txBody>
          <a:bodyPr wrap="square" lIns="0" tIns="0" rIns="0" bIns="0" anchor="ctr" anchorCtr="0">
            <a:noAutofit/>
          </a:bodyPr>
          <a:lstStyle/>
          <a:p>
            <a:pPr marL="0" indent="0" algn="ctr">
              <a:lnSpc>
                <a:spcPct val="100000"/>
              </a:lnSpc>
              <a:spcBef>
                <a:spcPts val="0"/>
              </a:spcBef>
              <a:spcAft>
                <a:spcPts val="0"/>
              </a:spcAft>
              <a:buNone/>
            </a:pPr>
            <a:r>
              <a:rPr lang="ja-JP" sz="1500" b="1" dirty="0">
                <a:solidFill>
                  <a:srgbClr val="FFFFFF"/>
                </a:solidFill>
                <a:latin typeface="Meiryo"/>
                <a:ea typeface="Meiryo"/>
                <a:cs typeface="Meiryo"/>
                <a:sym typeface="Meiryo"/>
              </a:rPr>
              <a:t>クリックで動画を再生（Googleドライブ）</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1000"/>
                                        <p:tgtEl>
                                          <p:spTgt spid="10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10b5d30066dd11f8_0_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033" name="Google Shape;1033;h10b5d30066dd11f8_0_1" title="悠久堂医科器械店様_無料セミナー .png"/>
          <p:cNvPicPr preferRelativeResize="0"/>
          <p:nvPr/>
        </p:nvPicPr>
        <p:blipFill>
          <a:blip r:embed="rId3">
            <a:alphaModFix/>
          </a:blip>
          <a:stretch>
            <a:fillRect/>
          </a:stretch>
        </p:blipFill>
        <p:spPr>
          <a:xfrm>
            <a:off x="2757487" y="152400"/>
            <a:ext cx="3629024" cy="4838698"/>
          </a:xfrm>
          <a:prstGeom prst="rect">
            <a:avLst/>
          </a:prstGeom>
          <a:noFill/>
          <a:ln>
            <a:noFill/>
          </a:ln>
        </p:spPr>
      </p:pic>
      <p:sp>
        <p:nvSpPr>
          <p:cNvPr id="1034" name="Text"/>
          <p:cNvSpPr txBox="1"/>
          <p:nvPr/>
        </p:nvSpPr>
        <p:spPr>
          <a:xfrm>
            <a:off x="320040" y="411480"/>
            <a:ext cx="2331720" cy="7315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700" b="1" dirty="0">
                <a:solidFill>
                  <a:srgbClr val="222222"/>
                </a:solidFill>
                <a:latin typeface="Meiryo"/>
                <a:ea typeface="Meiryo"/>
                <a:cs typeface="Meiryo"/>
                <a:sym typeface="Meiryo"/>
              </a:rPr>
              <a:t>Canvaで仕上げた</a:t>
            </a:r>
          </a:p>
          <a:p>
            <a:pPr marL="0" indent="0" algn="l">
              <a:lnSpc>
                <a:spcPct val="100000"/>
              </a:lnSpc>
              <a:spcBef>
                <a:spcPts val="0"/>
              </a:spcBef>
              <a:spcAft>
                <a:spcPts val="0"/>
              </a:spcAft>
              <a:buNone/>
            </a:pPr>
            <a:r>
              <a:rPr lang="ja-JP" sz="1700" b="1" dirty="0">
                <a:solidFill>
                  <a:srgbClr val="222222"/>
                </a:solidFill>
                <a:latin typeface="Meiryo"/>
                <a:ea typeface="Meiryo"/>
                <a:cs typeface="Meiryo"/>
                <a:sym typeface="Meiryo"/>
              </a:rPr>
              <a:t>完成版</a:t>
            </a:r>
          </a:p>
        </p:txBody>
      </p:sp>
      <p:sp>
        <p:nvSpPr>
          <p:cNvPr id="1035" name="Text"/>
          <p:cNvSpPr txBox="1"/>
          <p:nvPr/>
        </p:nvSpPr>
        <p:spPr>
          <a:xfrm>
            <a:off x="320040" y="1325880"/>
            <a:ext cx="233172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1" dirty="0">
                <a:solidFill>
                  <a:srgbClr val="E8702A"/>
                </a:solidFill>
                <a:latin typeface="Meiryo"/>
                <a:ea typeface="Meiryo"/>
                <a:cs typeface="Meiryo"/>
                <a:sym typeface="Meiryo"/>
              </a:rPr>
              <a:t>草案から差し替えたところ</a:t>
            </a:r>
          </a:p>
        </p:txBody>
      </p:sp>
      <p:sp>
        <p:nvSpPr>
          <p:cNvPr id="1036" name="Text"/>
          <p:cNvSpPr txBox="1"/>
          <p:nvPr/>
        </p:nvSpPr>
        <p:spPr>
          <a:xfrm>
            <a:off x="320040" y="1664208"/>
            <a:ext cx="2331720" cy="1280160"/>
          </a:xfrm>
          <a:prstGeom prst="rect">
            <a:avLst/>
          </a:prstGeom>
          <a:noFill/>
          <a:ln>
            <a:noFill/>
          </a:ln>
        </p:spPr>
        <p:txBody>
          <a:bodyPr wrap="square" lIns="0" tIns="0" rIns="0" bIns="0" anchor="t" anchorCtr="0">
            <a:noAutofit/>
          </a:bodyPr>
          <a:lstStyle/>
          <a:p>
            <a:pPr marL="177800" indent="-177800" algn="l">
              <a:lnSpc>
                <a:spcPct val="100000"/>
              </a:lnSpc>
              <a:spcBef>
                <a:spcPts val="0"/>
              </a:spcBef>
              <a:spcAft>
                <a:spcPts val="0"/>
              </a:spcAft>
              <a:buClr>
                <a:srgbClr val="E8702A"/>
              </a:buClr>
              <a:buFont typeface="Meiryo"/>
              <a:buChar char="•"/>
            </a:pPr>
            <a:r>
              <a:rPr lang="ja-JP" sz="1200" b="0" dirty="0">
                <a:solidFill>
                  <a:srgbClr val="222222"/>
                </a:solidFill>
                <a:latin typeface="Meiryo"/>
                <a:ea typeface="Meiryo"/>
                <a:cs typeface="Meiryo"/>
                <a:sym typeface="Meiryo"/>
              </a:rPr>
              <a:t>日付・時間・会場</a:t>
            </a:r>
          </a:p>
          <a:p>
            <a:pPr marL="177800" indent="-177800" algn="l">
              <a:lnSpc>
                <a:spcPct val="100000"/>
              </a:lnSpc>
              <a:spcBef>
                <a:spcPts val="500"/>
              </a:spcBef>
              <a:spcAft>
                <a:spcPts val="0"/>
              </a:spcAft>
              <a:buClr>
                <a:srgbClr val="E8702A"/>
              </a:buClr>
              <a:buFont typeface="Meiryo"/>
              <a:buChar char="•"/>
            </a:pPr>
            <a:r>
              <a:rPr lang="ja-JP" sz="1200" b="0" dirty="0">
                <a:solidFill>
                  <a:srgbClr val="222222"/>
                </a:solidFill>
                <a:latin typeface="Meiryo"/>
                <a:ea typeface="Meiryo"/>
                <a:cs typeface="Meiryo"/>
                <a:sym typeface="Meiryo"/>
              </a:rPr>
              <a:t>講師の名前と写真</a:t>
            </a:r>
          </a:p>
          <a:p>
            <a:pPr marL="177800" indent="-177800" algn="l">
              <a:lnSpc>
                <a:spcPct val="100000"/>
              </a:lnSpc>
              <a:spcBef>
                <a:spcPts val="500"/>
              </a:spcBef>
              <a:spcAft>
                <a:spcPts val="0"/>
              </a:spcAft>
              <a:buClr>
                <a:srgbClr val="E8702A"/>
              </a:buClr>
              <a:buFont typeface="Meiryo"/>
              <a:buChar char="•"/>
            </a:pPr>
            <a:r>
              <a:rPr lang="ja-JP" sz="1200" b="0" dirty="0">
                <a:solidFill>
                  <a:srgbClr val="222222"/>
                </a:solidFill>
                <a:latin typeface="Meiryo"/>
                <a:ea typeface="Meiryo"/>
                <a:cs typeface="Meiryo"/>
                <a:sym typeface="Meiryo"/>
              </a:rPr>
              <a:t>主催のロゴ・申込用QR</a:t>
            </a: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8" name="Shape 1038"/>
        <p:cNvGrpSpPr/>
        <p:nvPr/>
      </p:nvGrpSpPr>
      <p:grpSpPr>
        <a:xfrm>
          <a:off x="0" y="0"/>
          <a:ext cx="0" cy="0"/>
          <a:chOff x="0" y="0"/>
          <a:chExt cx="0" cy="0"/>
        </a:xfrm>
      </p:grpSpPr>
      <p:sp>
        <p:nvSpPr>
          <p:cNvPr id="1039" name="Google Shape;1039;h12a068dd872fd278_0_111"/>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活用例A 告知ポスター（新弾予約・大会告知）</a:t>
            </a:r>
            <a:endParaRPr b="0" i="0" sz="2200" u="none" cap="none" strike="noStrike">
              <a:solidFill>
                <a:srgbClr val="000000"/>
              </a:solidFill>
              <a:latin typeface="Calibri"/>
              <a:ea typeface="Calibri"/>
              <a:cs typeface="Calibri"/>
              <a:sym typeface="Calibri"/>
            </a:endParaRPr>
          </a:p>
        </p:txBody>
      </p:sp>
      <p:sp>
        <p:nvSpPr>
          <p:cNvPr id="1040" name="Google Shape;1040;h12a068dd872fd278_0_111"/>
          <p:cNvSpPr/>
          <p:nvPr/>
        </p:nvSpPr>
        <p:spPr>
          <a:xfrm>
            <a:off x="6949440" y="301752"/>
            <a:ext cx="1783200" cy="411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h12a068dd872fd278_0_111"/>
          <p:cNvSpPr txBox="1"/>
          <p:nvPr/>
        </p:nvSpPr>
        <p:spPr>
          <a:xfrm>
            <a:off x="6949440" y="301752"/>
            <a:ext cx="1783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rgbClr val="000000"/>
              </a:solidFill>
              <a:latin typeface="Calibri"/>
              <a:ea typeface="Calibri"/>
              <a:cs typeface="Calibri"/>
              <a:sym typeface="Calibri"/>
            </a:endParaRPr>
          </a:p>
        </p:txBody>
      </p:sp>
      <p:sp>
        <p:nvSpPr>
          <p:cNvPr id="1042" name="Google Shape;1042;h12a068dd872fd278_0_111"/>
          <p:cNvSpPr txBox="1"/>
          <p:nvPr/>
        </p:nvSpPr>
        <p:spPr>
          <a:xfrm>
            <a:off x="411480" y="896112"/>
            <a:ext cx="4937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i="0" lang="en-US" sz="1300" u="none" cap="none" strike="noStrike">
                <a:solidFill>
                  <a:srgbClr val="1F3A5F"/>
                </a:solidFill>
                <a:latin typeface="Meiryo"/>
                <a:ea typeface="Meiryo"/>
                <a:cs typeface="Meiryo"/>
                <a:sym typeface="Meiryo"/>
              </a:rPr>
              <a:t>① ChatGPTに頼む</a:t>
            </a:r>
            <a:endParaRPr b="0" i="0" sz="1300" u="none" cap="none" strike="noStrike">
              <a:solidFill>
                <a:srgbClr val="000000"/>
              </a:solidFill>
              <a:latin typeface="Calibri"/>
              <a:ea typeface="Calibri"/>
              <a:cs typeface="Calibri"/>
              <a:sym typeface="Calibri"/>
            </a:endParaRPr>
          </a:p>
        </p:txBody>
      </p:sp>
      <p:sp>
        <p:nvSpPr>
          <p:cNvPr id="1043" name="Google Shape;1043;h12a068dd872fd278_0_111"/>
          <p:cNvSpPr/>
          <p:nvPr/>
        </p:nvSpPr>
        <p:spPr>
          <a:xfrm>
            <a:off x="411480" y="1207008"/>
            <a:ext cx="4937700" cy="292620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h12a068dd872fd278_0_111"/>
          <p:cNvSpPr txBox="1"/>
          <p:nvPr/>
        </p:nvSpPr>
        <p:spPr>
          <a:xfrm>
            <a:off x="594360" y="1344168"/>
            <a:ext cx="4572000" cy="2697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2222"/>
              </a:buClr>
              <a:buSzPts val="1150"/>
              <a:buFont typeface="Meiryo"/>
              <a:buNone/>
            </a:pPr>
            <a:r>
              <a:rPr b="0" i="0" lang="en-US" sz="1150" u="none" cap="none" strike="noStrike">
                <a:solidFill>
                  <a:srgbClr val="222222"/>
                </a:solidFill>
                <a:latin typeface="Meiryo"/>
                <a:ea typeface="Meiryo"/>
                <a:cs typeface="Meiryo"/>
                <a:sym typeface="Meiryo"/>
              </a:rPr>
              <a:t>Canvaで、トレカの新弾予約の告知ポスターをA4縦で作ってください。</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150"/>
              <a:buFont typeface="Calibri"/>
              <a:buNone/>
            </a:pPr>
            <a:r>
              <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222222"/>
              </a:buClr>
              <a:buSzPts val="1150"/>
              <a:buFont typeface="Meiryo"/>
              <a:buNone/>
            </a:pPr>
            <a:r>
              <a:rPr b="0" i="0" lang="en-US" sz="1150" u="none" cap="none" strike="noStrike">
                <a:solidFill>
                  <a:srgbClr val="222222"/>
                </a:solidFill>
                <a:latin typeface="Meiryo"/>
                <a:ea typeface="Meiryo"/>
                <a:cs typeface="Meiryo"/>
                <a:sym typeface="Meiryo"/>
              </a:rPr>
              <a:t>テーマは「サイバー・近未来」、色は青と紫。競技プレイヤーに響くキャッチコピーも考えて入れてください。</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150"/>
              <a:buFont typeface="Calibri"/>
              <a:buNone/>
            </a:pPr>
            <a:r>
              <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222222"/>
              </a:buClr>
              <a:buSzPts val="1150"/>
              <a:buFont typeface="Meiryo"/>
              <a:buNone/>
            </a:pPr>
            <a:r>
              <a:rPr b="0" i="0" lang="en-US" sz="1150" u="none" cap="none" strike="noStrike">
                <a:solidFill>
                  <a:srgbClr val="222222"/>
                </a:solidFill>
                <a:latin typeface="Meiryo"/>
                <a:ea typeface="Meiryo"/>
                <a:cs typeface="Meiryo"/>
                <a:sym typeface="Meiryo"/>
              </a:rPr>
              <a:t>入れる情報：予約開始日〇月〇日／発売日〇月〇日／店名〇〇店</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150"/>
              <a:buFont typeface="Calibri"/>
              <a:buNone/>
            </a:pPr>
            <a:r>
              <a:t/>
            </a:r>
            <a:endParaRPr b="0" i="0" sz="1150" u="none" cap="none" strike="noStrike">
              <a:solidFill>
                <a:srgbClr val="000000"/>
              </a:solidFill>
              <a:latin typeface="Calibri"/>
              <a:ea typeface="Calibri"/>
              <a:cs typeface="Calibri"/>
              <a:sym typeface="Calibri"/>
            </a:endParaRPr>
          </a:p>
          <a:p>
            <a:pPr indent="0" lvl="0" marL="0" marR="0" rtl="0" algn="l">
              <a:lnSpc>
                <a:spcPct val="125000"/>
              </a:lnSpc>
              <a:spcBef>
                <a:spcPts val="0"/>
              </a:spcBef>
              <a:spcAft>
                <a:spcPts val="0"/>
              </a:spcAft>
              <a:buClr>
                <a:srgbClr val="222222"/>
              </a:buClr>
              <a:buSzPts val="1150"/>
              <a:buFont typeface="Meiryo"/>
              <a:buNone/>
            </a:pPr>
            <a:r>
              <a:rPr b="0" i="0" lang="en-US" sz="1150" u="none" cap="none" strike="noStrike">
                <a:solidFill>
                  <a:srgbClr val="222222"/>
                </a:solidFill>
                <a:latin typeface="Meiryo"/>
                <a:ea typeface="Meiryo"/>
                <a:cs typeface="Meiryo"/>
                <a:sym typeface="Meiryo"/>
              </a:rPr>
              <a:t>実在のゲームのキャラクターやロゴは使わないでください。</a:t>
            </a:r>
            <a:endParaRPr b="0" i="0" sz="1150" u="none" cap="none" strike="noStrike">
              <a:solidFill>
                <a:srgbClr val="000000"/>
              </a:solidFill>
              <a:latin typeface="Calibri"/>
              <a:ea typeface="Calibri"/>
              <a:cs typeface="Calibri"/>
              <a:sym typeface="Calibri"/>
            </a:endParaRPr>
          </a:p>
        </p:txBody>
      </p:sp>
      <p:sp>
        <p:nvSpPr>
          <p:cNvPr id="1045" name="Google Shape;1045;h12a068dd872fd278_0_111"/>
          <p:cNvSpPr txBox="1"/>
          <p:nvPr/>
        </p:nvSpPr>
        <p:spPr>
          <a:xfrm>
            <a:off x="5623560" y="896112"/>
            <a:ext cx="3108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300"/>
              <a:buFont typeface="Meiryo"/>
              <a:buNone/>
            </a:pPr>
            <a:r>
              <a:rPr b="1" i="0" lang="en-US" sz="1300" u="none" cap="none" strike="noStrike">
                <a:solidFill>
                  <a:srgbClr val="E8702A"/>
                </a:solidFill>
                <a:latin typeface="Meiryo"/>
                <a:ea typeface="Meiryo"/>
                <a:cs typeface="Meiryo"/>
                <a:sym typeface="Meiryo"/>
              </a:rPr>
              <a:t>② Canvaで編集する</a:t>
            </a:r>
            <a:endParaRPr b="0" i="0" sz="1300" u="none" cap="none" strike="noStrike">
              <a:solidFill>
                <a:srgbClr val="000000"/>
              </a:solidFill>
              <a:latin typeface="Calibri"/>
              <a:ea typeface="Calibri"/>
              <a:cs typeface="Calibri"/>
              <a:sym typeface="Calibri"/>
            </a:endParaRPr>
          </a:p>
        </p:txBody>
      </p:sp>
      <p:sp>
        <p:nvSpPr>
          <p:cNvPr id="1046" name="Google Shape;1046;h12a068dd872fd278_0_111"/>
          <p:cNvSpPr/>
          <p:nvPr/>
        </p:nvSpPr>
        <p:spPr>
          <a:xfrm>
            <a:off x="5623560" y="1207008"/>
            <a:ext cx="3108900" cy="8688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h12a068dd872fd278_0_111"/>
          <p:cNvSpPr txBox="1"/>
          <p:nvPr/>
        </p:nvSpPr>
        <p:spPr>
          <a:xfrm>
            <a:off x="5806440" y="1298448"/>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i="0" lang="en-US" sz="1300" u="none" cap="none" strike="noStrike">
                <a:solidFill>
                  <a:srgbClr val="1F3A5F"/>
                </a:solidFill>
                <a:latin typeface="Meiryo"/>
                <a:ea typeface="Meiryo"/>
                <a:cs typeface="Meiryo"/>
                <a:sym typeface="Meiryo"/>
              </a:rPr>
              <a:t>崩れた文字を直す</a:t>
            </a:r>
            <a:endParaRPr b="0" i="0" sz="1300" u="none" cap="none" strike="noStrike">
              <a:solidFill>
                <a:srgbClr val="000000"/>
              </a:solidFill>
              <a:latin typeface="Calibri"/>
              <a:ea typeface="Calibri"/>
              <a:cs typeface="Calibri"/>
              <a:sym typeface="Calibri"/>
            </a:endParaRPr>
          </a:p>
        </p:txBody>
      </p:sp>
      <p:sp>
        <p:nvSpPr>
          <p:cNvPr id="1048" name="Google Shape;1048;h12a068dd872fd278_0_111"/>
          <p:cNvSpPr txBox="1"/>
          <p:nvPr/>
        </p:nvSpPr>
        <p:spPr>
          <a:xfrm>
            <a:off x="5806440" y="1645920"/>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見出し・日付・店名を打ち直す</a:t>
            </a:r>
            <a:endParaRPr b="0" i="0" sz="1050" u="none" cap="none" strike="noStrike">
              <a:solidFill>
                <a:srgbClr val="000000"/>
              </a:solidFill>
              <a:latin typeface="Calibri"/>
              <a:ea typeface="Calibri"/>
              <a:cs typeface="Calibri"/>
              <a:sym typeface="Calibri"/>
            </a:endParaRPr>
          </a:p>
        </p:txBody>
      </p:sp>
      <p:sp>
        <p:nvSpPr>
          <p:cNvPr id="1049" name="Google Shape;1049;h12a068dd872fd278_0_111"/>
          <p:cNvSpPr/>
          <p:nvPr/>
        </p:nvSpPr>
        <p:spPr>
          <a:xfrm>
            <a:off x="5623560" y="2212848"/>
            <a:ext cx="3108900" cy="8688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h12a068dd872fd278_0_111"/>
          <p:cNvSpPr txBox="1"/>
          <p:nvPr/>
        </p:nvSpPr>
        <p:spPr>
          <a:xfrm>
            <a:off x="5806440" y="2304288"/>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i="0" lang="en-US" sz="1300" u="none" cap="none" strike="noStrike">
                <a:solidFill>
                  <a:srgbClr val="1F3A5F"/>
                </a:solidFill>
                <a:latin typeface="Meiryo"/>
                <a:ea typeface="Meiryo"/>
                <a:cs typeface="Meiryo"/>
                <a:sym typeface="Meiryo"/>
              </a:rPr>
              <a:t>商品写真を入れる</a:t>
            </a:r>
            <a:endParaRPr b="0" i="0" sz="1300" u="none" cap="none" strike="noStrike">
              <a:solidFill>
                <a:srgbClr val="000000"/>
              </a:solidFill>
              <a:latin typeface="Calibri"/>
              <a:ea typeface="Calibri"/>
              <a:cs typeface="Calibri"/>
              <a:sym typeface="Calibri"/>
            </a:endParaRPr>
          </a:p>
        </p:txBody>
      </p:sp>
      <p:sp>
        <p:nvSpPr>
          <p:cNvPr id="1051" name="Google Shape;1051;h12a068dd872fd278_0_111"/>
          <p:cNvSpPr txBox="1"/>
          <p:nvPr/>
        </p:nvSpPr>
        <p:spPr>
          <a:xfrm>
            <a:off x="5806440" y="2651760"/>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パックや商品の写真を配置</a:t>
            </a:r>
            <a:endParaRPr b="0" i="0" sz="1050" u="none" cap="none" strike="noStrike">
              <a:solidFill>
                <a:srgbClr val="000000"/>
              </a:solidFill>
              <a:latin typeface="Calibri"/>
              <a:ea typeface="Calibri"/>
              <a:cs typeface="Calibri"/>
              <a:sym typeface="Calibri"/>
            </a:endParaRPr>
          </a:p>
        </p:txBody>
      </p:sp>
      <p:sp>
        <p:nvSpPr>
          <p:cNvPr id="1052" name="Google Shape;1052;h12a068dd872fd278_0_111"/>
          <p:cNvSpPr/>
          <p:nvPr/>
        </p:nvSpPr>
        <p:spPr>
          <a:xfrm>
            <a:off x="5623560" y="3218688"/>
            <a:ext cx="3108900" cy="8688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h12a068dd872fd278_0_111"/>
          <p:cNvSpPr txBox="1"/>
          <p:nvPr/>
        </p:nvSpPr>
        <p:spPr>
          <a:xfrm>
            <a:off x="5806440" y="3310128"/>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i="0" lang="en-US" sz="1300" u="none" cap="none" strike="noStrike">
                <a:solidFill>
                  <a:srgbClr val="1F3A5F"/>
                </a:solidFill>
                <a:latin typeface="Meiryo"/>
                <a:ea typeface="Meiryo"/>
                <a:cs typeface="Meiryo"/>
                <a:sym typeface="Meiryo"/>
              </a:rPr>
              <a:t>サイズを変えて展開</a:t>
            </a:r>
            <a:endParaRPr b="0" i="0" sz="1300" u="none" cap="none" strike="noStrike">
              <a:solidFill>
                <a:srgbClr val="000000"/>
              </a:solidFill>
              <a:latin typeface="Calibri"/>
              <a:ea typeface="Calibri"/>
              <a:cs typeface="Calibri"/>
              <a:sym typeface="Calibri"/>
            </a:endParaRPr>
          </a:p>
        </p:txBody>
      </p:sp>
      <p:sp>
        <p:nvSpPr>
          <p:cNvPr id="1054" name="Google Shape;1054;h12a068dd872fd278_0_111"/>
          <p:cNvSpPr txBox="1"/>
          <p:nvPr/>
        </p:nvSpPr>
        <p:spPr>
          <a:xfrm>
            <a:off x="5806440" y="3657600"/>
            <a:ext cx="27432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SNS用の正方形にも</a:t>
            </a:r>
            <a:endParaRPr b="0" i="0" sz="1050" u="none" cap="none" strike="noStrike">
              <a:solidFill>
                <a:srgbClr val="000000"/>
              </a:solidFill>
              <a:latin typeface="Calibri"/>
              <a:ea typeface="Calibri"/>
              <a:cs typeface="Calibri"/>
              <a:sym typeface="Calibri"/>
            </a:endParaRPr>
          </a:p>
        </p:txBody>
      </p:sp>
      <p:sp>
        <p:nvSpPr>
          <p:cNvPr id="1055" name="Google Shape;1055;h12a068dd872fd278_0_1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56" name="Google Shape;1056;h12a068dd872fd278_0_111"/>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1" name="Shape 1061"/>
        <p:cNvGrpSpPr/>
        <p:nvPr/>
      </p:nvGrpSpPr>
      <p:grpSpPr>
        <a:xfrm>
          <a:off x="0" y="0"/>
          <a:ext cx="0" cy="0"/>
          <a:chOff x="0" y="0"/>
          <a:chExt cx="0" cy="0"/>
        </a:xfrm>
      </p:grpSpPr>
      <p:sp>
        <p:nvSpPr>
          <p:cNvPr id="1062" name="Google Shape;1062;h12a068dd872fd278_0_18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63" name="Google Shape;1063;h12a068dd872fd278_0_181"/>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064" name="Google Shape;1064;h12a068dd872fd278_0_181"/>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活用例B 買取表・価格POPをまとめてつくる</a:t>
            </a:r>
            <a:endParaRPr b="0" i="0" sz="2200" u="none" cap="none" strike="noStrike">
              <a:solidFill>
                <a:srgbClr val="000000"/>
              </a:solidFill>
              <a:latin typeface="Calibri"/>
              <a:ea typeface="Calibri"/>
              <a:cs typeface="Calibri"/>
              <a:sym typeface="Calibri"/>
            </a:endParaRPr>
          </a:p>
        </p:txBody>
      </p:sp>
      <p:sp>
        <p:nvSpPr>
          <p:cNvPr id="1065" name="Google Shape;1065;h12a068dd872fd278_0_181"/>
          <p:cNvSpPr/>
          <p:nvPr/>
        </p:nvSpPr>
        <p:spPr>
          <a:xfrm>
            <a:off x="6949440" y="301752"/>
            <a:ext cx="1783200" cy="411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h12a068dd872fd278_0_181"/>
          <p:cNvSpPr txBox="1"/>
          <p:nvPr/>
        </p:nvSpPr>
        <p:spPr>
          <a:xfrm>
            <a:off x="6949440" y="301752"/>
            <a:ext cx="1783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000"/>
              <a:buFont typeface="Meiryo"/>
              <a:buNone/>
            </a:pPr>
            <a:r>
              <a:rPr b="1" i="0" lang="en-US" sz="1000" u="none" cap="none" strike="noStrike">
                <a:solidFill>
                  <a:srgbClr val="1F3A5F"/>
                </a:solidFill>
                <a:latin typeface="Meiryo"/>
                <a:ea typeface="Meiryo"/>
                <a:cs typeface="Meiryo"/>
                <a:sym typeface="Meiryo"/>
              </a:rPr>
              <a:t>講師デモ</a:t>
            </a:r>
            <a:endParaRPr b="0" i="0" sz="1000" u="none" cap="none" strike="noStrike">
              <a:solidFill>
                <a:srgbClr val="000000"/>
              </a:solidFill>
              <a:latin typeface="Calibri"/>
              <a:ea typeface="Calibri"/>
              <a:cs typeface="Calibri"/>
              <a:sym typeface="Calibri"/>
            </a:endParaRPr>
          </a:p>
        </p:txBody>
      </p:sp>
      <p:sp>
        <p:nvSpPr>
          <p:cNvPr id="1067" name="Google Shape;1067;h12a068dd872fd278_0_181"/>
          <p:cNvSpPr txBox="1"/>
          <p:nvPr/>
        </p:nvSpPr>
        <p:spPr>
          <a:xfrm>
            <a:off x="411480" y="868680"/>
            <a:ext cx="4937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i="0" lang="en-US" sz="1300" u="none" cap="none" strike="noStrike">
                <a:solidFill>
                  <a:srgbClr val="1F3A5F"/>
                </a:solidFill>
                <a:latin typeface="Meiryo"/>
                <a:ea typeface="Meiryo"/>
                <a:cs typeface="Meiryo"/>
                <a:sym typeface="Meiryo"/>
              </a:rPr>
              <a:t>① ChatGPTに頼む</a:t>
            </a:r>
            <a:endParaRPr b="0" i="0" sz="1300" u="none" cap="none" strike="noStrike">
              <a:solidFill>
                <a:srgbClr val="000000"/>
              </a:solidFill>
              <a:latin typeface="Calibri"/>
              <a:ea typeface="Calibri"/>
              <a:cs typeface="Calibri"/>
              <a:sym typeface="Calibri"/>
            </a:endParaRPr>
          </a:p>
        </p:txBody>
      </p:sp>
      <p:sp>
        <p:nvSpPr>
          <p:cNvPr id="1068" name="Google Shape;1068;h12a068dd872fd278_0_181"/>
          <p:cNvSpPr/>
          <p:nvPr/>
        </p:nvSpPr>
        <p:spPr>
          <a:xfrm>
            <a:off x="411480" y="1170432"/>
            <a:ext cx="8321100" cy="1371600"/>
          </a:xfrm>
          <a:prstGeom prst="rect">
            <a:avLst/>
          </a:prstGeom>
          <a:solidFill>
            <a:srgbClr val="FFFFFF"/>
          </a:solidFill>
          <a:ln cap="flat" cmpd="sng" w="12700">
            <a:solidFill>
              <a:srgbClr val="8A8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h12a068dd872fd278_0_181"/>
          <p:cNvSpPr txBox="1"/>
          <p:nvPr/>
        </p:nvSpPr>
        <p:spPr>
          <a:xfrm>
            <a:off x="594360" y="1298448"/>
            <a:ext cx="7955400" cy="1143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Clr>
                <a:srgbClr val="222222"/>
              </a:buClr>
              <a:buSzPts val="1150"/>
              <a:buFont typeface="Meiryo"/>
              <a:buNone/>
            </a:pPr>
            <a:r>
              <a:rPr lang="en-US" sz="1150">
                <a:solidFill>
                  <a:srgbClr val="222222"/>
                </a:solidFill>
                <a:latin typeface="Meiryo"/>
                <a:ea typeface="Meiryo"/>
                <a:cs typeface="Meiryo"/>
                <a:sym typeface="Meiryo"/>
              </a:rPr>
              <a:t>Canvaで、トレカの買取POPのひな形をA6縦で作ってください。</a:t>
            </a:r>
            <a:endParaRPr sz="1150">
              <a:solidFill>
                <a:schemeClr val="dk1"/>
              </a:solidFill>
              <a:latin typeface="Calibri"/>
              <a:ea typeface="Calibri"/>
              <a:cs typeface="Calibri"/>
              <a:sym typeface="Calibri"/>
            </a:endParaRPr>
          </a:p>
          <a:p>
            <a:pPr indent="0" lvl="0" marL="0" rtl="0" algn="l">
              <a:lnSpc>
                <a:spcPct val="130000"/>
              </a:lnSpc>
              <a:spcBef>
                <a:spcPts val="0"/>
              </a:spcBef>
              <a:spcAft>
                <a:spcPts val="0"/>
              </a:spcAft>
              <a:buClr>
                <a:srgbClr val="222222"/>
              </a:buClr>
              <a:buSzPts val="1150"/>
              <a:buFont typeface="Meiryo"/>
              <a:buNone/>
            </a:pPr>
            <a:r>
              <a:rPr lang="en-US" sz="1150">
                <a:solidFill>
                  <a:srgbClr val="222222"/>
                </a:solidFill>
                <a:latin typeface="Meiryo"/>
                <a:ea typeface="Meiryo"/>
                <a:cs typeface="Meiryo"/>
                <a:sym typeface="Meiryo"/>
              </a:rPr>
              <a:t>「買取強化中」の見出しと、商品名・レアリティ・型番・買取価格を入れる場所を用意してください。</a:t>
            </a:r>
            <a:endParaRPr sz="1150">
              <a:solidFill>
                <a:schemeClr val="dk1"/>
              </a:solidFill>
              <a:latin typeface="Calibri"/>
              <a:ea typeface="Calibri"/>
              <a:cs typeface="Calibri"/>
              <a:sym typeface="Calibri"/>
            </a:endParaRPr>
          </a:p>
          <a:p>
            <a:pPr indent="0" lvl="0" marL="0" rtl="0" algn="l">
              <a:lnSpc>
                <a:spcPct val="130000"/>
              </a:lnSpc>
              <a:spcBef>
                <a:spcPts val="0"/>
              </a:spcBef>
              <a:spcAft>
                <a:spcPts val="0"/>
              </a:spcAft>
              <a:buClr>
                <a:srgbClr val="222222"/>
              </a:buClr>
              <a:buSzPts val="1150"/>
              <a:buFont typeface="Meiryo"/>
              <a:buNone/>
            </a:pPr>
            <a:r>
              <a:rPr lang="en-US" sz="1150">
                <a:solidFill>
                  <a:srgbClr val="222222"/>
                </a:solidFill>
                <a:latin typeface="Meiryo"/>
                <a:ea typeface="Meiryo"/>
                <a:cs typeface="Meiryo"/>
                <a:sym typeface="Meiryo"/>
              </a:rPr>
              <a:t>商品名・レアリティ・型番・価格は、それぞれ別のテキストとして分けてください。中身は仮の文字で構いません。</a:t>
            </a:r>
            <a:endParaRPr sz="115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2222"/>
              </a:buClr>
              <a:buSzPts val="1150"/>
              <a:buFont typeface="Meiryo"/>
              <a:buNone/>
            </a:pPr>
            <a:r>
              <a:t/>
            </a:r>
            <a:endParaRPr sz="1150">
              <a:solidFill>
                <a:srgbClr val="222222"/>
              </a:solidFill>
              <a:latin typeface="Meiryo"/>
              <a:ea typeface="Meiryo"/>
              <a:cs typeface="Meiryo"/>
              <a:sym typeface="Meiryo"/>
            </a:endParaRPr>
          </a:p>
        </p:txBody>
      </p:sp>
      <p:sp>
        <p:nvSpPr>
          <p:cNvPr id="1070" name="Google Shape;1070;h12a068dd872fd278_0_181"/>
          <p:cNvSpPr txBox="1"/>
          <p:nvPr/>
        </p:nvSpPr>
        <p:spPr>
          <a:xfrm>
            <a:off x="411480" y="2697480"/>
            <a:ext cx="4937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300"/>
              <a:buFont typeface="Meiryo"/>
              <a:buNone/>
            </a:pPr>
            <a:r>
              <a:rPr b="1" i="0" lang="en-US" sz="1300" u="none" cap="none" strike="noStrike">
                <a:solidFill>
                  <a:srgbClr val="E8702A"/>
                </a:solidFill>
                <a:latin typeface="Meiryo"/>
                <a:ea typeface="Meiryo"/>
                <a:cs typeface="Meiryo"/>
                <a:sym typeface="Meiryo"/>
              </a:rPr>
              <a:t>② Canvaで編集する</a:t>
            </a:r>
            <a:endParaRPr b="0" i="0" sz="1300" u="none" cap="none" strike="noStrike">
              <a:solidFill>
                <a:srgbClr val="000000"/>
              </a:solidFill>
              <a:latin typeface="Calibri"/>
              <a:ea typeface="Calibri"/>
              <a:cs typeface="Calibri"/>
              <a:sym typeface="Calibri"/>
            </a:endParaRPr>
          </a:p>
        </p:txBody>
      </p:sp>
      <p:sp>
        <p:nvSpPr>
          <p:cNvPr id="1071" name="Google Shape;1071;h12a068dd872fd278_0_181"/>
          <p:cNvSpPr/>
          <p:nvPr/>
        </p:nvSpPr>
        <p:spPr>
          <a:xfrm>
            <a:off x="411480" y="3017520"/>
            <a:ext cx="4069200" cy="10974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h12a068dd872fd278_0_181"/>
          <p:cNvSpPr txBox="1"/>
          <p:nvPr/>
        </p:nvSpPr>
        <p:spPr>
          <a:xfrm>
            <a:off x="594360" y="3108960"/>
            <a:ext cx="1280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無料プラン</a:t>
            </a:r>
            <a:endParaRPr b="0" i="0" sz="1400" u="none" cap="none" strike="noStrike">
              <a:solidFill>
                <a:srgbClr val="000000"/>
              </a:solidFill>
              <a:latin typeface="Calibri"/>
              <a:ea typeface="Calibri"/>
              <a:cs typeface="Calibri"/>
              <a:sym typeface="Calibri"/>
            </a:endParaRPr>
          </a:p>
        </p:txBody>
      </p:sp>
      <p:sp>
        <p:nvSpPr>
          <p:cNvPr id="1073" name="Google Shape;1073;h12a068dd872fd278_0_181"/>
          <p:cNvSpPr txBox="1"/>
          <p:nvPr/>
        </p:nvSpPr>
        <p:spPr>
          <a:xfrm>
            <a:off x="1783080" y="3108960"/>
            <a:ext cx="2560200" cy="64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222"/>
              </a:buClr>
              <a:buSzPts val="1100"/>
              <a:buFont typeface="Meiryo"/>
              <a:buNone/>
            </a:pPr>
            <a:r>
              <a:rPr b="0" i="0" lang="en-US" sz="1100" u="none" cap="none" strike="noStrike">
                <a:solidFill>
                  <a:srgbClr val="222222"/>
                </a:solidFill>
                <a:latin typeface="Meiryo"/>
                <a:ea typeface="Meiryo"/>
                <a:cs typeface="Meiryo"/>
                <a:sym typeface="Meiryo"/>
              </a:rPr>
              <a:t>ページを複製して、CSVを見ながら</a:t>
            </a:r>
            <a:endParaRPr b="0" i="0" sz="11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222222"/>
              </a:buClr>
              <a:buSzPts val="1100"/>
              <a:buFont typeface="Meiryo"/>
              <a:buNone/>
            </a:pPr>
            <a:r>
              <a:rPr b="0" i="0" lang="en-US" sz="1100" u="none" cap="none" strike="noStrike">
                <a:solidFill>
                  <a:srgbClr val="222222"/>
                </a:solidFill>
                <a:latin typeface="Meiryo"/>
                <a:ea typeface="Meiryo"/>
                <a:cs typeface="Meiryo"/>
                <a:sym typeface="Meiryo"/>
              </a:rPr>
              <a:t>商品名と価格を打ち替える</a:t>
            </a:r>
            <a:endParaRPr b="0" i="0" sz="1100" u="none" cap="none" strike="noStrike">
              <a:solidFill>
                <a:srgbClr val="000000"/>
              </a:solidFill>
              <a:latin typeface="Calibri"/>
              <a:ea typeface="Calibri"/>
              <a:cs typeface="Calibri"/>
              <a:sym typeface="Calibri"/>
            </a:endParaRPr>
          </a:p>
        </p:txBody>
      </p:sp>
      <p:sp>
        <p:nvSpPr>
          <p:cNvPr id="1074" name="Google Shape;1074;h12a068dd872fd278_0_181"/>
          <p:cNvSpPr txBox="1"/>
          <p:nvPr/>
        </p:nvSpPr>
        <p:spPr>
          <a:xfrm>
            <a:off x="594360" y="3730752"/>
            <a:ext cx="3703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数枚ならこの方法で対応できます</a:t>
            </a:r>
            <a:endParaRPr b="0" i="0" sz="1050" u="none" cap="none" strike="noStrike">
              <a:solidFill>
                <a:srgbClr val="000000"/>
              </a:solidFill>
              <a:latin typeface="Calibri"/>
              <a:ea typeface="Calibri"/>
              <a:cs typeface="Calibri"/>
              <a:sym typeface="Calibri"/>
            </a:endParaRPr>
          </a:p>
        </p:txBody>
      </p:sp>
      <p:sp>
        <p:nvSpPr>
          <p:cNvPr id="1075" name="Google Shape;1075;h12a068dd872fd278_0_181"/>
          <p:cNvSpPr/>
          <p:nvPr/>
        </p:nvSpPr>
        <p:spPr>
          <a:xfrm>
            <a:off x="4663440" y="3017520"/>
            <a:ext cx="4069200" cy="10974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h12a068dd872fd278_0_181"/>
          <p:cNvSpPr txBox="1"/>
          <p:nvPr/>
        </p:nvSpPr>
        <p:spPr>
          <a:xfrm>
            <a:off x="4846320" y="3108960"/>
            <a:ext cx="1280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400"/>
              <a:buFont typeface="Meiryo"/>
              <a:buNone/>
            </a:pPr>
            <a:r>
              <a:rPr b="1" i="0" lang="en-US" sz="1400" u="none" cap="none" strike="noStrike">
                <a:solidFill>
                  <a:srgbClr val="E8702A"/>
                </a:solidFill>
                <a:latin typeface="Meiryo"/>
                <a:ea typeface="Meiryo"/>
                <a:cs typeface="Meiryo"/>
                <a:sym typeface="Meiryo"/>
              </a:rPr>
              <a:t>有料プラン</a:t>
            </a:r>
            <a:endParaRPr b="0" i="0" sz="1400" u="none" cap="none" strike="noStrike">
              <a:solidFill>
                <a:srgbClr val="000000"/>
              </a:solidFill>
              <a:latin typeface="Calibri"/>
              <a:ea typeface="Calibri"/>
              <a:cs typeface="Calibri"/>
              <a:sym typeface="Calibri"/>
            </a:endParaRPr>
          </a:p>
        </p:txBody>
      </p:sp>
      <p:sp>
        <p:nvSpPr>
          <p:cNvPr id="1077" name="Google Shape;1077;h12a068dd872fd278_0_181"/>
          <p:cNvSpPr txBox="1"/>
          <p:nvPr/>
        </p:nvSpPr>
        <p:spPr>
          <a:xfrm>
            <a:off x="6035040" y="3108960"/>
            <a:ext cx="2560200" cy="64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222"/>
              </a:buClr>
              <a:buSzPts val="1100"/>
              <a:buFont typeface="Meiryo"/>
              <a:buNone/>
            </a:pPr>
            <a:r>
              <a:rPr b="0" i="0" lang="en-US" sz="1100" u="none" cap="none" strike="noStrike">
                <a:solidFill>
                  <a:srgbClr val="222222"/>
                </a:solidFill>
                <a:latin typeface="Meiryo"/>
                <a:ea typeface="Meiryo"/>
                <a:cs typeface="Meiryo"/>
                <a:sym typeface="Meiryo"/>
              </a:rPr>
              <a:t>Canva Proの「一括作成」で</a:t>
            </a:r>
            <a:endParaRPr b="0" i="0" sz="11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222222"/>
              </a:buClr>
              <a:buSzPts val="1100"/>
              <a:buFont typeface="Meiryo"/>
              <a:buNone/>
            </a:pPr>
            <a:r>
              <a:rPr b="0" i="0" lang="en-US" sz="1100" u="none" cap="none" strike="noStrike">
                <a:solidFill>
                  <a:srgbClr val="222222"/>
                </a:solidFill>
                <a:latin typeface="Meiryo"/>
                <a:ea typeface="Meiryo"/>
                <a:cs typeface="Meiryo"/>
                <a:sym typeface="Meiryo"/>
              </a:rPr>
              <a:t>CSVを読み込み、列とつなぐ</a:t>
            </a:r>
            <a:endParaRPr b="0" i="0" sz="1100" u="none" cap="none" strike="noStrike">
              <a:solidFill>
                <a:srgbClr val="000000"/>
              </a:solidFill>
              <a:latin typeface="Calibri"/>
              <a:ea typeface="Calibri"/>
              <a:cs typeface="Calibri"/>
              <a:sym typeface="Calibri"/>
            </a:endParaRPr>
          </a:p>
        </p:txBody>
      </p:sp>
      <p:sp>
        <p:nvSpPr>
          <p:cNvPr id="1078" name="Google Shape;1078;h12a068dd872fd278_0_181"/>
          <p:cNvSpPr txBox="1"/>
          <p:nvPr/>
        </p:nvSpPr>
        <p:spPr>
          <a:xfrm>
            <a:off x="4846320" y="3730752"/>
            <a:ext cx="3703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50"/>
              <a:buFont typeface="Meiryo"/>
              <a:buNone/>
            </a:pPr>
            <a:r>
              <a:rPr b="0" i="0" lang="en-US" sz="1050" u="none" cap="none" strike="noStrike">
                <a:solidFill>
                  <a:srgbClr val="444444"/>
                </a:solidFill>
                <a:latin typeface="Meiryo"/>
                <a:ea typeface="Meiryo"/>
                <a:cs typeface="Meiryo"/>
                <a:sym typeface="Meiryo"/>
              </a:rPr>
              <a:t>数十枚でもまとめて作成できます</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3" name="Shape 1083"/>
        <p:cNvGrpSpPr/>
        <p:nvPr/>
      </p:nvGrpSpPr>
      <p:grpSpPr>
        <a:xfrm>
          <a:off x="0" y="0"/>
          <a:ext cx="0" cy="0"/>
          <a:chOff x="0" y="0"/>
          <a:chExt cx="0" cy="0"/>
        </a:xfrm>
      </p:grpSpPr>
      <p:sp>
        <p:nvSpPr>
          <p:cNvPr id="1084" name="Google Shape;1084;p35"/>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販促物で気をつけること</a:t>
            </a:r>
            <a:endParaRPr b="0" i="0" sz="2200" u="none" cap="none" strike="noStrike">
              <a:solidFill>
                <a:schemeClr val="dk1"/>
              </a:solidFill>
              <a:latin typeface="Calibri"/>
              <a:ea typeface="Calibri"/>
              <a:cs typeface="Calibri"/>
              <a:sym typeface="Calibri"/>
            </a:endParaRPr>
          </a:p>
        </p:txBody>
      </p:sp>
      <p:sp>
        <p:nvSpPr>
          <p:cNvPr id="1085" name="Google Shape;1085;p35"/>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086" name="Google Shape;1086;p35"/>
          <p:cNvSpPr/>
          <p:nvPr/>
        </p:nvSpPr>
        <p:spPr>
          <a:xfrm>
            <a:off x="502920" y="1005840"/>
            <a:ext cx="548640" cy="54864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87" name="Google Shape;1087;p35"/>
          <p:cNvPicPr preferRelativeResize="0"/>
          <p:nvPr/>
        </p:nvPicPr>
        <p:blipFill rotWithShape="1">
          <a:blip r:embed="rId3">
            <a:alphaModFix/>
          </a:blip>
          <a:srcRect b="0" l="0" r="0" t="0"/>
          <a:stretch/>
        </p:blipFill>
        <p:spPr>
          <a:xfrm>
            <a:off x="623621" y="1126541"/>
            <a:ext cx="307238" cy="307238"/>
          </a:xfrm>
          <a:prstGeom prst="rect">
            <a:avLst/>
          </a:prstGeom>
          <a:noFill/>
          <a:ln>
            <a:noFill/>
          </a:ln>
        </p:spPr>
      </p:pic>
      <p:sp>
        <p:nvSpPr>
          <p:cNvPr id="1088" name="Google Shape;1088;p35"/>
          <p:cNvSpPr txBox="1"/>
          <p:nvPr/>
        </p:nvSpPr>
        <p:spPr>
          <a:xfrm>
            <a:off x="1280160" y="98755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実在のキャラクター・他社のロゴ・著名人は描かせないようにしましょう</a:t>
            </a:r>
            <a:endParaRPr b="0" i="0" sz="1400" u="none" cap="none" strike="noStrike">
              <a:solidFill>
                <a:schemeClr val="dk1"/>
              </a:solidFill>
              <a:latin typeface="Calibri"/>
              <a:ea typeface="Calibri"/>
              <a:cs typeface="Calibri"/>
              <a:sym typeface="Calibri"/>
            </a:endParaRPr>
          </a:p>
        </p:txBody>
      </p:sp>
      <p:sp>
        <p:nvSpPr>
          <p:cNvPr id="1089" name="Google Shape;1089;p35"/>
          <p:cNvSpPr txBox="1"/>
          <p:nvPr/>
        </p:nvSpPr>
        <p:spPr>
          <a:xfrm>
            <a:off x="1280160" y="130759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「〇〇風に」といった、既存の作品に似せる指示も避けましょう</a:t>
            </a:r>
            <a:endParaRPr b="0" i="0" sz="1150" u="none" cap="none" strike="noStrike">
              <a:solidFill>
                <a:schemeClr val="dk1"/>
              </a:solidFill>
              <a:latin typeface="Calibri"/>
              <a:ea typeface="Calibri"/>
              <a:cs typeface="Calibri"/>
              <a:sym typeface="Calibri"/>
            </a:endParaRPr>
          </a:p>
        </p:txBody>
      </p:sp>
      <p:sp>
        <p:nvSpPr>
          <p:cNvPr id="1090" name="Google Shape;1090;p35"/>
          <p:cNvSpPr/>
          <p:nvPr/>
        </p:nvSpPr>
        <p:spPr>
          <a:xfrm>
            <a:off x="502920" y="1856232"/>
            <a:ext cx="548640" cy="54864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1" name="Google Shape;1091;p35"/>
          <p:cNvPicPr preferRelativeResize="0"/>
          <p:nvPr/>
        </p:nvPicPr>
        <p:blipFill rotWithShape="1">
          <a:blip r:embed="rId4">
            <a:alphaModFix/>
          </a:blip>
          <a:srcRect b="0" l="0" r="0" t="0"/>
          <a:stretch/>
        </p:blipFill>
        <p:spPr>
          <a:xfrm>
            <a:off x="623621" y="1976933"/>
            <a:ext cx="307238" cy="307238"/>
          </a:xfrm>
          <a:prstGeom prst="rect">
            <a:avLst/>
          </a:prstGeom>
          <a:noFill/>
          <a:ln>
            <a:noFill/>
          </a:ln>
        </p:spPr>
      </p:pic>
      <p:sp>
        <p:nvSpPr>
          <p:cNvPr id="1092" name="Google Shape;1092;p35"/>
          <p:cNvSpPr txBox="1"/>
          <p:nvPr/>
        </p:nvSpPr>
        <p:spPr>
          <a:xfrm>
            <a:off x="1280160" y="1837944"/>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価格・日付・条件は、掲示前に必ず人が確認しましょう</a:t>
            </a:r>
            <a:endParaRPr b="0" i="0" sz="1400" u="none" cap="none" strike="noStrike">
              <a:solidFill>
                <a:schemeClr val="dk1"/>
              </a:solidFill>
              <a:latin typeface="Calibri"/>
              <a:ea typeface="Calibri"/>
              <a:cs typeface="Calibri"/>
              <a:sym typeface="Calibri"/>
            </a:endParaRPr>
          </a:p>
        </p:txBody>
      </p:sp>
      <p:sp>
        <p:nvSpPr>
          <p:cNvPr id="1093" name="Google Shape;1093;p35"/>
          <p:cNvSpPr txBox="1"/>
          <p:nvPr/>
        </p:nvSpPr>
        <p:spPr>
          <a:xfrm>
            <a:off x="1280160" y="2157984"/>
            <a:ext cx="7406640" cy="2743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B7280"/>
              </a:buClr>
              <a:buSzPts val="1150"/>
              <a:buFont typeface="Meiryo"/>
              <a:buNone/>
            </a:pPr>
            <a:r>
              <a:rPr lang="en-US" sz="1150">
                <a:solidFill>
                  <a:srgbClr val="6B7280"/>
                </a:solidFill>
                <a:latin typeface="Meiryo"/>
                <a:ea typeface="Meiryo"/>
                <a:cs typeface="Meiryo"/>
                <a:sym typeface="Meiryo"/>
              </a:rPr>
              <a:t>まとめて</a:t>
            </a:r>
            <a:r>
              <a:rPr lang="en-US" sz="1150">
                <a:solidFill>
                  <a:srgbClr val="6B7280"/>
                </a:solidFill>
                <a:latin typeface="Meiryo"/>
                <a:ea typeface="Meiryo"/>
                <a:cs typeface="Meiryo"/>
                <a:sym typeface="Meiryo"/>
              </a:rPr>
              <a:t>作っ</a:t>
            </a:r>
            <a:r>
              <a:rPr lang="en-US" sz="1150">
                <a:solidFill>
                  <a:srgbClr val="6B7280"/>
                </a:solidFill>
                <a:latin typeface="Meiryo"/>
                <a:ea typeface="Meiryo"/>
                <a:cs typeface="Meiryo"/>
                <a:sym typeface="Meiryo"/>
              </a:rPr>
              <a:t>たPOPも、元のリストと照合してから掲示します</a:t>
            </a:r>
            <a:endParaRPr sz="115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50"/>
              <a:buFont typeface="Meiryo"/>
              <a:buNone/>
            </a:pPr>
            <a:r>
              <a:t/>
            </a:r>
            <a:endParaRPr sz="1150">
              <a:solidFill>
                <a:srgbClr val="6B7280"/>
              </a:solidFill>
              <a:latin typeface="Meiryo"/>
              <a:ea typeface="Meiryo"/>
              <a:cs typeface="Meiryo"/>
              <a:sym typeface="Meiryo"/>
            </a:endParaRPr>
          </a:p>
        </p:txBody>
      </p:sp>
      <p:sp>
        <p:nvSpPr>
          <p:cNvPr id="1094" name="Google Shape;1094;p35"/>
          <p:cNvSpPr/>
          <p:nvPr/>
        </p:nvSpPr>
        <p:spPr>
          <a:xfrm>
            <a:off x="502920" y="2706624"/>
            <a:ext cx="548640" cy="54864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5" name="Google Shape;1095;p35"/>
          <p:cNvPicPr preferRelativeResize="0"/>
          <p:nvPr/>
        </p:nvPicPr>
        <p:blipFill rotWithShape="1">
          <a:blip r:embed="rId5">
            <a:alphaModFix/>
          </a:blip>
          <a:srcRect b="0" l="0" r="0" t="0"/>
          <a:stretch/>
        </p:blipFill>
        <p:spPr>
          <a:xfrm>
            <a:off x="623621" y="2827325"/>
            <a:ext cx="307238" cy="307238"/>
          </a:xfrm>
          <a:prstGeom prst="rect">
            <a:avLst/>
          </a:prstGeom>
          <a:noFill/>
          <a:ln>
            <a:noFill/>
          </a:ln>
        </p:spPr>
      </p:pic>
      <p:sp>
        <p:nvSpPr>
          <p:cNvPr id="1096" name="Google Shape;1096;p35"/>
          <p:cNvSpPr txBox="1"/>
          <p:nvPr/>
        </p:nvSpPr>
        <p:spPr>
          <a:xfrm>
            <a:off x="1280160" y="2688336"/>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根拠のない「最安」「No.1」などの表現は使わないようにしましょう</a:t>
            </a:r>
            <a:endParaRPr b="0" i="0" sz="1400" u="none" cap="none" strike="noStrike">
              <a:solidFill>
                <a:schemeClr val="dk1"/>
              </a:solidFill>
              <a:latin typeface="Calibri"/>
              <a:ea typeface="Calibri"/>
              <a:cs typeface="Calibri"/>
              <a:sym typeface="Calibri"/>
            </a:endParaRPr>
          </a:p>
        </p:txBody>
      </p:sp>
      <p:sp>
        <p:nvSpPr>
          <p:cNvPr id="1097" name="Google Shape;1097;p35"/>
          <p:cNvSpPr txBox="1"/>
          <p:nvPr/>
        </p:nvSpPr>
        <p:spPr>
          <a:xfrm>
            <a:off x="1280160" y="3008376"/>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お客様に誤解を与える表現は、景品表示法上の問題になり得ます</a:t>
            </a:r>
            <a:endParaRPr b="0" i="0" sz="1150" u="none" cap="none" strike="noStrike">
              <a:solidFill>
                <a:schemeClr val="dk1"/>
              </a:solidFill>
              <a:latin typeface="Calibri"/>
              <a:ea typeface="Calibri"/>
              <a:cs typeface="Calibri"/>
              <a:sym typeface="Calibri"/>
            </a:endParaRPr>
          </a:p>
        </p:txBody>
      </p:sp>
      <p:sp>
        <p:nvSpPr>
          <p:cNvPr id="1098" name="Google Shape;1098;p35"/>
          <p:cNvSpPr/>
          <p:nvPr/>
        </p:nvSpPr>
        <p:spPr>
          <a:xfrm>
            <a:off x="502920" y="3557016"/>
            <a:ext cx="548640" cy="548640"/>
          </a:xfrm>
          <a:prstGeom prst="ellipse">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9" name="Google Shape;1099;p35"/>
          <p:cNvPicPr preferRelativeResize="0"/>
          <p:nvPr/>
        </p:nvPicPr>
        <p:blipFill rotWithShape="1">
          <a:blip r:embed="rId6">
            <a:alphaModFix/>
          </a:blip>
          <a:srcRect b="0" l="0" r="0" t="0"/>
          <a:stretch/>
        </p:blipFill>
        <p:spPr>
          <a:xfrm>
            <a:off x="623621" y="3677717"/>
            <a:ext cx="307238" cy="307238"/>
          </a:xfrm>
          <a:prstGeom prst="rect">
            <a:avLst/>
          </a:prstGeom>
          <a:noFill/>
          <a:ln>
            <a:noFill/>
          </a:ln>
        </p:spPr>
      </p:pic>
      <p:sp>
        <p:nvSpPr>
          <p:cNvPr id="1100" name="Google Shape;1100;p35"/>
          <p:cNvSpPr txBox="1"/>
          <p:nvPr/>
        </p:nvSpPr>
        <p:spPr>
          <a:xfrm>
            <a:off x="1280160" y="3538728"/>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商用利用の条件は、ツールごとに確認しましょう</a:t>
            </a:r>
            <a:endParaRPr b="0" i="0" sz="1400" u="none" cap="none" strike="noStrike">
              <a:solidFill>
                <a:schemeClr val="dk1"/>
              </a:solidFill>
              <a:latin typeface="Calibri"/>
              <a:ea typeface="Calibri"/>
              <a:cs typeface="Calibri"/>
              <a:sym typeface="Calibri"/>
            </a:endParaRPr>
          </a:p>
        </p:txBody>
      </p:sp>
      <p:sp>
        <p:nvSpPr>
          <p:cNvPr id="1101" name="Google Shape;1101;p35"/>
          <p:cNvSpPr txBox="1"/>
          <p:nvPr/>
        </p:nvSpPr>
        <p:spPr>
          <a:xfrm>
            <a:off x="1280160" y="3858768"/>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150"/>
              <a:buFont typeface="Meiryo"/>
              <a:buNone/>
            </a:pPr>
            <a:r>
              <a:rPr b="0" i="0" lang="en-US" sz="1150" u="none" cap="none" strike="noStrike">
                <a:solidFill>
                  <a:srgbClr val="6B7280"/>
                </a:solidFill>
                <a:latin typeface="Meiryo"/>
                <a:ea typeface="Meiryo"/>
                <a:cs typeface="Meiryo"/>
                <a:sym typeface="Meiryo"/>
              </a:rPr>
              <a:t>使うツールの利用規約を、店頭掲示・SNS投稿の前に確認しましょう</a:t>
            </a:r>
            <a:endParaRPr b="0" i="0" sz="1150" u="none" cap="none" strike="noStrike">
              <a:solidFill>
                <a:schemeClr val="dk1"/>
              </a:solidFill>
              <a:latin typeface="Calibri"/>
              <a:ea typeface="Calibri"/>
              <a:cs typeface="Calibri"/>
              <a:sym typeface="Calibri"/>
            </a:endParaRPr>
          </a:p>
        </p:txBody>
      </p:sp>
      <p:sp>
        <p:nvSpPr>
          <p:cNvPr id="1102" name="Google Shape;1102;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40a0daa3361_0_283"/>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1108" name="Google Shape;1108;g40a0daa3361_0_283"/>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1109" name="Google Shape;1109;g40a0daa3361_0_283"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1110" name="Google Shape;1110;g40a0daa3361_0_28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111" name="Google Shape;1111;g40a0daa3361_0_283"/>
          <p:cNvSpPr txBox="1"/>
          <p:nvPr/>
        </p:nvSpPr>
        <p:spPr>
          <a:xfrm>
            <a:off x="731520" y="1325880"/>
            <a:ext cx="18288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A261"/>
              </a:buClr>
              <a:buSzPts val="2800"/>
              <a:buFont typeface="Meiryo"/>
              <a:buNone/>
            </a:pPr>
            <a:r>
              <a:rPr b="1" i="0" lang="en-US" sz="2800" u="none" cap="none" strike="noStrike">
                <a:solidFill>
                  <a:srgbClr val="F4A261"/>
                </a:solidFill>
                <a:latin typeface="Meiryo"/>
                <a:ea typeface="Meiryo"/>
                <a:cs typeface="Meiryo"/>
                <a:sym typeface="Meiryo"/>
              </a:rPr>
              <a:t>06</a:t>
            </a:r>
            <a:endParaRPr b="0" i="0" sz="2800" u="none" cap="none" strike="noStrike">
              <a:solidFill>
                <a:schemeClr val="dk1"/>
              </a:solidFill>
              <a:latin typeface="Calibri"/>
              <a:ea typeface="Calibri"/>
              <a:cs typeface="Calibri"/>
              <a:sym typeface="Calibri"/>
            </a:endParaRPr>
          </a:p>
        </p:txBody>
      </p:sp>
      <p:sp>
        <p:nvSpPr>
          <p:cNvPr id="1112" name="Google Shape;1112;g40a0daa3361_0_283"/>
          <p:cNvSpPr txBox="1"/>
          <p:nvPr/>
        </p:nvSpPr>
        <p:spPr>
          <a:xfrm>
            <a:off x="731520" y="1874520"/>
            <a:ext cx="76809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ワーク③</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000"/>
              <a:buFont typeface="Meiryo"/>
              <a:buNone/>
            </a:pPr>
            <a:r>
              <a:rPr b="1" i="0" lang="en-US" sz="3000" u="none" cap="none" strike="noStrike">
                <a:solidFill>
                  <a:srgbClr val="FFFFFF"/>
                </a:solidFill>
                <a:latin typeface="Meiryo"/>
                <a:ea typeface="Meiryo"/>
                <a:cs typeface="Meiryo"/>
                <a:sym typeface="Meiryo"/>
              </a:rPr>
              <a:t>販促物制作</a:t>
            </a:r>
            <a:endParaRPr b="0" i="0" sz="3000" u="none" cap="none" strike="noStrike">
              <a:solidFill>
                <a:schemeClr val="dk1"/>
              </a:solidFill>
              <a:latin typeface="Calibri"/>
              <a:ea typeface="Calibri"/>
              <a:cs typeface="Calibri"/>
              <a:sym typeface="Calibri"/>
            </a:endParaRPr>
          </a:p>
        </p:txBody>
      </p:sp>
      <p:sp>
        <p:nvSpPr>
          <p:cNvPr id="1113" name="Google Shape;1113;g40a0daa3361_0_283"/>
          <p:cNvSpPr txBox="1"/>
          <p:nvPr/>
        </p:nvSpPr>
        <p:spPr>
          <a:xfrm>
            <a:off x="731520" y="2880360"/>
            <a:ext cx="5486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3E0"/>
              </a:buClr>
              <a:buSzPts val="1400"/>
              <a:buFont typeface="Meiryo"/>
              <a:buNone/>
            </a:pPr>
            <a:r>
              <a:rPr b="0" i="0" lang="en-US" sz="1400" u="none" cap="none" strike="noStrike">
                <a:solidFill>
                  <a:srgbClr val="C9D3E0"/>
                </a:solidFill>
                <a:latin typeface="Meiryo"/>
                <a:ea typeface="Meiryo"/>
                <a:cs typeface="Meiryo"/>
                <a:sym typeface="Meiryo"/>
              </a:rPr>
              <a:t>15:25 – 16:30</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8" name="Shape 1118"/>
        <p:cNvGrpSpPr/>
        <p:nvPr/>
      </p:nvGrpSpPr>
      <p:grpSpPr>
        <a:xfrm>
          <a:off x="0" y="0"/>
          <a:ext cx="0" cy="0"/>
          <a:chOff x="0" y="0"/>
          <a:chExt cx="0" cy="0"/>
        </a:xfrm>
      </p:grpSpPr>
      <p:sp>
        <p:nvSpPr>
          <p:cNvPr id="1119" name="Google Shape;1119;p37"/>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ワーク③ 販促物制作</a:t>
            </a:r>
            <a:endParaRPr b="0" i="0" sz="2200" u="none" cap="none" strike="noStrike">
              <a:solidFill>
                <a:schemeClr val="dk1"/>
              </a:solidFill>
              <a:latin typeface="Calibri"/>
              <a:ea typeface="Calibri"/>
              <a:cs typeface="Calibri"/>
              <a:sym typeface="Calibri"/>
            </a:endParaRPr>
          </a:p>
        </p:txBody>
      </p:sp>
      <p:sp>
        <p:nvSpPr>
          <p:cNvPr id="1120" name="Google Shape;1120;p37"/>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37"/>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1122" name="Google Shape;1122;p37"/>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123" name="Google Shape;1123;p37"/>
          <p:cNvSpPr txBox="1"/>
          <p:nvPr/>
        </p:nvSpPr>
        <p:spPr>
          <a:xfrm>
            <a:off x="411480" y="896112"/>
            <a:ext cx="8321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0" i="0" lang="en-US" sz="1300" u="none" cap="none" strike="noStrike">
                <a:solidFill>
                  <a:srgbClr val="222222"/>
                </a:solidFill>
                <a:latin typeface="Meiryo"/>
                <a:ea typeface="Meiryo"/>
                <a:cs typeface="Meiryo"/>
                <a:sym typeface="Meiryo"/>
              </a:rPr>
              <a:t>POP・チラシ・SNS画像のうち、どれか1点を完成させます。</a:t>
            </a:r>
            <a:endParaRPr b="0" i="0" sz="1300" u="none" cap="none" strike="noStrike">
              <a:solidFill>
                <a:schemeClr val="dk1"/>
              </a:solidFill>
              <a:latin typeface="Calibri"/>
              <a:ea typeface="Calibri"/>
              <a:cs typeface="Calibri"/>
              <a:sym typeface="Calibri"/>
            </a:endParaRPr>
          </a:p>
        </p:txBody>
      </p:sp>
      <p:sp>
        <p:nvSpPr>
          <p:cNvPr id="1124" name="Google Shape;1124;p37"/>
          <p:cNvSpPr/>
          <p:nvPr/>
        </p:nvSpPr>
        <p:spPr>
          <a:xfrm>
            <a:off x="411475" y="1534900"/>
            <a:ext cx="2584500" cy="2460900"/>
          </a:xfrm>
          <a:prstGeom prst="rect">
            <a:avLst/>
          </a:prstGeom>
          <a:solidFill>
            <a:srgbClr val="EEF3F8"/>
          </a:solidFill>
          <a:ln cap="flat" cmpd="sng" w="17100">
            <a:solidFill>
              <a:srgbClr val="EEF3F8"/>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25" name="Google Shape;1125;p37"/>
          <p:cNvSpPr/>
          <p:nvPr/>
        </p:nvSpPr>
        <p:spPr>
          <a:xfrm>
            <a:off x="1334511" y="1719506"/>
            <a:ext cx="738600" cy="738600"/>
          </a:xfrm>
          <a:prstGeom prst="ellipse">
            <a:avLst/>
          </a:prstGeom>
          <a:solidFill>
            <a:srgbClr val="1F3A5F"/>
          </a:solidFill>
          <a:ln cap="flat" cmpd="sng" w="17100">
            <a:solidFill>
              <a:srgbClr val="1F3A5F"/>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26" name="Google Shape;1126;p37"/>
          <p:cNvSpPr txBox="1"/>
          <p:nvPr/>
        </p:nvSpPr>
        <p:spPr>
          <a:xfrm>
            <a:off x="1334511" y="1719506"/>
            <a:ext cx="738600" cy="73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23"/>
              <a:buFont typeface="Meiryo"/>
              <a:buNone/>
            </a:pPr>
            <a:r>
              <a:rPr b="1" i="0" lang="en-US" sz="2423" u="none" cap="none" strike="noStrike">
                <a:solidFill>
                  <a:srgbClr val="FFFFFF"/>
                </a:solidFill>
                <a:latin typeface="Meiryo"/>
                <a:ea typeface="Meiryo"/>
                <a:cs typeface="Meiryo"/>
                <a:sym typeface="Meiryo"/>
              </a:rPr>
              <a:t>1</a:t>
            </a:r>
            <a:endParaRPr b="0" i="0" sz="2423" u="none" cap="none" strike="noStrike">
              <a:solidFill>
                <a:schemeClr val="dk1"/>
              </a:solidFill>
              <a:latin typeface="Calibri"/>
              <a:ea typeface="Calibri"/>
              <a:cs typeface="Calibri"/>
              <a:sym typeface="Calibri"/>
            </a:endParaRPr>
          </a:p>
        </p:txBody>
      </p:sp>
      <p:sp>
        <p:nvSpPr>
          <p:cNvPr id="1127" name="Google Shape;1127;p37"/>
          <p:cNvSpPr txBox="1"/>
          <p:nvPr/>
        </p:nvSpPr>
        <p:spPr>
          <a:xfrm>
            <a:off x="534552" y="2642534"/>
            <a:ext cx="23382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817"/>
              <a:buFont typeface="Meiryo"/>
              <a:buNone/>
            </a:pPr>
            <a:r>
              <a:rPr b="1" i="0" lang="en-US" sz="1817" u="none" cap="none" strike="noStrike">
                <a:solidFill>
                  <a:srgbClr val="222222"/>
                </a:solidFill>
                <a:latin typeface="Meiryo"/>
                <a:ea typeface="Meiryo"/>
                <a:cs typeface="Meiryo"/>
                <a:sym typeface="Meiryo"/>
              </a:rPr>
              <a:t>題材を決める</a:t>
            </a:r>
            <a:endParaRPr b="0" i="0" sz="1817" u="none" cap="none" strike="noStrike">
              <a:solidFill>
                <a:schemeClr val="dk1"/>
              </a:solidFill>
              <a:latin typeface="Calibri"/>
              <a:ea typeface="Calibri"/>
              <a:cs typeface="Calibri"/>
              <a:sym typeface="Calibri"/>
            </a:endParaRPr>
          </a:p>
        </p:txBody>
      </p:sp>
      <p:sp>
        <p:nvSpPr>
          <p:cNvPr id="1128" name="Google Shape;1128;p37"/>
          <p:cNvSpPr txBox="1"/>
          <p:nvPr/>
        </p:nvSpPr>
        <p:spPr>
          <a:xfrm>
            <a:off x="534552" y="3319232"/>
            <a:ext cx="2338200" cy="676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4444"/>
              </a:buClr>
              <a:buSzPts val="1413"/>
              <a:buFont typeface="Meiryo"/>
              <a:buNone/>
            </a:pPr>
            <a:r>
              <a:rPr b="0" i="0" lang="en-US" sz="1413" u="none" cap="none" strike="noStrike">
                <a:solidFill>
                  <a:srgbClr val="444444"/>
                </a:solidFill>
                <a:latin typeface="Meiryo"/>
                <a:ea typeface="Meiryo"/>
                <a:cs typeface="Meiryo"/>
                <a:sym typeface="Meiryo"/>
              </a:rPr>
              <a:t>何を・どこに貼る／載せるか</a:t>
            </a:r>
            <a:endParaRPr b="0" i="0" sz="1413" u="none" cap="none" strike="noStrike">
              <a:solidFill>
                <a:schemeClr val="dk1"/>
              </a:solidFill>
              <a:latin typeface="Calibri"/>
              <a:ea typeface="Calibri"/>
              <a:cs typeface="Calibri"/>
              <a:sym typeface="Calibri"/>
            </a:endParaRPr>
          </a:p>
        </p:txBody>
      </p:sp>
      <p:sp>
        <p:nvSpPr>
          <p:cNvPr id="1129" name="Google Shape;1129;p37"/>
          <p:cNvSpPr/>
          <p:nvPr/>
        </p:nvSpPr>
        <p:spPr>
          <a:xfrm>
            <a:off x="3242105" y="1534900"/>
            <a:ext cx="2584500" cy="2460900"/>
          </a:xfrm>
          <a:prstGeom prst="rect">
            <a:avLst/>
          </a:prstGeom>
          <a:solidFill>
            <a:srgbClr val="EEF3F8"/>
          </a:solidFill>
          <a:ln cap="flat" cmpd="sng" w="17100">
            <a:solidFill>
              <a:srgbClr val="EEF3F8"/>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30" name="Google Shape;1130;p37"/>
          <p:cNvSpPr/>
          <p:nvPr/>
        </p:nvSpPr>
        <p:spPr>
          <a:xfrm>
            <a:off x="4165134" y="1719506"/>
            <a:ext cx="738600" cy="738600"/>
          </a:xfrm>
          <a:prstGeom prst="ellipse">
            <a:avLst/>
          </a:prstGeom>
          <a:solidFill>
            <a:srgbClr val="1F3A5F"/>
          </a:solidFill>
          <a:ln cap="flat" cmpd="sng" w="17100">
            <a:solidFill>
              <a:srgbClr val="1F3A5F"/>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31" name="Google Shape;1131;p37"/>
          <p:cNvSpPr txBox="1"/>
          <p:nvPr/>
        </p:nvSpPr>
        <p:spPr>
          <a:xfrm>
            <a:off x="4165134" y="1719506"/>
            <a:ext cx="738600" cy="73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23"/>
              <a:buFont typeface="Meiryo"/>
              <a:buNone/>
            </a:pPr>
            <a:r>
              <a:rPr b="1" i="0" lang="en-US" sz="2423" u="none" cap="none" strike="noStrike">
                <a:solidFill>
                  <a:srgbClr val="FFFFFF"/>
                </a:solidFill>
                <a:latin typeface="Meiryo"/>
                <a:ea typeface="Meiryo"/>
                <a:cs typeface="Meiryo"/>
                <a:sym typeface="Meiryo"/>
              </a:rPr>
              <a:t>2</a:t>
            </a:r>
            <a:endParaRPr b="0" i="0" sz="2423" u="none" cap="none" strike="noStrike">
              <a:solidFill>
                <a:schemeClr val="dk1"/>
              </a:solidFill>
              <a:latin typeface="Calibri"/>
              <a:ea typeface="Calibri"/>
              <a:cs typeface="Calibri"/>
              <a:sym typeface="Calibri"/>
            </a:endParaRPr>
          </a:p>
        </p:txBody>
      </p:sp>
      <p:sp>
        <p:nvSpPr>
          <p:cNvPr id="1132" name="Google Shape;1132;p37"/>
          <p:cNvSpPr txBox="1"/>
          <p:nvPr/>
        </p:nvSpPr>
        <p:spPr>
          <a:xfrm>
            <a:off x="3365176" y="2642534"/>
            <a:ext cx="23382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817"/>
              <a:buFont typeface="Meiryo"/>
              <a:buNone/>
            </a:pPr>
            <a:r>
              <a:rPr b="1" i="0" lang="en-US" sz="1817" u="none" cap="none" strike="noStrike">
                <a:solidFill>
                  <a:srgbClr val="222222"/>
                </a:solidFill>
                <a:latin typeface="Meiryo"/>
                <a:ea typeface="Meiryo"/>
                <a:cs typeface="Meiryo"/>
                <a:sym typeface="Meiryo"/>
              </a:rPr>
              <a:t>文案をつくる</a:t>
            </a:r>
            <a:endParaRPr b="0" i="0" sz="1817" u="none" cap="none" strike="noStrike">
              <a:solidFill>
                <a:schemeClr val="dk1"/>
              </a:solidFill>
              <a:latin typeface="Calibri"/>
              <a:ea typeface="Calibri"/>
              <a:cs typeface="Calibri"/>
              <a:sym typeface="Calibri"/>
            </a:endParaRPr>
          </a:p>
        </p:txBody>
      </p:sp>
      <p:sp>
        <p:nvSpPr>
          <p:cNvPr id="1133" name="Google Shape;1133;p37"/>
          <p:cNvSpPr txBox="1"/>
          <p:nvPr/>
        </p:nvSpPr>
        <p:spPr>
          <a:xfrm>
            <a:off x="3365243" y="3319249"/>
            <a:ext cx="2338200" cy="676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4444"/>
              </a:buClr>
              <a:buSzPts val="1413"/>
              <a:buFont typeface="Meiryo"/>
              <a:buNone/>
            </a:pPr>
            <a:r>
              <a:rPr b="0" i="0" lang="en-US" sz="1413" u="none" cap="none" strike="noStrike">
                <a:solidFill>
                  <a:srgbClr val="444444"/>
                </a:solidFill>
                <a:latin typeface="Meiryo"/>
                <a:ea typeface="Meiryo"/>
                <a:cs typeface="Meiryo"/>
                <a:sym typeface="Meiryo"/>
              </a:rPr>
              <a:t>見出し・本文・注意書きを</a:t>
            </a:r>
            <a:endParaRPr sz="1413">
              <a:solidFill>
                <a:srgbClr val="444444"/>
              </a:solidFill>
              <a:latin typeface="Meiryo"/>
              <a:ea typeface="Meiryo"/>
              <a:cs typeface="Meiryo"/>
              <a:sym typeface="Meiryo"/>
            </a:endParaRPr>
          </a:p>
          <a:p>
            <a:pPr indent="0" lvl="0" marL="0" marR="0" rtl="0" algn="ctr">
              <a:lnSpc>
                <a:spcPct val="100000"/>
              </a:lnSpc>
              <a:spcBef>
                <a:spcPts val="0"/>
              </a:spcBef>
              <a:spcAft>
                <a:spcPts val="0"/>
              </a:spcAft>
              <a:buClr>
                <a:srgbClr val="444444"/>
              </a:buClr>
              <a:buSzPts val="1413"/>
              <a:buFont typeface="Meiryo"/>
              <a:buNone/>
            </a:pPr>
            <a:r>
              <a:rPr lang="en-US" sz="1413">
                <a:solidFill>
                  <a:srgbClr val="444444"/>
                </a:solidFill>
                <a:latin typeface="Meiryo"/>
                <a:ea typeface="Meiryo"/>
                <a:cs typeface="Meiryo"/>
                <a:sym typeface="Meiryo"/>
              </a:rPr>
              <a:t>AIと一緒に考える</a:t>
            </a:r>
            <a:endParaRPr b="0" i="0" sz="1413" u="none" cap="none" strike="noStrike">
              <a:solidFill>
                <a:schemeClr val="dk1"/>
              </a:solidFill>
              <a:latin typeface="Calibri"/>
              <a:ea typeface="Calibri"/>
              <a:cs typeface="Calibri"/>
              <a:sym typeface="Calibri"/>
            </a:endParaRPr>
          </a:p>
        </p:txBody>
      </p:sp>
      <p:sp>
        <p:nvSpPr>
          <p:cNvPr id="1134" name="Google Shape;1134;p37"/>
          <p:cNvSpPr/>
          <p:nvPr/>
        </p:nvSpPr>
        <p:spPr>
          <a:xfrm>
            <a:off x="6072735" y="1534900"/>
            <a:ext cx="2584500" cy="2460900"/>
          </a:xfrm>
          <a:prstGeom prst="rect">
            <a:avLst/>
          </a:prstGeom>
          <a:solidFill>
            <a:srgbClr val="EEF3F8"/>
          </a:solidFill>
          <a:ln cap="flat" cmpd="sng" w="17100">
            <a:solidFill>
              <a:srgbClr val="EEF3F8"/>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35" name="Google Shape;1135;p37"/>
          <p:cNvSpPr/>
          <p:nvPr/>
        </p:nvSpPr>
        <p:spPr>
          <a:xfrm>
            <a:off x="6995757" y="1719506"/>
            <a:ext cx="738600" cy="738600"/>
          </a:xfrm>
          <a:prstGeom prst="ellipse">
            <a:avLst/>
          </a:prstGeom>
          <a:solidFill>
            <a:srgbClr val="1F3A5F"/>
          </a:solidFill>
          <a:ln cap="flat" cmpd="sng" w="17100">
            <a:solidFill>
              <a:srgbClr val="1F3A5F"/>
            </a:solidFill>
            <a:prstDash val="solid"/>
            <a:round/>
            <a:headEnd len="sm" w="sm" type="none"/>
            <a:tailEnd len="sm" w="sm" type="none"/>
          </a:ln>
        </p:spPr>
        <p:txBody>
          <a:bodyPr anchorCtr="0" anchor="ctr" bIns="123050" lIns="123050" spcFirstLastPara="1" rIns="123050" wrap="square" tIns="123050">
            <a:noAutofit/>
          </a:bodyPr>
          <a:lstStyle/>
          <a:p>
            <a:pPr indent="0" lvl="0" marL="0" marR="0" rtl="0" algn="l">
              <a:lnSpc>
                <a:spcPct val="100000"/>
              </a:lnSpc>
              <a:spcBef>
                <a:spcPts val="0"/>
              </a:spcBef>
              <a:spcAft>
                <a:spcPts val="0"/>
              </a:spcAft>
              <a:buClr>
                <a:srgbClr val="000000"/>
              </a:buClr>
              <a:buSzPts val="1884"/>
              <a:buFont typeface="Arial"/>
              <a:buNone/>
            </a:pPr>
            <a:r>
              <a:t/>
            </a:r>
            <a:endParaRPr b="0" i="0" sz="1884" u="none" cap="none" strike="noStrike">
              <a:solidFill>
                <a:srgbClr val="000000"/>
              </a:solidFill>
              <a:latin typeface="Arial"/>
              <a:ea typeface="Arial"/>
              <a:cs typeface="Arial"/>
              <a:sym typeface="Arial"/>
            </a:endParaRPr>
          </a:p>
        </p:txBody>
      </p:sp>
      <p:sp>
        <p:nvSpPr>
          <p:cNvPr id="1136" name="Google Shape;1136;p37"/>
          <p:cNvSpPr txBox="1"/>
          <p:nvPr/>
        </p:nvSpPr>
        <p:spPr>
          <a:xfrm>
            <a:off x="6995757" y="1719506"/>
            <a:ext cx="738600" cy="73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23"/>
              <a:buFont typeface="Meiryo"/>
              <a:buNone/>
            </a:pPr>
            <a:r>
              <a:rPr b="1" i="0" lang="en-US" sz="2423" u="none" cap="none" strike="noStrike">
                <a:solidFill>
                  <a:srgbClr val="FFFFFF"/>
                </a:solidFill>
                <a:latin typeface="Meiryo"/>
                <a:ea typeface="Meiryo"/>
                <a:cs typeface="Meiryo"/>
                <a:sym typeface="Meiryo"/>
              </a:rPr>
              <a:t>3</a:t>
            </a:r>
            <a:endParaRPr b="0" i="0" sz="2423" u="none" cap="none" strike="noStrike">
              <a:solidFill>
                <a:schemeClr val="dk1"/>
              </a:solidFill>
              <a:latin typeface="Calibri"/>
              <a:ea typeface="Calibri"/>
              <a:cs typeface="Calibri"/>
              <a:sym typeface="Calibri"/>
            </a:endParaRPr>
          </a:p>
        </p:txBody>
      </p:sp>
      <p:sp>
        <p:nvSpPr>
          <p:cNvPr id="1137" name="Google Shape;1137;p37"/>
          <p:cNvSpPr txBox="1"/>
          <p:nvPr/>
        </p:nvSpPr>
        <p:spPr>
          <a:xfrm>
            <a:off x="6195799" y="2642534"/>
            <a:ext cx="23382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22222"/>
              </a:buClr>
              <a:buSzPts val="1817"/>
              <a:buFont typeface="Meiryo"/>
              <a:buNone/>
            </a:pPr>
            <a:r>
              <a:rPr b="1" i="0" lang="en-US" sz="1817" u="none" cap="none" strike="noStrike">
                <a:solidFill>
                  <a:srgbClr val="222222"/>
                </a:solidFill>
                <a:latin typeface="Meiryo"/>
                <a:ea typeface="Meiryo"/>
                <a:cs typeface="Meiryo"/>
                <a:sym typeface="Meiryo"/>
              </a:rPr>
              <a:t>画像を生成・修正</a:t>
            </a:r>
            <a:endParaRPr b="0" i="0" sz="1817" u="none" cap="none" strike="noStrike">
              <a:solidFill>
                <a:schemeClr val="dk1"/>
              </a:solidFill>
              <a:latin typeface="Calibri"/>
              <a:ea typeface="Calibri"/>
              <a:cs typeface="Calibri"/>
              <a:sym typeface="Calibri"/>
            </a:endParaRPr>
          </a:p>
        </p:txBody>
      </p:sp>
      <p:sp>
        <p:nvSpPr>
          <p:cNvPr id="1138" name="Google Shape;1138;p37"/>
          <p:cNvSpPr txBox="1"/>
          <p:nvPr/>
        </p:nvSpPr>
        <p:spPr>
          <a:xfrm>
            <a:off x="6195967" y="3319232"/>
            <a:ext cx="2338200" cy="676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4444"/>
              </a:buClr>
              <a:buSzPts val="1413"/>
              <a:buFont typeface="Meiryo"/>
              <a:buNone/>
            </a:pPr>
            <a:r>
              <a:rPr b="0" i="0" lang="en-US" sz="1413" u="none" cap="none" strike="noStrike">
                <a:solidFill>
                  <a:srgbClr val="444444"/>
                </a:solidFill>
                <a:latin typeface="Meiryo"/>
                <a:ea typeface="Meiryo"/>
                <a:cs typeface="Meiryo"/>
                <a:sym typeface="Meiryo"/>
              </a:rPr>
              <a:t>4要素で指示し、</a:t>
            </a:r>
            <a:endParaRPr b="0" i="0" sz="1413" u="none" cap="none" strike="noStrike">
              <a:solidFill>
                <a:srgbClr val="444444"/>
              </a:solidFill>
              <a:latin typeface="Meiryo"/>
              <a:ea typeface="Meiryo"/>
              <a:cs typeface="Meiryo"/>
              <a:sym typeface="Meiryo"/>
            </a:endParaRPr>
          </a:p>
          <a:p>
            <a:pPr indent="0" lvl="0" marL="0" marR="0" rtl="0" algn="ctr">
              <a:lnSpc>
                <a:spcPct val="100000"/>
              </a:lnSpc>
              <a:spcBef>
                <a:spcPts val="0"/>
              </a:spcBef>
              <a:spcAft>
                <a:spcPts val="0"/>
              </a:spcAft>
              <a:buClr>
                <a:srgbClr val="444444"/>
              </a:buClr>
              <a:buSzPts val="1413"/>
              <a:buFont typeface="Meiryo"/>
              <a:buNone/>
            </a:pPr>
            <a:r>
              <a:rPr b="0" i="0" lang="en-US" sz="1413" u="none" cap="none" strike="noStrike">
                <a:solidFill>
                  <a:srgbClr val="444444"/>
                </a:solidFill>
                <a:latin typeface="Meiryo"/>
                <a:ea typeface="Meiryo"/>
                <a:cs typeface="Meiryo"/>
                <a:sym typeface="Meiryo"/>
              </a:rPr>
              <a:t>1か所ずつ直す</a:t>
            </a:r>
            <a:endParaRPr b="0" i="0" sz="1413" u="none" cap="none" strike="noStrike">
              <a:solidFill>
                <a:schemeClr val="dk1"/>
              </a:solidFill>
              <a:latin typeface="Calibri"/>
              <a:ea typeface="Calibri"/>
              <a:cs typeface="Calibri"/>
              <a:sym typeface="Calibri"/>
            </a:endParaRPr>
          </a:p>
        </p:txBody>
      </p:sp>
      <p:sp>
        <p:nvSpPr>
          <p:cNvPr id="1139" name="Google Shape;1139;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140" name="Band"/>
          <p:cNvSpPr/>
          <p:nvPr/>
        </p:nvSpPr>
        <p:spPr>
          <a:xfrm>
            <a:off x="411480" y="4114800"/>
            <a:ext cx="8321040" cy="603504"/>
          </a:xfrm>
          <a:prstGeom prst="rect">
            <a:avLst/>
          </a:prstGeom>
          <a:solidFill>
            <a:srgbClr val="EEF3F8"/>
          </a:solidFill>
          <a:ln w="12700">
            <a:solidFill>
              <a:srgbClr val="EEF3F8"/>
            </a:solidFill>
          </a:ln>
        </p:spPr>
        <p:txBody>
          <a:bodyPr wrap="square" lIns="0" tIns="0" rIns="0" bIns="0" anchor="t" anchorCtr="0">
            <a:noAutofit/>
          </a:bodyPr>
          <a:lstStyle/>
          <a:p>
            <a:pPr marL="0" indent="0">
              <a:buNone/>
            </a:pPr>
            <a:endParaRPr lang="ja-JP"/>
          </a:p>
        </p:txBody>
      </p:sp>
      <p:sp>
        <p:nvSpPr>
          <p:cNvPr id="1141" name="Text"/>
          <p:cNvSpPr txBox="1"/>
          <p:nvPr/>
        </p:nvSpPr>
        <p:spPr>
          <a:xfrm>
            <a:off x="594360" y="4114800"/>
            <a:ext cx="7955280" cy="603504"/>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ja-JP" sz="1200" b="1" dirty="0">
                <a:solidFill>
                  <a:srgbClr val="1F3A5F"/>
                </a:solidFill>
                <a:latin typeface="Meiryo"/>
                <a:ea typeface="Meiryo"/>
                <a:cs typeface="Meiryo"/>
                <a:sym typeface="Meiryo"/>
              </a:rPr>
              <a:t>制作は16:05まで（15:55ごろに一度お声がけします）</a:t>
            </a:r>
          </a:p>
          <a:p>
            <a:pPr marL="0" indent="0" algn="l">
              <a:lnSpc>
                <a:spcPct val="100000"/>
              </a:lnSpc>
              <a:spcBef>
                <a:spcPts val="200"/>
              </a:spcBef>
              <a:spcAft>
                <a:spcPts val="0"/>
              </a:spcAft>
              <a:buNone/>
            </a:pPr>
            <a:r>
              <a:rPr lang="ja-JP" sz="1200" b="1" dirty="0">
                <a:solidFill>
                  <a:srgbClr val="1F3A5F"/>
                </a:solidFill>
                <a:latin typeface="Meiryo"/>
                <a:ea typeface="Meiryo"/>
                <a:cs typeface="Meiryo"/>
                <a:sym typeface="Meiryo"/>
              </a:rPr>
              <a:t>無料版で画像が作れなくなったら、フライヤースタジオも使えます（リンクはプロンプト集、合言葉は会場で）</a:t>
            </a: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4" name="Shape 1144"/>
        <p:cNvGrpSpPr/>
        <p:nvPr/>
      </p:nvGrpSpPr>
      <p:grpSpPr>
        <a:xfrm>
          <a:off x="0" y="0"/>
          <a:ext cx="0" cy="0"/>
          <a:chOff x="0" y="0"/>
          <a:chExt cx="0" cy="0"/>
        </a:xfrm>
      </p:grpSpPr>
      <p:sp>
        <p:nvSpPr>
          <p:cNvPr id="1145" name="Google Shape;1145;p38"/>
          <p:cNvSpPr txBox="1"/>
          <p:nvPr/>
        </p:nvSpPr>
        <p:spPr>
          <a:xfrm>
            <a:off x="411480" y="274320"/>
            <a:ext cx="63093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題材の例</a:t>
            </a:r>
            <a:endParaRPr b="0" i="0" sz="2200" u="none" cap="none" strike="noStrike">
              <a:solidFill>
                <a:schemeClr val="dk1"/>
              </a:solidFill>
              <a:latin typeface="Calibri"/>
              <a:ea typeface="Calibri"/>
              <a:cs typeface="Calibri"/>
              <a:sym typeface="Calibri"/>
            </a:endParaRPr>
          </a:p>
        </p:txBody>
      </p:sp>
      <p:sp>
        <p:nvSpPr>
          <p:cNvPr id="1146" name="Google Shape;1146;p38"/>
          <p:cNvSpPr/>
          <p:nvPr/>
        </p:nvSpPr>
        <p:spPr>
          <a:xfrm>
            <a:off x="6949440" y="301752"/>
            <a:ext cx="1783080" cy="411480"/>
          </a:xfrm>
          <a:prstGeom prst="rect">
            <a:avLst/>
          </a:prstGeom>
          <a:solidFill>
            <a:srgbClr val="D9D9D9"/>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38"/>
          <p:cNvSpPr txBox="1"/>
          <p:nvPr/>
        </p:nvSpPr>
        <p:spPr>
          <a:xfrm>
            <a:off x="6949440" y="301752"/>
            <a:ext cx="1783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50"/>
              <a:buFont typeface="Meiryo"/>
              <a:buNone/>
            </a:pPr>
            <a:r>
              <a:rPr b="0" i="0" lang="en-US" sz="950" u="none" cap="none" strike="noStrike">
                <a:solidFill>
                  <a:srgbClr val="222222"/>
                </a:solidFill>
                <a:latin typeface="Meiryo"/>
                <a:ea typeface="Meiryo"/>
                <a:cs typeface="Meiryo"/>
                <a:sym typeface="Meiryo"/>
              </a:rPr>
              <a:t>✋ 手を動かしてみましょう！</a:t>
            </a:r>
            <a:endParaRPr b="0" i="0" sz="950" u="none" cap="none" strike="noStrike">
              <a:solidFill>
                <a:schemeClr val="dk1"/>
              </a:solidFill>
              <a:latin typeface="Calibri"/>
              <a:ea typeface="Calibri"/>
              <a:cs typeface="Calibri"/>
              <a:sym typeface="Calibri"/>
            </a:endParaRPr>
          </a:p>
        </p:txBody>
      </p:sp>
      <p:sp>
        <p:nvSpPr>
          <p:cNvPr id="1148" name="Google Shape;1148;p38"/>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149" name="Google Shape;1149;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150" name="Google Shape;1150;p38"/>
          <p:cNvSpPr/>
          <p:nvPr/>
        </p:nvSpPr>
        <p:spPr>
          <a:xfrm>
            <a:off x="411480" y="960120"/>
            <a:ext cx="4069200" cy="34746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38"/>
          <p:cNvSpPr txBox="1"/>
          <p:nvPr/>
        </p:nvSpPr>
        <p:spPr>
          <a:xfrm>
            <a:off x="640080" y="1097280"/>
            <a:ext cx="3657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700"/>
              <a:buFont typeface="Meiryo"/>
              <a:buNone/>
            </a:pPr>
            <a:r>
              <a:rPr b="1" i="0" lang="en-US" sz="1700" u="none" cap="none" strike="noStrike">
                <a:solidFill>
                  <a:srgbClr val="1F3A5F"/>
                </a:solidFill>
                <a:latin typeface="Meiryo"/>
                <a:ea typeface="Meiryo"/>
                <a:cs typeface="Meiryo"/>
                <a:sym typeface="Meiryo"/>
              </a:rPr>
              <a:t>A 告知ポスター</a:t>
            </a:r>
            <a:endParaRPr b="0" i="0" sz="1700" u="none" cap="none" strike="noStrike">
              <a:solidFill>
                <a:srgbClr val="000000"/>
              </a:solidFill>
              <a:latin typeface="Calibri"/>
              <a:ea typeface="Calibri"/>
              <a:cs typeface="Calibri"/>
              <a:sym typeface="Calibri"/>
            </a:endParaRPr>
          </a:p>
        </p:txBody>
      </p:sp>
      <p:sp>
        <p:nvSpPr>
          <p:cNvPr id="1152" name="Google Shape;1152;p38"/>
          <p:cNvSpPr txBox="1"/>
          <p:nvPr/>
        </p:nvSpPr>
        <p:spPr>
          <a:xfrm>
            <a:off x="640080" y="1481328"/>
            <a:ext cx="3657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5F"/>
              </a:buClr>
              <a:buSzPts val="1150"/>
              <a:buFont typeface="Meiryo"/>
              <a:buNone/>
            </a:pPr>
            <a:r>
              <a:rPr b="1" i="0" lang="en-US" sz="1150" u="none" cap="none" strike="noStrike">
                <a:solidFill>
                  <a:srgbClr val="1F3A5F"/>
                </a:solidFill>
                <a:latin typeface="Meiryo"/>
                <a:ea typeface="Meiryo"/>
                <a:cs typeface="Meiryo"/>
                <a:sym typeface="Meiryo"/>
              </a:rPr>
              <a:t>1枚をしっかりつくる業務</a:t>
            </a:r>
            <a:endParaRPr b="0" i="0" sz="1150" u="none" cap="none" strike="noStrike">
              <a:solidFill>
                <a:srgbClr val="000000"/>
              </a:solidFill>
              <a:latin typeface="Calibri"/>
              <a:ea typeface="Calibri"/>
              <a:cs typeface="Calibri"/>
              <a:sym typeface="Calibri"/>
            </a:endParaRPr>
          </a:p>
        </p:txBody>
      </p:sp>
      <p:sp>
        <p:nvSpPr>
          <p:cNvPr id="1153" name="Google Shape;1153;p38"/>
          <p:cNvSpPr/>
          <p:nvPr/>
        </p:nvSpPr>
        <p:spPr>
          <a:xfrm>
            <a:off x="640080" y="1965960"/>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54" name="Google Shape;1154;p38"/>
          <p:cNvPicPr preferRelativeResize="0"/>
          <p:nvPr/>
        </p:nvPicPr>
        <p:blipFill rotWithShape="1">
          <a:blip r:embed="rId3">
            <a:alphaModFix/>
          </a:blip>
          <a:srcRect b="0" l="0" r="0" t="0"/>
          <a:stretch/>
        </p:blipFill>
        <p:spPr>
          <a:xfrm>
            <a:off x="750722" y="2076602"/>
            <a:ext cx="281635" cy="281635"/>
          </a:xfrm>
          <a:prstGeom prst="rect">
            <a:avLst/>
          </a:prstGeom>
          <a:noFill/>
          <a:ln>
            <a:noFill/>
          </a:ln>
        </p:spPr>
      </p:pic>
      <p:sp>
        <p:nvSpPr>
          <p:cNvPr id="1155" name="Google Shape;1155;p38"/>
          <p:cNvSpPr txBox="1"/>
          <p:nvPr/>
        </p:nvSpPr>
        <p:spPr>
          <a:xfrm>
            <a:off x="1325880" y="196596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新弾予約・大会の告知</a:t>
            </a:r>
            <a:endParaRPr b="0" i="0" sz="1300" u="none" cap="none" strike="noStrike">
              <a:solidFill>
                <a:srgbClr val="000000"/>
              </a:solidFill>
              <a:latin typeface="Calibri"/>
              <a:ea typeface="Calibri"/>
              <a:cs typeface="Calibri"/>
              <a:sym typeface="Calibri"/>
            </a:endParaRPr>
          </a:p>
        </p:txBody>
      </p:sp>
      <p:sp>
        <p:nvSpPr>
          <p:cNvPr id="1156" name="Google Shape;1156;p38"/>
          <p:cNvSpPr/>
          <p:nvPr/>
        </p:nvSpPr>
        <p:spPr>
          <a:xfrm>
            <a:off x="640080" y="2743200"/>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57" name="Google Shape;1157;p38"/>
          <p:cNvPicPr preferRelativeResize="0"/>
          <p:nvPr/>
        </p:nvPicPr>
        <p:blipFill rotWithShape="1">
          <a:blip r:embed="rId4">
            <a:alphaModFix/>
          </a:blip>
          <a:srcRect b="0" l="0" r="0" t="0"/>
          <a:stretch/>
        </p:blipFill>
        <p:spPr>
          <a:xfrm>
            <a:off x="750722" y="2853842"/>
            <a:ext cx="281635" cy="281635"/>
          </a:xfrm>
          <a:prstGeom prst="rect">
            <a:avLst/>
          </a:prstGeom>
          <a:noFill/>
          <a:ln>
            <a:noFill/>
          </a:ln>
        </p:spPr>
      </p:pic>
      <p:sp>
        <p:nvSpPr>
          <p:cNvPr id="1158" name="Google Shape;1158;p38"/>
          <p:cNvSpPr txBox="1"/>
          <p:nvPr/>
        </p:nvSpPr>
        <p:spPr>
          <a:xfrm>
            <a:off x="1325880" y="274320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クレーンゲーム新景品の告知</a:t>
            </a:r>
            <a:endParaRPr b="0" i="0" sz="1300" u="none" cap="none" strike="noStrike">
              <a:solidFill>
                <a:srgbClr val="000000"/>
              </a:solidFill>
              <a:latin typeface="Calibri"/>
              <a:ea typeface="Calibri"/>
              <a:cs typeface="Calibri"/>
              <a:sym typeface="Calibri"/>
            </a:endParaRPr>
          </a:p>
        </p:txBody>
      </p:sp>
      <p:sp>
        <p:nvSpPr>
          <p:cNvPr id="1159" name="Google Shape;1159;p38"/>
          <p:cNvSpPr/>
          <p:nvPr/>
        </p:nvSpPr>
        <p:spPr>
          <a:xfrm>
            <a:off x="640080" y="3520440"/>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0" name="Google Shape;1160;p38"/>
          <p:cNvPicPr preferRelativeResize="0"/>
          <p:nvPr/>
        </p:nvPicPr>
        <p:blipFill rotWithShape="1">
          <a:blip r:embed="rId5">
            <a:alphaModFix/>
          </a:blip>
          <a:srcRect b="0" l="0" r="0" t="0"/>
          <a:stretch/>
        </p:blipFill>
        <p:spPr>
          <a:xfrm>
            <a:off x="750722" y="3631082"/>
            <a:ext cx="281635" cy="281635"/>
          </a:xfrm>
          <a:prstGeom prst="rect">
            <a:avLst/>
          </a:prstGeom>
          <a:noFill/>
          <a:ln>
            <a:noFill/>
          </a:ln>
        </p:spPr>
      </p:pic>
      <p:sp>
        <p:nvSpPr>
          <p:cNvPr id="1161" name="Google Shape;1161;p38"/>
          <p:cNvSpPr txBox="1"/>
          <p:nvPr/>
        </p:nvSpPr>
        <p:spPr>
          <a:xfrm>
            <a:off x="1325880" y="352044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修理受付の店頭案内</a:t>
            </a:r>
            <a:endParaRPr b="0" i="0" sz="1300" u="none" cap="none" strike="noStrike">
              <a:solidFill>
                <a:srgbClr val="000000"/>
              </a:solidFill>
              <a:latin typeface="Calibri"/>
              <a:ea typeface="Calibri"/>
              <a:cs typeface="Calibri"/>
              <a:sym typeface="Calibri"/>
            </a:endParaRPr>
          </a:p>
        </p:txBody>
      </p:sp>
      <p:sp>
        <p:nvSpPr>
          <p:cNvPr id="1162" name="Google Shape;1162;p38"/>
          <p:cNvSpPr/>
          <p:nvPr/>
        </p:nvSpPr>
        <p:spPr>
          <a:xfrm>
            <a:off x="4663440" y="960120"/>
            <a:ext cx="4069200" cy="34746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38"/>
          <p:cNvSpPr txBox="1"/>
          <p:nvPr/>
        </p:nvSpPr>
        <p:spPr>
          <a:xfrm>
            <a:off x="4892040" y="1097280"/>
            <a:ext cx="36576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700"/>
              <a:buFont typeface="Meiryo"/>
              <a:buNone/>
            </a:pPr>
            <a:r>
              <a:rPr b="1" i="0" lang="en-US" sz="1700" u="none" cap="none" strike="noStrike">
                <a:solidFill>
                  <a:srgbClr val="E8702A"/>
                </a:solidFill>
                <a:latin typeface="Meiryo"/>
                <a:ea typeface="Meiryo"/>
                <a:cs typeface="Meiryo"/>
                <a:sym typeface="Meiryo"/>
              </a:rPr>
              <a:t>B 価格POP</a:t>
            </a:r>
            <a:endParaRPr b="0" i="0" sz="1700" u="none" cap="none" strike="noStrike">
              <a:solidFill>
                <a:srgbClr val="000000"/>
              </a:solidFill>
              <a:latin typeface="Calibri"/>
              <a:ea typeface="Calibri"/>
              <a:cs typeface="Calibri"/>
              <a:sym typeface="Calibri"/>
            </a:endParaRPr>
          </a:p>
        </p:txBody>
      </p:sp>
      <p:sp>
        <p:nvSpPr>
          <p:cNvPr id="1164" name="Google Shape;1164;p38"/>
          <p:cNvSpPr txBox="1"/>
          <p:nvPr/>
        </p:nvSpPr>
        <p:spPr>
          <a:xfrm>
            <a:off x="4892040" y="1481328"/>
            <a:ext cx="3657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702A"/>
              </a:buClr>
              <a:buSzPts val="1150"/>
              <a:buFont typeface="Meiryo"/>
              <a:buNone/>
            </a:pPr>
            <a:r>
              <a:rPr b="1" i="0" lang="en-US" sz="1150" u="none" cap="none" strike="noStrike">
                <a:solidFill>
                  <a:srgbClr val="E8702A"/>
                </a:solidFill>
                <a:latin typeface="Meiryo"/>
                <a:ea typeface="Meiryo"/>
                <a:cs typeface="Meiryo"/>
                <a:sym typeface="Meiryo"/>
              </a:rPr>
              <a:t>同じ形のものを何枚もつくる業務</a:t>
            </a:r>
            <a:endParaRPr b="0" i="0" sz="1150" u="none" cap="none" strike="noStrike">
              <a:solidFill>
                <a:srgbClr val="000000"/>
              </a:solidFill>
              <a:latin typeface="Calibri"/>
              <a:ea typeface="Calibri"/>
              <a:cs typeface="Calibri"/>
              <a:sym typeface="Calibri"/>
            </a:endParaRPr>
          </a:p>
        </p:txBody>
      </p:sp>
      <p:sp>
        <p:nvSpPr>
          <p:cNvPr id="1165" name="Google Shape;1165;p38"/>
          <p:cNvSpPr/>
          <p:nvPr/>
        </p:nvSpPr>
        <p:spPr>
          <a:xfrm>
            <a:off x="4892040" y="1965960"/>
            <a:ext cx="502800" cy="5028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6" name="Google Shape;1166;p38"/>
          <p:cNvPicPr preferRelativeResize="0"/>
          <p:nvPr/>
        </p:nvPicPr>
        <p:blipFill rotWithShape="1">
          <a:blip r:embed="rId6">
            <a:alphaModFix/>
          </a:blip>
          <a:srcRect b="0" l="0" r="0" t="0"/>
          <a:stretch/>
        </p:blipFill>
        <p:spPr>
          <a:xfrm>
            <a:off x="5002682" y="2076602"/>
            <a:ext cx="281635" cy="281635"/>
          </a:xfrm>
          <a:prstGeom prst="rect">
            <a:avLst/>
          </a:prstGeom>
          <a:noFill/>
          <a:ln>
            <a:noFill/>
          </a:ln>
        </p:spPr>
      </p:pic>
      <p:sp>
        <p:nvSpPr>
          <p:cNvPr id="1167" name="Google Shape;1167;p38"/>
          <p:cNvSpPr txBox="1"/>
          <p:nvPr/>
        </p:nvSpPr>
        <p:spPr>
          <a:xfrm>
            <a:off x="5577840" y="196596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シングルカードの買取表</a:t>
            </a:r>
            <a:endParaRPr b="0" i="0" sz="1300" u="none" cap="none" strike="noStrike">
              <a:solidFill>
                <a:srgbClr val="000000"/>
              </a:solidFill>
              <a:latin typeface="Calibri"/>
              <a:ea typeface="Calibri"/>
              <a:cs typeface="Calibri"/>
              <a:sym typeface="Calibri"/>
            </a:endParaRPr>
          </a:p>
        </p:txBody>
      </p:sp>
      <p:sp>
        <p:nvSpPr>
          <p:cNvPr id="1168" name="Google Shape;1168;p38"/>
          <p:cNvSpPr/>
          <p:nvPr/>
        </p:nvSpPr>
        <p:spPr>
          <a:xfrm>
            <a:off x="4892040" y="2743200"/>
            <a:ext cx="502800" cy="5028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9" name="Google Shape;1169;p38"/>
          <p:cNvPicPr preferRelativeResize="0"/>
          <p:nvPr/>
        </p:nvPicPr>
        <p:blipFill rotWithShape="1">
          <a:blip r:embed="rId7">
            <a:alphaModFix/>
          </a:blip>
          <a:srcRect b="0" l="0" r="0" t="0"/>
          <a:stretch/>
        </p:blipFill>
        <p:spPr>
          <a:xfrm>
            <a:off x="5002682" y="2853842"/>
            <a:ext cx="281635" cy="281635"/>
          </a:xfrm>
          <a:prstGeom prst="rect">
            <a:avLst/>
          </a:prstGeom>
          <a:noFill/>
          <a:ln>
            <a:noFill/>
          </a:ln>
        </p:spPr>
      </p:pic>
      <p:sp>
        <p:nvSpPr>
          <p:cNvPr id="1170" name="Google Shape;1170;p38"/>
          <p:cNvSpPr txBox="1"/>
          <p:nvPr/>
        </p:nvSpPr>
        <p:spPr>
          <a:xfrm>
            <a:off x="5577840" y="274320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中古商品の価格POP</a:t>
            </a:r>
            <a:endParaRPr b="0" i="0" sz="1300" u="none" cap="none" strike="noStrike">
              <a:solidFill>
                <a:srgbClr val="000000"/>
              </a:solidFill>
              <a:latin typeface="Calibri"/>
              <a:ea typeface="Calibri"/>
              <a:cs typeface="Calibri"/>
              <a:sym typeface="Calibri"/>
            </a:endParaRPr>
          </a:p>
        </p:txBody>
      </p:sp>
      <p:sp>
        <p:nvSpPr>
          <p:cNvPr id="1171" name="Google Shape;1171;p38"/>
          <p:cNvSpPr/>
          <p:nvPr/>
        </p:nvSpPr>
        <p:spPr>
          <a:xfrm>
            <a:off x="4892040" y="3520440"/>
            <a:ext cx="502800" cy="5028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2" name="Google Shape;1172;p38"/>
          <p:cNvPicPr preferRelativeResize="0"/>
          <p:nvPr/>
        </p:nvPicPr>
        <p:blipFill rotWithShape="1">
          <a:blip r:embed="rId8">
            <a:alphaModFix/>
          </a:blip>
          <a:srcRect b="0" l="0" r="0" t="0"/>
          <a:stretch/>
        </p:blipFill>
        <p:spPr>
          <a:xfrm>
            <a:off x="5002682" y="3631082"/>
            <a:ext cx="281635" cy="281635"/>
          </a:xfrm>
          <a:prstGeom prst="rect">
            <a:avLst/>
          </a:prstGeom>
          <a:noFill/>
          <a:ln>
            <a:noFill/>
          </a:ln>
        </p:spPr>
      </p:pic>
      <p:sp>
        <p:nvSpPr>
          <p:cNvPr id="1173" name="Google Shape;1173;p38"/>
          <p:cNvSpPr txBox="1"/>
          <p:nvPr/>
        </p:nvSpPr>
        <p:spPr>
          <a:xfrm>
            <a:off x="5577840" y="3520440"/>
            <a:ext cx="3017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入荷商品の一覧</a:t>
            </a:r>
            <a:endParaRPr b="0" i="0" sz="1300" u="none" cap="none" strike="noStrike">
              <a:solidFill>
                <a:srgbClr val="000000"/>
              </a:solidFill>
              <a:latin typeface="Calibri"/>
              <a:ea typeface="Calibri"/>
              <a:cs typeface="Calibri"/>
              <a:sym typeface="Calibri"/>
            </a:endParaRPr>
          </a:p>
        </p:txBody>
      </p:sp>
      <p:sp>
        <p:nvSpPr>
          <p:cNvPr id="1174" name="Google Shape;1174;p38"/>
          <p:cNvSpPr txBox="1"/>
          <p:nvPr/>
        </p:nvSpPr>
        <p:spPr>
          <a:xfrm>
            <a:off x="561501" y="4549022"/>
            <a:ext cx="7498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300"/>
              <a:buFont typeface="Meiryo"/>
              <a:buNone/>
            </a:pPr>
            <a:r>
              <a:rPr b="1" lang="en-US" sz="1300">
                <a:solidFill>
                  <a:srgbClr val="1F3A5F"/>
                </a:solidFill>
                <a:latin typeface="Meiryo"/>
                <a:ea typeface="Meiryo"/>
                <a:cs typeface="Meiryo"/>
                <a:sym typeface="Meiryo"/>
              </a:rPr>
              <a:t>チラシ用プロンプトの型と作例は、共有資料「ワーク③ 画像生成プロンプト集」にあります。</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9" name="Shape 1179"/>
        <p:cNvGrpSpPr/>
        <p:nvPr/>
      </p:nvGrpSpPr>
      <p:grpSpPr>
        <a:xfrm>
          <a:off x="0" y="0"/>
          <a:ext cx="0" cy="0"/>
          <a:chOff x="0" y="0"/>
          <a:chExt cx="0" cy="0"/>
        </a:xfrm>
      </p:grpSpPr>
      <p:sp>
        <p:nvSpPr>
          <p:cNvPr id="1180" name="Google Shape;1180;h603855749043a6f2_0_27"/>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直したい点が多いときは「書き直して新しいチャット」</a:t>
            </a:r>
            <a:endParaRPr b="0" i="0" sz="2200" u="none" cap="none" strike="noStrike">
              <a:solidFill>
                <a:schemeClr val="dk1"/>
              </a:solidFill>
              <a:latin typeface="Calibri"/>
              <a:ea typeface="Calibri"/>
              <a:cs typeface="Calibri"/>
              <a:sym typeface="Calibri"/>
            </a:endParaRPr>
          </a:p>
        </p:txBody>
      </p:sp>
      <p:sp>
        <p:nvSpPr>
          <p:cNvPr id="1181" name="Google Shape;1181;h603855749043a6f2_0_27"/>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182" name="Google Shape;1182;h603855749043a6f2_0_27"/>
          <p:cNvSpPr/>
          <p:nvPr/>
        </p:nvSpPr>
        <p:spPr>
          <a:xfrm>
            <a:off x="411480" y="914400"/>
            <a:ext cx="4069200" cy="283470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h603855749043a6f2_0_27"/>
          <p:cNvSpPr/>
          <p:nvPr/>
        </p:nvSpPr>
        <p:spPr>
          <a:xfrm>
            <a:off x="640080" y="1097280"/>
            <a:ext cx="502800" cy="502800"/>
          </a:xfrm>
          <a:prstGeom prst="ellipse">
            <a:avLst/>
          </a:prstGeom>
          <a:solidFill>
            <a:srgbClr val="9CA3AF"/>
          </a:solidFill>
          <a:ln cap="flat" cmpd="sng" w="12700">
            <a:solidFill>
              <a:srgbClr val="9CA3A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h603855749043a6f2_0_27"/>
          <p:cNvSpPr txBox="1"/>
          <p:nvPr/>
        </p:nvSpPr>
        <p:spPr>
          <a:xfrm>
            <a:off x="1280160" y="1115568"/>
            <a:ext cx="3017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600"/>
              <a:buFont typeface="Meiryo"/>
              <a:buNone/>
            </a:pPr>
            <a:r>
              <a:rPr b="1" i="0" lang="en-US" sz="1600" u="none" cap="none" strike="noStrike">
                <a:solidFill>
                  <a:srgbClr val="6B7280"/>
                </a:solidFill>
                <a:latin typeface="Meiryo"/>
                <a:ea typeface="Meiryo"/>
                <a:cs typeface="Meiryo"/>
                <a:sym typeface="Meiryo"/>
              </a:rPr>
              <a:t>避けたい進め方</a:t>
            </a:r>
            <a:endParaRPr b="0" i="0" sz="1600" u="none" cap="none" strike="noStrike">
              <a:solidFill>
                <a:schemeClr val="dk1"/>
              </a:solidFill>
              <a:latin typeface="Calibri"/>
              <a:ea typeface="Calibri"/>
              <a:cs typeface="Calibri"/>
              <a:sym typeface="Calibri"/>
            </a:endParaRPr>
          </a:p>
        </p:txBody>
      </p:sp>
      <p:sp>
        <p:nvSpPr>
          <p:cNvPr id="1185" name="Google Shape;1185;h603855749043a6f2_0_27"/>
          <p:cNvSpPr txBox="1"/>
          <p:nvPr/>
        </p:nvSpPr>
        <p:spPr>
          <a:xfrm>
            <a:off x="640080" y="1737360"/>
            <a:ext cx="3657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同じチャットで注文を重ねる</a:t>
            </a:r>
            <a:endParaRPr b="0" i="0" sz="1300" u="none" cap="none" strike="noStrike">
              <a:solidFill>
                <a:schemeClr val="dk1"/>
              </a:solidFill>
              <a:latin typeface="Calibri"/>
              <a:ea typeface="Calibri"/>
              <a:cs typeface="Calibri"/>
              <a:sym typeface="Calibri"/>
            </a:endParaRPr>
          </a:p>
        </p:txBody>
      </p:sp>
      <p:sp>
        <p:nvSpPr>
          <p:cNvPr id="1186" name="Google Shape;1186;h603855749043a6f2_0_27"/>
          <p:cNvSpPr txBox="1"/>
          <p:nvPr/>
        </p:nvSpPr>
        <p:spPr>
          <a:xfrm>
            <a:off x="685800" y="2377440"/>
            <a:ext cx="3566100" cy="11886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2222"/>
              </a:buClr>
              <a:buSzPts val="1150"/>
              <a:buFont typeface="Meiryo"/>
              <a:buChar char="•"/>
            </a:pPr>
            <a:r>
              <a:rPr b="0" i="0" lang="en-US" sz="1150" u="none" cap="none" strike="noStrike">
                <a:solidFill>
                  <a:srgbClr val="222222"/>
                </a:solidFill>
                <a:latin typeface="Meiryo"/>
                <a:ea typeface="Meiryo"/>
                <a:cs typeface="Meiryo"/>
                <a:sym typeface="Meiryo"/>
              </a:rPr>
              <a:t>「もう少し明るく」</a:t>
            </a:r>
            <a:endParaRPr b="0" i="0" sz="11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222222"/>
              </a:buClr>
              <a:buSzPts val="1150"/>
              <a:buFont typeface="Meiryo"/>
              <a:buChar char="•"/>
            </a:pPr>
            <a:r>
              <a:rPr b="0" i="0" lang="en-US" sz="1150" u="none" cap="none" strike="noStrike">
                <a:solidFill>
                  <a:srgbClr val="222222"/>
                </a:solidFill>
                <a:latin typeface="Meiryo"/>
                <a:ea typeface="Meiryo"/>
                <a:cs typeface="Meiryo"/>
                <a:sym typeface="Meiryo"/>
              </a:rPr>
              <a:t>「やっぱり背景を白に」</a:t>
            </a:r>
            <a:endParaRPr b="0" i="0" sz="11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222222"/>
              </a:buClr>
              <a:buSzPts val="1150"/>
              <a:buFont typeface="Meiryo"/>
              <a:buChar char="•"/>
            </a:pPr>
            <a:r>
              <a:rPr b="0" i="0" lang="en-US" sz="1150" u="none" cap="none" strike="noStrike">
                <a:solidFill>
                  <a:srgbClr val="222222"/>
                </a:solidFill>
                <a:latin typeface="Meiryo"/>
                <a:ea typeface="Meiryo"/>
                <a:cs typeface="Meiryo"/>
                <a:sym typeface="Meiryo"/>
              </a:rPr>
              <a:t>「さっきの感じに戻して」</a:t>
            </a:r>
            <a:endParaRPr b="0" i="0" sz="1150" u="none" cap="none" strike="noStrike">
              <a:solidFill>
                <a:schemeClr val="dk1"/>
              </a:solidFill>
              <a:latin typeface="Calibri"/>
              <a:ea typeface="Calibri"/>
              <a:cs typeface="Calibri"/>
              <a:sym typeface="Calibri"/>
            </a:endParaRPr>
          </a:p>
        </p:txBody>
      </p:sp>
      <p:sp>
        <p:nvSpPr>
          <p:cNvPr id="1187" name="Google Shape;1187;h603855749043a6f2_0_27"/>
          <p:cNvSpPr/>
          <p:nvPr/>
        </p:nvSpPr>
        <p:spPr>
          <a:xfrm>
            <a:off x="4663440" y="914400"/>
            <a:ext cx="4069200" cy="28347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h603855749043a6f2_0_27"/>
          <p:cNvSpPr/>
          <p:nvPr/>
        </p:nvSpPr>
        <p:spPr>
          <a:xfrm>
            <a:off x="4892040" y="1097280"/>
            <a:ext cx="502800" cy="502800"/>
          </a:xfrm>
          <a:prstGeom prst="ellipse">
            <a:avLst/>
          </a:prstGeom>
          <a:solidFill>
            <a:srgbClr val="E8702A"/>
          </a:solidFill>
          <a:ln cap="flat" cmpd="sng" w="12700">
            <a:solidFill>
              <a:srgbClr val="E87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9" name="Google Shape;1189;h603855749043a6f2_0_27"/>
          <p:cNvPicPr preferRelativeResize="0"/>
          <p:nvPr/>
        </p:nvPicPr>
        <p:blipFill rotWithShape="1">
          <a:blip r:embed="rId3">
            <a:alphaModFix/>
          </a:blip>
          <a:srcRect b="0" l="0" r="0" t="0"/>
          <a:stretch/>
        </p:blipFill>
        <p:spPr>
          <a:xfrm>
            <a:off x="5002682" y="1207922"/>
            <a:ext cx="281635" cy="281635"/>
          </a:xfrm>
          <a:prstGeom prst="rect">
            <a:avLst/>
          </a:prstGeom>
          <a:noFill/>
          <a:ln>
            <a:noFill/>
          </a:ln>
        </p:spPr>
      </p:pic>
      <p:sp>
        <p:nvSpPr>
          <p:cNvPr id="1190" name="Google Shape;1190;h603855749043a6f2_0_27"/>
          <p:cNvSpPr txBox="1"/>
          <p:nvPr/>
        </p:nvSpPr>
        <p:spPr>
          <a:xfrm>
            <a:off x="5532120" y="1115568"/>
            <a:ext cx="3017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600"/>
              <a:buFont typeface="Meiryo"/>
              <a:buNone/>
            </a:pPr>
            <a:r>
              <a:rPr b="1" i="0" lang="en-US" sz="1600" u="none" cap="none" strike="noStrike">
                <a:solidFill>
                  <a:srgbClr val="E8702A"/>
                </a:solidFill>
                <a:latin typeface="Meiryo"/>
                <a:ea typeface="Meiryo"/>
                <a:cs typeface="Meiryo"/>
                <a:sym typeface="Meiryo"/>
              </a:rPr>
              <a:t>おすすめの進め方</a:t>
            </a:r>
            <a:endParaRPr b="0" i="0" sz="1600" u="none" cap="none" strike="noStrike">
              <a:solidFill>
                <a:schemeClr val="dk1"/>
              </a:solidFill>
              <a:latin typeface="Calibri"/>
              <a:ea typeface="Calibri"/>
              <a:cs typeface="Calibri"/>
              <a:sym typeface="Calibri"/>
            </a:endParaRPr>
          </a:p>
        </p:txBody>
      </p:sp>
      <p:sp>
        <p:nvSpPr>
          <p:cNvPr id="1191" name="Google Shape;1191;h603855749043a6f2_0_27"/>
          <p:cNvSpPr txBox="1"/>
          <p:nvPr/>
        </p:nvSpPr>
        <p:spPr>
          <a:xfrm>
            <a:off x="4892040" y="1737360"/>
            <a:ext cx="3657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300"/>
              <a:buFont typeface="Meiryo"/>
              <a:buNone/>
            </a:pPr>
            <a:r>
              <a:rPr b="1" i="0" lang="en-US" sz="1300" u="none" cap="none" strike="noStrike">
                <a:solidFill>
                  <a:srgbClr val="222222"/>
                </a:solidFill>
                <a:latin typeface="Meiryo"/>
                <a:ea typeface="Meiryo"/>
                <a:cs typeface="Meiryo"/>
                <a:sym typeface="Meiryo"/>
              </a:rPr>
              <a:t>書き直したプロンプトを新しいチャットで出す</a:t>
            </a:r>
            <a:endParaRPr b="0" i="0" sz="1300" u="none" cap="none" strike="noStrike">
              <a:solidFill>
                <a:schemeClr val="dk1"/>
              </a:solidFill>
              <a:latin typeface="Calibri"/>
              <a:ea typeface="Calibri"/>
              <a:cs typeface="Calibri"/>
              <a:sym typeface="Calibri"/>
            </a:endParaRPr>
          </a:p>
        </p:txBody>
      </p:sp>
      <p:sp>
        <p:nvSpPr>
          <p:cNvPr id="1192" name="Google Shape;1192;h603855749043a6f2_0_27"/>
          <p:cNvSpPr txBox="1"/>
          <p:nvPr/>
        </p:nvSpPr>
        <p:spPr>
          <a:xfrm>
            <a:off x="4937760" y="2377440"/>
            <a:ext cx="35661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50" u="none" cap="none" strike="noStrike">
                <a:solidFill>
                  <a:srgbClr val="222222"/>
                </a:solidFill>
                <a:latin typeface="Meiryo"/>
                <a:ea typeface="Meiryo"/>
                <a:cs typeface="Meiryo"/>
                <a:sym typeface="Meiryo"/>
              </a:rPr>
              <a:t>直したい点を反映した</a:t>
            </a:r>
            <a:endParaRPr b="0" i="0" sz="1150" u="none" cap="none" strike="noStrike">
              <a:solidFill>
                <a:srgbClr val="222222"/>
              </a:solidFill>
              <a:latin typeface="Meiryo"/>
              <a:ea typeface="Meiryo"/>
              <a:cs typeface="Meiryo"/>
              <a:sym typeface="Meiryo"/>
            </a:endParaRPr>
          </a:p>
          <a:p>
            <a:pPr indent="0" lvl="0" marL="0" marR="0" rtl="0" algn="l">
              <a:spcBef>
                <a:spcPts val="0"/>
              </a:spcBef>
              <a:spcAft>
                <a:spcPts val="0"/>
              </a:spcAft>
              <a:buNone/>
            </a:pPr>
            <a:r>
              <a:rPr b="0" i="0" lang="en-US" sz="1150" u="none" cap="none" strike="noStrike">
                <a:solidFill>
                  <a:srgbClr val="222222"/>
                </a:solidFill>
                <a:latin typeface="Meiryo"/>
                <a:ea typeface="Meiryo"/>
                <a:cs typeface="Meiryo"/>
                <a:sym typeface="Meiryo"/>
              </a:rPr>
              <a:t>1本のプロンプトにまとめて</a:t>
            </a:r>
            <a:r>
              <a:rPr lang="en-US" sz="1150">
                <a:solidFill>
                  <a:schemeClr val="dk1"/>
                </a:solidFill>
                <a:latin typeface="Calibri"/>
                <a:ea typeface="Calibri"/>
                <a:cs typeface="Calibri"/>
                <a:sym typeface="Calibri"/>
              </a:rPr>
              <a:t>、</a:t>
            </a:r>
            <a:r>
              <a:rPr b="0" i="0" lang="en-US" sz="1150" u="none" cap="none" strike="noStrike">
                <a:solidFill>
                  <a:srgbClr val="222222"/>
                </a:solidFill>
                <a:latin typeface="Meiryo"/>
                <a:ea typeface="Meiryo"/>
                <a:cs typeface="Meiryo"/>
                <a:sym typeface="Meiryo"/>
              </a:rPr>
              <a:t>新しいチャットで実行</a:t>
            </a:r>
            <a:endParaRPr b="0" i="0" sz="1150" u="none" cap="none" strike="noStrike">
              <a:solidFill>
                <a:schemeClr val="dk1"/>
              </a:solidFill>
              <a:latin typeface="Calibri"/>
              <a:ea typeface="Calibri"/>
              <a:cs typeface="Calibri"/>
              <a:sym typeface="Calibri"/>
            </a:endParaRPr>
          </a:p>
        </p:txBody>
      </p:sp>
      <p:sp>
        <p:nvSpPr>
          <p:cNvPr id="1193" name="Google Shape;1193;h603855749043a6f2_0_27"/>
          <p:cNvSpPr/>
          <p:nvPr/>
        </p:nvSpPr>
        <p:spPr>
          <a:xfrm>
            <a:off x="411480" y="3931920"/>
            <a:ext cx="8321100" cy="5487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h603855749043a6f2_0_27"/>
          <p:cNvSpPr txBox="1"/>
          <p:nvPr/>
        </p:nvSpPr>
        <p:spPr>
          <a:xfrm>
            <a:off x="594360" y="3931920"/>
            <a:ext cx="7955400" cy="548700"/>
          </a:xfrm>
          <a:prstGeom prst="rect">
            <a:avLst/>
          </a:prstGeom>
          <a:noFill/>
          <a:ln>
            <a:noFill/>
          </a:ln>
        </p:spPr>
        <p:txBody>
          <a:bodyPr anchorCtr="0" anchor="ctr" bIns="0" lIns="0" spcFirstLastPara="1" rIns="0" wrap="square" tIns="0">
            <a:noAutofit/>
          </a:bodyPr>
          <a:lstStyle/>
          <a:p>
            <a:pPr marL="0" indent="0" algn="l">
              <a:lnSpc>
                <a:spcPct val="100000"/>
              </a:lnSpc>
              <a:spcBef>
                <a:spcPts val="0"/>
              </a:spcBef>
              <a:spcAft>
                <a:spcPts val="0"/>
              </a:spcAft>
              <a:buNone/>
            </a:pPr>
            <a:r>
              <a:rPr lang="ja-JP" sz="1150" b="1" dirty="0">
                <a:solidFill>
                  <a:srgbClr val="1F3A5F"/>
                </a:solidFill>
                <a:latin typeface="Meiryo"/>
                <a:ea typeface="Meiryo"/>
                <a:cs typeface="Meiryo"/>
                <a:sym typeface="Meiryo"/>
              </a:rPr>
              <a:t>1か所だけの直しなら、同じチャットで「〇〇だけ変えて、ほかはそのまま」と伝えればOKです。</a:t>
            </a:r>
          </a:p>
          <a:p>
            <a:pPr marL="0" indent="0" algn="l">
              <a:lnSpc>
                <a:spcPct val="100000"/>
              </a:lnSpc>
              <a:spcBef>
                <a:spcPts val="200"/>
              </a:spcBef>
              <a:spcAft>
                <a:spcPts val="0"/>
              </a:spcAft>
              <a:buNone/>
            </a:pPr>
            <a:r>
              <a:rPr lang="ja-JP" sz="1150" b="1" dirty="0">
                <a:solidFill>
                  <a:srgbClr val="1F3A5F"/>
                </a:solidFill>
                <a:latin typeface="Meiryo"/>
                <a:ea typeface="Meiryo"/>
                <a:cs typeface="Meiryo"/>
                <a:sym typeface="Meiryo"/>
              </a:rPr>
              <a:t>文字や日付の細かい調整は、AIで何度もやり直すより、Canvaで直すほうが早く仕上がります。</a:t>
            </a:r>
          </a:p>
        </p:txBody>
      </p:sp>
      <p:sp>
        <p:nvSpPr>
          <p:cNvPr id="1195" name="Google Shape;1195;h603855749043a6f2_0_27"/>
          <p:cNvSpPr/>
          <p:nvPr/>
        </p:nvSpPr>
        <p:spPr>
          <a:xfrm>
            <a:off x="768175" y="1219687"/>
            <a:ext cx="246600" cy="258000"/>
          </a:xfrm>
          <a:prstGeom prst="triangle">
            <a:avLst>
              <a:gd fmla="val 50000" name="adj"/>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0" name="Shape 1200"/>
        <p:cNvGrpSpPr/>
        <p:nvPr/>
      </p:nvGrpSpPr>
      <p:grpSpPr>
        <a:xfrm>
          <a:off x="0" y="0"/>
          <a:ext cx="0" cy="0"/>
          <a:chOff x="0" y="0"/>
          <a:chExt cx="0" cy="0"/>
        </a:xfrm>
      </p:grpSpPr>
      <p:sp>
        <p:nvSpPr>
          <p:cNvPr id="1201" name="Google Shape;1201;h603855749043a6f2_0_48"/>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なぜ、注文を重ねると遠回りになりやすいのか</a:t>
            </a:r>
            <a:endParaRPr b="0" i="0" sz="2200" u="none" cap="none" strike="noStrike">
              <a:solidFill>
                <a:schemeClr val="dk1"/>
              </a:solidFill>
              <a:latin typeface="Calibri"/>
              <a:ea typeface="Calibri"/>
              <a:cs typeface="Calibri"/>
              <a:sym typeface="Calibri"/>
            </a:endParaRPr>
          </a:p>
        </p:txBody>
      </p:sp>
      <p:sp>
        <p:nvSpPr>
          <p:cNvPr id="1202" name="Google Shape;1202;h603855749043a6f2_0_48"/>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04" name="Google Shape;1204;h603855749043a6f2_0_48"/>
          <p:cNvSpPr txBox="1"/>
          <p:nvPr/>
        </p:nvSpPr>
        <p:spPr>
          <a:xfrm>
            <a:off x="411479" y="1452825"/>
            <a:ext cx="83211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2008"/>
              <a:buFont typeface="Meiryo"/>
              <a:buNone/>
            </a:pPr>
            <a:r>
              <a:rPr b="1" lang="en-US" sz="2008">
                <a:solidFill>
                  <a:srgbClr val="1F3A5F"/>
                </a:solidFill>
                <a:latin typeface="Meiryo"/>
                <a:ea typeface="Meiryo"/>
                <a:cs typeface="Meiryo"/>
                <a:sym typeface="Meiryo"/>
              </a:rPr>
              <a:t>・</a:t>
            </a:r>
            <a:r>
              <a:rPr b="1" i="0" lang="en-US" sz="2008" u="none" cap="none" strike="noStrike">
                <a:solidFill>
                  <a:srgbClr val="1F3A5F"/>
                </a:solidFill>
                <a:latin typeface="Meiryo"/>
                <a:ea typeface="Meiryo"/>
                <a:cs typeface="Meiryo"/>
                <a:sym typeface="Meiryo"/>
              </a:rPr>
              <a:t>指示が上書きされず、積み重なっていく</a:t>
            </a:r>
            <a:endParaRPr b="0" i="0" sz="2008" u="none" cap="none" strike="noStrike">
              <a:solidFill>
                <a:schemeClr val="dk1"/>
              </a:solidFill>
              <a:latin typeface="Calibri"/>
              <a:ea typeface="Calibri"/>
              <a:cs typeface="Calibri"/>
              <a:sym typeface="Calibri"/>
            </a:endParaRPr>
          </a:p>
        </p:txBody>
      </p:sp>
      <p:sp>
        <p:nvSpPr>
          <p:cNvPr id="1205" name="Google Shape;1205;h603855749043a6f2_0_48"/>
          <p:cNvSpPr txBox="1"/>
          <p:nvPr/>
        </p:nvSpPr>
        <p:spPr>
          <a:xfrm>
            <a:off x="411479" y="1905804"/>
            <a:ext cx="8321100" cy="48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540"/>
              <a:buFont typeface="Meiryo"/>
              <a:buNone/>
            </a:pPr>
            <a:r>
              <a:rPr b="0" i="0" lang="en-US" sz="1540" u="none" cap="none" strike="noStrike">
                <a:solidFill>
                  <a:srgbClr val="444444"/>
                </a:solidFill>
                <a:latin typeface="Meiryo"/>
                <a:ea typeface="Meiryo"/>
                <a:cs typeface="Meiryo"/>
                <a:sym typeface="Meiryo"/>
              </a:rPr>
              <a:t>「もう少し明るく」「やっぱり白で」が足し算されて、長く矛盾した指示書になっていきます</a:t>
            </a:r>
            <a:endParaRPr b="0" i="0" sz="1540" u="none" cap="none" strike="noStrike">
              <a:solidFill>
                <a:schemeClr val="dk1"/>
              </a:solidFill>
              <a:latin typeface="Calibri"/>
              <a:ea typeface="Calibri"/>
              <a:cs typeface="Calibri"/>
              <a:sym typeface="Calibri"/>
            </a:endParaRPr>
          </a:p>
        </p:txBody>
      </p:sp>
      <p:sp>
        <p:nvSpPr>
          <p:cNvPr id="1206" name="Google Shape;1206;h603855749043a6f2_0_48"/>
          <p:cNvSpPr txBox="1"/>
          <p:nvPr/>
        </p:nvSpPr>
        <p:spPr>
          <a:xfrm>
            <a:off x="411450" y="2663131"/>
            <a:ext cx="81054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2008"/>
              <a:buFont typeface="Meiryo"/>
              <a:buNone/>
            </a:pPr>
            <a:r>
              <a:rPr b="1" lang="en-US" sz="2008">
                <a:solidFill>
                  <a:srgbClr val="1F3A5F"/>
                </a:solidFill>
                <a:latin typeface="Meiryo"/>
                <a:ea typeface="Meiryo"/>
                <a:cs typeface="Meiryo"/>
                <a:sym typeface="Meiryo"/>
              </a:rPr>
              <a:t>・前の画像の見た目を引き継ぎやすい</a:t>
            </a:r>
            <a:endParaRPr b="0" i="0" sz="2008" u="none" cap="none" strike="noStrike">
              <a:solidFill>
                <a:schemeClr val="dk1"/>
              </a:solidFill>
              <a:latin typeface="Calibri"/>
              <a:ea typeface="Calibri"/>
              <a:cs typeface="Calibri"/>
              <a:sym typeface="Calibri"/>
            </a:endParaRPr>
          </a:p>
        </p:txBody>
      </p:sp>
      <p:sp>
        <p:nvSpPr>
          <p:cNvPr id="1207" name="Google Shape;1207;h603855749043a6f2_0_48"/>
          <p:cNvSpPr txBox="1"/>
          <p:nvPr/>
        </p:nvSpPr>
        <p:spPr>
          <a:xfrm>
            <a:off x="411450" y="3116110"/>
            <a:ext cx="8105400" cy="48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540"/>
              <a:buFont typeface="Meiryo"/>
              <a:buNone/>
            </a:pPr>
            <a:r>
              <a:rPr b="0" i="0" lang="en-US" sz="1540" u="none" cap="none" strike="noStrike">
                <a:solidFill>
                  <a:srgbClr val="444444"/>
                </a:solidFill>
                <a:latin typeface="Meiryo"/>
                <a:ea typeface="Meiryo"/>
                <a:cs typeface="Meiryo"/>
                <a:sym typeface="Meiryo"/>
              </a:rPr>
              <a:t>AIは直前の画像の色や雰囲気を参照するため、作り直したくても前の色味が残りがちです</a:t>
            </a:r>
            <a:endParaRPr b="0" i="0" sz="1540" u="none" cap="none" strike="noStrike">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2" name="Shape 1212"/>
        <p:cNvGrpSpPr/>
        <p:nvPr/>
      </p:nvGrpSpPr>
      <p:grpSpPr>
        <a:xfrm>
          <a:off x="0" y="0"/>
          <a:ext cx="0" cy="0"/>
          <a:chOff x="0" y="0"/>
          <a:chExt cx="0" cy="0"/>
        </a:xfrm>
      </p:grpSpPr>
      <p:sp>
        <p:nvSpPr>
          <p:cNvPr id="1213" name="Google Shape;1213;h603855749043a6f2_0_69"/>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一部だけ直したいときは「範囲を指定して」指示する</a:t>
            </a:r>
            <a:endParaRPr b="0" i="0" sz="2200" u="none" cap="none" strike="noStrike">
              <a:solidFill>
                <a:schemeClr val="dk1"/>
              </a:solidFill>
              <a:latin typeface="Calibri"/>
              <a:ea typeface="Calibri"/>
              <a:cs typeface="Calibri"/>
              <a:sym typeface="Calibri"/>
            </a:endParaRPr>
          </a:p>
        </p:txBody>
      </p:sp>
      <p:sp>
        <p:nvSpPr>
          <p:cNvPr id="1214" name="Google Shape;1214;h603855749043a6f2_0_69"/>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15" name="Google Shape;1215;h603855749043a6f2_0_69"/>
          <p:cNvSpPr txBox="1"/>
          <p:nvPr/>
        </p:nvSpPr>
        <p:spPr>
          <a:xfrm>
            <a:off x="411480" y="914400"/>
            <a:ext cx="8321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画像全体ではなく、「変えたい場所」を選んでから指示します（マスク処理）。</a:t>
            </a:r>
            <a:endParaRPr b="0" i="0" sz="1400" u="none" cap="none" strike="noStrike">
              <a:solidFill>
                <a:schemeClr val="dk1"/>
              </a:solidFill>
              <a:latin typeface="Calibri"/>
              <a:ea typeface="Calibri"/>
              <a:cs typeface="Calibri"/>
              <a:sym typeface="Calibri"/>
            </a:endParaRPr>
          </a:p>
        </p:txBody>
      </p:sp>
      <p:pic>
        <p:nvPicPr>
          <p:cNvPr id="1216" name="Google Shape;1216;h603855749043a6f2_0_69" title="スクリーンショット 2026-09-27 173326.png"/>
          <p:cNvPicPr preferRelativeResize="0"/>
          <p:nvPr/>
        </p:nvPicPr>
        <p:blipFill>
          <a:blip r:embed="rId3">
            <a:alphaModFix/>
          </a:blip>
          <a:stretch>
            <a:fillRect/>
          </a:stretch>
        </p:blipFill>
        <p:spPr>
          <a:xfrm>
            <a:off x="140000" y="1444500"/>
            <a:ext cx="4072075" cy="2978275"/>
          </a:xfrm>
          <a:prstGeom prst="rect">
            <a:avLst/>
          </a:prstGeom>
          <a:noFill/>
          <a:ln cap="flat" cmpd="sng" w="9525">
            <a:solidFill>
              <a:schemeClr val="dk2"/>
            </a:solidFill>
            <a:prstDash val="solid"/>
            <a:round/>
            <a:headEnd len="sm" w="sm" type="none"/>
            <a:tailEnd len="sm" w="sm" type="none"/>
          </a:ln>
        </p:spPr>
      </p:pic>
      <p:pic>
        <p:nvPicPr>
          <p:cNvPr id="1217" name="Google Shape;1217;h603855749043a6f2_0_69" title="スクリーンショット 2026-09-27 173435.png"/>
          <p:cNvPicPr preferRelativeResize="0"/>
          <p:nvPr/>
        </p:nvPicPr>
        <p:blipFill>
          <a:blip r:embed="rId4">
            <a:alphaModFix/>
          </a:blip>
          <a:stretch>
            <a:fillRect/>
          </a:stretch>
        </p:blipFill>
        <p:spPr>
          <a:xfrm>
            <a:off x="4896375" y="1421800"/>
            <a:ext cx="4072075" cy="3023672"/>
          </a:xfrm>
          <a:prstGeom prst="rect">
            <a:avLst/>
          </a:prstGeom>
          <a:noFill/>
          <a:ln cap="flat" cmpd="sng" w="9525">
            <a:solidFill>
              <a:schemeClr val="dk2"/>
            </a:solidFill>
            <a:prstDash val="solid"/>
            <a:round/>
            <a:headEnd len="sm" w="sm" type="none"/>
            <a:tailEnd len="sm" w="sm" type="none"/>
          </a:ln>
        </p:spPr>
      </p:pic>
      <p:sp>
        <p:nvSpPr>
          <p:cNvPr id="1218" name="Google Shape;1218;h603855749043a6f2_0_69"/>
          <p:cNvSpPr/>
          <p:nvPr/>
        </p:nvSpPr>
        <p:spPr>
          <a:xfrm>
            <a:off x="4383925" y="2714638"/>
            <a:ext cx="376200" cy="4380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3" name="Shape 1223"/>
        <p:cNvGrpSpPr/>
        <p:nvPr/>
      </p:nvGrpSpPr>
      <p:grpSpPr>
        <a:xfrm>
          <a:off x="0" y="0"/>
          <a:ext cx="0" cy="0"/>
          <a:chOff x="0" y="0"/>
          <a:chExt cx="0" cy="0"/>
        </a:xfrm>
      </p:grpSpPr>
      <p:sp>
        <p:nvSpPr>
          <p:cNvPr id="1224" name="Google Shape;1224;p39"/>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ワーク③ 成果共有</a:t>
            </a:r>
            <a:endParaRPr b="0" i="0" sz="2200" u="none" cap="none" strike="noStrike">
              <a:solidFill>
                <a:schemeClr val="dk1"/>
              </a:solidFill>
              <a:latin typeface="Calibri"/>
              <a:ea typeface="Calibri"/>
              <a:cs typeface="Calibri"/>
              <a:sym typeface="Calibri"/>
            </a:endParaRPr>
          </a:p>
        </p:txBody>
      </p:sp>
      <p:sp>
        <p:nvSpPr>
          <p:cNvPr id="1225" name="Google Shape;1225;p39"/>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26" name="Google Shape;1226;p39"/>
          <p:cNvSpPr txBox="1"/>
          <p:nvPr/>
        </p:nvSpPr>
        <p:spPr>
          <a:xfrm>
            <a:off x="411480" y="914400"/>
            <a:ext cx="8321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0" i="0" lang="en-US" sz="1400" u="none" cap="none" strike="noStrike">
                <a:solidFill>
                  <a:srgbClr val="222222"/>
                </a:solidFill>
                <a:latin typeface="Meiryo"/>
                <a:ea typeface="Meiryo"/>
                <a:cs typeface="Meiryo"/>
                <a:sym typeface="Meiryo"/>
              </a:rPr>
              <a:t>つくった販促物を見せながら、次の3点を紹介してください。</a:t>
            </a:r>
            <a:endParaRPr b="0" i="0" sz="1400" u="none" cap="none" strike="noStrike">
              <a:solidFill>
                <a:schemeClr val="dk1"/>
              </a:solidFill>
              <a:latin typeface="Calibri"/>
              <a:ea typeface="Calibri"/>
              <a:cs typeface="Calibri"/>
              <a:sym typeface="Calibri"/>
            </a:endParaRPr>
          </a:p>
        </p:txBody>
      </p:sp>
      <p:sp>
        <p:nvSpPr>
          <p:cNvPr id="1227" name="Google Shape;1227;p39"/>
          <p:cNvSpPr txBox="1"/>
          <p:nvPr/>
        </p:nvSpPr>
        <p:spPr>
          <a:xfrm>
            <a:off x="411475" y="1296925"/>
            <a:ext cx="7710300" cy="30297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①</a:t>
            </a:r>
            <a:r>
              <a:rPr lang="en-US" sz="2000"/>
              <a:t>何を作ったか（用途、貼る場所・載せる場所）</a:t>
            </a:r>
            <a:endParaRPr sz="2000"/>
          </a:p>
          <a:p>
            <a:pPr indent="0" lvl="0" marL="0" rtl="0" algn="l">
              <a:lnSpc>
                <a:spcPct val="150000"/>
              </a:lnSpc>
              <a:spcBef>
                <a:spcPts val="0"/>
              </a:spcBef>
              <a:spcAft>
                <a:spcPts val="0"/>
              </a:spcAft>
              <a:buNone/>
            </a:pPr>
            <a:r>
              <a:t/>
            </a:r>
            <a:endParaRPr sz="1000"/>
          </a:p>
          <a:p>
            <a:pPr indent="0" lvl="0" marL="0" rtl="0" algn="l">
              <a:lnSpc>
                <a:spcPct val="150000"/>
              </a:lnSpc>
              <a:spcBef>
                <a:spcPts val="0"/>
              </a:spcBef>
              <a:spcAft>
                <a:spcPts val="0"/>
              </a:spcAft>
              <a:buNone/>
            </a:pPr>
            <a:r>
              <a:rPr lang="en-US" sz="2000"/>
              <a:t>②プロンプトの中身</a:t>
            </a:r>
            <a:endParaRPr sz="2000"/>
          </a:p>
          <a:p>
            <a:pPr indent="0" lvl="0" marL="0" rtl="0" algn="l">
              <a:lnSpc>
                <a:spcPct val="150000"/>
              </a:lnSpc>
              <a:spcBef>
                <a:spcPts val="0"/>
              </a:spcBef>
              <a:spcAft>
                <a:spcPts val="0"/>
              </a:spcAft>
              <a:buNone/>
            </a:pPr>
            <a:r>
              <a:rPr lang="en-US" sz="2000"/>
              <a:t>（前提・素材・お手本・制約のうち何を入れたか）</a:t>
            </a:r>
            <a:endParaRPr sz="2000"/>
          </a:p>
          <a:p>
            <a:pPr indent="0" lvl="0" marL="0" rtl="0" algn="l">
              <a:lnSpc>
                <a:spcPct val="150000"/>
              </a:lnSpc>
              <a:spcBef>
                <a:spcPts val="0"/>
              </a:spcBef>
              <a:spcAft>
                <a:spcPts val="0"/>
              </a:spcAft>
              <a:buNone/>
            </a:pPr>
            <a:r>
              <a:t/>
            </a:r>
            <a:endParaRPr sz="1000"/>
          </a:p>
          <a:p>
            <a:pPr indent="0" lvl="0" marL="0" rtl="0" algn="l">
              <a:lnSpc>
                <a:spcPct val="150000"/>
              </a:lnSpc>
              <a:spcBef>
                <a:spcPts val="0"/>
              </a:spcBef>
              <a:spcAft>
                <a:spcPts val="0"/>
              </a:spcAft>
              <a:buNone/>
            </a:pPr>
            <a:r>
              <a:rPr lang="en-US" sz="2000"/>
              <a:t>③いちばん効果があった修正のひと言</a:t>
            </a:r>
            <a:endParaRPr sz="2000"/>
          </a:p>
        </p:txBody>
      </p:sp>
      <p:sp>
        <p:nvSpPr>
          <p:cNvPr id="1228" name="Google Shape;1228;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3" name="Shape 1233"/>
        <p:cNvGrpSpPr/>
        <p:nvPr/>
      </p:nvGrpSpPr>
      <p:grpSpPr>
        <a:xfrm>
          <a:off x="0" y="0"/>
          <a:ext cx="0" cy="0"/>
          <a:chOff x="0" y="0"/>
          <a:chExt cx="0" cy="0"/>
        </a:xfrm>
      </p:grpSpPr>
      <p:sp>
        <p:nvSpPr>
          <p:cNvPr id="1234" name="Google Shape;1234;p40"/>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本日のまとめ</a:t>
            </a:r>
            <a:endParaRPr b="0" i="0" sz="2200" u="none" cap="none" strike="noStrike">
              <a:solidFill>
                <a:schemeClr val="dk1"/>
              </a:solidFill>
              <a:latin typeface="Calibri"/>
              <a:ea typeface="Calibri"/>
              <a:cs typeface="Calibri"/>
              <a:sym typeface="Calibri"/>
            </a:endParaRPr>
          </a:p>
        </p:txBody>
      </p:sp>
      <p:sp>
        <p:nvSpPr>
          <p:cNvPr id="1235" name="Google Shape;1235;p40"/>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36" name="Google Shape;1236;p40"/>
          <p:cNvSpPr/>
          <p:nvPr/>
        </p:nvSpPr>
        <p:spPr>
          <a:xfrm>
            <a:off x="502920" y="1005840"/>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7" name="Google Shape;1237;p40"/>
          <p:cNvPicPr preferRelativeResize="0"/>
          <p:nvPr/>
        </p:nvPicPr>
        <p:blipFill rotWithShape="1">
          <a:blip r:embed="rId3">
            <a:alphaModFix/>
          </a:blip>
          <a:srcRect b="0" l="0" r="0" t="0"/>
          <a:stretch/>
        </p:blipFill>
        <p:spPr>
          <a:xfrm>
            <a:off x="627644" y="1130564"/>
            <a:ext cx="317480" cy="317480"/>
          </a:xfrm>
          <a:prstGeom prst="rect">
            <a:avLst/>
          </a:prstGeom>
          <a:noFill/>
          <a:ln>
            <a:noFill/>
          </a:ln>
        </p:spPr>
      </p:pic>
      <p:sp>
        <p:nvSpPr>
          <p:cNvPr id="1238" name="Google Shape;1238;p40"/>
          <p:cNvSpPr txBox="1"/>
          <p:nvPr/>
        </p:nvSpPr>
        <p:spPr>
          <a:xfrm>
            <a:off x="1280160" y="98755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業務の段取りを、そのままAIに渡す</a:t>
            </a:r>
            <a:endParaRPr b="0" i="0" sz="1500" u="none" cap="none" strike="noStrike">
              <a:solidFill>
                <a:schemeClr val="dk1"/>
              </a:solidFill>
              <a:latin typeface="Calibri"/>
              <a:ea typeface="Calibri"/>
              <a:cs typeface="Calibri"/>
              <a:sym typeface="Calibri"/>
            </a:endParaRPr>
          </a:p>
        </p:txBody>
      </p:sp>
      <p:sp>
        <p:nvSpPr>
          <p:cNvPr id="1239" name="Google Shape;1239;p40"/>
          <p:cNvSpPr txBox="1"/>
          <p:nvPr/>
        </p:nvSpPr>
        <p:spPr>
          <a:xfrm>
            <a:off x="1280160" y="1325880"/>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前提・素材・お手本・制約、そして出力の形</a:t>
            </a:r>
            <a:endParaRPr b="0" i="0" sz="1200" u="none" cap="none" strike="noStrike">
              <a:solidFill>
                <a:schemeClr val="dk1"/>
              </a:solidFill>
              <a:latin typeface="Calibri"/>
              <a:ea typeface="Calibri"/>
              <a:cs typeface="Calibri"/>
              <a:sym typeface="Calibri"/>
            </a:endParaRPr>
          </a:p>
        </p:txBody>
      </p:sp>
      <p:sp>
        <p:nvSpPr>
          <p:cNvPr id="1240" name="Google Shape;1240;p40"/>
          <p:cNvSpPr/>
          <p:nvPr/>
        </p:nvSpPr>
        <p:spPr>
          <a:xfrm>
            <a:off x="502920" y="1856232"/>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1" name="Google Shape;1241;p40"/>
          <p:cNvPicPr preferRelativeResize="0"/>
          <p:nvPr/>
        </p:nvPicPr>
        <p:blipFill rotWithShape="1">
          <a:blip r:embed="rId4">
            <a:alphaModFix/>
          </a:blip>
          <a:srcRect b="0" l="0" r="0" t="0"/>
          <a:stretch/>
        </p:blipFill>
        <p:spPr>
          <a:xfrm>
            <a:off x="627644" y="1980956"/>
            <a:ext cx="317480" cy="317480"/>
          </a:xfrm>
          <a:prstGeom prst="rect">
            <a:avLst/>
          </a:prstGeom>
          <a:noFill/>
          <a:ln>
            <a:noFill/>
          </a:ln>
        </p:spPr>
      </p:pic>
      <p:sp>
        <p:nvSpPr>
          <p:cNvPr id="1242" name="Google Shape;1242;p40"/>
          <p:cNvSpPr txBox="1"/>
          <p:nvPr/>
        </p:nvSpPr>
        <p:spPr>
          <a:xfrm>
            <a:off x="1280160" y="1837944"/>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1回で完璧を目指さず、対話で仕上げる</a:t>
            </a:r>
            <a:endParaRPr b="0" i="0" sz="1500" u="none" cap="none" strike="noStrike">
              <a:solidFill>
                <a:schemeClr val="dk1"/>
              </a:solidFill>
              <a:latin typeface="Calibri"/>
              <a:ea typeface="Calibri"/>
              <a:cs typeface="Calibri"/>
              <a:sym typeface="Calibri"/>
            </a:endParaRPr>
          </a:p>
        </p:txBody>
      </p:sp>
      <p:sp>
        <p:nvSpPr>
          <p:cNvPr id="1243" name="Google Shape;1243;p40"/>
          <p:cNvSpPr txBox="1"/>
          <p:nvPr/>
        </p:nvSpPr>
        <p:spPr>
          <a:xfrm>
            <a:off x="1280160" y="217627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たたき台を3案 → 選んで直す</a:t>
            </a:r>
            <a:endParaRPr b="0" i="0" sz="1200" u="none" cap="none" strike="noStrike">
              <a:solidFill>
                <a:schemeClr val="dk1"/>
              </a:solidFill>
              <a:latin typeface="Calibri"/>
              <a:ea typeface="Calibri"/>
              <a:cs typeface="Calibri"/>
              <a:sym typeface="Calibri"/>
            </a:endParaRPr>
          </a:p>
        </p:txBody>
      </p:sp>
      <p:sp>
        <p:nvSpPr>
          <p:cNvPr id="1244" name="Google Shape;1244;p40"/>
          <p:cNvSpPr/>
          <p:nvPr/>
        </p:nvSpPr>
        <p:spPr>
          <a:xfrm>
            <a:off x="502920" y="2706624"/>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5" name="Google Shape;1245;p40"/>
          <p:cNvPicPr preferRelativeResize="0"/>
          <p:nvPr/>
        </p:nvPicPr>
        <p:blipFill rotWithShape="1">
          <a:blip r:embed="rId5">
            <a:alphaModFix/>
          </a:blip>
          <a:srcRect b="0" l="0" r="0" t="0"/>
          <a:stretch/>
        </p:blipFill>
        <p:spPr>
          <a:xfrm>
            <a:off x="627644" y="2831348"/>
            <a:ext cx="317480" cy="317480"/>
          </a:xfrm>
          <a:prstGeom prst="rect">
            <a:avLst/>
          </a:prstGeom>
          <a:noFill/>
          <a:ln>
            <a:noFill/>
          </a:ln>
        </p:spPr>
      </p:pic>
      <p:sp>
        <p:nvSpPr>
          <p:cNvPr id="1246" name="Google Shape;1246;p40"/>
          <p:cNvSpPr txBox="1"/>
          <p:nvPr/>
        </p:nvSpPr>
        <p:spPr>
          <a:xfrm>
            <a:off x="1280160" y="2688336"/>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最後の確認は人が行う</a:t>
            </a:r>
            <a:endParaRPr b="0" i="0" sz="1500" u="none" cap="none" strike="noStrike">
              <a:solidFill>
                <a:schemeClr val="dk1"/>
              </a:solidFill>
              <a:latin typeface="Calibri"/>
              <a:ea typeface="Calibri"/>
              <a:cs typeface="Calibri"/>
              <a:sym typeface="Calibri"/>
            </a:endParaRPr>
          </a:p>
        </p:txBody>
      </p:sp>
      <p:sp>
        <p:nvSpPr>
          <p:cNvPr id="1247" name="Google Shape;1247;p40"/>
          <p:cNvSpPr txBox="1"/>
          <p:nvPr/>
        </p:nvSpPr>
        <p:spPr>
          <a:xfrm>
            <a:off x="1280160" y="3026664"/>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3つのルール：ファクトチェック・権利への配慮・機密情報</a:t>
            </a:r>
            <a:endParaRPr b="0" i="0" sz="1200" u="none" cap="none" strike="noStrike">
              <a:solidFill>
                <a:schemeClr val="dk1"/>
              </a:solidFill>
              <a:latin typeface="Calibri"/>
              <a:ea typeface="Calibri"/>
              <a:cs typeface="Calibri"/>
              <a:sym typeface="Calibri"/>
            </a:endParaRPr>
          </a:p>
        </p:txBody>
      </p:sp>
      <p:sp>
        <p:nvSpPr>
          <p:cNvPr id="1248" name="Google Shape;1248;p40"/>
          <p:cNvSpPr/>
          <p:nvPr/>
        </p:nvSpPr>
        <p:spPr>
          <a:xfrm>
            <a:off x="502920" y="3557016"/>
            <a:ext cx="566928" cy="566928"/>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9" name="Google Shape;1249;p40"/>
          <p:cNvPicPr preferRelativeResize="0"/>
          <p:nvPr/>
        </p:nvPicPr>
        <p:blipFill rotWithShape="1">
          <a:blip r:embed="rId6">
            <a:alphaModFix/>
          </a:blip>
          <a:srcRect b="0" l="0" r="0" t="0"/>
          <a:stretch/>
        </p:blipFill>
        <p:spPr>
          <a:xfrm>
            <a:off x="627644" y="3681740"/>
            <a:ext cx="317480" cy="317480"/>
          </a:xfrm>
          <a:prstGeom prst="rect">
            <a:avLst/>
          </a:prstGeom>
          <a:noFill/>
          <a:ln>
            <a:noFill/>
          </a:ln>
        </p:spPr>
      </p:pic>
      <p:sp>
        <p:nvSpPr>
          <p:cNvPr id="1250" name="Google Shape;1250;p40"/>
          <p:cNvSpPr txBox="1"/>
          <p:nvPr/>
        </p:nvSpPr>
        <p:spPr>
          <a:xfrm>
            <a:off x="1280160" y="3538728"/>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困ったら「足りない情報を質問してください」</a:t>
            </a:r>
            <a:endParaRPr b="0" i="0" sz="1500" u="none" cap="none" strike="noStrike">
              <a:solidFill>
                <a:schemeClr val="dk1"/>
              </a:solidFill>
              <a:latin typeface="Calibri"/>
              <a:ea typeface="Calibri"/>
              <a:cs typeface="Calibri"/>
              <a:sym typeface="Calibri"/>
            </a:endParaRPr>
          </a:p>
        </p:txBody>
      </p:sp>
      <p:sp>
        <p:nvSpPr>
          <p:cNvPr id="1251" name="Google Shape;1251;p40"/>
          <p:cNvSpPr txBox="1"/>
          <p:nvPr/>
        </p:nvSpPr>
        <p:spPr>
          <a:xfrm>
            <a:off x="1280160" y="3877056"/>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何を渡せばよいかは、AIに聞いてみましょう</a:t>
            </a:r>
            <a:endParaRPr b="0" i="0" sz="1200" u="none" cap="none" strike="noStrike">
              <a:solidFill>
                <a:schemeClr val="dk1"/>
              </a:solidFill>
              <a:latin typeface="Calibri"/>
              <a:ea typeface="Calibri"/>
              <a:cs typeface="Calibri"/>
              <a:sym typeface="Calibri"/>
            </a:endParaRPr>
          </a:p>
        </p:txBody>
      </p:sp>
      <p:sp>
        <p:nvSpPr>
          <p:cNvPr id="1252" name="Google Shape;1252;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7" name="Shape 1257"/>
        <p:cNvGrpSpPr/>
        <p:nvPr/>
      </p:nvGrpSpPr>
      <p:grpSpPr>
        <a:xfrm>
          <a:off x="0" y="0"/>
          <a:ext cx="0" cy="0"/>
          <a:chOff x="0" y="0"/>
          <a:chExt cx="0" cy="0"/>
        </a:xfrm>
      </p:grpSpPr>
      <p:sp>
        <p:nvSpPr>
          <p:cNvPr id="1258" name="Google Shape;1258;h259926ce4e4d5a8f_0_77"/>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次のステップ：AIで「自分たちの道具」をつくる</a:t>
            </a:r>
            <a:endParaRPr b="0" i="0" sz="2200" u="none" cap="none" strike="noStrike">
              <a:solidFill>
                <a:schemeClr val="dk1"/>
              </a:solidFill>
              <a:latin typeface="Calibri"/>
              <a:ea typeface="Calibri"/>
              <a:cs typeface="Calibri"/>
              <a:sym typeface="Calibri"/>
            </a:endParaRPr>
          </a:p>
        </p:txBody>
      </p:sp>
      <p:sp>
        <p:nvSpPr>
          <p:cNvPr id="1259" name="Google Shape;1259;h259926ce4e4d5a8f_0_77"/>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60" name="Google Shape;1260;h259926ce4e4d5a8f_0_77"/>
          <p:cNvSpPr/>
          <p:nvPr/>
        </p:nvSpPr>
        <p:spPr>
          <a:xfrm>
            <a:off x="411475" y="914400"/>
            <a:ext cx="4023300" cy="1403400"/>
          </a:xfrm>
          <a:prstGeom prst="rect">
            <a:avLst/>
          </a:prstGeom>
          <a:solidFill>
            <a:srgbClr val="F6F7F9"/>
          </a:solidFill>
          <a:ln cap="flat" cmpd="sng" w="13000">
            <a:solidFill>
              <a:srgbClr val="F6F7F9"/>
            </a:solidFill>
            <a:prstDash val="solid"/>
            <a:round/>
            <a:headEnd len="sm" w="sm" type="none"/>
            <a:tailEnd len="sm" w="sm" type="none"/>
          </a:ln>
        </p:spPr>
        <p:txBody>
          <a:bodyPr anchorCtr="0" anchor="ctr" bIns="93550" lIns="93550" spcFirstLastPara="1" rIns="93550" wrap="square" tIns="93550">
            <a:noAutofit/>
          </a:bodyPr>
          <a:lstStyle/>
          <a:p>
            <a:pPr indent="0" lvl="0" marL="0" rtl="0" algn="l">
              <a:spcBef>
                <a:spcPts val="0"/>
              </a:spcBef>
              <a:spcAft>
                <a:spcPts val="0"/>
              </a:spcAft>
              <a:buNone/>
            </a:pPr>
            <a:r>
              <a:t/>
            </a:r>
            <a:endParaRPr/>
          </a:p>
        </p:txBody>
      </p:sp>
      <p:sp>
        <p:nvSpPr>
          <p:cNvPr id="1261" name="Google Shape;1261;h259926ce4e4d5a8f_0_77"/>
          <p:cNvSpPr txBox="1"/>
          <p:nvPr/>
        </p:nvSpPr>
        <p:spPr>
          <a:xfrm>
            <a:off x="645399" y="1026684"/>
            <a:ext cx="3555600" cy="28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126"/>
              <a:buFont typeface="Meiryo"/>
              <a:buNone/>
            </a:pPr>
            <a:r>
              <a:rPr b="1" i="0" lang="en-US" sz="1126" u="none" cap="none" strike="noStrike">
                <a:solidFill>
                  <a:srgbClr val="6B7280"/>
                </a:solidFill>
                <a:latin typeface="Meiryo"/>
                <a:ea typeface="Meiryo"/>
                <a:cs typeface="Meiryo"/>
                <a:sym typeface="Meiryo"/>
              </a:rPr>
              <a:t>今日</a:t>
            </a:r>
            <a:endParaRPr b="0" i="0" sz="1126" u="none" cap="none" strike="noStrike">
              <a:solidFill>
                <a:schemeClr val="dk1"/>
              </a:solidFill>
              <a:latin typeface="Calibri"/>
              <a:ea typeface="Calibri"/>
              <a:cs typeface="Calibri"/>
              <a:sym typeface="Calibri"/>
            </a:endParaRPr>
          </a:p>
        </p:txBody>
      </p:sp>
      <p:sp>
        <p:nvSpPr>
          <p:cNvPr id="1262" name="Google Shape;1262;h259926ce4e4d5a8f_0_77"/>
          <p:cNvSpPr txBox="1"/>
          <p:nvPr/>
        </p:nvSpPr>
        <p:spPr>
          <a:xfrm>
            <a:off x="645399" y="1335464"/>
            <a:ext cx="3555600" cy="37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555"/>
              </a:buClr>
              <a:buSzPts val="1535"/>
              <a:buFont typeface="Meiryo"/>
              <a:buNone/>
            </a:pPr>
            <a:r>
              <a:rPr b="1" i="0" lang="en-US" sz="1535" u="none" cap="none" strike="noStrike">
                <a:solidFill>
                  <a:srgbClr val="555555"/>
                </a:solidFill>
                <a:latin typeface="Meiryo"/>
                <a:ea typeface="Meiryo"/>
                <a:cs typeface="Meiryo"/>
                <a:sym typeface="Meiryo"/>
              </a:rPr>
              <a:t>AIに手伝ってもらう</a:t>
            </a:r>
            <a:endParaRPr b="0" i="0" sz="1535" u="none" cap="none" strike="noStrike">
              <a:solidFill>
                <a:schemeClr val="dk1"/>
              </a:solidFill>
              <a:latin typeface="Calibri"/>
              <a:ea typeface="Calibri"/>
              <a:cs typeface="Calibri"/>
              <a:sym typeface="Calibri"/>
            </a:endParaRPr>
          </a:p>
        </p:txBody>
      </p:sp>
      <p:sp>
        <p:nvSpPr>
          <p:cNvPr id="1263" name="Google Shape;1263;h259926ce4e4d5a8f_0_77"/>
          <p:cNvSpPr txBox="1"/>
          <p:nvPr/>
        </p:nvSpPr>
        <p:spPr>
          <a:xfrm>
            <a:off x="645399" y="1756527"/>
            <a:ext cx="3555600" cy="46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26"/>
              <a:buFont typeface="Meiryo"/>
              <a:buNone/>
            </a:pPr>
            <a:r>
              <a:rPr b="0" i="0" lang="en-US" sz="1126" u="none" cap="none" strike="noStrike">
                <a:solidFill>
                  <a:srgbClr val="444444"/>
                </a:solidFill>
                <a:latin typeface="Meiryo"/>
                <a:ea typeface="Meiryo"/>
                <a:cs typeface="Meiryo"/>
                <a:sym typeface="Meiryo"/>
              </a:rPr>
              <a:t>文章・プロンプト・販促物を、</a:t>
            </a:r>
            <a:br>
              <a:rPr b="0" i="0" lang="en-US" sz="1126" u="none" cap="none" strike="noStrike">
                <a:solidFill>
                  <a:srgbClr val="444444"/>
                </a:solidFill>
                <a:latin typeface="Meiryo"/>
                <a:ea typeface="Meiryo"/>
                <a:cs typeface="Meiryo"/>
                <a:sym typeface="Meiryo"/>
              </a:rPr>
            </a:br>
            <a:r>
              <a:rPr b="0" i="0" lang="en-US" sz="1126" u="none" cap="none" strike="noStrike">
                <a:solidFill>
                  <a:srgbClr val="444444"/>
                </a:solidFill>
                <a:latin typeface="Meiryo"/>
                <a:ea typeface="Meiryo"/>
                <a:cs typeface="Meiryo"/>
                <a:sym typeface="Meiryo"/>
              </a:rPr>
              <a:t>AIと対話しながらつくりました</a:t>
            </a:r>
            <a:endParaRPr b="0" i="0" sz="1126" u="none" cap="none" strike="noStrike">
              <a:solidFill>
                <a:schemeClr val="dk1"/>
              </a:solidFill>
              <a:latin typeface="Calibri"/>
              <a:ea typeface="Calibri"/>
              <a:cs typeface="Calibri"/>
              <a:sym typeface="Calibri"/>
            </a:endParaRPr>
          </a:p>
        </p:txBody>
      </p:sp>
      <p:sp>
        <p:nvSpPr>
          <p:cNvPr id="1264" name="Google Shape;1264;h259926ce4e4d5a8f_0_77"/>
          <p:cNvSpPr/>
          <p:nvPr/>
        </p:nvSpPr>
        <p:spPr>
          <a:xfrm>
            <a:off x="4434840" y="1463040"/>
            <a:ext cx="320100" cy="36570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h259926ce4e4d5a8f_0_77"/>
          <p:cNvSpPr/>
          <p:nvPr/>
        </p:nvSpPr>
        <p:spPr>
          <a:xfrm>
            <a:off x="4846320" y="914400"/>
            <a:ext cx="3886200" cy="137160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h259926ce4e4d5a8f_0_77"/>
          <p:cNvSpPr txBox="1"/>
          <p:nvPr/>
        </p:nvSpPr>
        <p:spPr>
          <a:xfrm>
            <a:off x="5074920" y="1024128"/>
            <a:ext cx="3474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次回のご提案</a:t>
            </a:r>
            <a:endParaRPr b="0" i="0" sz="1100" u="none" cap="none" strike="noStrike">
              <a:solidFill>
                <a:schemeClr val="dk1"/>
              </a:solidFill>
              <a:latin typeface="Calibri"/>
              <a:ea typeface="Calibri"/>
              <a:cs typeface="Calibri"/>
              <a:sym typeface="Calibri"/>
            </a:endParaRPr>
          </a:p>
        </p:txBody>
      </p:sp>
      <p:sp>
        <p:nvSpPr>
          <p:cNvPr id="1267" name="Google Shape;1267;h259926ce4e4d5a8f_0_77"/>
          <p:cNvSpPr txBox="1"/>
          <p:nvPr/>
        </p:nvSpPr>
        <p:spPr>
          <a:xfrm>
            <a:off x="5074920" y="1325880"/>
            <a:ext cx="34746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500"/>
              <a:buFont typeface="Meiryo"/>
              <a:buNone/>
            </a:pPr>
            <a:r>
              <a:rPr b="1" i="0" lang="en-US" sz="1500" u="none" cap="none" strike="noStrike">
                <a:solidFill>
                  <a:srgbClr val="1F3A5F"/>
                </a:solidFill>
                <a:latin typeface="Meiryo"/>
                <a:ea typeface="Meiryo"/>
                <a:cs typeface="Meiryo"/>
                <a:sym typeface="Meiryo"/>
              </a:rPr>
              <a:t>AIで、自分たちの道具をつくる</a:t>
            </a:r>
            <a:endParaRPr b="0" i="0" sz="1500" u="none" cap="none" strike="noStrike">
              <a:solidFill>
                <a:schemeClr val="dk1"/>
              </a:solidFill>
              <a:latin typeface="Calibri"/>
              <a:ea typeface="Calibri"/>
              <a:cs typeface="Calibri"/>
              <a:sym typeface="Calibri"/>
            </a:endParaRPr>
          </a:p>
        </p:txBody>
      </p:sp>
      <p:sp>
        <p:nvSpPr>
          <p:cNvPr id="1268" name="Google Shape;1268;h259926ce4e4d5a8f_0_77"/>
          <p:cNvSpPr txBox="1"/>
          <p:nvPr/>
        </p:nvSpPr>
        <p:spPr>
          <a:xfrm>
            <a:off x="5074920" y="1737360"/>
            <a:ext cx="3474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100"/>
              <a:buFont typeface="Meiryo"/>
              <a:buNone/>
            </a:pPr>
            <a:r>
              <a:rPr b="0" i="0" lang="en-US" sz="1100" u="none" cap="none" strike="noStrike">
                <a:solidFill>
                  <a:srgbClr val="333333"/>
                </a:solidFill>
                <a:latin typeface="Meiryo"/>
                <a:ea typeface="Meiryo"/>
                <a:cs typeface="Meiryo"/>
                <a:sym typeface="Meiryo"/>
              </a:rPr>
              <a:t>自社の業務に合わせたアプリを、</a:t>
            </a:r>
            <a:br>
              <a:rPr b="0" i="0" lang="en-US" sz="1100" u="none" cap="none" strike="noStrike">
                <a:solidFill>
                  <a:srgbClr val="333333"/>
                </a:solidFill>
                <a:latin typeface="Meiryo"/>
                <a:ea typeface="Meiryo"/>
                <a:cs typeface="Meiryo"/>
                <a:sym typeface="Meiryo"/>
              </a:rPr>
            </a:br>
            <a:r>
              <a:rPr b="0" i="0" lang="en-US" sz="1100" u="none" cap="none" strike="noStrike">
                <a:solidFill>
                  <a:srgbClr val="333333"/>
                </a:solidFill>
                <a:latin typeface="Meiryo"/>
                <a:ea typeface="Meiryo"/>
                <a:cs typeface="Meiryo"/>
                <a:sym typeface="Meiryo"/>
              </a:rPr>
              <a:t>自分たちの手でつくります</a:t>
            </a:r>
            <a:endParaRPr b="0" i="0" sz="1100" u="none" cap="none" strike="noStrike">
              <a:solidFill>
                <a:schemeClr val="dk1"/>
              </a:solidFill>
              <a:latin typeface="Calibri"/>
              <a:ea typeface="Calibri"/>
              <a:cs typeface="Calibri"/>
              <a:sym typeface="Calibri"/>
            </a:endParaRPr>
          </a:p>
        </p:txBody>
      </p:sp>
      <p:sp>
        <p:nvSpPr>
          <p:cNvPr id="1269" name="Google Shape;1269;h259926ce4e4d5a8f_0_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270" name="Google Shape;1270;h259926ce4e4d5a8f_0_77"/>
          <p:cNvPicPr preferRelativeResize="0"/>
          <p:nvPr/>
        </p:nvPicPr>
        <p:blipFill>
          <a:blip r:embed="rId3">
            <a:alphaModFix/>
          </a:blip>
          <a:stretch>
            <a:fillRect/>
          </a:stretch>
        </p:blipFill>
        <p:spPr>
          <a:xfrm>
            <a:off x="4622400" y="2697363"/>
            <a:ext cx="4110174" cy="1737600"/>
          </a:xfrm>
          <a:prstGeom prst="rect">
            <a:avLst/>
          </a:prstGeom>
          <a:noFill/>
          <a:ln cap="flat" cmpd="sng" w="19050">
            <a:solidFill>
              <a:srgbClr val="1F3A5F"/>
            </a:solidFill>
            <a:prstDash val="solid"/>
            <a:round/>
            <a:headEnd len="sm" w="sm" type="none"/>
            <a:tailEnd len="sm" w="sm" type="none"/>
          </a:ln>
        </p:spPr>
      </p:pic>
      <p:sp>
        <p:nvSpPr>
          <p:cNvPr id="1271" name="Google Shape;1271;h259926ce4e4d5a8f_0_77"/>
          <p:cNvSpPr/>
          <p:nvPr/>
        </p:nvSpPr>
        <p:spPr>
          <a:xfrm>
            <a:off x="4114665" y="3122115"/>
            <a:ext cx="320100" cy="36570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2" name="Google Shape;1272;h259926ce4e4d5a8f_0_77"/>
          <p:cNvPicPr preferRelativeResize="0"/>
          <p:nvPr/>
        </p:nvPicPr>
        <p:blipFill>
          <a:blip r:embed="rId4">
            <a:alphaModFix/>
          </a:blip>
          <a:stretch>
            <a:fillRect/>
          </a:stretch>
        </p:blipFill>
        <p:spPr>
          <a:xfrm>
            <a:off x="781625" y="2423413"/>
            <a:ext cx="3089714" cy="2223720"/>
          </a:xfrm>
          <a:prstGeom prst="rect">
            <a:avLst/>
          </a:prstGeom>
          <a:noFill/>
          <a:ln cap="flat" cmpd="sng" w="19050">
            <a:solidFill>
              <a:schemeClr val="dk2"/>
            </a:solidFill>
            <a:prstDash val="solid"/>
            <a:round/>
            <a:headEnd len="sm" w="sm" type="none"/>
            <a:tailEnd len="sm" w="sm" type="none"/>
          </a:ln>
        </p:spPr>
      </p:pic>
      <p:sp>
        <p:nvSpPr>
          <p:cNvPr id="1273" name="Caption 1273"/>
          <p:cNvSpPr txBox="1"/>
          <p:nvPr/>
        </p:nvSpPr>
        <p:spPr>
          <a:xfrm>
            <a:off x="4626864" y="4462272"/>
            <a:ext cx="410565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ja-JP" sz="900" b="0">
                <a:solidFill>
                  <a:srgbClr val="6B7280"/>
                </a:solidFill>
                <a:latin typeface="Meiryo"/>
                <a:ea typeface="Meiryo"/>
                <a:cs typeface="Meiryo"/>
                <a:sym typeface="Meiryo"/>
              </a:rPr>
              <a:t>例：買取POPをまとめて作るアプリ</a:t>
            </a:r>
            <a:endParaRPr lang="ja-JP" sz="900" b="0">
              <a:solidFill>
                <a:srgbClr val="6B7280"/>
              </a:solidFill>
              <a:latin typeface="Meiryo"/>
              <a:ea typeface="Meiryo"/>
              <a:cs typeface="Meiryo"/>
              <a:sym typeface="Meiry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7" name="Shape 1257"/>
        <p:cNvGrpSpPr/>
        <p:nvPr/>
      </p:nvGrpSpPr>
      <p:grpSpPr>
        <a:xfrm>
          <a:off x="0" y="0"/>
          <a:ext cx="0" cy="0"/>
          <a:chOff x="0" y="0"/>
          <a:chExt cx="0" cy="0"/>
        </a:xfrm>
      </p:grpSpPr>
      <p:sp>
        <p:nvSpPr>
          <p:cNvPr id="1258" name="Google Shape;1258;h259926ce4e4d5a8f_0_77"/>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業務をいちばん知っているのは、現場の皆さんです</a:t>
            </a:r>
            <a:endParaRPr b="0" i="0" sz="2200" u="none" cap="none" strike="noStrike">
              <a:solidFill>
                <a:schemeClr val="dk1"/>
              </a:solidFill>
              <a:latin typeface="Calibri"/>
              <a:ea typeface="Calibri"/>
              <a:cs typeface="Calibri"/>
              <a:sym typeface="Calibri"/>
            </a:endParaRPr>
          </a:p>
        </p:txBody>
      </p:sp>
      <p:sp>
        <p:nvSpPr>
          <p:cNvPr id="1259" name="Google Shape;1259;h259926ce4e4d5a8f_0_77"/>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60" name="Google Shape;1260;h259926ce4e4d5a8f_0_77"/>
          <p:cNvSpPr/>
          <p:nvPr/>
        </p:nvSpPr>
        <p:spPr>
          <a:xfrm>
            <a:off x="411480" y="914400"/>
            <a:ext cx="3886200" cy="2606040"/>
          </a:xfrm>
          <a:prstGeom prst="rect">
            <a:avLst/>
          </a:prstGeom>
          <a:solidFill>
            <a:srgbClr val="F6F7F9"/>
          </a:solidFill>
          <a:ln cap="flat" cmpd="sng" w="13000">
            <a:solidFill>
              <a:srgbClr val="F6F7F9"/>
            </a:solidFill>
            <a:prstDash val="solid"/>
            <a:round/>
            <a:headEnd len="sm" w="sm" type="none"/>
            <a:tailEnd len="sm" w="sm" type="none"/>
          </a:ln>
        </p:spPr>
        <p:txBody>
          <a:bodyPr anchorCtr="0" anchor="ctr" bIns="93550" lIns="93550" spcFirstLastPara="1" rIns="93550" wrap="square" tIns="93550">
            <a:noAutofit/>
          </a:bodyPr>
          <a:lstStyle/>
          <a:p>
            <a:pPr indent="0" lvl="0" marL="0" rtl="0" algn="l">
              <a:spcBef>
                <a:spcPts val="0"/>
              </a:spcBef>
              <a:spcAft>
                <a:spcPts val="0"/>
              </a:spcAft>
              <a:buNone/>
            </a:pPr>
            <a:r>
              <a:t/>
            </a:r>
            <a:endParaRPr/>
          </a:p>
        </p:txBody>
      </p:sp>
      <p:sp>
        <p:nvSpPr>
          <p:cNvPr id="1261" name="Google Shape;1261;h259926ce4e4d5a8f_0_77"/>
          <p:cNvSpPr txBox="1"/>
          <p:nvPr/>
        </p:nvSpPr>
        <p:spPr>
          <a:xfrm>
            <a:off x="640080" y="1051560"/>
            <a:ext cx="3474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126"/>
              <a:buFont typeface="Meiryo"/>
              <a:buNone/>
            </a:pPr>
            <a:r>
              <a:rPr b="1" i="0" lang="en-US" sz="1126" u="none" cap="none" strike="noStrike">
                <a:solidFill>
                  <a:srgbClr val="6B7280"/>
                </a:solidFill>
                <a:latin typeface="Meiryo"/>
                <a:ea typeface="Meiryo"/>
                <a:cs typeface="Meiryo"/>
                <a:sym typeface="Meiryo"/>
              </a:rPr>
              <a:t>これまで</a:t>
            </a:r>
            <a:endParaRPr b="0" i="0" sz="1126" u="none" cap="none" strike="noStrike">
              <a:solidFill>
                <a:schemeClr val="dk1"/>
              </a:solidFill>
              <a:latin typeface="Calibri"/>
              <a:ea typeface="Calibri"/>
              <a:cs typeface="Calibri"/>
              <a:sym typeface="Calibri"/>
            </a:endParaRPr>
          </a:p>
        </p:txBody>
      </p:sp>
      <p:sp>
        <p:nvSpPr>
          <p:cNvPr id="1262" name="Google Shape;1262;h259926ce4e4d5a8f_0_77"/>
          <p:cNvSpPr txBox="1"/>
          <p:nvPr/>
        </p:nvSpPr>
        <p:spPr>
          <a:xfrm>
            <a:off x="640080" y="1371600"/>
            <a:ext cx="3474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555"/>
              </a:buClr>
              <a:buSzPts val="1535"/>
              <a:buFont typeface="Meiryo"/>
              <a:buNone/>
            </a:pPr>
            <a:r>
              <a:rPr b="1" i="0" lang="en-US" sz="1535" u="none" cap="none" strike="noStrike">
                <a:solidFill>
                  <a:srgbClr val="555555"/>
                </a:solidFill>
                <a:latin typeface="Meiryo"/>
                <a:ea typeface="Meiryo"/>
                <a:cs typeface="Meiryo"/>
                <a:sym typeface="Meiryo"/>
              </a:rPr>
              <a:t>外部に依頼してつくる</a:t>
            </a:r>
            <a:endParaRPr b="0" i="0" sz="1535" u="none" cap="none" strike="noStrike">
              <a:solidFill>
                <a:schemeClr val="dk1"/>
              </a:solidFill>
              <a:latin typeface="Calibri"/>
              <a:ea typeface="Calibri"/>
              <a:cs typeface="Calibri"/>
              <a:sym typeface="Calibri"/>
            </a:endParaRPr>
          </a:p>
        </p:txBody>
      </p:sp>
      <p:sp>
        <p:nvSpPr>
          <p:cNvPr id="1263" name="Google Shape;1263;h259926ce4e4d5a8f_0_77"/>
          <p:cNvSpPr txBox="1"/>
          <p:nvPr/>
        </p:nvSpPr>
        <p:spPr>
          <a:xfrm>
            <a:off x="640080" y="1874520"/>
            <a:ext cx="3474720" cy="150876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4444"/>
              </a:buClr>
              <a:buSzPts val="1126"/>
              <a:buFont typeface="Meiryo"/>
              <a:buNone/>
            </a:pPr>
            <a:r>
              <a:rPr b="0" i="0" lang="en-US" sz="1200" u="none" cap="none" strike="noStrike">
                <a:solidFill>
                  <a:srgbClr val="444444"/>
                </a:solidFill>
                <a:latin typeface="Meiryo"/>
                <a:ea typeface="Meiryo"/>
                <a:cs typeface="Meiryo"/>
                <a:sym typeface="Meiryo"/>
              </a:rPr>
              <a:t>・要望を資料にまとめて伝える</a:t>
            </a:r>
            <a:br>
              <a:rPr b="0" i="0" lang="en-US" sz="1200" u="none" cap="none" strike="noStrike">
                <a:solidFill>
                  <a:srgbClr val="444444"/>
                </a:solidFill>
                <a:latin typeface="Meiryo"/>
                <a:ea typeface="Meiryo"/>
                <a:cs typeface="Meiryo"/>
                <a:sym typeface="Meiryo"/>
              </a:rPr>
            </a:br>
            <a:r>
              <a:rPr b="0" i="0" lang="en-US" sz="1200" u="none" cap="none" strike="noStrike">
                <a:solidFill>
                  <a:srgbClr val="444444"/>
                </a:solidFill>
                <a:latin typeface="Meiryo"/>
                <a:ea typeface="Meiryo"/>
                <a:cs typeface="Meiryo"/>
                <a:sym typeface="Meiryo"/>
              </a:rPr>
              <a:t>・完成まで数か月かかることも</a:t>
            </a:r>
            <a:br>
              <a:rPr b="0" i="0" lang="en-US" sz="1200" u="none" cap="none" strike="noStrike">
                <a:solidFill>
                  <a:srgbClr val="444444"/>
                </a:solidFill>
                <a:latin typeface="Meiryo"/>
                <a:ea typeface="Meiryo"/>
                <a:cs typeface="Meiryo"/>
                <a:sym typeface="Meiryo"/>
              </a:rPr>
            </a:br>
            <a:r>
              <a:rPr b="0" i="0" lang="en-US" sz="1200" u="none" cap="none" strike="noStrike">
                <a:solidFill>
                  <a:srgbClr val="444444"/>
                </a:solidFill>
                <a:latin typeface="Meiryo"/>
                <a:ea typeface="Meiryo"/>
                <a:cs typeface="Meiryo"/>
                <a:sym typeface="Meiryo"/>
              </a:rPr>
              <a:t>・小さな修正にも、時間と費用がかかりがち</a:t>
            </a:r>
            <a:endParaRPr b="0" i="0" sz="1200" u="none" cap="none" strike="noStrike">
              <a:solidFill>
                <a:schemeClr val="dk1"/>
              </a:solidFill>
              <a:latin typeface="Calibri"/>
              <a:ea typeface="Calibri"/>
              <a:cs typeface="Calibri"/>
              <a:sym typeface="Calibri"/>
            </a:endParaRPr>
          </a:p>
        </p:txBody>
      </p:sp>
      <p:sp>
        <p:nvSpPr>
          <p:cNvPr id="1264" name="Google Shape;1264;h259926ce4e4d5a8f_0_77"/>
          <p:cNvSpPr/>
          <p:nvPr/>
        </p:nvSpPr>
        <p:spPr>
          <a:xfrm>
            <a:off x="4370832" y="2029968"/>
            <a:ext cx="365760" cy="411480"/>
          </a:xfrm>
          <a:prstGeom prst="rightArrow">
            <a:avLst>
              <a:gd fmla="val 50000" name="adj1"/>
              <a:gd fmla="val 50000" name="adj2"/>
            </a:avLst>
          </a:prstGeom>
          <a:solidFill>
            <a:srgbClr val="C9D3E0"/>
          </a:solidFill>
          <a:ln cap="flat" cmpd="sng" w="12700">
            <a:solidFill>
              <a:srgbClr val="C9D3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h259926ce4e4d5a8f_0_77"/>
          <p:cNvSpPr/>
          <p:nvPr/>
        </p:nvSpPr>
        <p:spPr>
          <a:xfrm>
            <a:off x="4800600" y="914400"/>
            <a:ext cx="3931920" cy="2606040"/>
          </a:xfrm>
          <a:prstGeom prst="rect">
            <a:avLst/>
          </a:prstGeom>
          <a:solidFill>
            <a:srgbClr val="FDEBDD"/>
          </a:solidFill>
          <a:ln cap="flat" cmpd="sng" w="12700">
            <a:solidFill>
              <a:srgbClr val="FD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h259926ce4e4d5a8f_0_77"/>
          <p:cNvSpPr txBox="1"/>
          <p:nvPr/>
        </p:nvSpPr>
        <p:spPr>
          <a:xfrm>
            <a:off x="5029200" y="1051560"/>
            <a:ext cx="35204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702A"/>
              </a:buClr>
              <a:buSzPts val="1100"/>
              <a:buFont typeface="Meiryo"/>
              <a:buNone/>
            </a:pPr>
            <a:r>
              <a:rPr b="1" i="0" lang="en-US" sz="1100" u="none" cap="none" strike="noStrike">
                <a:solidFill>
                  <a:srgbClr val="E8702A"/>
                </a:solidFill>
                <a:latin typeface="Meiryo"/>
                <a:ea typeface="Meiryo"/>
                <a:cs typeface="Meiryo"/>
                <a:sym typeface="Meiryo"/>
              </a:rPr>
              <a:t>これから</a:t>
            </a:r>
            <a:endParaRPr b="0" i="0" sz="1100" u="none" cap="none" strike="noStrike">
              <a:solidFill>
                <a:schemeClr val="dk1"/>
              </a:solidFill>
              <a:latin typeface="Calibri"/>
              <a:ea typeface="Calibri"/>
              <a:cs typeface="Calibri"/>
              <a:sym typeface="Calibri"/>
            </a:endParaRPr>
          </a:p>
        </p:txBody>
      </p:sp>
      <p:sp>
        <p:nvSpPr>
          <p:cNvPr id="1267" name="Google Shape;1267;h259926ce4e4d5a8f_0_77"/>
          <p:cNvSpPr txBox="1"/>
          <p:nvPr/>
        </p:nvSpPr>
        <p:spPr>
          <a:xfrm>
            <a:off x="5029200" y="1371600"/>
            <a:ext cx="3520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A5F"/>
              </a:buClr>
              <a:buSzPts val="1500"/>
              <a:buFont typeface="Meiryo"/>
              <a:buNone/>
            </a:pPr>
            <a:r>
              <a:rPr b="1" i="0" lang="en-US" sz="1500" u="none" cap="none" strike="noStrike">
                <a:solidFill>
                  <a:srgbClr val="1F3A5F"/>
                </a:solidFill>
                <a:latin typeface="Meiryo"/>
                <a:ea typeface="Meiryo"/>
                <a:cs typeface="Meiryo"/>
                <a:sym typeface="Meiryo"/>
              </a:rPr>
              <a:t>現場の人が、AIと一緒につくる</a:t>
            </a:r>
            <a:endParaRPr b="0" i="0" sz="1500" u="none" cap="none" strike="noStrike">
              <a:solidFill>
                <a:schemeClr val="dk1"/>
              </a:solidFill>
              <a:latin typeface="Calibri"/>
              <a:ea typeface="Calibri"/>
              <a:cs typeface="Calibri"/>
              <a:sym typeface="Calibri"/>
            </a:endParaRPr>
          </a:p>
        </p:txBody>
      </p:sp>
      <p:sp>
        <p:nvSpPr>
          <p:cNvPr id="1268" name="Google Shape;1268;h259926ce4e4d5a8f_0_77"/>
          <p:cNvSpPr txBox="1"/>
          <p:nvPr/>
        </p:nvSpPr>
        <p:spPr>
          <a:xfrm>
            <a:off x="5029200" y="1874520"/>
            <a:ext cx="3520440" cy="150876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33333"/>
              </a:buClr>
              <a:buSzPts val="1100"/>
              <a:buFont typeface="Meiryo"/>
              <a:buNone/>
            </a:pPr>
            <a:r>
              <a:rPr b="0" i="0" lang="en-US" sz="1200" u="none" cap="none" strike="noStrike">
                <a:solidFill>
                  <a:srgbClr val="333333"/>
                </a:solidFill>
                <a:latin typeface="Meiryo"/>
                <a:ea typeface="Meiryo"/>
                <a:cs typeface="Meiryo"/>
                <a:sym typeface="Meiryo"/>
              </a:rPr>
              <a:t>・AIに話しかけながら、画面や機能を形にできる</a:t>
            </a:r>
            <a:br>
              <a:rPr b="0" i="0" lang="en-US" sz="1200" u="none" cap="none" strike="noStrike">
                <a:solidFill>
                  <a:srgbClr val="333333"/>
                </a:solidFill>
                <a:latin typeface="Meiryo"/>
                <a:ea typeface="Meiryo"/>
                <a:cs typeface="Meiryo"/>
                <a:sym typeface="Meiryo"/>
              </a:rPr>
            </a:br>
            <a:r>
              <a:rPr b="0" i="0" lang="en-US" sz="1200" u="none" cap="none" strike="noStrike">
                <a:solidFill>
                  <a:srgbClr val="333333"/>
                </a:solidFill>
                <a:latin typeface="Meiryo"/>
                <a:ea typeface="Meiryo"/>
                <a:cs typeface="Meiryo"/>
                <a:sym typeface="Meiryo"/>
              </a:rPr>
              <a:t>・その場で試して、使いながら直せる</a:t>
            </a:r>
            <a:br>
              <a:rPr b="0" i="0" lang="en-US" sz="1200" u="none" cap="none" strike="noStrike">
                <a:solidFill>
                  <a:srgbClr val="333333"/>
                </a:solidFill>
                <a:latin typeface="Meiryo"/>
                <a:ea typeface="Meiryo"/>
                <a:cs typeface="Meiryo"/>
                <a:sym typeface="Meiryo"/>
              </a:rPr>
            </a:br>
            <a:r>
              <a:rPr b="0" i="0" lang="en-US" sz="1200" u="none" cap="none" strike="noStrike">
                <a:solidFill>
                  <a:srgbClr val="333333"/>
                </a:solidFill>
                <a:latin typeface="Meiryo"/>
                <a:ea typeface="Meiryo"/>
                <a:cs typeface="Meiryo"/>
                <a:sym typeface="Meiryo"/>
              </a:rPr>
              <a:t>・業務を知っているから、本当に使える道具になる</a:t>
            </a:r>
            <a:endParaRPr b="0" i="0" sz="1200" u="none" cap="none" strike="noStrike">
              <a:solidFill>
                <a:schemeClr val="dk1"/>
              </a:solidFill>
              <a:latin typeface="Calibri"/>
              <a:ea typeface="Calibri"/>
              <a:cs typeface="Calibri"/>
              <a:sym typeface="Calibri"/>
            </a:endParaRPr>
          </a:p>
        </p:txBody>
      </p:sp>
      <p:sp>
        <p:nvSpPr>
          <p:cNvPr id="1269" name="Google Shape;1269;h259926ce4e4d5a8f_0_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70" name="Band 1270"/>
          <p:cNvSpPr/>
          <p:nvPr/>
        </p:nvSpPr>
        <p:spPr>
          <a:xfrm>
            <a:off x="411480" y="3703320"/>
            <a:ext cx="8321040" cy="777240"/>
          </a:xfrm>
          <a:prstGeom prst="rect">
            <a:avLst/>
          </a:prstGeom>
          <a:solidFill>
            <a:srgbClr val="1F3A5F"/>
          </a:solidFill>
          <a:ln>
            <a:noFill/>
          </a:ln>
        </p:spPr>
      </p:sp>
      <p:sp>
        <p:nvSpPr>
          <p:cNvPr id="1271" name="Band Text 1271"/>
          <p:cNvSpPr txBox="1"/>
          <p:nvPr/>
        </p:nvSpPr>
        <p:spPr>
          <a:xfrm>
            <a:off x="594360" y="3703320"/>
            <a:ext cx="795528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lang="ja-JP" sz="1500" b="1">
                <a:solidFill>
                  <a:srgbClr val="FFFFFF"/>
                </a:solidFill>
                <a:latin typeface="Meiryo"/>
                <a:ea typeface="Meiryo"/>
                <a:cs typeface="Meiryo"/>
                <a:sym typeface="Meiryo"/>
              </a:rPr>
              <a:t>プログラミングの経験がなくても、業務の知識があれば、</a:t>
            </a:r>
            <a:br>
              <a:rPr lang="ja-JP" sz="1500" b="1">
                <a:solidFill>
                  <a:srgbClr val="FFFFFF"/>
                </a:solidFill>
                <a:latin typeface="Meiryo"/>
                <a:ea typeface="Meiryo"/>
                <a:cs typeface="Meiryo"/>
                <a:sym typeface="Meiryo"/>
              </a:rPr>
            </a:br>
            <a:r>
              <a:rPr lang="ja-JP" sz="1500" b="1">
                <a:solidFill>
                  <a:srgbClr val="FFFFFF"/>
                </a:solidFill>
                <a:latin typeface="Meiryo"/>
                <a:ea typeface="Meiryo"/>
                <a:cs typeface="Meiryo"/>
                <a:sym typeface="Meiryo"/>
              </a:rPr>
              <a:t>自分たちに合ったアプリを短時間で形にできます</a:t>
            </a:r>
            <a:endParaRPr lang="ja-JP" sz="1500" b="1">
              <a:solidFill>
                <a:srgbClr val="FFFFFF"/>
              </a:solidFill>
              <a:latin typeface="Meiryo"/>
              <a:ea typeface="Meiryo"/>
              <a:cs typeface="Meiryo"/>
              <a:sym typeface="Meiry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7" name="Shape 1277"/>
        <p:cNvGrpSpPr/>
        <p:nvPr/>
      </p:nvGrpSpPr>
      <p:grpSpPr>
        <a:xfrm>
          <a:off x="0" y="0"/>
          <a:ext cx="0" cy="0"/>
          <a:chOff x="0" y="0"/>
          <a:chExt cx="0" cy="0"/>
        </a:xfrm>
      </p:grpSpPr>
      <p:sp>
        <p:nvSpPr>
          <p:cNvPr id="1278" name="Google Shape;1278;h259926ce4e4d5a8f_0_209"/>
          <p:cNvSpPr txBox="1"/>
          <p:nvPr/>
        </p:nvSpPr>
        <p:spPr>
          <a:xfrm>
            <a:off x="411480" y="274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たとえば、こんな道具がつくれます</a:t>
            </a:r>
            <a:endParaRPr b="0" i="0" sz="2200" u="none" cap="none" strike="noStrike">
              <a:solidFill>
                <a:schemeClr val="dk1"/>
              </a:solidFill>
              <a:latin typeface="Calibri"/>
              <a:ea typeface="Calibri"/>
              <a:cs typeface="Calibri"/>
              <a:sym typeface="Calibri"/>
            </a:endParaRPr>
          </a:p>
        </p:txBody>
      </p:sp>
      <p:sp>
        <p:nvSpPr>
          <p:cNvPr id="1279" name="Google Shape;1279;h259926ce4e4d5a8f_0_209"/>
          <p:cNvSpPr txBox="1"/>
          <p:nvPr/>
        </p:nvSpPr>
        <p:spPr>
          <a:xfrm>
            <a:off x="320040" y="4846320"/>
            <a:ext cx="5486400" cy="18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1280" name="Google Shape;1280;h259926ce4e4d5a8f_0_209"/>
          <p:cNvSpPr/>
          <p:nvPr/>
        </p:nvSpPr>
        <p:spPr>
          <a:xfrm>
            <a:off x="434313" y="1383125"/>
            <a:ext cx="2606100" cy="18210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h259926ce4e4d5a8f_0_209"/>
          <p:cNvSpPr/>
          <p:nvPr/>
        </p:nvSpPr>
        <p:spPr>
          <a:xfrm>
            <a:off x="617198" y="1538573"/>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2" name="Google Shape;1282;h259926ce4e4d5a8f_0_209"/>
          <p:cNvPicPr preferRelativeResize="0"/>
          <p:nvPr/>
        </p:nvPicPr>
        <p:blipFill rotWithShape="1">
          <a:blip r:embed="rId3">
            <a:alphaModFix/>
          </a:blip>
          <a:srcRect b="0" l="0" r="0" t="0"/>
          <a:stretch/>
        </p:blipFill>
        <p:spPr>
          <a:xfrm>
            <a:off x="727840" y="1649215"/>
            <a:ext cx="281635" cy="281635"/>
          </a:xfrm>
          <a:prstGeom prst="rect">
            <a:avLst/>
          </a:prstGeom>
          <a:noFill/>
          <a:ln>
            <a:noFill/>
          </a:ln>
        </p:spPr>
      </p:pic>
      <p:sp>
        <p:nvSpPr>
          <p:cNvPr id="1283" name="Google Shape;1283;h259926ce4e4d5a8f_0_209"/>
          <p:cNvSpPr txBox="1"/>
          <p:nvPr/>
        </p:nvSpPr>
        <p:spPr>
          <a:xfrm>
            <a:off x="617147" y="2207858"/>
            <a:ext cx="22404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作業を減らす小さなアプリ</a:t>
            </a:r>
            <a:endParaRPr b="0" i="0" sz="1250" u="none" cap="none" strike="noStrike">
              <a:solidFill>
                <a:schemeClr val="dk1"/>
              </a:solidFill>
              <a:latin typeface="Calibri"/>
              <a:ea typeface="Calibri"/>
              <a:cs typeface="Calibri"/>
              <a:sym typeface="Calibri"/>
            </a:endParaRPr>
          </a:p>
        </p:txBody>
      </p:sp>
      <p:sp>
        <p:nvSpPr>
          <p:cNvPr id="1284" name="Google Shape;1284;h259926ce4e4d5a8f_0_209"/>
          <p:cNvSpPr txBox="1"/>
          <p:nvPr/>
        </p:nvSpPr>
        <p:spPr>
          <a:xfrm>
            <a:off x="617147" y="2694460"/>
            <a:ext cx="2240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00"/>
              <a:buFont typeface="Meiryo"/>
              <a:buNone/>
            </a:pPr>
            <a:r>
              <a:rPr b="0" i="0" lang="en-US" sz="1000" u="none" cap="none" strike="noStrike">
                <a:solidFill>
                  <a:srgbClr val="444444"/>
                </a:solidFill>
                <a:latin typeface="Meiryo"/>
                <a:ea typeface="Meiryo"/>
                <a:cs typeface="Meiryo"/>
                <a:sym typeface="Meiryo"/>
              </a:rPr>
              <a:t>伝票入力・在庫チェック・受注処理など、決まった作業を任せる</a:t>
            </a:r>
            <a:endParaRPr b="0" i="0" sz="1000" u="none" cap="none" strike="noStrike">
              <a:solidFill>
                <a:schemeClr val="dk1"/>
              </a:solidFill>
              <a:latin typeface="Calibri"/>
              <a:ea typeface="Calibri"/>
              <a:cs typeface="Calibri"/>
              <a:sym typeface="Calibri"/>
            </a:endParaRPr>
          </a:p>
        </p:txBody>
      </p:sp>
      <p:sp>
        <p:nvSpPr>
          <p:cNvPr id="1285" name="Google Shape;1285;h259926ce4e4d5a8f_0_209"/>
          <p:cNvSpPr/>
          <p:nvPr/>
        </p:nvSpPr>
        <p:spPr>
          <a:xfrm>
            <a:off x="3268963" y="1383125"/>
            <a:ext cx="2606100" cy="18210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h259926ce4e4d5a8f_0_209"/>
          <p:cNvSpPr/>
          <p:nvPr/>
        </p:nvSpPr>
        <p:spPr>
          <a:xfrm>
            <a:off x="3451838" y="1538573"/>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7" name="Google Shape;1287;h259926ce4e4d5a8f_0_209"/>
          <p:cNvPicPr preferRelativeResize="0"/>
          <p:nvPr/>
        </p:nvPicPr>
        <p:blipFill rotWithShape="1">
          <a:blip r:embed="rId4">
            <a:alphaModFix/>
          </a:blip>
          <a:srcRect b="0" l="0" r="0" t="0"/>
          <a:stretch/>
        </p:blipFill>
        <p:spPr>
          <a:xfrm>
            <a:off x="3562480" y="1649215"/>
            <a:ext cx="281635" cy="281635"/>
          </a:xfrm>
          <a:prstGeom prst="rect">
            <a:avLst/>
          </a:prstGeom>
          <a:noFill/>
          <a:ln>
            <a:noFill/>
          </a:ln>
        </p:spPr>
      </p:pic>
      <p:sp>
        <p:nvSpPr>
          <p:cNvPr id="1288" name="Google Shape;1288;h259926ce4e4d5a8f_0_209"/>
          <p:cNvSpPr txBox="1"/>
          <p:nvPr/>
        </p:nvSpPr>
        <p:spPr>
          <a:xfrm>
            <a:off x="3451800" y="2207858"/>
            <a:ext cx="22404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自分の店に合わせた専用ツール</a:t>
            </a:r>
            <a:endParaRPr b="0" i="0" sz="1250" u="none" cap="none" strike="noStrike">
              <a:solidFill>
                <a:schemeClr val="dk1"/>
              </a:solidFill>
              <a:latin typeface="Calibri"/>
              <a:ea typeface="Calibri"/>
              <a:cs typeface="Calibri"/>
              <a:sym typeface="Calibri"/>
            </a:endParaRPr>
          </a:p>
        </p:txBody>
      </p:sp>
      <p:sp>
        <p:nvSpPr>
          <p:cNvPr id="1289" name="Google Shape;1289;h259926ce4e4d5a8f_0_209"/>
          <p:cNvSpPr txBox="1"/>
          <p:nvPr/>
        </p:nvSpPr>
        <p:spPr>
          <a:xfrm>
            <a:off x="3451800" y="2694460"/>
            <a:ext cx="2240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00"/>
              <a:buFont typeface="Meiryo"/>
              <a:buNone/>
            </a:pPr>
            <a:r>
              <a:rPr b="0" i="0" lang="en-US" sz="1000" u="none" cap="none" strike="noStrike">
                <a:solidFill>
                  <a:srgbClr val="444444"/>
                </a:solidFill>
                <a:latin typeface="Meiryo"/>
                <a:ea typeface="Meiryo"/>
                <a:cs typeface="Meiryo"/>
                <a:sym typeface="Meiryo"/>
              </a:rPr>
              <a:t>買取査定の補助、価格の一覧表示など、既製品にはない仕組み</a:t>
            </a:r>
            <a:endParaRPr b="0" i="0" sz="1000" u="none" cap="none" strike="noStrike">
              <a:solidFill>
                <a:schemeClr val="dk1"/>
              </a:solidFill>
              <a:latin typeface="Calibri"/>
              <a:ea typeface="Calibri"/>
              <a:cs typeface="Calibri"/>
              <a:sym typeface="Calibri"/>
            </a:endParaRPr>
          </a:p>
        </p:txBody>
      </p:sp>
      <p:sp>
        <p:nvSpPr>
          <p:cNvPr id="1290" name="Google Shape;1290;h259926ce4e4d5a8f_0_209"/>
          <p:cNvSpPr/>
          <p:nvPr/>
        </p:nvSpPr>
        <p:spPr>
          <a:xfrm>
            <a:off x="6103588" y="1383125"/>
            <a:ext cx="2606100" cy="182100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h259926ce4e4d5a8f_0_209"/>
          <p:cNvSpPr/>
          <p:nvPr/>
        </p:nvSpPr>
        <p:spPr>
          <a:xfrm>
            <a:off x="6286478" y="1538573"/>
            <a:ext cx="502800" cy="50280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2" name="Google Shape;1292;h259926ce4e4d5a8f_0_209"/>
          <p:cNvPicPr preferRelativeResize="0"/>
          <p:nvPr/>
        </p:nvPicPr>
        <p:blipFill rotWithShape="1">
          <a:blip r:embed="rId5">
            <a:alphaModFix/>
          </a:blip>
          <a:srcRect b="0" l="0" r="0" t="0"/>
          <a:stretch/>
        </p:blipFill>
        <p:spPr>
          <a:xfrm>
            <a:off x="6397119" y="1649215"/>
            <a:ext cx="281635" cy="281635"/>
          </a:xfrm>
          <a:prstGeom prst="rect">
            <a:avLst/>
          </a:prstGeom>
          <a:noFill/>
          <a:ln>
            <a:noFill/>
          </a:ln>
        </p:spPr>
      </p:pic>
      <p:sp>
        <p:nvSpPr>
          <p:cNvPr id="1293" name="Google Shape;1293;h259926ce4e4d5a8f_0_209"/>
          <p:cNvSpPr txBox="1"/>
          <p:nvPr/>
        </p:nvSpPr>
        <p:spPr>
          <a:xfrm>
            <a:off x="6286477" y="2207858"/>
            <a:ext cx="22404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250"/>
              <a:buFont typeface="Meiryo"/>
              <a:buNone/>
            </a:pPr>
            <a:r>
              <a:rPr b="1" i="0" lang="en-US" sz="1250" u="none" cap="none" strike="noStrike">
                <a:solidFill>
                  <a:srgbClr val="222222"/>
                </a:solidFill>
                <a:latin typeface="Meiryo"/>
                <a:ea typeface="Meiryo"/>
                <a:cs typeface="Meiryo"/>
                <a:sym typeface="Meiryo"/>
              </a:rPr>
              <a:t>お客様の目を引く仕掛け</a:t>
            </a:r>
            <a:endParaRPr b="0" i="0" sz="1250" u="none" cap="none" strike="noStrike">
              <a:solidFill>
                <a:schemeClr val="dk1"/>
              </a:solidFill>
              <a:latin typeface="Calibri"/>
              <a:ea typeface="Calibri"/>
              <a:cs typeface="Calibri"/>
              <a:sym typeface="Calibri"/>
            </a:endParaRPr>
          </a:p>
        </p:txBody>
      </p:sp>
      <p:sp>
        <p:nvSpPr>
          <p:cNvPr id="1294" name="Google Shape;1294;h259926ce4e4d5a8f_0_209"/>
          <p:cNvSpPr txBox="1"/>
          <p:nvPr/>
        </p:nvSpPr>
        <p:spPr>
          <a:xfrm>
            <a:off x="6286477" y="2694460"/>
            <a:ext cx="2240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000"/>
              <a:buFont typeface="Meiryo"/>
              <a:buNone/>
            </a:pPr>
            <a:r>
              <a:rPr b="0" i="0" lang="en-US" sz="1000" u="none" cap="none" strike="noStrike">
                <a:solidFill>
                  <a:srgbClr val="444444"/>
                </a:solidFill>
                <a:latin typeface="Meiryo"/>
                <a:ea typeface="Meiryo"/>
                <a:cs typeface="Meiryo"/>
                <a:sym typeface="Meiryo"/>
              </a:rPr>
              <a:t>診断・抽選・ゲーム風のページなど、来店や投稿につながる企画</a:t>
            </a:r>
            <a:endParaRPr b="0" i="0" sz="1000" u="none" cap="none" strike="noStrike">
              <a:solidFill>
                <a:schemeClr val="dk1"/>
              </a:solidFill>
              <a:latin typeface="Calibri"/>
              <a:ea typeface="Calibri"/>
              <a:cs typeface="Calibri"/>
              <a:sym typeface="Calibri"/>
            </a:endParaRPr>
          </a:p>
        </p:txBody>
      </p:sp>
      <p:sp>
        <p:nvSpPr>
          <p:cNvPr id="1295" name="Google Shape;1295;h259926ce4e4d5a8f_0_20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96" name="Band 1296"/>
          <p:cNvSpPr/>
          <p:nvPr/>
        </p:nvSpPr>
        <p:spPr>
          <a:xfrm>
            <a:off x="429768" y="3520440"/>
            <a:ext cx="8275320" cy="640080"/>
          </a:xfrm>
          <a:prstGeom prst="rect">
            <a:avLst/>
          </a:prstGeom>
          <a:solidFill>
            <a:srgbClr val="EEF3F8"/>
          </a:solidFill>
          <a:ln>
            <a:noFill/>
          </a:ln>
        </p:spPr>
      </p:sp>
      <p:sp>
        <p:nvSpPr>
          <p:cNvPr id="1297" name="Band Text 1297"/>
          <p:cNvSpPr txBox="1"/>
          <p:nvPr/>
        </p:nvSpPr>
        <p:spPr>
          <a:xfrm>
            <a:off x="612648" y="3520440"/>
            <a:ext cx="79095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400" b="1">
                <a:solidFill>
                  <a:srgbClr val="1F3A5F"/>
                </a:solidFill>
                <a:latin typeface="Meiryo"/>
                <a:ea typeface="Meiryo"/>
                <a:cs typeface="Meiryo"/>
                <a:sym typeface="Meiryo"/>
              </a:rPr>
              <a:t>ワーク①で書き出した「困っていること」が、そのまま題材になります</a:t>
            </a:r>
            <a:endParaRPr lang="ja-JP" sz="1400" b="1">
              <a:solidFill>
                <a:srgbClr val="1F3A5F"/>
              </a:solidFill>
              <a:latin typeface="Meiryo"/>
              <a:ea typeface="Meiryo"/>
              <a:cs typeface="Meiryo"/>
              <a:sym typeface="Meiry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8" name="Shape 768"/>
        <p:cNvGrpSpPr/>
        <p:nvPr/>
      </p:nvGrpSpPr>
      <p:grpSpPr>
        <a:xfrm>
          <a:off x="0" y="0"/>
          <a:ext cx="0" cy="0"/>
          <a:chOff x="0" y="0"/>
          <a:chExt cx="0" cy="0"/>
        </a:xfrm>
      </p:grpSpPr>
      <p:sp>
        <p:nvSpPr>
          <p:cNvPr id="769" name="Google Shape;769;p16"/>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次回のご提案：ハッカソン形式の研修</a:t>
            </a:r>
            <a:endParaRPr b="0" i="0" sz="2200" u="none" cap="none" strike="noStrike">
              <a:solidFill>
                <a:schemeClr val="dk1"/>
              </a:solidFill>
              <a:latin typeface="Calibri"/>
              <a:ea typeface="Calibri"/>
              <a:cs typeface="Calibri"/>
              <a:sym typeface="Calibri"/>
            </a:endParaRPr>
          </a:p>
        </p:txBody>
      </p:sp>
      <p:sp>
        <p:nvSpPr>
          <p:cNvPr id="772" name="Google Shape;772;p16"/>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773" name="Google Shape;773;p16"/>
          <p:cNvSpPr/>
          <p:nvPr/>
        </p:nvSpPr>
        <p:spPr>
          <a:xfrm>
            <a:off x="457200" y="146304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6"/>
          <p:cNvSpPr txBox="1"/>
          <p:nvPr/>
        </p:nvSpPr>
        <p:spPr>
          <a:xfrm>
            <a:off x="457200" y="146304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1</a:t>
            </a:r>
            <a:endParaRPr b="0" i="0" sz="1800" u="none" cap="none" strike="noStrike">
              <a:solidFill>
                <a:schemeClr val="dk1"/>
              </a:solidFill>
              <a:latin typeface="Calibri"/>
              <a:ea typeface="Calibri"/>
              <a:cs typeface="Calibri"/>
              <a:sym typeface="Calibri"/>
            </a:endParaRPr>
          </a:p>
        </p:txBody>
      </p:sp>
      <p:sp>
        <p:nvSpPr>
          <p:cNvPr id="775" name="Google Shape;775;p16"/>
          <p:cNvSpPr txBox="1"/>
          <p:nvPr/>
        </p:nvSpPr>
        <p:spPr>
          <a:xfrm>
            <a:off x="1234440" y="1444752"/>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課題を選ぶ</a:t>
            </a:r>
            <a:endParaRPr b="0" i="0" sz="1500" u="none" cap="none" strike="noStrike">
              <a:solidFill>
                <a:schemeClr val="dk1"/>
              </a:solidFill>
              <a:latin typeface="Calibri"/>
              <a:ea typeface="Calibri"/>
              <a:cs typeface="Calibri"/>
              <a:sym typeface="Calibri"/>
            </a:endParaRPr>
          </a:p>
        </p:txBody>
      </p:sp>
      <p:sp>
        <p:nvSpPr>
          <p:cNvPr id="776" name="Google Shape;776;p16"/>
          <p:cNvSpPr txBox="1"/>
          <p:nvPr/>
        </p:nvSpPr>
        <p:spPr>
          <a:xfrm>
            <a:off x="1234440" y="1764792"/>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今日のワーク①で書き出した「困っていること」から、題材を選びます</a:t>
            </a:r>
            <a:endParaRPr b="0" i="0" sz="1200" u="none" cap="none" strike="noStrike">
              <a:solidFill>
                <a:schemeClr val="dk1"/>
              </a:solidFill>
              <a:latin typeface="Calibri"/>
              <a:ea typeface="Calibri"/>
              <a:cs typeface="Calibri"/>
              <a:sym typeface="Calibri"/>
            </a:endParaRPr>
          </a:p>
        </p:txBody>
      </p:sp>
      <p:sp>
        <p:nvSpPr>
          <p:cNvPr id="777" name="Google Shape;777;p16"/>
          <p:cNvSpPr/>
          <p:nvPr/>
        </p:nvSpPr>
        <p:spPr>
          <a:xfrm>
            <a:off x="457200" y="2221992"/>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6"/>
          <p:cNvSpPr txBox="1"/>
          <p:nvPr/>
        </p:nvSpPr>
        <p:spPr>
          <a:xfrm>
            <a:off x="457200" y="222199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2</a:t>
            </a:r>
            <a:endParaRPr b="0" i="0" sz="1800" u="none" cap="none" strike="noStrike">
              <a:solidFill>
                <a:schemeClr val="dk1"/>
              </a:solidFill>
              <a:latin typeface="Calibri"/>
              <a:ea typeface="Calibri"/>
              <a:cs typeface="Calibri"/>
              <a:sym typeface="Calibri"/>
            </a:endParaRPr>
          </a:p>
        </p:txBody>
      </p:sp>
      <p:sp>
        <p:nvSpPr>
          <p:cNvPr id="779" name="Google Shape;779;p16"/>
          <p:cNvSpPr txBox="1"/>
          <p:nvPr/>
        </p:nvSpPr>
        <p:spPr>
          <a:xfrm>
            <a:off x="1234440" y="2203704"/>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AIと一緒につくる</a:t>
            </a:r>
            <a:endParaRPr b="0" i="0" sz="1500" u="none" cap="none" strike="noStrike">
              <a:solidFill>
                <a:schemeClr val="dk1"/>
              </a:solidFill>
              <a:latin typeface="Calibri"/>
              <a:ea typeface="Calibri"/>
              <a:cs typeface="Calibri"/>
              <a:sym typeface="Calibri"/>
            </a:endParaRPr>
          </a:p>
        </p:txBody>
      </p:sp>
      <p:sp>
        <p:nvSpPr>
          <p:cNvPr id="780" name="Google Shape;780;p16"/>
          <p:cNvSpPr txBox="1"/>
          <p:nvPr/>
        </p:nvSpPr>
        <p:spPr>
          <a:xfrm>
            <a:off x="1234440" y="2523744"/>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講師のサポートのもと、チームでアプリを形にしていきます</a:t>
            </a:r>
            <a:endParaRPr b="0" i="0" sz="1200" u="none" cap="none" strike="noStrike">
              <a:solidFill>
                <a:schemeClr val="dk1"/>
              </a:solidFill>
              <a:latin typeface="Calibri"/>
              <a:ea typeface="Calibri"/>
              <a:cs typeface="Calibri"/>
              <a:sym typeface="Calibri"/>
            </a:endParaRPr>
          </a:p>
        </p:txBody>
      </p:sp>
      <p:sp>
        <p:nvSpPr>
          <p:cNvPr id="781" name="Google Shape;781;p16"/>
          <p:cNvSpPr/>
          <p:nvPr/>
        </p:nvSpPr>
        <p:spPr>
          <a:xfrm>
            <a:off x="457200" y="2980944"/>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txBox="1"/>
          <p:nvPr/>
        </p:nvSpPr>
        <p:spPr>
          <a:xfrm>
            <a:off x="457200" y="2980944"/>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Meiryo"/>
              <a:buNone/>
            </a:pPr>
            <a:r>
              <a:rPr b="1" i="0" lang="en-US" sz="1800" u="none" cap="none" strike="noStrike">
                <a:solidFill>
                  <a:srgbClr val="FFFFFF"/>
                </a:solidFill>
                <a:latin typeface="Meiryo"/>
                <a:ea typeface="Meiryo"/>
                <a:cs typeface="Meiryo"/>
                <a:sym typeface="Meiryo"/>
              </a:rPr>
              <a:t>3</a:t>
            </a:r>
            <a:endParaRPr b="0" i="0" sz="1800" u="none" cap="none" strike="noStrike">
              <a:solidFill>
                <a:schemeClr val="dk1"/>
              </a:solidFill>
              <a:latin typeface="Calibri"/>
              <a:ea typeface="Calibri"/>
              <a:cs typeface="Calibri"/>
              <a:sym typeface="Calibri"/>
            </a:endParaRPr>
          </a:p>
        </p:txBody>
      </p:sp>
      <p:sp>
        <p:nvSpPr>
          <p:cNvPr id="783" name="Google Shape;783;p16"/>
          <p:cNvSpPr txBox="1"/>
          <p:nvPr/>
        </p:nvSpPr>
        <p:spPr>
          <a:xfrm>
            <a:off x="1234440" y="2962656"/>
            <a:ext cx="7406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2222"/>
              </a:buClr>
              <a:buSzPts val="1500"/>
              <a:buFont typeface="Meiryo"/>
              <a:buNone/>
            </a:pPr>
            <a:r>
              <a:rPr b="1" i="0" lang="en-US" sz="1500" u="none" cap="none" strike="noStrike">
                <a:solidFill>
                  <a:srgbClr val="222222"/>
                </a:solidFill>
                <a:latin typeface="Meiryo"/>
                <a:ea typeface="Meiryo"/>
                <a:cs typeface="Meiryo"/>
                <a:sym typeface="Meiryo"/>
              </a:rPr>
              <a:t>発表して、現場で試す</a:t>
            </a:r>
            <a:endParaRPr b="0" i="0" sz="1500" u="none" cap="none" strike="noStrike">
              <a:solidFill>
                <a:schemeClr val="dk1"/>
              </a:solidFill>
              <a:latin typeface="Calibri"/>
              <a:ea typeface="Calibri"/>
              <a:cs typeface="Calibri"/>
              <a:sym typeface="Calibri"/>
            </a:endParaRPr>
          </a:p>
        </p:txBody>
      </p:sp>
      <p:sp>
        <p:nvSpPr>
          <p:cNvPr id="784" name="Google Shape;784;p16"/>
          <p:cNvSpPr txBox="1"/>
          <p:nvPr/>
        </p:nvSpPr>
        <p:spPr>
          <a:xfrm>
            <a:off x="1234440" y="3282696"/>
            <a:ext cx="74066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eiryo"/>
              <a:buNone/>
            </a:pPr>
            <a:r>
              <a:rPr b="0" i="0" lang="en-US" sz="1200" u="none" cap="none" strike="noStrike">
                <a:solidFill>
                  <a:srgbClr val="6B7280"/>
                </a:solidFill>
                <a:latin typeface="Meiryo"/>
                <a:ea typeface="Meiryo"/>
                <a:cs typeface="Meiryo"/>
                <a:sym typeface="Meiryo"/>
              </a:rPr>
              <a:t>できたアプリを共有し、そのまま業務で試せる形で持ち帰ります</a:t>
            </a:r>
            <a:endParaRPr b="0" i="0" sz="1200" u="none" cap="none" strike="noStrike">
              <a:solidFill>
                <a:schemeClr val="dk1"/>
              </a:solidFill>
              <a:latin typeface="Calibri"/>
              <a:ea typeface="Calibri"/>
              <a:cs typeface="Calibri"/>
              <a:sym typeface="Calibri"/>
            </a:endParaRPr>
          </a:p>
        </p:txBody>
      </p:sp>
      <p:sp>
        <p:nvSpPr>
          <p:cNvPr id="785" name="Google Shape;785;p16"/>
          <p:cNvSpPr/>
          <p:nvPr/>
        </p:nvSpPr>
        <p:spPr>
          <a:xfrm>
            <a:off x="411480" y="3703320"/>
            <a:ext cx="8321040" cy="777240"/>
          </a:xfrm>
          <a:prstGeom prst="rect">
            <a:avLst/>
          </a:prstGeom>
          <a:solidFill>
            <a:srgbClr val="EEF3F8"/>
          </a:solidFill>
          <a:ln cap="flat" cmpd="sng" w="12700">
            <a:solidFill>
              <a:srgbClr val="EEF3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6"/>
          <p:cNvSpPr txBox="1"/>
          <p:nvPr/>
        </p:nvSpPr>
        <p:spPr>
          <a:xfrm>
            <a:off x="594360" y="3703320"/>
            <a:ext cx="79552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A5F"/>
              </a:buClr>
              <a:buSzPts val="1400"/>
              <a:buFont typeface="Meiryo"/>
              <a:buNone/>
            </a:pPr>
            <a:r>
              <a:rPr b="1" i="0" lang="en-US" sz="1400" u="none" cap="none" strike="noStrike">
                <a:solidFill>
                  <a:srgbClr val="1F3A5F"/>
                </a:solidFill>
                <a:latin typeface="Meiryo"/>
                <a:ea typeface="Meiryo"/>
                <a:cs typeface="Meiryo"/>
                <a:sym typeface="Meiryo"/>
              </a:rPr>
              <a:t>内容や進め方は、貴社の業務に合わせてご提案します。</a:t>
            </a:r>
            <a:br>
              <a:rPr b="1" i="0" lang="en-US" sz="1400" u="none" cap="none" strike="noStrike">
                <a:solidFill>
                  <a:srgbClr val="1F3A5F"/>
                </a:solidFill>
                <a:latin typeface="Meiryo"/>
                <a:ea typeface="Meiryo"/>
                <a:cs typeface="Meiryo"/>
                <a:sym typeface="Meiryo"/>
              </a:rPr>
            </a:br>
            <a:r>
              <a:rPr b="1" i="0" lang="en-US" sz="1400" u="none" cap="none" strike="noStrike">
                <a:solidFill>
                  <a:srgbClr val="1F3A5F"/>
                </a:solidFill>
                <a:latin typeface="Meiryo"/>
                <a:ea typeface="Meiryo"/>
                <a:cs typeface="Meiryo"/>
                <a:sym typeface="Meiryo"/>
              </a:rPr>
              <a:t>まずは、このあとの個別相談でお気軽にお声がけください。</a:t>
            </a:r>
            <a:endParaRPr b="0" i="0" sz="1400" u="none" cap="none" strike="noStrike">
              <a:solidFill>
                <a:schemeClr val="dk1"/>
              </a:solidFill>
              <a:latin typeface="Calibri"/>
              <a:ea typeface="Calibri"/>
              <a:cs typeface="Calibri"/>
              <a:sym typeface="Calibri"/>
            </a:endParaRPr>
          </a:p>
        </p:txBody>
      </p:sp>
      <p:sp>
        <p:nvSpPr>
          <p:cNvPr id="787" name="Google Shape;787;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788" name="Lead 788"/>
          <p:cNvSpPr txBox="1"/>
          <p:nvPr/>
        </p:nvSpPr>
        <p:spPr>
          <a:xfrm>
            <a:off x="411480" y="896112"/>
            <a:ext cx="8321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500" b="1">
                <a:solidFill>
                  <a:srgbClr val="1F3A5F"/>
                </a:solidFill>
                <a:latin typeface="Meiryo"/>
                <a:ea typeface="Meiryo"/>
                <a:cs typeface="Meiryo"/>
                <a:sym typeface="Meiryo"/>
              </a:rPr>
              <a:t>自分たちの業務の課題を、その場で「動くアプリ」にする実践型の研修です</a:t>
            </a:r>
            <a:endParaRPr lang="ja-JP" sz="1500" b="1">
              <a:solidFill>
                <a:srgbClr val="1F3A5F"/>
              </a:solidFill>
              <a:latin typeface="Meiryo"/>
              <a:ea typeface="Meiryo"/>
              <a:cs typeface="Meiryo"/>
              <a:sym typeface="Meiry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8"/>
          <p:cNvSpPr txBox="1"/>
          <p:nvPr/>
        </p:nvSpPr>
        <p:spPr>
          <a:xfrm>
            <a:off x="411480" y="274320"/>
            <a:ext cx="8321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2200"/>
              <a:buFont typeface="Meiryo"/>
              <a:buNone/>
            </a:pPr>
            <a:r>
              <a:rPr b="1" i="0" lang="en-US" sz="2200" u="none" cap="none" strike="noStrike">
                <a:solidFill>
                  <a:srgbClr val="222222"/>
                </a:solidFill>
                <a:latin typeface="Meiryo"/>
                <a:ea typeface="Meiryo"/>
                <a:cs typeface="Meiryo"/>
                <a:sym typeface="Meiryo"/>
              </a:rPr>
              <a:t>個別相談のご案内（〜17:00）</a:t>
            </a:r>
            <a:endParaRPr b="0" i="0" sz="2200" u="none" cap="none" strike="noStrike">
              <a:solidFill>
                <a:schemeClr val="dk1"/>
              </a:solidFill>
              <a:latin typeface="Calibri"/>
              <a:ea typeface="Calibri"/>
              <a:cs typeface="Calibri"/>
              <a:sym typeface="Calibri"/>
            </a:endParaRPr>
          </a:p>
        </p:txBody>
      </p:sp>
      <p:sp>
        <p:nvSpPr>
          <p:cNvPr id="504" name="Google Shape;504;p8"/>
          <p:cNvSpPr txBox="1"/>
          <p:nvPr/>
        </p:nvSpPr>
        <p:spPr>
          <a:xfrm>
            <a:off x="320040" y="484632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C8C8C"/>
              </a:buClr>
              <a:buSzPts val="700"/>
              <a:buFont typeface="Meiryo"/>
              <a:buNone/>
            </a:pPr>
            <a:r>
              <a:rPr b="0" i="0" lang="en-US" sz="700" u="none" cap="none" strike="noStrike">
                <a:solidFill>
                  <a:srgbClr val="8C8C8C"/>
                </a:solidFill>
                <a:latin typeface="Meiryo"/>
                <a:ea typeface="Meiryo"/>
                <a:cs typeface="Meiryo"/>
                <a:sym typeface="Meiryo"/>
              </a:rPr>
              <a:t>©2026 | STYLE ARTS Inc. All Rights Reserved. | CONFIDENTIAL</a:t>
            </a:r>
            <a:endParaRPr b="0" i="0" sz="700" u="none" cap="none" strike="noStrike">
              <a:solidFill>
                <a:schemeClr val="dk1"/>
              </a:solidFill>
              <a:latin typeface="Calibri"/>
              <a:ea typeface="Calibri"/>
              <a:cs typeface="Calibri"/>
              <a:sym typeface="Calibri"/>
            </a:endParaRPr>
          </a:p>
        </p:txBody>
      </p:sp>
      <p:sp>
        <p:nvSpPr>
          <p:cNvPr id="505" name="Google Shape;505;p8"/>
          <p:cNvSpPr/>
          <p:nvPr/>
        </p:nvSpPr>
        <p:spPr>
          <a:xfrm>
            <a:off x="411480" y="1371600"/>
            <a:ext cx="2606040" cy="246888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8"/>
          <p:cNvSpPr/>
          <p:nvPr/>
        </p:nvSpPr>
        <p:spPr>
          <a:xfrm>
            <a:off x="594360" y="155448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7" name="Google Shape;507;p8"/>
          <p:cNvPicPr preferRelativeResize="0"/>
          <p:nvPr/>
        </p:nvPicPr>
        <p:blipFill rotWithShape="1">
          <a:blip r:embed="rId3">
            <a:alphaModFix/>
          </a:blip>
          <a:srcRect b="0" l="0" r="0" t="0"/>
          <a:stretch/>
        </p:blipFill>
        <p:spPr>
          <a:xfrm>
            <a:off x="715061" y="1675181"/>
            <a:ext cx="307238" cy="307238"/>
          </a:xfrm>
          <a:prstGeom prst="rect">
            <a:avLst/>
          </a:prstGeom>
          <a:noFill/>
          <a:ln>
            <a:noFill/>
          </a:ln>
        </p:spPr>
      </p:pic>
      <p:sp>
        <p:nvSpPr>
          <p:cNvPr id="508" name="Google Shape;508;p8"/>
          <p:cNvSpPr txBox="1"/>
          <p:nvPr/>
        </p:nvSpPr>
        <p:spPr>
          <a:xfrm>
            <a:off x="1234440" y="164592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使い方・設定</a:t>
            </a:r>
            <a:endParaRPr b="0" i="0" sz="1400" u="none" cap="none" strike="noStrike">
              <a:solidFill>
                <a:schemeClr val="dk1"/>
              </a:solidFill>
              <a:latin typeface="Calibri"/>
              <a:ea typeface="Calibri"/>
              <a:cs typeface="Calibri"/>
              <a:sym typeface="Calibri"/>
            </a:endParaRPr>
          </a:p>
        </p:txBody>
      </p:sp>
      <p:sp>
        <p:nvSpPr>
          <p:cNvPr id="509" name="Google Shape;509;p8"/>
          <p:cNvSpPr txBox="1"/>
          <p:nvPr/>
        </p:nvSpPr>
        <p:spPr>
          <a:xfrm>
            <a:off x="594360" y="2240280"/>
            <a:ext cx="2286000" cy="15087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「アカウントや設定が</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うまくいかない」</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「無料版と有料版、</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どちらを選べばいい？」</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「今日のワークの続きを</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相談したい」</a:t>
            </a:r>
            <a:endParaRPr b="0" i="0" sz="1300" u="none" cap="none" strike="noStrike">
              <a:solidFill>
                <a:schemeClr val="dk1"/>
              </a:solidFill>
              <a:latin typeface="Calibri"/>
              <a:ea typeface="Calibri"/>
              <a:cs typeface="Calibri"/>
              <a:sym typeface="Calibri"/>
            </a:endParaRPr>
          </a:p>
        </p:txBody>
      </p:sp>
      <p:sp>
        <p:nvSpPr>
          <p:cNvPr id="510" name="Google Shape;510;p8"/>
          <p:cNvSpPr/>
          <p:nvPr/>
        </p:nvSpPr>
        <p:spPr>
          <a:xfrm>
            <a:off x="3246120" y="1371600"/>
            <a:ext cx="2606040" cy="246888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8"/>
          <p:cNvSpPr/>
          <p:nvPr/>
        </p:nvSpPr>
        <p:spPr>
          <a:xfrm>
            <a:off x="3429000" y="155448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2" name="Google Shape;512;p8"/>
          <p:cNvPicPr preferRelativeResize="0"/>
          <p:nvPr/>
        </p:nvPicPr>
        <p:blipFill rotWithShape="1">
          <a:blip r:embed="rId4">
            <a:alphaModFix/>
          </a:blip>
          <a:srcRect b="0" l="0" r="0" t="0"/>
          <a:stretch/>
        </p:blipFill>
        <p:spPr>
          <a:xfrm>
            <a:off x="3549701" y="1675181"/>
            <a:ext cx="307238" cy="307238"/>
          </a:xfrm>
          <a:prstGeom prst="rect">
            <a:avLst/>
          </a:prstGeom>
          <a:noFill/>
          <a:ln>
            <a:noFill/>
          </a:ln>
        </p:spPr>
      </p:pic>
      <p:sp>
        <p:nvSpPr>
          <p:cNvPr id="513" name="Google Shape;513;p8"/>
          <p:cNvSpPr txBox="1"/>
          <p:nvPr/>
        </p:nvSpPr>
        <p:spPr>
          <a:xfrm>
            <a:off x="4069080" y="164592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自分の業務</a:t>
            </a:r>
            <a:endParaRPr b="0" i="0" sz="1400" u="none" cap="none" strike="noStrike">
              <a:solidFill>
                <a:schemeClr val="dk1"/>
              </a:solidFill>
              <a:latin typeface="Calibri"/>
              <a:ea typeface="Calibri"/>
              <a:cs typeface="Calibri"/>
              <a:sym typeface="Calibri"/>
            </a:endParaRPr>
          </a:p>
        </p:txBody>
      </p:sp>
      <p:sp>
        <p:nvSpPr>
          <p:cNvPr id="514" name="Google Shape;514;p8"/>
          <p:cNvSpPr txBox="1"/>
          <p:nvPr/>
        </p:nvSpPr>
        <p:spPr>
          <a:xfrm>
            <a:off x="3429000" y="2240280"/>
            <a:ext cx="2286000" cy="15087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「この作業、</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AIに任せられますか？」</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「うちの業務だと、</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何から始めればいい？」</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「作ったプロンプトを</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見てほしい」</a:t>
            </a:r>
            <a:endParaRPr b="0" i="0" sz="1300" u="none" cap="none" strike="noStrike">
              <a:solidFill>
                <a:schemeClr val="dk1"/>
              </a:solidFill>
              <a:latin typeface="Calibri"/>
              <a:ea typeface="Calibri"/>
              <a:cs typeface="Calibri"/>
              <a:sym typeface="Calibri"/>
            </a:endParaRPr>
          </a:p>
        </p:txBody>
      </p:sp>
      <p:sp>
        <p:nvSpPr>
          <p:cNvPr id="515" name="Google Shape;515;p8"/>
          <p:cNvSpPr/>
          <p:nvPr/>
        </p:nvSpPr>
        <p:spPr>
          <a:xfrm>
            <a:off x="6080760" y="1371600"/>
            <a:ext cx="2606040" cy="2468880"/>
          </a:xfrm>
          <a:prstGeom prst="rect">
            <a:avLst/>
          </a:prstGeom>
          <a:solidFill>
            <a:srgbClr val="F6F7F9"/>
          </a:solidFill>
          <a:ln cap="flat" cmpd="sng" w="12700">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8"/>
          <p:cNvSpPr/>
          <p:nvPr/>
        </p:nvSpPr>
        <p:spPr>
          <a:xfrm>
            <a:off x="6263640" y="1554480"/>
            <a:ext cx="548640" cy="548640"/>
          </a:xfrm>
          <a:prstGeom prst="ellipse">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7" name="Google Shape;517;p8"/>
          <p:cNvPicPr preferRelativeResize="0"/>
          <p:nvPr/>
        </p:nvPicPr>
        <p:blipFill rotWithShape="1">
          <a:blip r:embed="rId5">
            <a:alphaModFix/>
          </a:blip>
          <a:srcRect b="0" l="0" r="0" t="0"/>
          <a:stretch/>
        </p:blipFill>
        <p:spPr>
          <a:xfrm>
            <a:off x="6384341" y="1675181"/>
            <a:ext cx="307238" cy="307238"/>
          </a:xfrm>
          <a:prstGeom prst="rect">
            <a:avLst/>
          </a:prstGeom>
          <a:noFill/>
          <a:ln>
            <a:noFill/>
          </a:ln>
        </p:spPr>
      </p:pic>
      <p:sp>
        <p:nvSpPr>
          <p:cNvPr id="518" name="Google Shape;518;p8"/>
          <p:cNvSpPr txBox="1"/>
          <p:nvPr/>
        </p:nvSpPr>
        <p:spPr>
          <a:xfrm>
            <a:off x="6903720" y="1645920"/>
            <a:ext cx="1737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Meiryo"/>
              <a:buNone/>
            </a:pPr>
            <a:r>
              <a:rPr b="1" i="0" lang="en-US" sz="1400" u="none" cap="none" strike="noStrike">
                <a:solidFill>
                  <a:srgbClr val="222222"/>
                </a:solidFill>
                <a:latin typeface="Meiryo"/>
                <a:ea typeface="Meiryo"/>
                <a:cs typeface="Meiryo"/>
                <a:sym typeface="Meiryo"/>
              </a:rPr>
              <a:t>社内展開・次の一歩</a:t>
            </a:r>
            <a:endParaRPr b="0" i="0" sz="1400" u="none" cap="none" strike="noStrike">
              <a:solidFill>
                <a:schemeClr val="dk1"/>
              </a:solidFill>
              <a:latin typeface="Calibri"/>
              <a:ea typeface="Calibri"/>
              <a:cs typeface="Calibri"/>
              <a:sym typeface="Calibri"/>
            </a:endParaRPr>
          </a:p>
        </p:txBody>
      </p:sp>
      <p:sp>
        <p:nvSpPr>
          <p:cNvPr id="519" name="Google Shape;519;p8"/>
          <p:cNvSpPr txBox="1"/>
          <p:nvPr/>
        </p:nvSpPr>
        <p:spPr>
          <a:xfrm>
            <a:off x="6263640" y="2240280"/>
            <a:ext cx="2286000" cy="1508760"/>
          </a:xfrm>
          <a:prstGeom prst="rect">
            <a:avLst/>
          </a:prstGeom>
          <a:noFill/>
          <a:ln>
            <a:noFill/>
          </a:ln>
        </p:spPr>
        <p:txBody>
          <a:bodyPr anchorCtr="0" anchor="t" bIns="0" lIns="0" spcFirstLastPara="1" rIns="0" wrap="square" tIns="0">
            <a:noAutofit/>
          </a:bodyPr>
          <a:lstStyle/>
          <a:p>
            <a:pPr indent="-187325" lvl="0" marL="177800" marR="0" rtl="0" algn="l">
              <a:lnSpc>
                <a:spcPct val="100000"/>
              </a:lnSpc>
              <a:spcBef>
                <a:spcPts val="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「社内ルールは</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どう決めればいい？」</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「Excelなどの作業を</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自動化したい」</a:t>
            </a:r>
            <a:endParaRPr b="0" i="0" sz="1300" u="none" cap="none" strike="noStrike">
              <a:solidFill>
                <a:schemeClr val="dk1"/>
              </a:solidFill>
              <a:latin typeface="Calibri"/>
              <a:ea typeface="Calibri"/>
              <a:cs typeface="Calibri"/>
              <a:sym typeface="Calibri"/>
            </a:endParaRPr>
          </a:p>
          <a:p>
            <a:pPr indent="-187325" lvl="0" marL="177800" marR="0" rtl="0" algn="l">
              <a:lnSpc>
                <a:spcPct val="100000"/>
              </a:lnSpc>
              <a:spcBef>
                <a:spcPts val="1000"/>
              </a:spcBef>
              <a:spcAft>
                <a:spcPts val="0"/>
              </a:spcAft>
              <a:buClr>
                <a:srgbClr val="222222"/>
              </a:buClr>
              <a:buSzPts val="1300"/>
              <a:buFont typeface="Meiryo"/>
              <a:buChar char="•"/>
            </a:pPr>
            <a:r>
              <a:rPr b="0" i="0" lang="en-US" sz="1300" u="none" cap="none" strike="noStrike">
                <a:solidFill>
                  <a:srgbClr val="222222"/>
                </a:solidFill>
                <a:latin typeface="Meiryo"/>
                <a:ea typeface="Meiryo"/>
                <a:cs typeface="Meiryo"/>
                <a:sym typeface="Meiryo"/>
              </a:rPr>
              <a:t>「自分たちのアプリを</a:t>
            </a:r>
            <a:br>
              <a:rPr b="0" i="0" lang="en-US" sz="1300" u="none" cap="none" strike="noStrike">
                <a:solidFill>
                  <a:srgbClr val="222222"/>
                </a:solidFill>
                <a:latin typeface="Meiryo"/>
                <a:ea typeface="Meiryo"/>
                <a:cs typeface="Meiryo"/>
                <a:sym typeface="Meiryo"/>
              </a:rPr>
            </a:br>
            <a:r>
              <a:rPr b="0" i="0" lang="en-US" sz="1300" u="none" cap="none" strike="noStrike">
                <a:solidFill>
                  <a:srgbClr val="222222"/>
                </a:solidFill>
                <a:latin typeface="Meiryo"/>
                <a:ea typeface="Meiryo"/>
                <a:cs typeface="Meiryo"/>
                <a:sym typeface="Meiryo"/>
              </a:rPr>
              <a:t>つくってみたい」</a:t>
            </a:r>
            <a:endParaRPr b="0" i="0" sz="1300" u="none" cap="none" strike="noStrike">
              <a:solidFill>
                <a:schemeClr val="dk1"/>
              </a:solidFill>
              <a:latin typeface="Calibri"/>
              <a:ea typeface="Calibri"/>
              <a:cs typeface="Calibri"/>
              <a:sym typeface="Calibri"/>
            </a:endParaRPr>
          </a:p>
        </p:txBody>
      </p:sp>
      <p:sp>
        <p:nvSpPr>
          <p:cNvPr id="520" name="Google Shape;520;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21" name="Lead 521"/>
          <p:cNvSpPr txBox="1"/>
          <p:nvPr/>
        </p:nvSpPr>
        <p:spPr>
          <a:xfrm>
            <a:off x="411480" y="896112"/>
            <a:ext cx="8321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500" b="1">
                <a:solidFill>
                  <a:srgbClr val="1F3A5F"/>
                </a:solidFill>
                <a:latin typeface="Meiryo"/>
                <a:ea typeface="Meiryo"/>
                <a:cs typeface="Meiryo"/>
                <a:sym typeface="Meiryo"/>
              </a:rPr>
              <a:t>「こんなことを聞いてもいいのかな」という質問こそ、歓迎します</a:t>
            </a:r>
            <a:endParaRPr lang="ja-JP" sz="1500" b="1">
              <a:solidFill>
                <a:srgbClr val="1F3A5F"/>
              </a:solidFill>
              <a:latin typeface="Meiryo"/>
              <a:ea typeface="Meiryo"/>
              <a:cs typeface="Meiryo"/>
              <a:sym typeface="Meiryo"/>
            </a:endParaRPr>
          </a:p>
        </p:txBody>
      </p:sp>
      <p:sp>
        <p:nvSpPr>
          <p:cNvPr id="522" name="Band 522"/>
          <p:cNvSpPr/>
          <p:nvPr/>
        </p:nvSpPr>
        <p:spPr>
          <a:xfrm>
            <a:off x="411480" y="3950208"/>
            <a:ext cx="8321040" cy="512064"/>
          </a:xfrm>
          <a:prstGeom prst="rect">
            <a:avLst/>
          </a:prstGeom>
          <a:solidFill>
            <a:srgbClr val="EEF3F8"/>
          </a:solidFill>
          <a:ln>
            <a:noFill/>
          </a:ln>
        </p:spPr>
      </p:sp>
      <p:sp>
        <p:nvSpPr>
          <p:cNvPr id="523" name="Band Text 523"/>
          <p:cNvSpPr txBox="1"/>
          <p:nvPr/>
        </p:nvSpPr>
        <p:spPr>
          <a:xfrm>
            <a:off x="594360" y="3950208"/>
            <a:ext cx="7955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ja-JP" sz="1300" b="1">
                <a:solidFill>
                  <a:srgbClr val="1F3A5F"/>
                </a:solidFill>
                <a:latin typeface="Meiryo"/>
                <a:ea typeface="Meiryo"/>
                <a:cs typeface="Meiryo"/>
                <a:sym typeface="Meiryo"/>
              </a:rPr>
              <a:t>質問がまとまっていなくても大丈夫です。お一人でも、数名一緒でもお気軽にどうぞ。</a:t>
            </a:r>
            <a:endParaRPr lang="ja-JP" sz="1300" b="1">
              <a:solidFill>
                <a:srgbClr val="1F3A5F"/>
              </a:solidFill>
              <a:latin typeface="Meiryo"/>
              <a:ea typeface="Meiryo"/>
              <a:cs typeface="Meiryo"/>
              <a:sym typeface="Meiry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g40a0daa3361_0_293"/>
          <p:cNvSpPr/>
          <p:nvPr/>
        </p:nvSpPr>
        <p:spPr>
          <a:xfrm>
            <a:off x="-75" y="0"/>
            <a:ext cx="9144000" cy="5143500"/>
          </a:xfrm>
          <a:prstGeom prst="rect">
            <a:avLst/>
          </a:prstGeom>
          <a:gradFill>
            <a:gsLst>
              <a:gs pos="0">
                <a:srgbClr val="009CE1"/>
              </a:gs>
              <a:gs pos="100000">
                <a:srgbClr val="E44C75"/>
              </a:gs>
            </a:gsLst>
            <a:lin ang="2700006" scaled="0"/>
          </a:gradFill>
          <a:ln>
            <a:noFill/>
          </a:ln>
          <a:effectLst>
            <a:outerShdw blurRad="1079500" sx="80000" rotWithShape="0" algn="tl" dir="2700000" dist="1143000" sy="80000">
              <a:srgbClr val="000000">
                <a:alpha val="94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C0C0C"/>
              </a:solidFill>
              <a:latin typeface="Raleway"/>
              <a:ea typeface="Raleway"/>
              <a:cs typeface="Raleway"/>
              <a:sym typeface="Raleway"/>
            </a:endParaRPr>
          </a:p>
        </p:txBody>
      </p:sp>
      <p:pic>
        <p:nvPicPr>
          <p:cNvPr id="1301" name="Google Shape;1301;g40a0daa3361_0_293"/>
          <p:cNvPicPr preferRelativeResize="0"/>
          <p:nvPr/>
        </p:nvPicPr>
        <p:blipFill rotWithShape="1">
          <a:blip r:embed="rId3">
            <a:alphaModFix amt="20000"/>
          </a:blip>
          <a:srcRect b="0" l="0" r="75713" t="0"/>
          <a:stretch/>
        </p:blipFill>
        <p:spPr>
          <a:xfrm>
            <a:off x="5217750" y="-385475"/>
            <a:ext cx="3878700" cy="3989550"/>
          </a:xfrm>
          <a:prstGeom prst="rect">
            <a:avLst/>
          </a:prstGeom>
          <a:noFill/>
          <a:ln>
            <a:noFill/>
          </a:ln>
        </p:spPr>
      </p:pic>
      <p:pic>
        <p:nvPicPr>
          <p:cNvPr id="1302" name="Google Shape;1302;g40a0daa3361_0_293" title="新ロゴ白@8x.png"/>
          <p:cNvPicPr preferRelativeResize="0"/>
          <p:nvPr/>
        </p:nvPicPr>
        <p:blipFill>
          <a:blip r:embed="rId4">
            <a:alphaModFix/>
          </a:blip>
          <a:stretch>
            <a:fillRect/>
          </a:stretch>
        </p:blipFill>
        <p:spPr>
          <a:xfrm>
            <a:off x="342900" y="88638"/>
            <a:ext cx="2187576" cy="679974"/>
          </a:xfrm>
          <a:prstGeom prst="rect">
            <a:avLst/>
          </a:prstGeom>
          <a:noFill/>
          <a:ln>
            <a:noFill/>
          </a:ln>
        </p:spPr>
      </p:pic>
      <p:sp>
        <p:nvSpPr>
          <p:cNvPr id="1303" name="Google Shape;1303;g40a0daa3361_0_29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304" name="Google Shape;1304;g40a0daa3361_0_293"/>
          <p:cNvSpPr txBox="1"/>
          <p:nvPr/>
        </p:nvSpPr>
        <p:spPr>
          <a:xfrm>
            <a:off x="731520" y="1188720"/>
            <a:ext cx="76809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Meiryo"/>
              <a:buNone/>
            </a:pPr>
            <a:r>
              <a:rPr b="1" i="0" lang="en-US" sz="3200" u="none" cap="none" strike="noStrike">
                <a:solidFill>
                  <a:srgbClr val="FFFFFF"/>
                </a:solidFill>
                <a:latin typeface="Meiryo"/>
                <a:ea typeface="Meiryo"/>
                <a:cs typeface="Meiryo"/>
                <a:sym typeface="Meiryo"/>
              </a:rPr>
              <a:t>ありがとうございました</a:t>
            </a:r>
            <a:endParaRPr b="0" i="0" sz="3200" u="none" cap="none" strike="noStrike">
              <a:solidFill>
                <a:schemeClr val="dk1"/>
              </a:solidFill>
              <a:latin typeface="Calibri"/>
              <a:ea typeface="Calibri"/>
              <a:cs typeface="Calibri"/>
              <a:sym typeface="Calibri"/>
            </a:endParaRPr>
          </a:p>
        </p:txBody>
      </p:sp>
      <p:sp>
        <p:nvSpPr>
          <p:cNvPr id="1305" name="Google Shape;1305;g40a0daa3361_0_293"/>
          <p:cNvSpPr txBox="1"/>
          <p:nvPr/>
        </p:nvSpPr>
        <p:spPr>
          <a:xfrm>
            <a:off x="731520" y="2103120"/>
            <a:ext cx="76809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Meiryo"/>
              <a:buNone/>
            </a:pPr>
            <a:r>
              <a:rPr b="0" i="0" lang="en-US" sz="1600" u="none" cap="none" strike="noStrike">
                <a:solidFill>
                  <a:srgbClr val="FFFFFF"/>
                </a:solidFill>
                <a:latin typeface="Meiryo"/>
                <a:ea typeface="Meiryo"/>
                <a:cs typeface="Meiryo"/>
                <a:sym typeface="Meiryo"/>
              </a:rPr>
              <a:t>このあと 17:00 まで、個別相談を受け付けています</a:t>
            </a:r>
            <a:endParaRPr b="0" i="0" sz="1600" u="none" cap="none" strike="noStrike">
              <a:solidFill>
                <a:schemeClr val="dk1"/>
              </a:solidFill>
              <a:latin typeface="Calibri"/>
              <a:ea typeface="Calibri"/>
              <a:cs typeface="Calibri"/>
              <a:sym typeface="Calibri"/>
            </a:endParaRPr>
          </a:p>
        </p:txBody>
      </p:sp>
      <p:sp>
        <p:nvSpPr>
          <p:cNvPr id="1306" name="Google Shape;1306;g40a0daa3361_0_293"/>
          <p:cNvSpPr txBox="1"/>
          <p:nvPr/>
        </p:nvSpPr>
        <p:spPr>
          <a:xfrm>
            <a:off x="822960" y="2743200"/>
            <a:ext cx="7315200" cy="1188600"/>
          </a:xfrm>
          <a:prstGeom prst="rect">
            <a:avLst/>
          </a:prstGeom>
          <a:noFill/>
          <a:ln>
            <a:noFill/>
          </a:ln>
        </p:spPr>
        <p:txBody>
          <a:bodyPr anchorCtr="0" anchor="t" bIns="0" lIns="0" spcFirstLastPara="1" rIns="0" wrap="square" tIns="0">
            <a:noAutofit/>
          </a:bodyPr>
          <a:lstStyle/>
          <a:p>
            <a:pPr lvl="0" marR="0" rtl="0" algn="l" indent="0" marL="0">
              <a:lnSpc>
                <a:spcPct val="100000"/>
              </a:lnSpc>
              <a:spcBef>
                <a:spcPts val="0"/>
              </a:spcBef>
              <a:spcAft>
                <a:spcPts val="0"/>
              </a:spcAft>
              <a:buClr>
                <a:srgbClr val="C9D3E0"/>
              </a:buClr>
              <a:buSzPts val="1300"/>
              <a:buFont typeface="Meiryo"/>
              <a:buNone/>
            </a:pPr>
            <a:r>
              <a:rPr b="0" i="0" lang="en-US" sz="1300" u="none" cap="none" strike="noStrike">
                <a:solidFill>
                  <a:srgbClr val="C9D3E0"/>
                </a:solidFill>
                <a:latin typeface="Meiryo"/>
                <a:ea typeface="Meiryo"/>
                <a:cs typeface="Meiryo"/>
                <a:sym typeface="Meiryo"/>
              </a:rPr>
              <a:t>どんな小さなことでも、お気軽にお声がけください</a:t>
            </a:r>
            <a:endParaRPr b="0" i="0" sz="1300" u="none" cap="none" strike="noStrike">
              <a:solidFill>
                <a:schemeClr val="dk1"/>
              </a:solidFill>
              <a:latin typeface="Calibri"/>
              <a:ea typeface="Calibri"/>
              <a:cs typeface="Calibri"/>
              <a:sym typeface="Calibri"/>
            </a:endParaRPr>
          </a:p>
        </p:txBody>
      </p:sp>
      <p:sp>
        <p:nvSpPr>
          <p:cNvPr id="1307" name="Text"/>
          <p:cNvSpPr txBox="1"/>
          <p:nvPr/>
        </p:nvSpPr>
        <p:spPr>
          <a:xfrm>
            <a:off x="731520" y="4069080"/>
            <a:ext cx="7680960" cy="32004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ja-JP" sz="1200" b="0" dirty="0">
                <a:solidFill>
                  <a:srgbClr val="C9D3E0"/>
                </a:solidFill>
                <a:latin typeface="Meiryo"/>
                <a:ea typeface="Meiryo"/>
                <a:cs typeface="Meiryo"/>
                <a:sym typeface="Meiryo"/>
              </a:rPr>
              <a:t>本日の資料：</a:t>
            </a:r>
            <a:r>
              <a:rPr lang="ja-JP" sz="1200" b="0" dirty="0">
                <a:solidFill>
                  <a:srgbClr val="C9D3E0"/>
                </a:solidFill>
                <a:latin typeface="Meiryo"/>
                <a:ea typeface="Meiryo"/>
                <a:cs typeface="Meiryo"/>
                <a:sym typeface="Meiryo"/>
                <a:hlinkClick r:id="rId5">
                  <a:extLst>
                    <a:ext uri="{A12FA001-AC4F-418D-AE19-62706E023703}">
                      <ahyp:hlinkClr val="tx"/>
                    </a:ext>
                  </a:extLst>
                </a:hlinkClick>
              </a:rPr>
              <a:t>github.com/style-arts-corp/ai-workshop-20260929</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